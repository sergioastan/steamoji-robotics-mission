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6</a:t>
            </a:r>
          </a:p>
          <a:p>
            <a:pPr algn="l">
              <a:lnSpc>
                <a:spcPct val="100000"/>
              </a:lnSpc>
            </a:pPr>
            <a:r>
              <a:rPr sz="4400" b="0" i="0">
                <a:solidFill>
                  <a:srgbClr val="FFFFFF"/>
                </a:solidFill>
                <a:latin typeface="Bungee"/>
                <a:ea typeface="Bungee"/>
                <a:cs typeface="Bungee"/>
                <a:sym typeface="Bungee"/>
              </a:rPr>
              <a:t>Rock, Paper, Robot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this project builds</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Show the camera a closed fist, a flat hand, or two fingers. The program reads the gesture, picks a move of its own, moves the arm to show it, and keeps score.</a:t>
            </a:r>
          </a:p>
          <a:p>
            <a:pPr algn="l">
              <a:lnSpc>
                <a:spcPct val="100000"/>
              </a:lnSpc>
            </a:pPr>
            <a:r>
              <a:rPr sz="2027" b="0" i="0">
                <a:solidFill>
                  <a:srgbClr val="FFFFFF"/>
                </a:solidFill>
                <a:latin typeface="Avenir"/>
                <a:ea typeface="Avenir"/>
                <a:cs typeface="Avenir"/>
                <a:sym typeface="Avenir"/>
              </a:rPr>
              <a:t>Three systems have to agree for that to happen:</a:t>
            </a:r>
          </a:p>
        </p:txBody>
      </p:sp>
      <p:sp>
        <p:nvSpPr>
          <p:cNvPr id="4" name="blk0003"/>
          <p:cNvSpPr/>
          <p:nvPr/>
        </p:nvSpPr>
        <p:spPr>
          <a:xfrm>
            <a:off x="741600" y="312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3"/>
          <p:cNvSpPr txBox="1"/>
          <p:nvPr/>
        </p:nvSpPr>
        <p:spPr>
          <a:xfrm>
            <a:off x="1252800" y="3096000"/>
            <a:ext cx="8118000" cy="61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hand tracker</a:t>
            </a:r>
            <a:r>
              <a:rPr sz="1600" b="0" i="0">
                <a:solidFill>
                  <a:srgbClr val="FFFFFF"/>
                </a:solidFill>
                <a:latin typeface="Avenir"/>
                <a:ea typeface="Avenir"/>
                <a:cs typeface="Avenir"/>
                <a:sym typeface="Avenir"/>
              </a:rPr>
              <a:t> that turns a picture of your hand into a number.</a:t>
            </a:r>
          </a:p>
        </p:txBody>
      </p:sp>
      <p:sp>
        <p:nvSpPr>
          <p:cNvPr id="6" name="blk0004"/>
          <p:cNvSpPr/>
          <p:nvPr/>
        </p:nvSpPr>
        <p:spPr>
          <a:xfrm>
            <a:off x="741600" y="373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04"/>
          <p:cNvSpPr txBox="1"/>
          <p:nvPr/>
        </p:nvSpPr>
        <p:spPr>
          <a:xfrm>
            <a:off x="1252800" y="3708000"/>
            <a:ext cx="8118000" cy="61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 set of rules</a:t>
            </a:r>
            <a:r>
              <a:rPr sz="1600" b="0" i="0">
                <a:solidFill>
                  <a:srgbClr val="FFFFFF"/>
                </a:solidFill>
                <a:latin typeface="Avenir"/>
                <a:ea typeface="Avenir"/>
                <a:cs typeface="Avenir"/>
                <a:sym typeface="Avenir"/>
              </a:rPr>
              <a:t> that decides who won the round.</a:t>
            </a:r>
          </a:p>
        </p:txBody>
      </p:sp>
      <p:sp>
        <p:nvSpPr>
          <p:cNvPr id="8" name="blk0005"/>
          <p:cNvSpPr/>
          <p:nvPr/>
        </p:nvSpPr>
        <p:spPr>
          <a:xfrm>
            <a:off x="741600" y="43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05"/>
          <p:cNvSpPr txBox="1"/>
          <p:nvPr/>
        </p:nvSpPr>
        <p:spPr>
          <a:xfrm>
            <a:off x="1252800" y="4320000"/>
            <a:ext cx="8118000" cy="61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An arm</a:t>
            </a:r>
            <a:r>
              <a:rPr sz="1600" b="0" i="0">
                <a:solidFill>
                  <a:srgbClr val="FFFFFF"/>
                </a:solidFill>
                <a:latin typeface="Avenir"/>
                <a:ea typeface="Avenir"/>
                <a:cs typeface="Avenir"/>
                <a:sym typeface="Avenir"/>
              </a:rPr>
              <a:t> that physically performs the robot gesture.</a:t>
            </a:r>
          </a:p>
        </p:txBody>
      </p:sp>
      <p:sp>
        <p:nvSpPr>
          <p:cNvPr id="10" name="blk0006"/>
          <p:cNvSpPr/>
          <p:nvPr/>
        </p:nvSpPr>
        <p:spPr>
          <a:xfrm>
            <a:off x="687600" y="5184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06"/>
          <p:cNvSpPr/>
          <p:nvPr/>
        </p:nvSpPr>
        <p:spPr>
          <a:xfrm>
            <a:off x="885600" y="5497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06"/>
          <p:cNvSpPr txBox="1"/>
          <p:nvPr/>
        </p:nvSpPr>
        <p:spPr>
          <a:xfrm>
            <a:off x="1162800" y="532800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first project where the arm is not decoration. If it does not move, the project is not finished.</a:t>
            </a:r>
          </a:p>
        </p:txBody>
      </p:sp>
      <p:sp>
        <p:nvSpPr>
          <p:cNvPr id="13" name="blk0007"/>
          <p:cNvSpPr txBox="1"/>
          <p:nvPr/>
        </p:nvSpPr>
        <p:spPr>
          <a:xfrm>
            <a:off x="687600" y="608399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Project 5 was careful to keep the robot optional. This one is the opposite on purpose — but "the arm is essential" and "the program dies without the arm" are two different claims, and this project is about the gap between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systems, one loop</a:t>
            </a:r>
          </a:p>
        </p:txBody>
      </p:sp>
      <p:sp>
        <p:nvSpPr>
          <p:cNvPr id="3" name="blk000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main loop is short enough to hold in your head, and it does the same five things forever:</a:t>
            </a:r>
          </a:p>
        </p:txBody>
      </p:sp>
      <p:sp>
        <p:nvSpPr>
          <p:cNvPr id="4" name="blk0010"/>
          <p:cNvSpPr/>
          <p:nvPr/>
        </p:nvSpPr>
        <p:spPr>
          <a:xfrm>
            <a:off x="687600" y="2520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0"/>
          <p:cNvSpPr txBox="1"/>
          <p:nvPr/>
        </p:nvSpPr>
        <p:spPr>
          <a:xfrm>
            <a:off x="687600" y="2520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010"/>
          <p:cNvSpPr txBox="1"/>
          <p:nvPr/>
        </p:nvSpPr>
        <p:spPr>
          <a:xfrm>
            <a:off x="1252800" y="2498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Get a frame</a:t>
            </a:r>
          </a:p>
        </p:txBody>
      </p:sp>
      <p:sp>
        <p:nvSpPr>
          <p:cNvPr id="7" name="blk0010"/>
          <p:cNvSpPr txBox="1"/>
          <p:nvPr/>
        </p:nvSpPr>
        <p:spPr>
          <a:xfrm>
            <a:off x="1252800" y="281880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From a background thread, not straight off the camera.</a:t>
            </a:r>
          </a:p>
        </p:txBody>
      </p:sp>
      <p:sp>
        <p:nvSpPr>
          <p:cNvPr id="8" name="blk0011"/>
          <p:cNvSpPr/>
          <p:nvPr/>
        </p:nvSpPr>
        <p:spPr>
          <a:xfrm>
            <a:off x="687600" y="3222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11"/>
          <p:cNvSpPr txBox="1"/>
          <p:nvPr/>
        </p:nvSpPr>
        <p:spPr>
          <a:xfrm>
            <a:off x="687600" y="3222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011"/>
          <p:cNvSpPr txBox="1"/>
          <p:nvPr/>
        </p:nvSpPr>
        <p:spPr>
          <a:xfrm>
            <a:off x="1252800" y="3201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Find the hand</a:t>
            </a:r>
          </a:p>
        </p:txBody>
      </p:sp>
      <p:sp>
        <p:nvSpPr>
          <p:cNvPr id="11" name="blk0011"/>
          <p:cNvSpPr txBox="1"/>
          <p:nvPr/>
        </p:nvSpPr>
        <p:spPr>
          <a:xfrm>
            <a:off x="1252800" y="352152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MediaPipe returns landmarks, not an image of a hand.</a:t>
            </a:r>
          </a:p>
        </p:txBody>
      </p:sp>
      <p:sp>
        <p:nvSpPr>
          <p:cNvPr id="12" name="blk0012"/>
          <p:cNvSpPr/>
          <p:nvPr/>
        </p:nvSpPr>
        <p:spPr>
          <a:xfrm>
            <a:off x="687600" y="39254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12"/>
          <p:cNvSpPr txBox="1"/>
          <p:nvPr/>
        </p:nvSpPr>
        <p:spPr>
          <a:xfrm>
            <a:off x="687600" y="39254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012"/>
          <p:cNvSpPr txBox="1"/>
          <p:nvPr/>
        </p:nvSpPr>
        <p:spPr>
          <a:xfrm>
            <a:off x="1252800" y="39038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Count and decide</a:t>
            </a:r>
          </a:p>
        </p:txBody>
      </p:sp>
      <p:sp>
        <p:nvSpPr>
          <p:cNvPr id="15" name="blk0012"/>
          <p:cNvSpPr txBox="1"/>
          <p:nvPr/>
        </p:nvSpPr>
        <p:spPr>
          <a:xfrm>
            <a:off x="1252800" y="422424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Fingers to a gesture, both gestures to a winner.</a:t>
            </a:r>
          </a:p>
        </p:txBody>
      </p:sp>
      <p:sp>
        <p:nvSpPr>
          <p:cNvPr id="16" name="blk0013"/>
          <p:cNvSpPr/>
          <p:nvPr/>
        </p:nvSpPr>
        <p:spPr>
          <a:xfrm>
            <a:off x="687600" y="46281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013"/>
          <p:cNvSpPr txBox="1"/>
          <p:nvPr/>
        </p:nvSpPr>
        <p:spPr>
          <a:xfrm>
            <a:off x="687600" y="46281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013"/>
          <p:cNvSpPr txBox="1"/>
          <p:nvPr/>
        </p:nvSpPr>
        <p:spPr>
          <a:xfrm>
            <a:off x="1252800" y="46065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Move the arm</a:t>
            </a:r>
          </a:p>
        </p:txBody>
      </p:sp>
      <p:sp>
        <p:nvSpPr>
          <p:cNvPr id="19" name="blk0013"/>
          <p:cNvSpPr txBox="1"/>
          <p:nvPr/>
        </p:nvSpPr>
        <p:spPr>
          <a:xfrm>
            <a:off x="1252800" y="492696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Four and a half seconds of sleeping, in the middle of the loop.</a:t>
            </a:r>
          </a:p>
        </p:txBody>
      </p:sp>
      <p:sp>
        <p:nvSpPr>
          <p:cNvPr id="20" name="blk0014"/>
          <p:cNvSpPr/>
          <p:nvPr/>
        </p:nvSpPr>
        <p:spPr>
          <a:xfrm>
            <a:off x="687600" y="533088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014"/>
          <p:cNvSpPr txBox="1"/>
          <p:nvPr/>
        </p:nvSpPr>
        <p:spPr>
          <a:xfrm>
            <a:off x="687600" y="533088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5</a:t>
            </a:r>
          </a:p>
        </p:txBody>
      </p:sp>
      <p:sp>
        <p:nvSpPr>
          <p:cNvPr id="22" name="blk0014"/>
          <p:cNvSpPr txBox="1"/>
          <p:nvPr/>
        </p:nvSpPr>
        <p:spPr>
          <a:xfrm>
            <a:off x="1252800" y="530928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Draw and show</a:t>
            </a:r>
          </a:p>
        </p:txBody>
      </p:sp>
      <p:sp>
        <p:nvSpPr>
          <p:cNvPr id="23" name="blk0014"/>
          <p:cNvSpPr txBox="1"/>
          <p:nvPr/>
        </p:nvSpPr>
        <p:spPr>
          <a:xfrm>
            <a:off x="1252800" y="562968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picture you actually look at.</a:t>
            </a:r>
          </a:p>
        </p:txBody>
      </p:sp>
      <p:sp>
        <p:nvSpPr>
          <p:cNvPr id="24" name="blk0015"/>
          <p:cNvSpPr txBox="1"/>
          <p:nvPr/>
        </p:nvSpPr>
        <p:spPr>
          <a:xfrm>
            <a:off x="687600" y="6120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Step 4 is the one that surprises people. A blocking call in the middle of a real-time loop does not make the loop slower — it stops it completely. Everything in this project that feels wrong at first is downstream of those four and a half seconds.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robot that can be absent</a:t>
            </a:r>
          </a:p>
        </p:txBody>
      </p:sp>
      <p:sp>
        <p:nvSpPr>
          <p:cNvPr id="3" name="blk001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arm is essential to this project, but it is not essential to the program running. Those are different requirements, and the file is built to satisfy both.</a:t>
            </a:r>
          </a:p>
        </p:txBody>
      </p:sp>
      <p:sp>
        <p:nvSpPr>
          <p:cNvPr id="4" name="blk0018"/>
          <p:cNvSpPr/>
          <p:nvPr/>
        </p:nvSpPr>
        <p:spPr>
          <a:xfrm>
            <a:off x="687600" y="2664000"/>
            <a:ext cx="8686800" cy="171375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8"/>
          <p:cNvSpPr txBox="1"/>
          <p:nvPr/>
        </p:nvSpPr>
        <p:spPr>
          <a:xfrm>
            <a:off x="910799" y="2826000"/>
            <a:ext cx="8240400" cy="1389757"/>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The robot handle. None means "no arm", and every use of it below is</a:t>
            </a:r>
          </a:p>
          <a:p>
            <a:pPr algn="l">
              <a:lnSpc>
                <a:spcPct val="115000"/>
              </a:lnSpc>
            </a:pPr>
            <a:r>
              <a:rPr sz="1200" b="0" i="0">
                <a:solidFill>
                  <a:srgbClr val="FFFFFF"/>
                </a:solidFill>
                <a:latin typeface="Courier New"/>
                <a:ea typeface="Courier New"/>
                <a:cs typeface="Courier New"/>
                <a:sym typeface="Courier New"/>
              </a:rPr>
              <a:t># guarded, so the gesture game still runs on a machine with no robot.</a:t>
            </a:r>
          </a:p>
          <a:p>
            <a:pPr algn="l">
              <a:lnSpc>
                <a:spcPct val="115000"/>
              </a:lnSpc>
            </a:pPr>
            <a:r>
              <a:rPr sz="1200" b="0" i="0">
                <a:solidFill>
                  <a:srgbClr val="FFFFFF"/>
                </a:solidFill>
                <a:latin typeface="Courier New"/>
                <a:ea typeface="Courier New"/>
                <a:cs typeface="Courier New"/>
                <a:sym typeface="Courier New"/>
              </a:rPr>
              <a:t>mc = None</a:t>
            </a:r>
          </a:p>
          <a:p>
            <a:pPr algn="l">
              <a:lnSpc>
                <a:spcPct val="115000"/>
              </a:lnSpc>
            </a:pPr>
            <a:r>
              <a:rPr sz="1200" b="0" i="0">
                <a:solidFill>
                  <a:srgbClr val="FFFFFF"/>
                </a:solidFill>
                <a:latin typeface="Courier New"/>
                <a:ea typeface="Courier New"/>
                <a:cs typeface="Courier New"/>
                <a:sym typeface="Courier New"/>
              </a:rPr>
              <a:t/>
            </a:r>
          </a:p>
          <a:p>
            <a:pPr algn="l">
              <a:lnSpc>
                <a:spcPct val="115000"/>
              </a:lnSpc>
            </a:pPr>
            <a:r>
              <a:rPr sz="1200" b="0" i="0">
                <a:solidFill>
                  <a:srgbClr val="FFFFFF"/>
                </a:solidFill>
                <a:latin typeface="Courier New"/>
                <a:ea typeface="Courier New"/>
                <a:cs typeface="Courier New"/>
                <a:sym typeface="Courier New"/>
              </a:rPr>
              <a:t># Home pose. Used at startup and again at the end of every round, so it</a:t>
            </a:r>
          </a:p>
          <a:p>
            <a:pPr algn="l">
              <a:lnSpc>
                <a:spcPct val="115000"/>
              </a:lnSpc>
            </a:pPr>
            <a:r>
              <a:rPr sz="1200" b="0" i="0">
                <a:solidFill>
                  <a:srgbClr val="FFFFFF"/>
                </a:solidFill>
                <a:latin typeface="Courier New"/>
                <a:ea typeface="Courier New"/>
                <a:cs typeface="Courier New"/>
                <a:sym typeface="Courier New"/>
              </a:rPr>
              <a:t># lives at module level rather than inside the try block below.</a:t>
            </a:r>
          </a:p>
          <a:p>
            <a:pPr algn="l">
              <a:lnSpc>
                <a:spcPct val="115000"/>
              </a:lnSpc>
            </a:pPr>
            <a:r>
              <a:rPr sz="1200" b="0" i="0">
                <a:solidFill>
                  <a:srgbClr val="FFFFFF"/>
                </a:solidFill>
                <a:latin typeface="Courier New"/>
                <a:ea typeface="Courier New"/>
                <a:cs typeface="Courier New"/>
                <a:sym typeface="Courier New"/>
              </a:rPr>
              <a:t>home_pos = [0, 0, 0, 0, 0, 0]</a:t>
            </a:r>
          </a:p>
        </p:txBody>
      </p:sp>
      <p:sp>
        <p:nvSpPr>
          <p:cNvPr id="6" name="blk0019"/>
          <p:cNvSpPr txBox="1"/>
          <p:nvPr/>
        </p:nvSpPr>
        <p:spPr>
          <a:xfrm>
            <a:off x="687600" y="4485757"/>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decisions in six lines. The handle starts as </a:t>
            </a:r>
            <a:r>
              <a:rPr sz="1743" b="0" i="0">
                <a:solidFill>
                  <a:srgbClr val="FFFFFF"/>
                </a:solidFill>
                <a:latin typeface="Courier New"/>
                <a:ea typeface="Courier New"/>
                <a:cs typeface="Courier New"/>
                <a:sym typeface="Courier New"/>
              </a:rPr>
              <a:t>None</a:t>
            </a:r>
            <a:r>
              <a:rPr sz="2027" b="0" i="0">
                <a:solidFill>
                  <a:srgbClr val="FFFFFF"/>
                </a:solidFill>
                <a:latin typeface="Avenir"/>
                <a:ea typeface="Avenir"/>
                <a:cs typeface="Avenir"/>
                <a:sym typeface="Avenir"/>
              </a:rPr>
              <a:t> so it always exists, whatever the hardware does. And the home pose moves out of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because two functions need it and only one of them runs inside that block.</a:t>
            </a:r>
          </a:p>
        </p:txBody>
      </p:sp>
      <p:sp>
        <p:nvSpPr>
          <p:cNvPr id="7" name="blk0020"/>
          <p:cNvSpPr txBox="1"/>
          <p:nvPr/>
        </p:nvSpPr>
        <p:spPr>
          <a:xfrm>
            <a:off x="687600" y="5829416"/>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Anything created inside a </a:t>
            </a:r>
            <a:r>
              <a:rPr sz="1419" b="0" i="0">
                <a:solidFill>
                  <a:srgbClr val="FFFFFF"/>
                </a:solidFill>
                <a:latin typeface="Courier New"/>
                <a:ea typeface="Courier New"/>
                <a:cs typeface="Courier New"/>
                <a:sym typeface="Courier New"/>
              </a:rPr>
              <a:t>try</a:t>
            </a:r>
            <a:r>
              <a:rPr sz="1650" b="0" i="0">
                <a:solidFill>
                  <a:srgbClr val="FFFFFF"/>
                </a:solidFill>
                <a:latin typeface="Avenir"/>
                <a:ea typeface="Avenir"/>
                <a:cs typeface="Avenir"/>
                <a:sym typeface="Avenir"/>
              </a:rPr>
              <a:t> block may not exist when you reach the handler. Hoisting a shared constant out is the quiet fix that prevents a whole family of late, confusing crashes.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MediaPipe hands you</a:t>
            </a:r>
          </a:p>
        </p:txBody>
      </p:sp>
      <p:sp>
        <p:nvSpPr>
          <p:cNvPr id="3" name="blk002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Project 5 asked OpenCV for a colour. This project asks MediaPipe for a hand, and it gets back a list of 21 numbered points — one per finger joint, plus a wrist.</a:t>
            </a:r>
          </a:p>
          <a:p>
            <a:pPr algn="l">
              <a:lnSpc>
                <a:spcPct val="100000"/>
              </a:lnSpc>
            </a:pPr>
            <a:r>
              <a:rPr sz="2027" b="0" i="0">
                <a:solidFill>
                  <a:srgbClr val="FFFFFF"/>
                </a:solidFill>
                <a:latin typeface="Avenir"/>
                <a:ea typeface="Avenir"/>
                <a:cs typeface="Avenir"/>
                <a:sym typeface="Avenir"/>
              </a:rPr>
              <a:t>The points come in a fixed order, every time, for every hand:</a:t>
            </a:r>
          </a:p>
        </p:txBody>
      </p:sp>
      <p:sp>
        <p:nvSpPr>
          <p:cNvPr id="4" name="blk0023"/>
          <p:cNvSpPr/>
          <p:nvPr/>
        </p:nvSpPr>
        <p:spPr>
          <a:xfrm>
            <a:off x="687600" y="3096000"/>
            <a:ext cx="8686800" cy="7707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3"/>
          <p:cNvSpPr txBox="1"/>
          <p:nvPr/>
        </p:nvSpPr>
        <p:spPr>
          <a:xfrm>
            <a:off x="910799" y="3257999"/>
            <a:ext cx="8240400" cy="446707"/>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    tips = [4, 8, 12, 16, 20]  # Thumb, Index, Middle, Ring, Pinky tips</a:t>
            </a:r>
          </a:p>
          <a:p>
            <a:pPr algn="l">
              <a:lnSpc>
                <a:spcPct val="115000"/>
              </a:lnSpc>
            </a:pPr>
            <a:r>
              <a:rPr sz="1350" b="0" i="0">
                <a:solidFill>
                  <a:srgbClr val="FFFFFF"/>
                </a:solidFill>
                <a:latin typeface="Courier New"/>
                <a:ea typeface="Courier New"/>
                <a:cs typeface="Courier New"/>
                <a:sym typeface="Courier New"/>
              </a:rPr>
              <a:t>    pips = [3, 6, 10, 14, 18]  # Corresponding PIP joints</a:t>
            </a:r>
          </a:p>
        </p:txBody>
      </p:sp>
      <p:sp>
        <p:nvSpPr>
          <p:cNvPr id="6" name="blk0024"/>
          <p:cNvSpPr txBox="1"/>
          <p:nvPr/>
        </p:nvSpPr>
        <p:spPr>
          <a:xfrm>
            <a:off x="687600" y="4248000"/>
            <a:ext cx="7542000" cy="338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parallel lists. The thumb is 4, the index finger is 8, the middle is 12, and so on. Because the order never changes, you can count fingers by comparing numbers in a list instead of reasoning about a picture.</a:t>
            </a:r>
          </a:p>
        </p:txBody>
      </p:sp>
      <p:sp>
        <p:nvSpPr>
          <p:cNvPr id="7" name="blk0025"/>
          <p:cNvSpPr/>
          <p:nvPr/>
        </p:nvSpPr>
        <p:spPr>
          <a:xfrm>
            <a:off x="687600" y="5591659"/>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25"/>
          <p:cNvSpPr/>
          <p:nvPr/>
        </p:nvSpPr>
        <p:spPr>
          <a:xfrm>
            <a:off x="885600" y="595525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25"/>
          <p:cNvSpPr txBox="1"/>
          <p:nvPr/>
        </p:nvSpPr>
        <p:spPr>
          <a:xfrm>
            <a:off x="1162800" y="5735659"/>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whole reason to use a tracker. A shape recogniser gives you a label; a hand tracker gives you coordinates you can ask your own questions of.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Fractions, not pixels</a:t>
            </a:r>
          </a:p>
        </p:txBody>
      </p:sp>
      <p:sp>
        <p:nvSpPr>
          <p:cNvPr id="3" name="blk002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landmark has </a:t>
            </a: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.y</a:t>
            </a:r>
            <a:r>
              <a:rPr sz="2027" b="0" i="0">
                <a:solidFill>
                  <a:srgbClr val="FFFFFF"/>
                </a:solidFill>
                <a:latin typeface="Avenir"/>
                <a:ea typeface="Avenir"/>
                <a:cs typeface="Avenir"/>
                <a:sym typeface="Avenir"/>
              </a:rPr>
              <a:t> values, and they are not pixel coordinates. They are normalised: 0.0 is the left or top edge of the frame, 1.0 is the right or bottom edge.</a:t>
            </a:r>
          </a:p>
          <a:p>
            <a:pPr algn="l">
              <a:lnSpc>
                <a:spcPct val="100000"/>
              </a:lnSpc>
            </a:pPr>
            <a:r>
              <a:rPr sz="2027" b="0" i="0">
                <a:solidFill>
                  <a:srgbClr val="FFFFFF"/>
                </a:solidFill>
                <a:latin typeface="Avenir"/>
                <a:ea typeface="Avenir"/>
                <a:cs typeface="Avenir"/>
                <a:sym typeface="Avenir"/>
              </a:rPr>
              <a:t>That single decision removes a whole class of bugs. The code below never converts to pixels, and it does not need to:</a:t>
            </a:r>
          </a:p>
        </p:txBody>
      </p:sp>
      <p:sp>
        <p:nvSpPr>
          <p:cNvPr id="4" name="blk0028"/>
          <p:cNvSpPr/>
          <p:nvPr/>
        </p:nvSpPr>
        <p:spPr>
          <a:xfrm>
            <a:off x="687600" y="3384000"/>
            <a:ext cx="8686800" cy="72107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8"/>
          <p:cNvSpPr txBox="1"/>
          <p:nvPr/>
        </p:nvSpPr>
        <p:spPr>
          <a:xfrm>
            <a:off x="910799" y="3546000"/>
            <a:ext cx="8240400" cy="39707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if hand_landmarks.landmark[tips[0]].x &lt; hand_landmarks.landmark[pips[0]].x:</a:t>
            </a:r>
          </a:p>
          <a:p>
            <a:pPr algn="l">
              <a:lnSpc>
                <a:spcPct val="115000"/>
              </a:lnSpc>
            </a:pPr>
            <a:r>
              <a:rPr sz="1200" b="0" i="0">
                <a:solidFill>
                  <a:srgbClr val="FFFFFF"/>
                </a:solidFill>
                <a:latin typeface="Courier New"/>
                <a:ea typeface="Courier New"/>
                <a:cs typeface="Courier New"/>
                <a:sym typeface="Courier New"/>
              </a:rPr>
              <a:t>        extended += 1</a:t>
            </a:r>
          </a:p>
        </p:txBody>
      </p:sp>
      <p:sp>
        <p:nvSpPr>
          <p:cNvPr id="6" name="blk0029"/>
          <p:cNvSpPr txBox="1"/>
          <p:nvPr/>
        </p:nvSpPr>
        <p:spPr>
          <a:xfrm>
            <a:off x="687600" y="4536000"/>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Because the values scale with the frame, the same comparison works at 640x480 and at 1280x720, and it still works if the hand moves toward the far side of the picture. Only the ordering is being tested — is this number smaller than that one — and ordering does not care about units.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the thumb is different</a:t>
            </a:r>
          </a:p>
        </p:txBody>
      </p:sp>
      <p:sp>
        <p:nvSpPr>
          <p:cNvPr id="3" name="blk003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thumb sticks out sideways. Comparing its tip to its joint on the </a:t>
            </a:r>
            <a:r>
              <a:rPr sz="1743" b="0" i="0">
                <a:solidFill>
                  <a:srgbClr val="FFFFFF"/>
                </a:solidFill>
                <a:latin typeface="Courier New"/>
                <a:ea typeface="Courier New"/>
                <a:cs typeface="Courier New"/>
                <a:sym typeface="Courier New"/>
              </a:rPr>
              <a:t>y</a:t>
            </a:r>
            <a:r>
              <a:rPr sz="2027" b="0" i="0">
                <a:solidFill>
                  <a:srgbClr val="FFFFFF"/>
                </a:solidFill>
                <a:latin typeface="Avenir"/>
                <a:ea typeface="Avenir"/>
                <a:cs typeface="Avenir"/>
                <a:sym typeface="Avenir"/>
              </a:rPr>
              <a:t> axis tells you almost nothing — a raised thumb and a thumb folded across the palm can sit at the same height. So the thumb gets its own test, on </a:t>
            </a: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a:t>
            </a:r>
          </a:p>
        </p:txBody>
      </p:sp>
      <p:sp>
        <p:nvSpPr>
          <p:cNvPr id="4" name="blk0032"/>
          <p:cNvSpPr/>
          <p:nvPr/>
        </p:nvSpPr>
        <p:spPr>
          <a:xfrm>
            <a:off x="687600" y="3096000"/>
            <a:ext cx="8686800" cy="91961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2"/>
          <p:cNvSpPr txBox="1"/>
          <p:nvPr/>
        </p:nvSpPr>
        <p:spPr>
          <a:xfrm>
            <a:off x="910799" y="3257999"/>
            <a:ext cx="8240400" cy="595610"/>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 Thumb: compare x-coordinates (horizontal)</a:t>
            </a:r>
          </a:p>
          <a:p>
            <a:pPr algn="l">
              <a:lnSpc>
                <a:spcPct val="115000"/>
              </a:lnSpc>
            </a:pPr>
            <a:r>
              <a:rPr sz="1200" b="0" i="0">
                <a:solidFill>
                  <a:srgbClr val="FFFFFF"/>
                </a:solidFill>
                <a:latin typeface="Courier New"/>
                <a:ea typeface="Courier New"/>
                <a:cs typeface="Courier New"/>
                <a:sym typeface="Courier New"/>
              </a:rPr>
              <a:t>    if hand_landmarks.landmark[tips[0]].x &lt; hand_landmarks.landmark[pips[0]].x:</a:t>
            </a:r>
          </a:p>
          <a:p>
            <a:pPr algn="l">
              <a:lnSpc>
                <a:spcPct val="115000"/>
              </a:lnSpc>
            </a:pPr>
            <a:r>
              <a:rPr sz="1200" b="0" i="0">
                <a:solidFill>
                  <a:srgbClr val="FFFFFF"/>
                </a:solidFill>
                <a:latin typeface="Courier New"/>
                <a:ea typeface="Courier New"/>
                <a:cs typeface="Courier New"/>
                <a:sym typeface="Courier New"/>
              </a:rPr>
              <a:t>        extended += 1</a:t>
            </a:r>
          </a:p>
        </p:txBody>
      </p:sp>
      <p:sp>
        <p:nvSpPr>
          <p:cNvPr id="6" name="blk0033"/>
          <p:cNvSpPr txBox="1"/>
          <p:nvPr/>
        </p:nvSpPr>
        <p:spPr>
          <a:xfrm>
            <a:off x="687600" y="4248000"/>
            <a:ext cx="7542000" cy="338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other four fingers all point the same way, so one loop covers them:</a:t>
            </a:r>
          </a:p>
        </p:txBody>
      </p:sp>
      <p:sp>
        <p:nvSpPr>
          <p:cNvPr id="7" name="blk0034"/>
          <p:cNvSpPr/>
          <p:nvPr/>
        </p:nvSpPr>
        <p:spPr>
          <a:xfrm>
            <a:off x="687600" y="4973829"/>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34"/>
          <p:cNvSpPr txBox="1"/>
          <p:nvPr/>
        </p:nvSpPr>
        <p:spPr>
          <a:xfrm>
            <a:off x="910799" y="5135829"/>
            <a:ext cx="8240400" cy="694878"/>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    # Other 4 fingers: compare y-coordinates (vertical, tip above pip = extended)</a:t>
            </a:r>
          </a:p>
          <a:p>
            <a:pPr algn="l">
              <a:lnSpc>
                <a:spcPct val="115000"/>
              </a:lnSpc>
            </a:pPr>
            <a:r>
              <a:rPr sz="1050" b="0" i="0">
                <a:solidFill>
                  <a:srgbClr val="FFFFFF"/>
                </a:solidFill>
                <a:latin typeface="Courier New"/>
                <a:ea typeface="Courier New"/>
                <a:cs typeface="Courier New"/>
                <a:sym typeface="Courier New"/>
              </a:rPr>
              <a:t>    for i in range(1, 5):</a:t>
            </a:r>
          </a:p>
          <a:p>
            <a:pPr algn="l">
              <a:lnSpc>
                <a:spcPct val="115000"/>
              </a:lnSpc>
            </a:pPr>
            <a:r>
              <a:rPr sz="1050" b="0" i="0">
                <a:solidFill>
                  <a:srgbClr val="FFFFFF"/>
                </a:solidFill>
                <a:latin typeface="Courier New"/>
                <a:ea typeface="Courier New"/>
                <a:cs typeface="Courier New"/>
                <a:sym typeface="Courier New"/>
              </a:rPr>
              <a:t>        if hand_landmarks.landmark[tips[i]].y &lt; hand_landmarks.landmark[pips[i]].y:</a:t>
            </a:r>
          </a:p>
          <a:p>
            <a:pPr algn="l">
              <a:lnSpc>
                <a:spcPct val="115000"/>
              </a:lnSpc>
            </a:pPr>
            <a:r>
              <a:rPr sz="1050" b="0" i="0">
                <a:solidFill>
                  <a:srgbClr val="FFFFFF"/>
                </a:solidFill>
                <a:latin typeface="Courier New"/>
                <a:ea typeface="Courier New"/>
                <a:cs typeface="Courier New"/>
                <a:sym typeface="Courier New"/>
              </a:rPr>
              <a:t>            extended += 1</a:t>
            </a:r>
          </a:p>
        </p:txBody>
      </p:sp>
      <p:sp>
        <p:nvSpPr>
          <p:cNvPr id="9" name="blk0035"/>
          <p:cNvSpPr/>
          <p:nvPr/>
        </p:nvSpPr>
        <p:spPr>
          <a:xfrm>
            <a:off x="687600" y="612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35"/>
          <p:cNvSpPr/>
          <p:nvPr/>
        </p:nvSpPr>
        <p:spPr>
          <a:xfrm>
            <a:off x="885600" y="657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35"/>
          <p:cNvSpPr txBox="1"/>
          <p:nvPr/>
        </p:nvSpPr>
        <p:spPr>
          <a:xfrm>
            <a:off x="1162800" y="626399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Note the loop starts at </a:t>
            </a:r>
            <a:r>
              <a:rPr sz="1290" b="0" i="1">
                <a:solidFill>
                  <a:srgbClr val="FFCF08"/>
                </a:solidFill>
                <a:latin typeface="Courier New"/>
                <a:ea typeface="Courier New"/>
                <a:cs typeface="Courier New"/>
                <a:sym typeface="Courier New"/>
              </a:rPr>
              <a:t>1</a:t>
            </a:r>
            <a:r>
              <a:rPr sz="1500" b="0" i="1">
                <a:solidFill>
                  <a:srgbClr val="FFCF08"/>
                </a:solidFill>
                <a:latin typeface="Avenir"/>
                <a:ea typeface="Avenir"/>
                <a:cs typeface="Avenir"/>
                <a:sym typeface="Avenir"/>
              </a:rPr>
              <a:t>, not 0. The thumb was already counted by hand, so index 0 is skipped. An off-by-one here is the classic bug in this function, and it shows up as a hand that always reports one finger too many.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Count, then gesture</a:t>
            </a:r>
          </a:p>
        </p:txBody>
      </p:sp>
      <p:sp>
        <p:nvSpPr>
          <p:cNvPr id="3" name="blk003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Counting is done. Turning a count into a name is four branches and no cleverness at all:</a:t>
            </a:r>
          </a:p>
        </p:txBody>
      </p:sp>
      <p:sp>
        <p:nvSpPr>
          <p:cNvPr id="4" name="blk0038"/>
          <p:cNvSpPr/>
          <p:nvPr/>
        </p:nvSpPr>
        <p:spPr>
          <a:xfrm>
            <a:off x="687600" y="2448000"/>
            <a:ext cx="8686800" cy="204465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8"/>
          <p:cNvSpPr txBox="1"/>
          <p:nvPr/>
        </p:nvSpPr>
        <p:spPr>
          <a:xfrm>
            <a:off x="910799" y="2610000"/>
            <a:ext cx="8240400" cy="172065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if finger_count == 0:</a:t>
            </a:r>
          </a:p>
          <a:p>
            <a:pPr algn="l">
              <a:lnSpc>
                <a:spcPct val="115000"/>
              </a:lnSpc>
            </a:pPr>
            <a:r>
              <a:rPr sz="1300" b="0" i="0">
                <a:solidFill>
                  <a:srgbClr val="FFFFFF"/>
                </a:solidFill>
                <a:latin typeface="Courier New"/>
                <a:ea typeface="Courier New"/>
                <a:cs typeface="Courier New"/>
                <a:sym typeface="Courier New"/>
              </a:rPr>
              <a:t>        return "Rock"</a:t>
            </a:r>
          </a:p>
          <a:p>
            <a:pPr algn="l">
              <a:lnSpc>
                <a:spcPct val="115000"/>
              </a:lnSpc>
            </a:pPr>
            <a:r>
              <a:rPr sz="1300" b="0" i="0">
                <a:solidFill>
                  <a:srgbClr val="FFFFFF"/>
                </a:solidFill>
                <a:latin typeface="Courier New"/>
                <a:ea typeface="Courier New"/>
                <a:cs typeface="Courier New"/>
                <a:sym typeface="Courier New"/>
              </a:rPr>
              <a:t>    elif finger_count == 5:</a:t>
            </a:r>
          </a:p>
          <a:p>
            <a:pPr algn="l">
              <a:lnSpc>
                <a:spcPct val="115000"/>
              </a:lnSpc>
            </a:pPr>
            <a:r>
              <a:rPr sz="1300" b="0" i="0">
                <a:solidFill>
                  <a:srgbClr val="FFFFFF"/>
                </a:solidFill>
                <a:latin typeface="Courier New"/>
                <a:ea typeface="Courier New"/>
                <a:cs typeface="Courier New"/>
                <a:sym typeface="Courier New"/>
              </a:rPr>
              <a:t>        return "Paper"</a:t>
            </a:r>
          </a:p>
          <a:p>
            <a:pPr algn="l">
              <a:lnSpc>
                <a:spcPct val="115000"/>
              </a:lnSpc>
            </a:pPr>
            <a:r>
              <a:rPr sz="1300" b="0" i="0">
                <a:solidFill>
                  <a:srgbClr val="FFFFFF"/>
                </a:solidFill>
                <a:latin typeface="Courier New"/>
                <a:ea typeface="Courier New"/>
                <a:cs typeface="Courier New"/>
                <a:sym typeface="Courier New"/>
              </a:rPr>
              <a:t>    elif finger_count == 2:</a:t>
            </a:r>
          </a:p>
          <a:p>
            <a:pPr algn="l">
              <a:lnSpc>
                <a:spcPct val="115000"/>
              </a:lnSpc>
            </a:pPr>
            <a:r>
              <a:rPr sz="1300" b="0" i="0">
                <a:solidFill>
                  <a:srgbClr val="FFFFFF"/>
                </a:solidFill>
                <a:latin typeface="Courier New"/>
                <a:ea typeface="Courier New"/>
                <a:cs typeface="Courier New"/>
                <a:sym typeface="Courier New"/>
              </a:rPr>
              <a:t>        return "Scissors"</a:t>
            </a:r>
          </a:p>
          <a:p>
            <a:pPr algn="l">
              <a:lnSpc>
                <a:spcPct val="115000"/>
              </a:lnSpc>
            </a:pPr>
            <a:r>
              <a:rPr sz="1300" b="0" i="0">
                <a:solidFill>
                  <a:srgbClr val="FFFFFF"/>
                </a:solidFill>
                <a:latin typeface="Courier New"/>
                <a:ea typeface="Courier New"/>
                <a:cs typeface="Courier New"/>
                <a:sym typeface="Courier New"/>
              </a:rPr>
              <a:t>    else:</a:t>
            </a:r>
          </a:p>
          <a:p>
            <a:pPr algn="l">
              <a:lnSpc>
                <a:spcPct val="115000"/>
              </a:lnSpc>
            </a:pPr>
            <a:r>
              <a:rPr sz="1300" b="0" i="0">
                <a:solidFill>
                  <a:srgbClr val="FFFFFF"/>
                </a:solidFill>
                <a:latin typeface="Courier New"/>
                <a:ea typeface="Courier New"/>
                <a:cs typeface="Courier New"/>
                <a:sym typeface="Courier New"/>
              </a:rPr>
              <a:t>        return "Unknown"</a:t>
            </a:r>
          </a:p>
        </p:txBody>
      </p:sp>
      <p:sp>
        <p:nvSpPr>
          <p:cNvPr id="6" name="blk0039"/>
          <p:cNvSpPr txBox="1"/>
          <p:nvPr/>
        </p:nvSpPr>
        <p:spPr>
          <a:xfrm>
            <a:off x="687600" y="4600651"/>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numbers are meaningful and everything else is refused. That last branch is not laziness — it is what lets the main loop wait for a proper gesture instead of guessing.</a:t>
            </a:r>
          </a:p>
        </p:txBody>
      </p:sp>
      <p:sp>
        <p:nvSpPr>
          <p:cNvPr id="7" name="blk0040"/>
          <p:cNvSpPr/>
          <p:nvPr/>
        </p:nvSpPr>
        <p:spPr>
          <a:xfrm>
            <a:off x="687600" y="5635395"/>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0"/>
          <p:cNvSpPr/>
          <p:nvPr/>
        </p:nvSpPr>
        <p:spPr>
          <a:xfrm>
            <a:off x="885600" y="6086475"/>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40"/>
          <p:cNvSpPr txBox="1"/>
          <p:nvPr/>
        </p:nvSpPr>
        <p:spPr>
          <a:xfrm>
            <a:off x="1162800" y="5779395"/>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Returning the string </a:t>
            </a:r>
            <a:r>
              <a:rPr sz="1290" b="0" i="1">
                <a:solidFill>
                  <a:srgbClr val="FFCF08"/>
                </a:solidFill>
                <a:latin typeface="Courier New"/>
                <a:ea typeface="Courier New"/>
                <a:cs typeface="Courier New"/>
                <a:sym typeface="Courier New"/>
              </a:rPr>
              <a:t>"Unknown"</a:t>
            </a:r>
            <a:r>
              <a:rPr sz="1500" b="0" i="1">
                <a:solidFill>
                  <a:srgbClr val="FFCF08"/>
                </a:solidFill>
                <a:latin typeface="Avenir"/>
                <a:ea typeface="Avenir"/>
                <a:cs typeface="Avenir"/>
                <a:sym typeface="Avenir"/>
              </a:rPr>
              <a:t> rather than a number or </a:t>
            </a:r>
            <a:r>
              <a:rPr sz="1290" b="0" i="1">
                <a:solidFill>
                  <a:srgbClr val="FFCF08"/>
                </a:solidFill>
                <a:latin typeface="Courier New"/>
                <a:ea typeface="Courier New"/>
                <a:cs typeface="Courier New"/>
                <a:sym typeface="Courier New"/>
              </a:rPr>
              <a:t>None</a:t>
            </a:r>
            <a:r>
              <a:rPr sz="1500" b="0" i="1">
                <a:solidFill>
                  <a:srgbClr val="FFCF08"/>
                </a:solidFill>
                <a:latin typeface="Avenir"/>
                <a:ea typeface="Avenir"/>
                <a:cs typeface="Avenir"/>
                <a:sym typeface="Avenir"/>
              </a:rPr>
              <a:t> is a good habit. Later code can test it against the list of real gestures with one </a:t>
            </a:r>
            <a:r>
              <a:rPr sz="1290" b="0" i="1">
                <a:solidFill>
                  <a:srgbClr val="FFCF08"/>
                </a:solidFill>
                <a:latin typeface="Courier New"/>
                <a:ea typeface="Courier New"/>
                <a:cs typeface="Courier New"/>
                <a:sym typeface="Courier New"/>
              </a:rPr>
              <a:t>in</a:t>
            </a:r>
            <a:r>
              <a:rPr sz="1500" b="0" i="1">
                <a:solidFill>
                  <a:srgbClr val="FFCF08"/>
                </a:solidFill>
                <a:latin typeface="Avenir"/>
                <a:ea typeface="Avenir"/>
                <a:cs typeface="Avenir"/>
                <a:sym typeface="Avenir"/>
              </a:rPr>
              <a:t> check and never has to guess what an unusual value meant.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limit of counting</a:t>
            </a:r>
          </a:p>
        </p:txBody>
      </p:sp>
      <p:sp>
        <p:nvSpPr>
          <p:cNvPr id="3" name="blk004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fingers means Scissors. But which two?</a:t>
            </a:r>
          </a:p>
        </p:txBody>
      </p:sp>
      <p:sp>
        <p:nvSpPr>
          <p:cNvPr id="4" name="blk0043"/>
          <p:cNvSpPr/>
          <p:nvPr/>
        </p:nvSpPr>
        <p:spPr>
          <a:xfrm>
            <a:off x="687600" y="2304000"/>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3"/>
          <p:cNvSpPr txBox="1"/>
          <p:nvPr/>
        </p:nvSpPr>
        <p:spPr>
          <a:xfrm>
            <a:off x="910799" y="2466000"/>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 2 fingers (index + middle) = Scissors</a:t>
            </a:r>
          </a:p>
        </p:txBody>
      </p:sp>
      <p:sp>
        <p:nvSpPr>
          <p:cNvPr id="6" name="blk0044"/>
          <p:cNvSpPr txBox="1"/>
          <p:nvPr/>
        </p:nvSpPr>
        <p:spPr>
          <a:xfrm>
            <a:off x="687600" y="302400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comment claims index and middle. The code cannot tell. A peace sign and a finger-gun both report a count of two, and both are classified as Scissors.</a:t>
            </a:r>
          </a:p>
        </p:txBody>
      </p:sp>
      <p:sp>
        <p:nvSpPr>
          <p:cNvPr id="7" name="blk0045"/>
          <p:cNvSpPr/>
          <p:nvPr/>
        </p:nvSpPr>
        <p:spPr>
          <a:xfrm>
            <a:off x="741600" y="413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5"/>
          <p:cNvSpPr txBox="1"/>
          <p:nvPr/>
        </p:nvSpPr>
        <p:spPr>
          <a:xfrm>
            <a:off x="1252800" y="4104000"/>
            <a:ext cx="8118000" cy="684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Counting throws away identity</a:t>
            </a:r>
            <a:r>
              <a:rPr sz="1600" b="0" i="0">
                <a:solidFill>
                  <a:srgbClr val="FFFFFF"/>
                </a:solidFill>
                <a:latin typeface="Avenir"/>
                <a:ea typeface="Avenir"/>
                <a:cs typeface="Avenir"/>
                <a:sym typeface="Avenir"/>
              </a:rPr>
              <a:t>  — it answers how many, never which.</a:t>
            </a:r>
          </a:p>
        </p:txBody>
      </p:sp>
      <p:sp>
        <p:nvSpPr>
          <p:cNvPr id="9" name="blk0046"/>
          <p:cNvSpPr/>
          <p:nvPr/>
        </p:nvSpPr>
        <p:spPr>
          <a:xfrm>
            <a:off x="741600" y="481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46"/>
          <p:cNvSpPr txBox="1"/>
          <p:nvPr/>
        </p:nvSpPr>
        <p:spPr>
          <a:xfrm>
            <a:off x="1252800" y="4788000"/>
            <a:ext cx="8118000" cy="684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landmarks still know</a:t>
            </a:r>
            <a:r>
              <a:rPr sz="1600" b="0" i="0">
                <a:solidFill>
                  <a:srgbClr val="FFFFFF"/>
                </a:solidFill>
                <a:latin typeface="Avenir"/>
                <a:ea typeface="Avenir"/>
                <a:cs typeface="Avenir"/>
                <a:sym typeface="Avenir"/>
              </a:rPr>
              <a:t>  — the tips list has a name for every finger, and nothing stops you testing each one individually.</a:t>
            </a:r>
          </a:p>
        </p:txBody>
      </p:sp>
      <p:sp>
        <p:nvSpPr>
          <p:cNvPr id="11" name="blk0047"/>
          <p:cNvSpPr txBox="1"/>
          <p:nvPr/>
        </p:nvSpPr>
        <p:spPr>
          <a:xfrm>
            <a:off x="687600" y="5760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Knowing what a limitation costs you is the difference between a program that works and one you understand. If identity mattered — say the robot had to point at a specific finger — you would compare </a:t>
            </a:r>
            <a:r>
              <a:rPr sz="1419" b="0" i="0">
                <a:solidFill>
                  <a:srgbClr val="FFFFFF"/>
                </a:solidFill>
                <a:latin typeface="Courier New"/>
                <a:ea typeface="Courier New"/>
                <a:cs typeface="Courier New"/>
                <a:sym typeface="Courier New"/>
              </a:rPr>
              <a:t>landmark[8]</a:t>
            </a:r>
            <a:r>
              <a:rPr sz="1650" b="0" i="0">
                <a:solidFill>
                  <a:srgbClr val="FFFFFF"/>
                </a:solidFill>
                <a:latin typeface="Avenir"/>
                <a:ea typeface="Avenir"/>
                <a:cs typeface="Avenir"/>
                <a:sym typeface="Avenir"/>
              </a:rPr>
              <a:t> against </a:t>
            </a:r>
            <a:r>
              <a:rPr sz="1419" b="0" i="0">
                <a:solidFill>
                  <a:srgbClr val="FFFFFF"/>
                </a:solidFill>
                <a:latin typeface="Courier New"/>
                <a:ea typeface="Courier New"/>
                <a:cs typeface="Courier New"/>
                <a:sym typeface="Courier New"/>
              </a:rPr>
              <a:t>landmark[12]</a:t>
            </a:r>
            <a:r>
              <a:rPr sz="1650" b="0" i="0">
                <a:solidFill>
                  <a:srgbClr val="FFFFFF"/>
                </a:solidFill>
                <a:latin typeface="Avenir"/>
                <a:ea typeface="Avenir"/>
                <a:cs typeface="Avenir"/>
                <a:sym typeface="Avenir"/>
              </a:rPr>
              <a:t> directly instead of counting.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a plain camera feels laggy</a:t>
            </a:r>
          </a:p>
        </p:txBody>
      </p:sp>
      <p:sp>
        <p:nvSpPr>
          <p:cNvPr id="3" name="blk004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project so far opened the camera and read it once per loop. That works fine. This project is different, because it adds </a:t>
            </a:r>
            <a:r>
              <a:rPr sz="2027" b="1" i="0">
                <a:solidFill>
                  <a:srgbClr val="FFFFFF"/>
                </a:solidFill>
                <a:latin typeface="Google Sans"/>
                <a:ea typeface="Google Sans"/>
                <a:cs typeface="Google Sans"/>
                <a:sym typeface="Google Sans"/>
              </a:rPr>
              <a:t>blocking</a:t>
            </a:r>
            <a:r>
              <a:rPr sz="2027" b="0" i="0">
                <a:solidFill>
                  <a:srgbClr val="FFFFFF"/>
                </a:solidFill>
                <a:latin typeface="Avenir"/>
                <a:ea typeface="Avenir"/>
                <a:cs typeface="Avenir"/>
                <a:sym typeface="Avenir"/>
              </a:rPr>
              <a:t> work to the loop — and that turns a small problem into an obvious one.</a:t>
            </a:r>
          </a:p>
        </p:txBody>
      </p:sp>
      <p:sp>
        <p:nvSpPr>
          <p:cNvPr id="4" name="blk0050"/>
          <p:cNvSpPr/>
          <p:nvPr/>
        </p:nvSpPr>
        <p:spPr>
          <a:xfrm>
            <a:off x="687600" y="324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0"/>
          <p:cNvSpPr/>
          <p:nvPr/>
        </p:nvSpPr>
        <p:spPr>
          <a:xfrm>
            <a:off x="885600" y="369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50"/>
          <p:cNvSpPr txBox="1"/>
          <p:nvPr/>
        </p:nvSpPr>
        <p:spPr>
          <a:xfrm>
            <a:off x="1162800" y="3384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camera does not deliver the frame you just asked for. It delivers the newest frame it has, and it keeps capturing while your code is busy. Those two facts are the whole problem.</a:t>
            </a:r>
          </a:p>
        </p:txBody>
      </p:sp>
      <p:sp>
        <p:nvSpPr>
          <p:cNvPr id="7" name="blk0051"/>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When your loop is fast, you read roughly the newest frame and nothing builds up. When your loop stalls for four seconds doing arm movements, the camera fills a buffer with four seconds of pictures. The next read hands you the oldest of them, not the newest.</a:t>
            </a:r>
          </a:p>
        </p:txBody>
      </p:sp>
      <p:sp>
        <p:nvSpPr>
          <p:cNvPr id="8" name="blk0052"/>
          <p:cNvSpPr txBox="1"/>
          <p:nvPr/>
        </p:nvSpPr>
        <p:spPr>
          <a:xfrm>
            <a:off x="687600" y="6116574"/>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So the lag you see is not the robot. It is the queue. The fix is not to make the loop faster — the loop has a genuine four and a half seconds of work in it — it is to stop the queue from ever building.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fix: never let a queue form</a:t>
            </a:r>
          </a:p>
        </p:txBody>
      </p:sp>
      <p:sp>
        <p:nvSpPr>
          <p:cNvPr id="3" name="blk005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There are two ways to stop the queue building. One is to ask the driver for a smaller buffer. The class tries that first:</a:t>
            </a:r>
          </a:p>
        </p:txBody>
      </p:sp>
      <p:sp>
        <p:nvSpPr>
          <p:cNvPr id="4" name="blk0055"/>
          <p:cNvSpPr/>
          <p:nvPr/>
        </p:nvSpPr>
        <p:spPr>
          <a:xfrm>
            <a:off x="687600" y="2592000"/>
            <a:ext cx="8686800" cy="197847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5"/>
          <p:cNvSpPr txBox="1"/>
          <p:nvPr/>
        </p:nvSpPr>
        <p:spPr>
          <a:xfrm>
            <a:off x="910799" y="2754000"/>
            <a:ext cx="8240400" cy="1654472"/>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class ThreadedCamera:</a:t>
            </a:r>
          </a:p>
          <a:p>
            <a:pPr algn="l">
              <a:lnSpc>
                <a:spcPct val="115000"/>
              </a:lnSpc>
            </a:pPr>
            <a:r>
              <a:rPr sz="1250" b="0" i="0">
                <a:solidFill>
                  <a:srgbClr val="FFFFFF"/>
                </a:solidFill>
                <a:latin typeface="Courier New"/>
                <a:ea typeface="Courier New"/>
                <a:cs typeface="Courier New"/>
                <a:sym typeface="Courier New"/>
              </a:rPr>
              <a:t>    """Asynchronous camera reader thread to eliminate V4L2 frame buffer latency."""</a:t>
            </a:r>
          </a:p>
          <a:p>
            <a:pPr algn="l">
              <a:lnSpc>
                <a:spcPct val="115000"/>
              </a:lnSpc>
            </a:pPr>
            <a:r>
              <a:rPr sz="1250" b="0" i="0">
                <a:solidFill>
                  <a:srgbClr val="FFFFFF"/>
                </a:solidFill>
                <a:latin typeface="Courier New"/>
                <a:ea typeface="Courier New"/>
                <a:cs typeface="Courier New"/>
                <a:sym typeface="Courier New"/>
              </a:rPr>
              <a:t>    def __init__(self, src=0):</a:t>
            </a:r>
          </a:p>
          <a:p>
            <a:pPr algn="l">
              <a:lnSpc>
                <a:spcPct val="115000"/>
              </a:lnSpc>
            </a:pPr>
            <a:r>
              <a:rPr sz="1250" b="0" i="0">
                <a:solidFill>
                  <a:srgbClr val="FFFFFF"/>
                </a:solidFill>
                <a:latin typeface="Courier New"/>
                <a:ea typeface="Courier New"/>
                <a:cs typeface="Courier New"/>
                <a:sym typeface="Courier New"/>
              </a:rPr>
              <a:t>        self.cap = cv2.VideoCapture(src, cv2.CAP_V4L2)</a:t>
            </a:r>
          </a:p>
          <a:p>
            <a:pPr algn="l">
              <a:lnSpc>
                <a:spcPct val="115000"/>
              </a:lnSpc>
            </a:pPr>
            <a:r>
              <a:rPr sz="1250" b="0" i="0">
                <a:solidFill>
                  <a:srgbClr val="FFFFFF"/>
                </a:solidFill>
                <a:latin typeface="Courier New"/>
                <a:ea typeface="Courier New"/>
                <a:cs typeface="Courier New"/>
                <a:sym typeface="Courier New"/>
              </a:rPr>
              <a:t>        self.cap.set(cv2.CAP_PROP_FRAME_WIDTH, 640)</a:t>
            </a:r>
          </a:p>
          <a:p>
            <a:pPr algn="l">
              <a:lnSpc>
                <a:spcPct val="115000"/>
              </a:lnSpc>
            </a:pPr>
            <a:r>
              <a:rPr sz="1250" b="0" i="0">
                <a:solidFill>
                  <a:srgbClr val="FFFFFF"/>
                </a:solidFill>
                <a:latin typeface="Courier New"/>
                <a:ea typeface="Courier New"/>
                <a:cs typeface="Courier New"/>
                <a:sym typeface="Courier New"/>
              </a:rPr>
              <a:t>        self.cap.set(cv2.CAP_PROP_FRAME_HEIGHT, 480)</a:t>
            </a:r>
          </a:p>
          <a:p>
            <a:pPr algn="l">
              <a:lnSpc>
                <a:spcPct val="115000"/>
              </a:lnSpc>
            </a:pPr>
            <a:r>
              <a:rPr sz="1250" b="0" i="0">
                <a:solidFill>
                  <a:srgbClr val="FFFFFF"/>
                </a:solidFill>
                <a:latin typeface="Courier New"/>
                <a:ea typeface="Courier New"/>
                <a:cs typeface="Courier New"/>
                <a:sym typeface="Courier New"/>
              </a:rPr>
              <a:t>        # Reduce buffer size to minimize latency</a:t>
            </a:r>
          </a:p>
          <a:p>
            <a:pPr algn="l">
              <a:lnSpc>
                <a:spcPct val="115000"/>
              </a:lnSpc>
            </a:pPr>
            <a:r>
              <a:rPr sz="1250" b="0" i="0">
                <a:solidFill>
                  <a:srgbClr val="FFFFFF"/>
                </a:solidFill>
                <a:latin typeface="Courier New"/>
                <a:ea typeface="Courier New"/>
                <a:cs typeface="Courier New"/>
                <a:sym typeface="Courier New"/>
              </a:rPr>
              <a:t>        self.cap.set(cv2.CAP_PROP_BUFFERSIZE, 1)</a:t>
            </a:r>
          </a:p>
        </p:txBody>
      </p:sp>
      <p:sp>
        <p:nvSpPr>
          <p:cNvPr id="6" name="blk0056"/>
          <p:cNvSpPr txBox="1"/>
          <p:nvPr/>
        </p:nvSpPr>
        <p:spPr>
          <a:xfrm>
            <a:off x="687600" y="4678472"/>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Look closely at that last line. It is passed a sensible value, it does not raise an error, and on many V4L2 setups it does nothing at all. Setting a property is not the same as the property taking effect.</a:t>
            </a:r>
          </a:p>
        </p:txBody>
      </p:sp>
      <p:sp>
        <p:nvSpPr>
          <p:cNvPr id="7" name="blk0057"/>
          <p:cNvSpPr/>
          <p:nvPr/>
        </p:nvSpPr>
        <p:spPr>
          <a:xfrm>
            <a:off x="687600" y="6022131"/>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57"/>
          <p:cNvSpPr/>
          <p:nvPr/>
        </p:nvSpPr>
        <p:spPr>
          <a:xfrm>
            <a:off x="885600" y="6349731"/>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57"/>
          <p:cNvSpPr txBox="1"/>
          <p:nvPr/>
        </p:nvSpPr>
        <p:spPr>
          <a:xfrm>
            <a:off x="1162800" y="6166131"/>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Never trust a silent success. This one is worth remembering because it looks like it worked, and the lag it was supposed to remove is still there.</a:t>
            </a:r>
          </a:p>
        </p:txBody>
      </p:sp>
      <p:sp>
        <p:nvSpPr>
          <p:cNvPr id="10" name="blk0058"/>
          <p:cNvSpPr txBox="1"/>
          <p:nvPr/>
        </p:nvSpPr>
        <p:spPr>
          <a:xfrm>
            <a:off x="687600" y="6922131"/>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line is not wasted — it helps on backends that do honour it, and it documents the intent. But the real fix is the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thread, a lock, and a copy</a:t>
            </a:r>
          </a:p>
        </p:txBody>
      </p:sp>
      <p:sp>
        <p:nvSpPr>
          <p:cNvPr id="3" name="blk006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So the class pulls frames continuously on its own thread and hands over only the latest one. Three pieces make that safe:</a:t>
            </a:r>
          </a:p>
        </p:txBody>
      </p:sp>
      <p:sp>
        <p:nvSpPr>
          <p:cNvPr id="4" name="blk0061"/>
          <p:cNvSpPr/>
          <p:nvPr/>
        </p:nvSpPr>
        <p:spPr>
          <a:xfrm>
            <a:off x="687600" y="2880000"/>
            <a:ext cx="8686800" cy="165585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1"/>
          <p:cNvSpPr txBox="1"/>
          <p:nvPr/>
        </p:nvSpPr>
        <p:spPr>
          <a:xfrm>
            <a:off x="910799" y="3041999"/>
            <a:ext cx="8240400" cy="1331850"/>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self.lock = threading.Lock()</a:t>
            </a:r>
          </a:p>
          <a:p>
            <a:pPr algn="l">
              <a:lnSpc>
                <a:spcPct val="115000"/>
              </a:lnSpc>
            </a:pPr>
            <a:r>
              <a:rPr sz="1150" b="0" i="0">
                <a:solidFill>
                  <a:srgbClr val="FFFFFF"/>
                </a:solidFill>
                <a:latin typeface="Courier New"/>
                <a:ea typeface="Courier New"/>
                <a:cs typeface="Courier New"/>
                <a:sym typeface="Courier New"/>
              </a:rPr>
              <a:t>        self.running = True</a:t>
            </a:r>
          </a:p>
          <a:p>
            <a:pPr algn="l">
              <a:lnSpc>
                <a:spcPct val="115000"/>
              </a:lnSpc>
            </a:pPr>
            <a:r>
              <a:rPr sz="1150" b="0" i="0">
                <a:solidFill>
                  <a:srgbClr val="FFFFFF"/>
                </a:solidFill>
                <a:latin typeface="Courier New"/>
                <a:ea typeface="Courier New"/>
                <a:cs typeface="Courier New"/>
                <a:sym typeface="Courier New"/>
              </a:rPr>
              <a:t>        self.ret, self.frame = self.cap.read()</a:t>
            </a:r>
          </a:p>
          <a:p>
            <a:pPr algn="l">
              <a:lnSpc>
                <a:spcPct val="115000"/>
              </a:lnSpc>
            </a:pPr>
            <a:r>
              <a:rPr sz="1150" b="0" i="0">
                <a:solidFill>
                  <a:srgbClr val="FFFFFF"/>
                </a:solidFill>
                <a:latin typeface="Courier New"/>
                <a:ea typeface="Courier New"/>
                <a:cs typeface="Courier New"/>
                <a:sym typeface="Courier New"/>
              </a:rPr>
              <a:t/>
            </a:r>
          </a:p>
          <a:p>
            <a:pPr algn="l">
              <a:lnSpc>
                <a:spcPct val="115000"/>
              </a:lnSpc>
            </a:pPr>
            <a:r>
              <a:rPr sz="1150" b="0" i="0">
                <a:solidFill>
                  <a:srgbClr val="FFFFFF"/>
                </a:solidFill>
                <a:latin typeface="Courier New"/>
                <a:ea typeface="Courier New"/>
                <a:cs typeface="Courier New"/>
                <a:sym typeface="Courier New"/>
              </a:rPr>
              <a:t>        # Start background thread to continually pull frames from the V4L2 buffer</a:t>
            </a:r>
          </a:p>
          <a:p>
            <a:pPr algn="l">
              <a:lnSpc>
                <a:spcPct val="115000"/>
              </a:lnSpc>
            </a:pPr>
            <a:r>
              <a:rPr sz="1150" b="0" i="0">
                <a:solidFill>
                  <a:srgbClr val="FFFFFF"/>
                </a:solidFill>
                <a:latin typeface="Courier New"/>
                <a:ea typeface="Courier New"/>
                <a:cs typeface="Courier New"/>
                <a:sym typeface="Courier New"/>
              </a:rPr>
              <a:t>        self.thread = threading.Thread(target=self._update, daemon=True)</a:t>
            </a:r>
          </a:p>
          <a:p>
            <a:pPr algn="l">
              <a:lnSpc>
                <a:spcPct val="115000"/>
              </a:lnSpc>
            </a:pPr>
            <a:r>
              <a:rPr sz="1150" b="0" i="0">
                <a:solidFill>
                  <a:srgbClr val="FFFFFF"/>
                </a:solidFill>
                <a:latin typeface="Courier New"/>
                <a:ea typeface="Courier New"/>
                <a:cs typeface="Courier New"/>
                <a:sym typeface="Courier New"/>
              </a:rPr>
              <a:t>        self.thread.start()</a:t>
            </a:r>
          </a:p>
        </p:txBody>
      </p:sp>
      <p:sp>
        <p:nvSpPr>
          <p:cNvPr id="6" name="blk0062"/>
          <p:cNvSpPr txBox="1"/>
          <p:nvPr/>
        </p:nvSpPr>
        <p:spPr>
          <a:xfrm>
            <a:off x="687600" y="4824000"/>
            <a:ext cx="7542000" cy="28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thread runs forever in the background. The main loop never waits for the camera; it just takes whatever the most recent frame happens to be. The queue still exists, but it is now exactly one frame deep.</a:t>
            </a:r>
          </a:p>
        </p:txBody>
      </p:sp>
      <p:sp>
        <p:nvSpPr>
          <p:cNvPr id="7" name="blk0063"/>
          <p:cNvSpPr/>
          <p:nvPr/>
        </p:nvSpPr>
        <p:spPr>
          <a:xfrm>
            <a:off x="687600" y="6167659"/>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63"/>
          <p:cNvSpPr/>
          <p:nvPr/>
        </p:nvSpPr>
        <p:spPr>
          <a:xfrm>
            <a:off x="885600" y="649525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63"/>
          <p:cNvSpPr txBox="1"/>
          <p:nvPr/>
        </p:nvSpPr>
        <p:spPr>
          <a:xfrm>
            <a:off x="1162800" y="6311659"/>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lock is not optional. Without it, the main loop could be halfway through drawing on a frame while the thread replaced it underneath.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thread body</a:t>
            </a:r>
          </a:p>
        </p:txBody>
      </p:sp>
      <p:sp>
        <p:nvSpPr>
          <p:cNvPr id="3" name="blk006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method does all the reading, and it is short:</a:t>
            </a:r>
          </a:p>
        </p:txBody>
      </p:sp>
      <p:sp>
        <p:nvSpPr>
          <p:cNvPr id="4" name="blk0066"/>
          <p:cNvSpPr/>
          <p:nvPr/>
        </p:nvSpPr>
        <p:spPr>
          <a:xfrm>
            <a:off x="687600" y="2304000"/>
            <a:ext cx="8686800" cy="203637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6"/>
          <p:cNvSpPr txBox="1"/>
          <p:nvPr/>
        </p:nvSpPr>
        <p:spPr>
          <a:xfrm>
            <a:off x="910799" y="2466000"/>
            <a:ext cx="8240400" cy="1712379"/>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def _update(self):</a:t>
            </a:r>
          </a:p>
          <a:p>
            <a:pPr algn="l">
              <a:lnSpc>
                <a:spcPct val="115000"/>
              </a:lnSpc>
            </a:pPr>
            <a:r>
              <a:rPr sz="1150" b="0" i="0">
                <a:solidFill>
                  <a:srgbClr val="FFFFFF"/>
                </a:solidFill>
                <a:latin typeface="Courier New"/>
                <a:ea typeface="Courier New"/>
                <a:cs typeface="Courier New"/>
                <a:sym typeface="Courier New"/>
              </a:rPr>
              <a:t>        while self.running:</a:t>
            </a:r>
          </a:p>
          <a:p>
            <a:pPr algn="l">
              <a:lnSpc>
                <a:spcPct val="115000"/>
              </a:lnSpc>
            </a:pPr>
            <a:r>
              <a:rPr sz="1150" b="0" i="0">
                <a:solidFill>
                  <a:srgbClr val="FFFFFF"/>
                </a:solidFill>
                <a:latin typeface="Courier New"/>
                <a:ea typeface="Courier New"/>
                <a:cs typeface="Courier New"/>
                <a:sym typeface="Courier New"/>
              </a:rPr>
              <a:t>            if self.cap.isOpened():</a:t>
            </a:r>
          </a:p>
          <a:p>
            <a:pPr algn="l">
              <a:lnSpc>
                <a:spcPct val="115000"/>
              </a:lnSpc>
            </a:pPr>
            <a:r>
              <a:rPr sz="1150" b="0" i="0">
                <a:solidFill>
                  <a:srgbClr val="FFFFFF"/>
                </a:solidFill>
                <a:latin typeface="Courier New"/>
                <a:ea typeface="Courier New"/>
                <a:cs typeface="Courier New"/>
                <a:sym typeface="Courier New"/>
              </a:rPr>
              <a:t>                ret, frame = self.cap.read()</a:t>
            </a:r>
          </a:p>
          <a:p>
            <a:pPr algn="l">
              <a:lnSpc>
                <a:spcPct val="115000"/>
              </a:lnSpc>
            </a:pPr>
            <a:r>
              <a:rPr sz="1150" b="0" i="0">
                <a:solidFill>
                  <a:srgbClr val="FFFFFF"/>
                </a:solidFill>
                <a:latin typeface="Courier New"/>
                <a:ea typeface="Courier New"/>
                <a:cs typeface="Courier New"/>
                <a:sym typeface="Courier New"/>
              </a:rPr>
              <a:t>                if ret and frame is not None:</a:t>
            </a:r>
          </a:p>
          <a:p>
            <a:pPr algn="l">
              <a:lnSpc>
                <a:spcPct val="115000"/>
              </a:lnSpc>
            </a:pPr>
            <a:r>
              <a:rPr sz="1150" b="0" i="0">
                <a:solidFill>
                  <a:srgbClr val="FFFFFF"/>
                </a:solidFill>
                <a:latin typeface="Courier New"/>
                <a:ea typeface="Courier New"/>
                <a:cs typeface="Courier New"/>
                <a:sym typeface="Courier New"/>
              </a:rPr>
              <a:t>                    with self.lock:</a:t>
            </a:r>
          </a:p>
          <a:p>
            <a:pPr algn="l">
              <a:lnSpc>
                <a:spcPct val="115000"/>
              </a:lnSpc>
            </a:pPr>
            <a:r>
              <a:rPr sz="1150" b="0" i="0">
                <a:solidFill>
                  <a:srgbClr val="FFFFFF"/>
                </a:solidFill>
                <a:latin typeface="Courier New"/>
                <a:ea typeface="Courier New"/>
                <a:cs typeface="Courier New"/>
                <a:sym typeface="Courier New"/>
              </a:rPr>
              <a:t>                        self.ret = ret</a:t>
            </a:r>
          </a:p>
          <a:p>
            <a:pPr algn="l">
              <a:lnSpc>
                <a:spcPct val="115000"/>
              </a:lnSpc>
            </a:pPr>
            <a:r>
              <a:rPr sz="1150" b="0" i="0">
                <a:solidFill>
                  <a:srgbClr val="FFFFFF"/>
                </a:solidFill>
                <a:latin typeface="Courier New"/>
                <a:ea typeface="Courier New"/>
                <a:cs typeface="Courier New"/>
                <a:sym typeface="Courier New"/>
              </a:rPr>
              <a:t>                        self.frame = frame</a:t>
            </a:r>
          </a:p>
          <a:p>
            <a:pPr algn="l">
              <a:lnSpc>
                <a:spcPct val="115000"/>
              </a:lnSpc>
            </a:pPr>
            <a:r>
              <a:rPr sz="1150" b="0" i="0">
                <a:solidFill>
                  <a:srgbClr val="FFFFFF"/>
                </a:solidFill>
                <a:latin typeface="Courier New"/>
                <a:ea typeface="Courier New"/>
                <a:cs typeface="Courier New"/>
                <a:sym typeface="Courier New"/>
              </a:rPr>
              <a:t>            time.sleep(0.005)  # Prevents high CPU usage on dedicated thread execution</a:t>
            </a:r>
          </a:p>
        </p:txBody>
      </p:sp>
      <p:sp>
        <p:nvSpPr>
          <p:cNvPr id="6" name="blk0067"/>
          <p:cNvSpPr txBox="1"/>
          <p:nvPr/>
        </p:nvSpPr>
        <p:spPr>
          <a:xfrm>
            <a:off x="687600" y="4752000"/>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Three details worth naming. The </a:t>
            </a:r>
            <a:r>
              <a:rPr sz="1419" b="0" i="0">
                <a:solidFill>
                  <a:srgbClr val="FFFFFF"/>
                </a:solidFill>
                <a:latin typeface="Courier New"/>
                <a:ea typeface="Courier New"/>
                <a:cs typeface="Courier New"/>
                <a:sym typeface="Courier New"/>
              </a:rPr>
              <a:t>self.running</a:t>
            </a:r>
            <a:r>
              <a:rPr sz="1650" b="0" i="0">
                <a:solidFill>
                  <a:srgbClr val="FFFFFF"/>
                </a:solidFill>
                <a:latin typeface="Avenir"/>
                <a:ea typeface="Avenir"/>
                <a:cs typeface="Avenir"/>
                <a:sym typeface="Avenir"/>
              </a:rPr>
              <a:t> flag is the only way this loop ever stops. The </a:t>
            </a:r>
            <a:r>
              <a:rPr sz="1419" b="0" i="0">
                <a:solidFill>
                  <a:srgbClr val="FFFFFF"/>
                </a:solidFill>
                <a:latin typeface="Courier New"/>
                <a:ea typeface="Courier New"/>
                <a:cs typeface="Courier New"/>
                <a:sym typeface="Courier New"/>
              </a:rPr>
              <a:t>with</a:t>
            </a:r>
            <a:r>
              <a:rPr sz="1650" b="0" i="0">
                <a:solidFill>
                  <a:srgbClr val="FFFFFF"/>
                </a:solidFill>
                <a:latin typeface="Avenir"/>
                <a:ea typeface="Avenir"/>
                <a:cs typeface="Avenir"/>
                <a:sym typeface="Avenir"/>
              </a:rPr>
              <a:t> block is what makes the assignment atomic. And the five-millisecond sleep stops the thread from spinning on a camera that cannot keep up — without it this is a busy loop that will heat the Pi.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read() hands back a copy</a:t>
            </a:r>
          </a:p>
        </p:txBody>
      </p:sp>
      <p:sp>
        <p:nvSpPr>
          <p:cNvPr id="3" name="blk006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Here is the method the main loop calls. The last line is the important one:</a:t>
            </a:r>
          </a:p>
        </p:txBody>
      </p:sp>
      <p:sp>
        <p:nvSpPr>
          <p:cNvPr id="4" name="blk0070"/>
          <p:cNvSpPr/>
          <p:nvPr/>
        </p:nvSpPr>
        <p:spPr>
          <a:xfrm>
            <a:off x="687600" y="2448000"/>
            <a:ext cx="8686800" cy="144076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0"/>
          <p:cNvSpPr txBox="1"/>
          <p:nvPr/>
        </p:nvSpPr>
        <p:spPr>
          <a:xfrm>
            <a:off x="910799" y="2610000"/>
            <a:ext cx="8240400" cy="1116769"/>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    def read(self):</a:t>
            </a:r>
          </a:p>
          <a:p>
            <a:pPr algn="l">
              <a:lnSpc>
                <a:spcPct val="115000"/>
              </a:lnSpc>
            </a:pPr>
            <a:r>
              <a:rPr sz="1350" b="0" i="0">
                <a:solidFill>
                  <a:srgbClr val="FFFFFF"/>
                </a:solidFill>
                <a:latin typeface="Courier New"/>
                <a:ea typeface="Courier New"/>
                <a:cs typeface="Courier New"/>
                <a:sym typeface="Courier New"/>
              </a:rPr>
              <a:t>        with self.lock:</a:t>
            </a:r>
          </a:p>
          <a:p>
            <a:pPr algn="l">
              <a:lnSpc>
                <a:spcPct val="115000"/>
              </a:lnSpc>
            </a:pPr>
            <a:r>
              <a:rPr sz="1350" b="0" i="0">
                <a:solidFill>
                  <a:srgbClr val="FFFFFF"/>
                </a:solidFill>
                <a:latin typeface="Courier New"/>
                <a:ea typeface="Courier New"/>
                <a:cs typeface="Courier New"/>
                <a:sym typeface="Courier New"/>
              </a:rPr>
              <a:t>            if self.frame is None:</a:t>
            </a:r>
          </a:p>
          <a:p>
            <a:pPr algn="l">
              <a:lnSpc>
                <a:spcPct val="115000"/>
              </a:lnSpc>
            </a:pPr>
            <a:r>
              <a:rPr sz="1350" b="0" i="0">
                <a:solidFill>
                  <a:srgbClr val="FFFFFF"/>
                </a:solidFill>
                <a:latin typeface="Courier New"/>
                <a:ea typeface="Courier New"/>
                <a:cs typeface="Courier New"/>
                <a:sym typeface="Courier New"/>
              </a:rPr>
              <a:t>                return False, None</a:t>
            </a:r>
          </a:p>
          <a:p>
            <a:pPr algn="l">
              <a:lnSpc>
                <a:spcPct val="115000"/>
              </a:lnSpc>
            </a:pPr>
            <a:r>
              <a:rPr sz="1350" b="0" i="0">
                <a:solidFill>
                  <a:srgbClr val="FFFFFF"/>
                </a:solidFill>
                <a:latin typeface="Courier New"/>
                <a:ea typeface="Courier New"/>
                <a:cs typeface="Courier New"/>
                <a:sym typeface="Courier New"/>
              </a:rPr>
              <a:t>            return self.ret, self.frame.copy()</a:t>
            </a:r>
          </a:p>
        </p:txBody>
      </p:sp>
      <p:sp>
        <p:nvSpPr>
          <p:cNvPr id="6" name="blk0071"/>
          <p:cNvSpPr txBox="1"/>
          <p:nvPr/>
        </p:nvSpPr>
        <p:spPr>
          <a:xfrm>
            <a:off x="687600" y="4031999"/>
            <a:ext cx="7542000" cy="359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Your drawing code mutates the frame it is given. </a:t>
            </a:r>
            <a:r>
              <a:rPr sz="1743" b="0" i="0">
                <a:solidFill>
                  <a:srgbClr val="FFFFFF"/>
                </a:solidFill>
                <a:latin typeface="Courier New"/>
                <a:ea typeface="Courier New"/>
                <a:cs typeface="Courier New"/>
                <a:sym typeface="Courier New"/>
              </a:rPr>
              <a:t>cv2.putText</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cv2.rectangle</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cv2.flip</a:t>
            </a:r>
            <a:r>
              <a:rPr sz="2027" b="0" i="0">
                <a:solidFill>
                  <a:srgbClr val="FFFFFF"/>
                </a:solidFill>
                <a:latin typeface="Avenir"/>
                <a:ea typeface="Avenir"/>
                <a:cs typeface="Avenir"/>
                <a:sym typeface="Avenir"/>
              </a:rPr>
              <a:t> all write straight into the image. If this returned the shared frame itself, every rectangle and every letter would be scribbled onto the frame the next detection pass is about to analyse.</a:t>
            </a:r>
          </a:p>
        </p:txBody>
      </p:sp>
      <p:sp>
        <p:nvSpPr>
          <p:cNvPr id="7" name="blk0072"/>
          <p:cNvSpPr/>
          <p:nvPr/>
        </p:nvSpPr>
        <p:spPr>
          <a:xfrm>
            <a:off x="687600" y="5684573"/>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72"/>
          <p:cNvSpPr/>
          <p:nvPr/>
        </p:nvSpPr>
        <p:spPr>
          <a:xfrm>
            <a:off x="885600" y="6012173"/>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72"/>
          <p:cNvSpPr txBox="1"/>
          <p:nvPr/>
        </p:nvSpPr>
        <p:spPr>
          <a:xfrm>
            <a:off x="1162800" y="5828573"/>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copy is what makes the shared frame safe. It costs a few milliseconds and it buys you a picture that is yours to draw 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Shutting the thread down</a:t>
            </a:r>
          </a:p>
        </p:txBody>
      </p:sp>
      <p:sp>
        <p:nvSpPr>
          <p:cNvPr id="3" name="blk007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background thread that is never stopped will keep the program alive. This is the shutdown, and it happens in the right order:</a:t>
            </a:r>
          </a:p>
        </p:txBody>
      </p:sp>
      <p:sp>
        <p:nvSpPr>
          <p:cNvPr id="4" name="blk0075"/>
          <p:cNvSpPr/>
          <p:nvPr/>
        </p:nvSpPr>
        <p:spPr>
          <a:xfrm>
            <a:off x="687600" y="2664000"/>
            <a:ext cx="8686800" cy="161448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5"/>
          <p:cNvSpPr txBox="1"/>
          <p:nvPr/>
        </p:nvSpPr>
        <p:spPr>
          <a:xfrm>
            <a:off x="910799" y="2826000"/>
            <a:ext cx="8240400" cy="1290488"/>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def release(self):</a:t>
            </a:r>
          </a:p>
          <a:p>
            <a:pPr algn="l">
              <a:lnSpc>
                <a:spcPct val="115000"/>
              </a:lnSpc>
            </a:pPr>
            <a:r>
              <a:rPr sz="1300" b="0" i="0">
                <a:solidFill>
                  <a:srgbClr val="FFFFFF"/>
                </a:solidFill>
                <a:latin typeface="Courier New"/>
                <a:ea typeface="Courier New"/>
                <a:cs typeface="Courier New"/>
                <a:sym typeface="Courier New"/>
              </a:rPr>
              <a:t>        self.running = False</a:t>
            </a:r>
          </a:p>
          <a:p>
            <a:pPr algn="l">
              <a:lnSpc>
                <a:spcPct val="115000"/>
              </a:lnSpc>
            </a:pPr>
            <a:r>
              <a:rPr sz="1300" b="0" i="0">
                <a:solidFill>
                  <a:srgbClr val="FFFFFF"/>
                </a:solidFill>
                <a:latin typeface="Courier New"/>
                <a:ea typeface="Courier New"/>
                <a:cs typeface="Courier New"/>
                <a:sym typeface="Courier New"/>
              </a:rPr>
              <a:t>        if self.thread.is_alive():</a:t>
            </a:r>
          </a:p>
          <a:p>
            <a:pPr algn="l">
              <a:lnSpc>
                <a:spcPct val="115000"/>
              </a:lnSpc>
            </a:pPr>
            <a:r>
              <a:rPr sz="1300" b="0" i="0">
                <a:solidFill>
                  <a:srgbClr val="FFFFFF"/>
                </a:solidFill>
                <a:latin typeface="Courier New"/>
                <a:ea typeface="Courier New"/>
                <a:cs typeface="Courier New"/>
                <a:sym typeface="Courier New"/>
              </a:rPr>
              <a:t>            self.thread.join(timeout=0.5)</a:t>
            </a:r>
          </a:p>
          <a:p>
            <a:pPr algn="l">
              <a:lnSpc>
                <a:spcPct val="115000"/>
              </a:lnSpc>
            </a:pPr>
            <a:r>
              <a:rPr sz="1300" b="0" i="0">
                <a:solidFill>
                  <a:srgbClr val="FFFFFF"/>
                </a:solidFill>
                <a:latin typeface="Courier New"/>
                <a:ea typeface="Courier New"/>
                <a:cs typeface="Courier New"/>
                <a:sym typeface="Courier New"/>
              </a:rPr>
              <a:t>        if self.cap.isOpened():</a:t>
            </a:r>
          </a:p>
          <a:p>
            <a:pPr algn="l">
              <a:lnSpc>
                <a:spcPct val="115000"/>
              </a:lnSpc>
            </a:pPr>
            <a:r>
              <a:rPr sz="1300" b="0" i="0">
                <a:solidFill>
                  <a:srgbClr val="FFFFFF"/>
                </a:solidFill>
                <a:latin typeface="Courier New"/>
                <a:ea typeface="Courier New"/>
                <a:cs typeface="Courier New"/>
                <a:sym typeface="Courier New"/>
              </a:rPr>
              <a:t>            self.cap.release()</a:t>
            </a:r>
          </a:p>
        </p:txBody>
      </p:sp>
      <p:sp>
        <p:nvSpPr>
          <p:cNvPr id="6" name="blk0076"/>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Flag first, then join, then release the camera. The join has a timeout, so even if the thread is stuck inside a blocking read the program still shuts down instead of hanging.</a:t>
            </a:r>
          </a:p>
        </p:txBody>
      </p:sp>
      <p:sp>
        <p:nvSpPr>
          <p:cNvPr id="7" name="blk0077"/>
          <p:cNvSpPr txBox="1"/>
          <p:nvPr/>
        </p:nvSpPr>
        <p:spPr>
          <a:xfrm>
            <a:off x="687600" y="549874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daemon flag on the constructor is the safety net, not the plan. It means that even if </a:t>
            </a:r>
            <a:r>
              <a:rPr sz="1419" b="0" i="0">
                <a:solidFill>
                  <a:srgbClr val="FFFFFF"/>
                </a:solidFill>
                <a:latin typeface="Courier New"/>
                <a:ea typeface="Courier New"/>
                <a:cs typeface="Courier New"/>
                <a:sym typeface="Courier New"/>
              </a:rPr>
              <a:t>release()</a:t>
            </a:r>
            <a:r>
              <a:rPr sz="1650" b="0" i="0">
                <a:solidFill>
                  <a:srgbClr val="FFFFFF"/>
                </a:solidFill>
                <a:latin typeface="Avenir"/>
                <a:ea typeface="Avenir"/>
                <a:cs typeface="Avenir"/>
                <a:sym typeface="Avenir"/>
              </a:rPr>
              <a:t> is never called, Python will still exit. Relying on that alone is how you end up with a camera that stays locked after a crash.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Win logic as a lookup table</a:t>
            </a:r>
          </a:p>
        </p:txBody>
      </p:sp>
      <p:sp>
        <p:nvSpPr>
          <p:cNvPr id="3" name="blk007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Rock paper scissors is a bad fit for </a:t>
            </a:r>
            <a:r>
              <a:rPr sz="1743" b="0" i="0">
                <a:solidFill>
                  <a:srgbClr val="FFFFFF"/>
                </a:solidFill>
                <a:latin typeface="Courier New"/>
                <a:ea typeface="Courier New"/>
                <a:cs typeface="Courier New"/>
                <a:sym typeface="Courier New"/>
              </a:rPr>
              <a:t>if</a:t>
            </a:r>
            <a:r>
              <a:rPr sz="2027" b="0" i="0">
                <a:solidFill>
                  <a:srgbClr val="FFFFFF"/>
                </a:solidFill>
                <a:latin typeface="Avenir"/>
                <a:ea typeface="Avenir"/>
                <a:cs typeface="Avenir"/>
                <a:sym typeface="Avenir"/>
              </a:rPr>
              <a:t> chains. There are nine combinations and only six of them are wins, which is the wrong shape for branching. The program uses a dictionary instead:</a:t>
            </a:r>
          </a:p>
        </p:txBody>
      </p:sp>
      <p:sp>
        <p:nvSpPr>
          <p:cNvPr id="4" name="blk0080"/>
          <p:cNvSpPr/>
          <p:nvPr/>
        </p:nvSpPr>
        <p:spPr>
          <a:xfrm>
            <a:off x="687600" y="3096000"/>
            <a:ext cx="8686800" cy="13994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0"/>
          <p:cNvSpPr txBox="1"/>
          <p:nvPr/>
        </p:nvSpPr>
        <p:spPr>
          <a:xfrm>
            <a:off x="910799" y="3257999"/>
            <a:ext cx="8240400" cy="1075407"/>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WIN_MAP = {</a:t>
            </a:r>
          </a:p>
          <a:p>
            <a:pPr algn="l">
              <a:lnSpc>
                <a:spcPct val="115000"/>
              </a:lnSpc>
            </a:pPr>
            <a:r>
              <a:rPr sz="1300" b="0" i="0">
                <a:solidFill>
                  <a:srgbClr val="FFFFFF"/>
                </a:solidFill>
                <a:latin typeface="Courier New"/>
                <a:ea typeface="Courier New"/>
                <a:cs typeface="Courier New"/>
                <a:sym typeface="Courier New"/>
              </a:rPr>
              <a:t>    (0, 2): "PLAYER", (2, 0): "ROBOT",  # Rock &gt; Scissors</a:t>
            </a:r>
          </a:p>
          <a:p>
            <a:pPr algn="l">
              <a:lnSpc>
                <a:spcPct val="115000"/>
              </a:lnSpc>
            </a:pPr>
            <a:r>
              <a:rPr sz="1300" b="0" i="0">
                <a:solidFill>
                  <a:srgbClr val="FFFFFF"/>
                </a:solidFill>
                <a:latin typeface="Courier New"/>
                <a:ea typeface="Courier New"/>
                <a:cs typeface="Courier New"/>
                <a:sym typeface="Courier New"/>
              </a:rPr>
              <a:t>    (1, 0): "PLAYER", (0, 1): "ROBOT",  # Paper &gt; Rock</a:t>
            </a:r>
          </a:p>
          <a:p>
            <a:pPr algn="l">
              <a:lnSpc>
                <a:spcPct val="115000"/>
              </a:lnSpc>
            </a:pPr>
            <a:r>
              <a:rPr sz="1300" b="0" i="0">
                <a:solidFill>
                  <a:srgbClr val="FFFFFF"/>
                </a:solidFill>
                <a:latin typeface="Courier New"/>
                <a:ea typeface="Courier New"/>
                <a:cs typeface="Courier New"/>
                <a:sym typeface="Courier New"/>
              </a:rPr>
              <a:t>    (2, 1): "PLAYER", (1, 2): "ROBOT",  # Scissors &gt; Paper</a:t>
            </a:r>
          </a:p>
          <a:p>
            <a:pPr algn="l">
              <a:lnSpc>
                <a:spcPct val="115000"/>
              </a:lnSpc>
            </a:pPr>
            <a:r>
              <a:rPr sz="1300" b="0" i="0">
                <a:solidFill>
                  <a:srgbClr val="FFFFFF"/>
                </a:solidFill>
                <a:latin typeface="Courier New"/>
                <a:ea typeface="Courier New"/>
                <a:cs typeface="Courier New"/>
                <a:sym typeface="Courier New"/>
              </a:rPr>
              <a:t>}</a:t>
            </a:r>
          </a:p>
        </p:txBody>
      </p:sp>
      <p:sp>
        <p:nvSpPr>
          <p:cNvPr id="6" name="blk0081"/>
          <p:cNvSpPr txBox="1"/>
          <p:nvPr/>
        </p:nvSpPr>
        <p:spPr>
          <a:xfrm>
            <a:off x="687600" y="4608000"/>
            <a:ext cx="7542000" cy="302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Each key is the pair of gesture indices, player first. Each value is who won. Two entries per line, six lines of behaviour total. Adding a fourth gesture would mean adding rows, not new branches.</a:t>
            </a:r>
          </a:p>
        </p:txBody>
      </p:sp>
      <p:sp>
        <p:nvSpPr>
          <p:cNvPr id="7" name="blk0082"/>
          <p:cNvSpPr txBox="1"/>
          <p:nvPr/>
        </p:nvSpPr>
        <p:spPr>
          <a:xfrm>
            <a:off x="687600" y="5951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.get()</a:t>
            </a:r>
            <a:r>
              <a:rPr sz="1650" b="0" i="0">
                <a:solidFill>
                  <a:srgbClr val="FFFFFF"/>
                </a:solidFill>
                <a:latin typeface="Avenir"/>
                <a:ea typeface="Avenir"/>
                <a:cs typeface="Avenir"/>
                <a:sym typeface="Avenir"/>
              </a:rPr>
              <a:t> call with a default of </a:t>
            </a:r>
            <a:r>
              <a:rPr sz="1419" b="0" i="0">
                <a:solidFill>
                  <a:srgbClr val="FFFFFF"/>
                </a:solidFill>
                <a:latin typeface="Courier New"/>
                <a:ea typeface="Courier New"/>
                <a:cs typeface="Courier New"/>
                <a:sym typeface="Courier New"/>
              </a:rPr>
              <a:t>"DRAW"</a:t>
            </a:r>
            <a:r>
              <a:rPr sz="1650" b="0" i="0">
                <a:solidFill>
                  <a:srgbClr val="FFFFFF"/>
                </a:solidFill>
                <a:latin typeface="Avenir"/>
                <a:ea typeface="Avenir"/>
                <a:cs typeface="Avenir"/>
                <a:sym typeface="Avenir"/>
              </a:rPr>
              <a:t> means an unknown pair can never raise a </a:t>
            </a:r>
            <a:r>
              <a:rPr sz="1419" b="0" i="0">
                <a:solidFill>
                  <a:srgbClr val="FFFFFF"/>
                </a:solidFill>
                <a:latin typeface="Courier New"/>
                <a:ea typeface="Courier New"/>
                <a:cs typeface="Courier New"/>
                <a:sym typeface="Courier New"/>
              </a:rPr>
              <a:t>KeyError</a:t>
            </a:r>
            <a:r>
              <a:rPr sz="1650" b="0" i="0">
                <a:solidFill>
                  <a:srgbClr val="FFFFFF"/>
                </a:solidFill>
                <a:latin typeface="Avenir"/>
                <a:ea typeface="Avenir"/>
                <a:cs typeface="Avenir"/>
                <a:sym typeface="Avenir"/>
              </a:rPr>
              <a:t> and crash the game mid-round. In this program the draw case is already handled earlier, so the default is genuinely unreachable — but it is the right defensive choice.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Four and a half seconds of sleep</a:t>
            </a:r>
          </a:p>
        </p:txBody>
      </p:sp>
      <p:sp>
        <p:nvSpPr>
          <p:cNvPr id="3" name="blk008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round ends with the robot physically performing its gesture. Add up the sleeps in that function:</a:t>
            </a:r>
          </a:p>
        </p:txBody>
      </p:sp>
      <p:sp>
        <p:nvSpPr>
          <p:cNvPr id="4" name="blk0085"/>
          <p:cNvSpPr/>
          <p:nvPr/>
        </p:nvSpPr>
        <p:spPr>
          <a:xfrm>
            <a:off x="687600" y="2664000"/>
            <a:ext cx="8686800" cy="247481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5"/>
          <p:cNvSpPr txBox="1"/>
          <p:nvPr/>
        </p:nvSpPr>
        <p:spPr>
          <a:xfrm>
            <a:off x="910799" y="2826000"/>
            <a:ext cx="8240400" cy="215081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mc.send_coords(pose, ARM_SPEED, 1)</a:t>
            </a:r>
          </a:p>
          <a:p>
            <a:pPr algn="l">
              <a:lnSpc>
                <a:spcPct val="115000"/>
              </a:lnSpc>
            </a:pPr>
            <a:r>
              <a:rPr sz="1300" b="0" i="0">
                <a:solidFill>
                  <a:srgbClr val="FFFFFF"/>
                </a:solidFill>
                <a:latin typeface="Courier New"/>
                <a:ea typeface="Courier New"/>
                <a:cs typeface="Courier New"/>
                <a:sym typeface="Courier New"/>
              </a:rPr>
              <a:t>    time.sleep(1.5)</a:t>
            </a:r>
          </a:p>
          <a:p>
            <a:pPr algn="l">
              <a:lnSpc>
                <a:spcPct val="115000"/>
              </a:lnSpc>
            </a:pPr>
            <a:r>
              <a:rPr sz="1300" b="0" i="0">
                <a:solidFill>
                  <a:srgbClr val="FFFFFF"/>
                </a:solidFill>
                <a:latin typeface="Courier New"/>
                <a:ea typeface="Courier New"/>
                <a:cs typeface="Courier New"/>
                <a:sym typeface="Courier New"/>
              </a:rPr>
              <a:t>    # Set gripper</a:t>
            </a:r>
          </a:p>
          <a:p>
            <a:pPr algn="l">
              <a:lnSpc>
                <a:spcPct val="115000"/>
              </a:lnSpc>
            </a:pPr>
            <a:r>
              <a:rPr sz="1300" b="0" i="0">
                <a:solidFill>
                  <a:srgbClr val="FFFFFF"/>
                </a:solidFill>
                <a:latin typeface="Courier New"/>
                <a:ea typeface="Courier New"/>
                <a:cs typeface="Courier New"/>
                <a:sym typeface="Courier New"/>
              </a:rPr>
              <a:t>    mc.set_gripper_state(grip, 80)</a:t>
            </a:r>
          </a:p>
          <a:p>
            <a:pPr algn="l">
              <a:lnSpc>
                <a:spcPct val="115000"/>
              </a:lnSpc>
            </a:pPr>
            <a:r>
              <a:rPr sz="1300" b="0" i="0">
                <a:solidFill>
                  <a:srgbClr val="FFFFFF"/>
                </a:solidFill>
                <a:latin typeface="Courier New"/>
                <a:ea typeface="Courier New"/>
                <a:cs typeface="Courier New"/>
                <a:sym typeface="Courier New"/>
              </a:rPr>
              <a:t>    time.sleep(0.5)</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time.sleep(1.0)</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mc.send_angles(home_pos, ARM_SPEED)</a:t>
            </a:r>
          </a:p>
          <a:p>
            <a:pPr algn="l">
              <a:lnSpc>
                <a:spcPct val="115000"/>
              </a:lnSpc>
            </a:pPr>
            <a:r>
              <a:rPr sz="1300" b="0" i="0">
                <a:solidFill>
                  <a:srgbClr val="FFFFFF"/>
                </a:solidFill>
                <a:latin typeface="Courier New"/>
                <a:ea typeface="Courier New"/>
                <a:cs typeface="Courier New"/>
                <a:sym typeface="Courier New"/>
              </a:rPr>
              <a:t>    time.sleep(1.5)</a:t>
            </a:r>
          </a:p>
        </p:txBody>
      </p:sp>
      <p:sp>
        <p:nvSpPr>
          <p:cNvPr id="6" name="blk0086"/>
          <p:cNvSpPr txBox="1"/>
          <p:nvPr/>
        </p:nvSpPr>
        <p:spPr>
          <a:xfrm>
            <a:off x="687600" y="5246814"/>
            <a:ext cx="7542000" cy="27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and a half seconds, all of it inside the main loop. Nothing is drawn during that time, so the window shows the same frozen frame until the arm is home.</a:t>
            </a:r>
          </a:p>
        </p:txBody>
      </p:sp>
      <p:sp>
        <p:nvSpPr>
          <p:cNvPr id="7" name="blk0087"/>
          <p:cNvSpPr/>
          <p:nvPr/>
        </p:nvSpPr>
        <p:spPr>
          <a:xfrm>
            <a:off x="687600" y="6281558"/>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87"/>
          <p:cNvSpPr/>
          <p:nvPr/>
        </p:nvSpPr>
        <p:spPr>
          <a:xfrm>
            <a:off x="885600" y="673263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87"/>
          <p:cNvSpPr txBox="1"/>
          <p:nvPr/>
        </p:nvSpPr>
        <p:spPr>
          <a:xfrm>
            <a:off x="1162800" y="6425558"/>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threaded camera keeps working throughout, so when the loop wakes up it gets a genuinely fresh frame. The picture is current. It just arrives more than five seconds late.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Two clocks, and why it matters</a:t>
            </a:r>
          </a:p>
        </p:txBody>
      </p:sp>
      <p:sp>
        <p:nvSpPr>
          <p:cNvPr id="3" name="blk008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program reads the time in two different ways, and the difference between them is the difference between a working feature and a dead one.</a:t>
            </a:r>
          </a:p>
        </p:txBody>
      </p:sp>
      <p:sp>
        <p:nvSpPr>
          <p:cNvPr id="4" name="blk0090"/>
          <p:cNvSpPr/>
          <p:nvPr/>
        </p:nvSpPr>
        <p:spPr>
          <a:xfrm>
            <a:off x="741600" y="283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0"/>
          <p:cNvSpPr txBox="1"/>
          <p:nvPr/>
        </p:nvSpPr>
        <p:spPr>
          <a:xfrm>
            <a:off x="1252800" y="2808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Once per frame</a:t>
            </a:r>
            <a:r>
              <a:rPr sz="1600" b="0" i="0">
                <a:solidFill>
                  <a:srgbClr val="FFFFFF"/>
                </a:solidFill>
                <a:latin typeface="Avenir"/>
                <a:ea typeface="Avenir"/>
                <a:cs typeface="Avenir"/>
                <a:sym typeface="Avenir"/>
              </a:rPr>
              <a:t>  — the loop captures a timestamp near the top of each iteration, and everything later in that iteration reuses it.</a:t>
            </a:r>
          </a:p>
        </p:txBody>
      </p:sp>
      <p:sp>
        <p:nvSpPr>
          <p:cNvPr id="6" name="blk0091"/>
          <p:cNvSpPr/>
          <p:nvPr/>
        </p:nvSpPr>
        <p:spPr>
          <a:xfrm>
            <a:off x="741600" y="366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91"/>
          <p:cNvSpPr txBox="1"/>
          <p:nvPr/>
        </p:nvSpPr>
        <p:spPr>
          <a:xfrm>
            <a:off x="1252800" y="3636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At the moment you need it</a:t>
            </a:r>
            <a:r>
              <a:rPr sz="1600" b="0" i="0">
                <a:solidFill>
                  <a:srgbClr val="FFFFFF"/>
                </a:solidFill>
                <a:latin typeface="Avenir"/>
                <a:ea typeface="Avenir"/>
                <a:cs typeface="Avenir"/>
                <a:sym typeface="Avenir"/>
              </a:rPr>
              <a:t>  — a fresh </a:t>
            </a:r>
            <a:r>
              <a:rPr sz="1376" b="0" i="0">
                <a:solidFill>
                  <a:srgbClr val="FFFFFF"/>
                </a:solidFill>
                <a:latin typeface="Courier New"/>
                <a:ea typeface="Courier New"/>
                <a:cs typeface="Courier New"/>
                <a:sym typeface="Courier New"/>
              </a:rPr>
              <a:t>time.time()</a:t>
            </a:r>
            <a:r>
              <a:rPr sz="1600" b="0" i="0">
                <a:solidFill>
                  <a:srgbClr val="FFFFFF"/>
                </a:solidFill>
                <a:latin typeface="Avenir"/>
                <a:ea typeface="Avenir"/>
                <a:cs typeface="Avenir"/>
                <a:sym typeface="Avenir"/>
              </a:rPr>
              <a:t> read at the point of use.</a:t>
            </a:r>
          </a:p>
        </p:txBody>
      </p:sp>
      <p:sp>
        <p:nvSpPr>
          <p:cNvPr id="8" name="blk0092"/>
          <p:cNvSpPr txBox="1"/>
          <p:nvPr/>
        </p:nvSpPr>
        <p:spPr>
          <a:xfrm>
            <a:off x="687600" y="4644000"/>
            <a:ext cx="7542000" cy="29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is cheaper and slightly stale — fine for measuring how long you have held a gesture, since being a frame late changes nothing. The second is correct whenever something slow happened in between:</a:t>
            </a:r>
          </a:p>
        </p:txBody>
      </p:sp>
      <p:sp>
        <p:nvSpPr>
          <p:cNvPr id="9" name="blk0093"/>
          <p:cNvSpPr/>
          <p:nvPr/>
        </p:nvSpPr>
        <p:spPr>
          <a:xfrm>
            <a:off x="687600" y="5987659"/>
            <a:ext cx="8686800" cy="50599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93"/>
          <p:cNvSpPr txBox="1"/>
          <p:nvPr/>
        </p:nvSpPr>
        <p:spPr>
          <a:xfrm>
            <a:off x="910799" y="6149659"/>
            <a:ext cx="8240400" cy="18199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                cooldown_ready = (time.time() - last_game_time) &gt; GAME_COOLDOWN</a:t>
            </a:r>
          </a:p>
        </p:txBody>
      </p:sp>
      <p:sp>
        <p:nvSpPr>
          <p:cNvPr id="11" name="blk0094"/>
          <p:cNvSpPr/>
          <p:nvPr/>
        </p:nvSpPr>
        <p:spPr>
          <a:xfrm>
            <a:off x="687600" y="6601650"/>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094"/>
          <p:cNvSpPr/>
          <p:nvPr/>
        </p:nvSpPr>
        <p:spPr>
          <a:xfrm>
            <a:off x="885600" y="696525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94"/>
          <p:cNvSpPr txBox="1"/>
          <p:nvPr/>
        </p:nvSpPr>
        <p:spPr>
          <a:xfrm>
            <a:off x="1162800" y="6745649"/>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Had that line used the frame timestamp, the elapsed time would have measured from before the arm delay — and cooldowns are where stale clocks go wrong.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Drawing text at a fixed position</a:t>
            </a:r>
          </a:p>
        </p:txBody>
      </p:sp>
      <p:sp>
        <p:nvSpPr>
          <p:cNvPr id="3" name="blk009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Almost everything on this screen is </a:t>
            </a:r>
            <a:r>
              <a:rPr sz="1743" b="0" i="0">
                <a:solidFill>
                  <a:srgbClr val="FFFFFF"/>
                </a:solidFill>
                <a:latin typeface="Courier New"/>
                <a:ea typeface="Courier New"/>
                <a:cs typeface="Courier New"/>
                <a:sym typeface="Courier New"/>
              </a:rPr>
              <a:t>cv2.putText</a:t>
            </a:r>
            <a:r>
              <a:rPr sz="2027" b="0" i="0">
                <a:solidFill>
                  <a:srgbClr val="FFFFFF"/>
                </a:solidFill>
                <a:latin typeface="Avenir"/>
                <a:ea typeface="Avenir"/>
                <a:cs typeface="Avenir"/>
                <a:sym typeface="Avenir"/>
              </a:rPr>
              <a:t>. The one technique worth noticing is that the position never moves while the content does:</a:t>
            </a:r>
          </a:p>
        </p:txBody>
      </p:sp>
      <p:sp>
        <p:nvSpPr>
          <p:cNvPr id="4" name="blk0097"/>
          <p:cNvSpPr/>
          <p:nvPr/>
        </p:nvSpPr>
        <p:spPr>
          <a:xfrm>
            <a:off x="687600" y="2808000"/>
            <a:ext cx="8686800" cy="141595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7"/>
          <p:cNvSpPr txBox="1"/>
          <p:nvPr/>
        </p:nvSpPr>
        <p:spPr>
          <a:xfrm>
            <a:off x="910799" y="2970000"/>
            <a:ext cx="8240400" cy="109195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    if player_gesture != "Unknown":</a:t>
            </a:r>
          </a:p>
          <a:p>
            <a:pPr algn="l">
              <a:lnSpc>
                <a:spcPct val="115000"/>
              </a:lnSpc>
            </a:pPr>
            <a:r>
              <a:rPr sz="1100" b="0" i="0">
                <a:solidFill>
                  <a:srgbClr val="FFFFFF"/>
                </a:solidFill>
                <a:latin typeface="Courier New"/>
                <a:ea typeface="Courier New"/>
                <a:cs typeface="Courier New"/>
                <a:sym typeface="Courier New"/>
              </a:rPr>
              <a:t>        cv2.putText(frame, f"Your Move: {player_gesture}", (20, 130),</a:t>
            </a:r>
          </a:p>
          <a:p>
            <a:pPr algn="l">
              <a:lnSpc>
                <a:spcPct val="115000"/>
              </a:lnSpc>
            </a:pPr>
            <a:r>
              <a:rPr sz="1100" b="0" i="0">
                <a:solidFill>
                  <a:srgbClr val="FFFFFF"/>
                </a:solidFill>
                <a:latin typeface="Courier New"/>
                <a:ea typeface="Courier New"/>
                <a:cs typeface="Courier New"/>
                <a:sym typeface="Courier New"/>
              </a:rPr>
              <a:t>                    cv2.FONT_HERSHEY_SIMPLEX, 0.8, (0, 255, 0), 2)</a:t>
            </a:r>
          </a:p>
          <a:p>
            <a:pPr algn="l">
              <a:lnSpc>
                <a:spcPct val="115000"/>
              </a:lnSpc>
            </a:pPr>
            <a:r>
              <a:rPr sz="1100" b="0" i="0">
                <a:solidFill>
                  <a:srgbClr val="FFFFFF"/>
                </a:solidFill>
                <a:latin typeface="Courier New"/>
                <a:ea typeface="Courier New"/>
                <a:cs typeface="Courier New"/>
                <a:sym typeface="Courier New"/>
              </a:rPr>
              <a:t>    else:</a:t>
            </a:r>
          </a:p>
          <a:p>
            <a:pPr algn="l">
              <a:lnSpc>
                <a:spcPct val="115000"/>
              </a:lnSpc>
            </a:pPr>
            <a:r>
              <a:rPr sz="1100" b="0" i="0">
                <a:solidFill>
                  <a:srgbClr val="FFFFFF"/>
                </a:solidFill>
                <a:latin typeface="Courier New"/>
                <a:ea typeface="Courier New"/>
                <a:cs typeface="Courier New"/>
                <a:sym typeface="Courier New"/>
              </a:rPr>
              <a:t>        cv2.putText(frame, f"Fingers: {finger_count} - Make a clear gesture!", (20, 130),</a:t>
            </a:r>
          </a:p>
          <a:p>
            <a:pPr algn="l">
              <a:lnSpc>
                <a:spcPct val="115000"/>
              </a:lnSpc>
            </a:pPr>
            <a:r>
              <a:rPr sz="1100" b="0" i="0">
                <a:solidFill>
                  <a:srgbClr val="FFFFFF"/>
                </a:solidFill>
                <a:latin typeface="Courier New"/>
                <a:ea typeface="Courier New"/>
                <a:cs typeface="Courier New"/>
                <a:sym typeface="Courier New"/>
              </a:rPr>
              <a:t>                    cv2.FONT_HERSHEY_SIMPLEX, 0.7, (0, 255, 255), 2)</a:t>
            </a:r>
          </a:p>
        </p:txBody>
      </p:sp>
      <p:sp>
        <p:nvSpPr>
          <p:cNvPr id="6" name="blk0098"/>
          <p:cNvSpPr txBox="1"/>
          <p:nvPr/>
        </p:nvSpPr>
        <p:spPr>
          <a:xfrm>
            <a:off x="687600" y="4608000"/>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Both branches draw at y = 130, so whichever one runs, the text lands in the same place. That is the trick for a line of text whose content changes: hold the position constant and swap the words. The two branches even use different sizes and colours, which is why the fallback line is readable at a glance while the confirmation line is easy to miss.</a:t>
            </a:r>
          </a:p>
        </p:txBody>
      </p:sp>
      <p:sp>
        <p:nvSpPr>
          <p:cNvPr id="7" name="blk0099"/>
          <p:cNvSpPr/>
          <p:nvPr/>
        </p:nvSpPr>
        <p:spPr>
          <a:xfrm>
            <a:off x="687600" y="622476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99"/>
          <p:cNvSpPr/>
          <p:nvPr/>
        </p:nvSpPr>
        <p:spPr>
          <a:xfrm>
            <a:off x="885600" y="667584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99"/>
          <p:cNvSpPr txBox="1"/>
          <p:nvPr/>
        </p:nvSpPr>
        <p:spPr>
          <a:xfrm>
            <a:off x="1162800" y="636875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fingers count only appears while the gesture is unrecognised, which makes it a genuinely useful debugging aid. It shows you the raw input exactly when the interpretation is failing.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Claims and evidence</a:t>
            </a:r>
          </a:p>
        </p:txBody>
      </p:sp>
      <p:sp>
        <p:nvSpPr>
          <p:cNvPr id="3" name="blk010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habit runs through this whole project, and it is worth stating before you write any code.</a:t>
            </a:r>
          </a:p>
        </p:txBody>
      </p:sp>
      <p:sp>
        <p:nvSpPr>
          <p:cNvPr id="4" name="blk0102"/>
          <p:cNvSpPr/>
          <p:nvPr/>
        </p:nvSpPr>
        <p:spPr>
          <a:xfrm>
            <a:off x="687600" y="2592000"/>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2"/>
          <p:cNvSpPr/>
          <p:nvPr/>
        </p:nvSpPr>
        <p:spPr>
          <a:xfrm>
            <a:off x="885600" y="29556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02"/>
          <p:cNvSpPr txBox="1"/>
          <p:nvPr/>
        </p:nvSpPr>
        <p:spPr>
          <a:xfrm>
            <a:off x="1162800" y="2736000"/>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Every message your program prints is a claim about how it behaves. The comment in your code is a claim about why. Both are untested until you check them.</a:t>
            </a:r>
          </a:p>
        </p:txBody>
      </p:sp>
      <p:sp>
        <p:nvSpPr>
          <p:cNvPr id="7" name="blk0103"/>
          <p:cNvSpPr txBox="1"/>
          <p:nvPr/>
        </p:nvSpPr>
        <p:spPr>
          <a:xfrm>
            <a:off x="687600" y="3600000"/>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project makes four claims about how it behaves — three of them printed on startup, one of them implied by the interface. None of them can be checked by watching the program start, because the program starts perfectly well whether they are true or not.</a:t>
            </a:r>
          </a:p>
        </p:txBody>
      </p:sp>
      <p:sp>
        <p:nvSpPr>
          <p:cNvPr id="8" name="blk0104"/>
          <p:cNvSpPr txBox="1"/>
          <p:nvPr/>
        </p:nvSpPr>
        <p:spPr>
          <a:xfrm>
            <a:off x="687600" y="5252574"/>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So the check has to be deliberate: read each claim, then write down what you would expect to see if it were true, then run it. If the two differ, you have found something. Most people never do this, because a program that starts up and does not crash feels like a program that works.</a:t>
            </a:r>
          </a:p>
        </p:txBody>
      </p:sp>
      <p:sp>
        <p:nvSpPr>
          <p:cNvPr id="9" name="blk0105"/>
          <p:cNvSpPr/>
          <p:nvPr/>
        </p:nvSpPr>
        <p:spPr>
          <a:xfrm>
            <a:off x="687600" y="6567582"/>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05"/>
          <p:cNvSpPr/>
          <p:nvPr/>
        </p:nvSpPr>
        <p:spPr>
          <a:xfrm>
            <a:off x="885600" y="6895183"/>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05"/>
          <p:cNvSpPr txBox="1"/>
          <p:nvPr/>
        </p:nvSpPr>
        <p:spPr>
          <a:xfrm>
            <a:off x="1162800" y="6711582"/>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After the twenty steps we come back to those four claims and look at what this project actually did. All four were wrong.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type anything</a:t>
            </a:r>
          </a:p>
        </p:txBody>
      </p:sp>
      <p:sp>
        <p:nvSpPr>
          <p:cNvPr id="3" name="blk01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Copy the starter file across and run it, exactly as it arrived:</a:t>
            </a:r>
          </a:p>
        </p:txBody>
      </p:sp>
      <p:sp>
        <p:nvSpPr>
          <p:cNvPr id="4" name="blk0108"/>
          <p:cNvSpPr txBox="1"/>
          <p:nvPr/>
        </p:nvSpPr>
        <p:spPr>
          <a:xfrm>
            <a:off x="687600" y="2376000"/>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M2-P6-Starter.py er@192.168.1.149:Documents</a:t>
            </a:r>
          </a:p>
        </p:txBody>
      </p:sp>
      <p:sp>
        <p:nvSpPr>
          <p:cNvPr id="5" name="blk0109"/>
          <p:cNvSpPr txBox="1"/>
          <p:nvPr/>
        </p:nvSpPr>
        <p:spPr>
          <a:xfrm>
            <a:off x="687600" y="3024000"/>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M2-P6-Starter.py</a:t>
            </a:r>
          </a:p>
        </p:txBody>
      </p:sp>
      <p:sp>
        <p:nvSpPr>
          <p:cNvPr id="6" name="blk0110"/>
          <p:cNvSpPr txBox="1"/>
          <p:nvPr/>
        </p:nvSpPr>
        <p:spPr>
          <a:xfrm>
            <a:off x="687600" y="3744000"/>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real output of the starter file with every </a:t>
            </a:r>
            <a:r>
              <a:rPr sz="1743" b="0" i="0">
                <a:solidFill>
                  <a:srgbClr val="FFFFFF"/>
                </a:solidFill>
                <a:latin typeface="Courier New"/>
                <a:ea typeface="Courier New"/>
                <a:cs typeface="Courier New"/>
                <a:sym typeface="Courier New"/>
              </a:rPr>
              <a:t>TODO</a:t>
            </a:r>
            <a:r>
              <a:rPr sz="2027" b="0" i="0">
                <a:solidFill>
                  <a:srgbClr val="FFFFFF"/>
                </a:solidFill>
                <a:latin typeface="Avenir"/>
                <a:ea typeface="Avenir"/>
                <a:cs typeface="Avenir"/>
                <a:sym typeface="Avenir"/>
              </a:rPr>
              <a:t> still empty:</a:t>
            </a:r>
          </a:p>
        </p:txBody>
      </p:sp>
      <p:sp>
        <p:nvSpPr>
          <p:cNvPr id="7" name="blk0111"/>
          <p:cNvSpPr/>
          <p:nvPr/>
        </p:nvSpPr>
        <p:spPr>
          <a:xfrm>
            <a:off x="687600" y="4469829"/>
            <a:ext cx="8686800" cy="197847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11"/>
          <p:cNvSpPr txBox="1"/>
          <p:nvPr/>
        </p:nvSpPr>
        <p:spPr>
          <a:xfrm>
            <a:off x="910799" y="4631829"/>
            <a:ext cx="8240400" cy="1654472"/>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Robot ready.</a:t>
            </a:r>
          </a:p>
          <a:p>
            <a:pPr algn="l">
              <a:lnSpc>
                <a:spcPct val="115000"/>
              </a:lnSpc>
            </a:pPr>
            <a:r>
              <a:rPr sz="1250" b="0" i="0">
                <a:solidFill>
                  <a:srgbClr val="FFFFFF"/>
                </a:solidFill>
                <a:latin typeface="Courier New"/>
                <a:ea typeface="Courier New"/>
                <a:cs typeface="Courier New"/>
                <a:sym typeface="Courier New"/>
              </a:rPr>
              <a:t>Starting Rock-Paper-Scissors!</a:t>
            </a:r>
          </a:p>
          <a:p>
            <a:pPr algn="l">
              <a:lnSpc>
                <a:spcPct val="115000"/>
              </a:lnSpc>
            </a:pPr>
            <a:r>
              <a:rPr sz="1250" b="0" i="0">
                <a:solidFill>
                  <a:srgbClr val="FFFFFF"/>
                </a:solidFill>
                <a:latin typeface="Courier New"/>
                <a:ea typeface="Courier New"/>
                <a:cs typeface="Courier New"/>
                <a:sym typeface="Courier New"/>
              </a:rPr>
              <a:t>Gestures: Fist=Rock, Open Hand=Paper, Peace Sign=Scissors</a:t>
            </a:r>
          </a:p>
          <a:p>
            <a:pPr algn="l">
              <a:lnSpc>
                <a:spcPct val="115000"/>
              </a:lnSpc>
            </a:pPr>
            <a:r>
              <a:rPr sz="1250" b="0" i="0">
                <a:solidFill>
                  <a:srgbClr val="FFFFFF"/>
                </a:solidFill>
                <a:latin typeface="Courier New"/>
                <a:ea typeface="Courier New"/>
                <a:cs typeface="Courier New"/>
                <a:sym typeface="Courier New"/>
              </a:rPr>
              <a:t>Hold gesture steady for 1 second to play.</a:t>
            </a:r>
          </a:p>
          <a:p>
            <a:pPr algn="l">
              <a:lnSpc>
                <a:spcPct val="115000"/>
              </a:lnSpc>
            </a:pPr>
            <a:r>
              <a:rPr sz="1250" b="0" i="0">
                <a:solidFill>
                  <a:srgbClr val="FFFFFF"/>
                </a:solidFill>
                <a:latin typeface="Courier New"/>
                <a:ea typeface="Courier New"/>
                <a:cs typeface="Courier New"/>
                <a:sym typeface="Courier New"/>
              </a:rPr>
              <a:t>Traceback (most recent call last):</a:t>
            </a:r>
          </a:p>
          <a:p>
            <a:pPr algn="l">
              <a:lnSpc>
                <a:spcPct val="115000"/>
              </a:lnSpc>
            </a:pPr>
            <a:r>
              <a:rPr sz="1250" b="0" i="0">
                <a:solidFill>
                  <a:srgbClr val="FFFFFF"/>
                </a:solidFill>
                <a:latin typeface="Courier New"/>
                <a:ea typeface="Courier New"/>
                <a:cs typeface="Courier New"/>
                <a:sym typeface="Courier New"/>
              </a:rPr>
              <a:t>  File "M2-P6-Starter.py", line 208, in &lt;module&gt;</a:t>
            </a:r>
          </a:p>
          <a:p>
            <a:pPr algn="l">
              <a:lnSpc>
                <a:spcPct val="115000"/>
              </a:lnSpc>
            </a:pPr>
            <a:r>
              <a:rPr sz="1250" b="0" i="0">
                <a:solidFill>
                  <a:srgbClr val="FFFFFF"/>
                </a:solidFill>
                <a:latin typeface="Courier New"/>
                <a:ea typeface="Courier New"/>
                <a:cs typeface="Courier New"/>
                <a:sym typeface="Courier New"/>
              </a:rPr>
              <a:t>    while cap.isOpened():</a:t>
            </a:r>
          </a:p>
          <a:p>
            <a:pPr algn="l">
              <a:lnSpc>
                <a:spcPct val="115000"/>
              </a:lnSpc>
            </a:pPr>
            <a:r>
              <a:rPr sz="1250" b="0" i="0">
                <a:solidFill>
                  <a:srgbClr val="FFFFFF"/>
                </a:solidFill>
                <a:latin typeface="Courier New"/>
                <a:ea typeface="Courier New"/>
                <a:cs typeface="Courier New"/>
                <a:sym typeface="Courier New"/>
              </a:rPr>
              <a:t>NameError: name 'cap' is not defined</a:t>
            </a:r>
          </a:p>
        </p:txBody>
      </p:sp>
      <p:sp>
        <p:nvSpPr>
          <p:cNvPr id="9" name="blk0112"/>
          <p:cNvSpPr txBox="1"/>
          <p:nvPr/>
        </p:nvSpPr>
        <p:spPr>
          <a:xfrm>
            <a:off x="687600" y="6556301"/>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Every </a:t>
            </a:r>
            <a:r>
              <a:rPr sz="1419" b="0" i="0">
                <a:solidFill>
                  <a:srgbClr val="FFFFFF"/>
                </a:solidFill>
                <a:latin typeface="Courier New"/>
                <a:ea typeface="Courier New"/>
                <a:cs typeface="Courier New"/>
                <a:sym typeface="Courier New"/>
              </a:rPr>
              <a:t>TODO</a:t>
            </a:r>
            <a:r>
              <a:rPr sz="1650" b="0" i="0">
                <a:solidFill>
                  <a:srgbClr val="FFFFFF"/>
                </a:solidFill>
                <a:latin typeface="Avenir"/>
                <a:ea typeface="Avenir"/>
                <a:cs typeface="Avenir"/>
                <a:sym typeface="Avenir"/>
              </a:rPr>
              <a:t> marker you leave empty is a gap. The file still parses, starts, and prints its banner — then dies at the first line that needs something unwritten.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import the tools</a:t>
            </a:r>
          </a:p>
        </p:txBody>
      </p:sp>
      <p:sp>
        <p:nvSpPr>
          <p:cNvPr id="3" name="blk011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Six imports. Four of them you have used in every project so far:</a:t>
            </a:r>
          </a:p>
        </p:txBody>
      </p:sp>
      <p:sp>
        <p:nvSpPr>
          <p:cNvPr id="4" name="blk0115"/>
          <p:cNvSpPr/>
          <p:nvPr/>
        </p:nvSpPr>
        <p:spPr>
          <a:xfrm>
            <a:off x="687600" y="2376000"/>
            <a:ext cx="8686800" cy="171375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5"/>
          <p:cNvSpPr txBox="1"/>
          <p:nvPr/>
        </p:nvSpPr>
        <p:spPr>
          <a:xfrm>
            <a:off x="910799" y="2538000"/>
            <a:ext cx="8240400" cy="1389757"/>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import cv2</a:t>
            </a:r>
          </a:p>
          <a:p>
            <a:pPr algn="l">
              <a:lnSpc>
                <a:spcPct val="115000"/>
              </a:lnSpc>
            </a:pPr>
            <a:r>
              <a:rPr sz="1400" b="0" i="0">
                <a:solidFill>
                  <a:srgbClr val="FFFFFF"/>
                </a:solidFill>
                <a:latin typeface="Courier New"/>
                <a:ea typeface="Courier New"/>
                <a:cs typeface="Courier New"/>
                <a:sym typeface="Courier New"/>
              </a:rPr>
              <a:t>import mediapipe as mp</a:t>
            </a:r>
          </a:p>
          <a:p>
            <a:pPr algn="l">
              <a:lnSpc>
                <a:spcPct val="115000"/>
              </a:lnSpc>
            </a:pPr>
            <a:r>
              <a:rPr sz="1400" b="0" i="0">
                <a:solidFill>
                  <a:srgbClr val="FFFFFF"/>
                </a:solidFill>
                <a:latin typeface="Courier New"/>
                <a:ea typeface="Courier New"/>
                <a:cs typeface="Courier New"/>
                <a:sym typeface="Courier New"/>
              </a:rPr>
              <a:t>import numpy as np</a:t>
            </a:r>
          </a:p>
          <a:p>
            <a:pPr algn="l">
              <a:lnSpc>
                <a:spcPct val="115000"/>
              </a:lnSpc>
            </a:pPr>
            <a:r>
              <a:rPr sz="1400" b="0" i="0">
                <a:solidFill>
                  <a:srgbClr val="FFFFFF"/>
                </a:solidFill>
                <a:latin typeface="Courier New"/>
                <a:ea typeface="Courier New"/>
                <a:cs typeface="Courier New"/>
                <a:sym typeface="Courier New"/>
              </a:rPr>
              <a:t>import time</a:t>
            </a:r>
          </a:p>
          <a:p>
            <a:pPr algn="l">
              <a:lnSpc>
                <a:spcPct val="115000"/>
              </a:lnSpc>
            </a:pPr>
            <a:r>
              <a:rPr sz="1400" b="0" i="0">
                <a:solidFill>
                  <a:srgbClr val="FFFFFF"/>
                </a:solidFill>
                <a:latin typeface="Courier New"/>
                <a:ea typeface="Courier New"/>
                <a:cs typeface="Courier New"/>
                <a:sym typeface="Courier New"/>
              </a:rPr>
              <a:t>import random</a:t>
            </a:r>
          </a:p>
          <a:p>
            <a:pPr algn="l">
              <a:lnSpc>
                <a:spcPct val="115000"/>
              </a:lnSpc>
            </a:pPr>
            <a:r>
              <a:rPr sz="1400" b="0" i="0">
                <a:solidFill>
                  <a:srgbClr val="FFFFFF"/>
                </a:solidFill>
                <a:latin typeface="Courier New"/>
                <a:ea typeface="Courier New"/>
                <a:cs typeface="Courier New"/>
                <a:sym typeface="Courier New"/>
              </a:rPr>
              <a:t>import threading</a:t>
            </a:r>
          </a:p>
        </p:txBody>
      </p:sp>
      <p:sp>
        <p:nvSpPr>
          <p:cNvPr id="6" name="blk0116"/>
          <p:cNvSpPr txBox="1"/>
          <p:nvPr/>
        </p:nvSpPr>
        <p:spPr>
          <a:xfrm>
            <a:off x="687600" y="4197757"/>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of these are doing new work. </a:t>
            </a:r>
            <a:r>
              <a:rPr sz="1743" b="0" i="0">
                <a:solidFill>
                  <a:srgbClr val="FFFFFF"/>
                </a:solidFill>
                <a:latin typeface="Courier New"/>
                <a:ea typeface="Courier New"/>
                <a:cs typeface="Courier New"/>
                <a:sym typeface="Courier New"/>
              </a:rPr>
              <a:t>random</a:t>
            </a:r>
            <a:r>
              <a:rPr sz="2027" b="0" i="0">
                <a:solidFill>
                  <a:srgbClr val="FFFFFF"/>
                </a:solidFill>
                <a:latin typeface="Avenir"/>
                <a:ea typeface="Avenir"/>
                <a:cs typeface="Avenir"/>
                <a:sym typeface="Avenir"/>
              </a:rPr>
              <a:t> is what lets the robot pick a move, and </a:t>
            </a:r>
            <a:r>
              <a:rPr sz="1743" b="0" i="0">
                <a:solidFill>
                  <a:srgbClr val="FFFFFF"/>
                </a:solidFill>
                <a:latin typeface="Courier New"/>
                <a:ea typeface="Courier New"/>
                <a:cs typeface="Courier New"/>
                <a:sym typeface="Courier New"/>
              </a:rPr>
              <a:t>threading</a:t>
            </a:r>
            <a:r>
              <a:rPr sz="2027" b="0" i="0">
                <a:solidFill>
                  <a:srgbClr val="FFFFFF"/>
                </a:solidFill>
                <a:latin typeface="Avenir"/>
                <a:ea typeface="Avenir"/>
                <a:cs typeface="Avenir"/>
                <a:sym typeface="Avenir"/>
              </a:rPr>
              <a:t> is the whole answer to the lag problem. </a:t>
            </a:r>
            <a:r>
              <a:rPr sz="1743" b="0" i="0">
                <a:solidFill>
                  <a:srgbClr val="FFFFFF"/>
                </a:solidFill>
                <a:latin typeface="Courier New"/>
                <a:ea typeface="Courier New"/>
                <a:cs typeface="Courier New"/>
                <a:sym typeface="Courier New"/>
              </a:rPr>
              <a:t>numpy</a:t>
            </a:r>
            <a:r>
              <a:rPr sz="2027" b="0" i="0">
                <a:solidFill>
                  <a:srgbClr val="FFFFFF"/>
                </a:solidFill>
                <a:latin typeface="Avenir"/>
                <a:ea typeface="Avenir"/>
                <a:cs typeface="Avenir"/>
                <a:sym typeface="Avenir"/>
              </a:rPr>
              <a:t> comes along for the ride because MediaPipe hands back arrays.</a:t>
            </a:r>
          </a:p>
        </p:txBody>
      </p:sp>
      <p:sp>
        <p:nvSpPr>
          <p:cNvPr id="7" name="blk0117"/>
          <p:cNvSpPr txBox="1"/>
          <p:nvPr/>
        </p:nvSpPr>
        <p:spPr>
          <a:xfrm>
            <a:off x="687600" y="5541416"/>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what is </a:t>
            </a:r>
            <a:r>
              <a:rPr sz="1650" b="1" i="0">
                <a:solidFill>
                  <a:srgbClr val="FFFFFF"/>
                </a:solidFill>
                <a:latin typeface="Google Sans"/>
                <a:ea typeface="Google Sans"/>
                <a:cs typeface="Google Sans"/>
                <a:sym typeface="Google Sans"/>
              </a:rPr>
              <a:t>not</a:t>
            </a:r>
            <a:r>
              <a:rPr sz="1650" b="0" i="0">
                <a:solidFill>
                  <a:srgbClr val="FFFFFF"/>
                </a:solidFill>
                <a:latin typeface="Avenir"/>
                <a:ea typeface="Avenir"/>
                <a:cs typeface="Avenir"/>
                <a:sym typeface="Avenir"/>
              </a:rPr>
              <a:t> imported. The </a:t>
            </a:r>
            <a:r>
              <a:rPr sz="1419" b="0" i="0">
                <a:solidFill>
                  <a:srgbClr val="FFFFFF"/>
                </a:solidFill>
                <a:latin typeface="Courier New"/>
                <a:ea typeface="Courier New"/>
                <a:cs typeface="Courier New"/>
                <a:sym typeface="Courier New"/>
              </a:rPr>
              <a:t>MyCobot280</a:t>
            </a:r>
            <a:r>
              <a:rPr sz="1650" b="0" i="0">
                <a:solidFill>
                  <a:srgbClr val="FFFFFF"/>
                </a:solidFill>
                <a:latin typeface="Avenir"/>
                <a:ea typeface="Avenir"/>
                <a:cs typeface="Avenir"/>
                <a:sym typeface="Avenir"/>
              </a:rPr>
              <a:t> class does not come from any of these — it comes from a library, and it gets its own line in the next step.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import the arm</a:t>
            </a:r>
          </a:p>
        </p:txBody>
      </p:sp>
      <p:sp>
        <p:nvSpPr>
          <p:cNvPr id="3" name="blk011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import, on its own, because it is not part of the standard set of tools:</a:t>
            </a:r>
          </a:p>
        </p:txBody>
      </p:sp>
      <p:sp>
        <p:nvSpPr>
          <p:cNvPr id="4" name="blk0120"/>
          <p:cNvSpPr/>
          <p:nvPr/>
        </p:nvSpPr>
        <p:spPr>
          <a:xfrm>
            <a:off x="687600" y="2376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0"/>
          <p:cNvSpPr txBox="1"/>
          <p:nvPr/>
        </p:nvSpPr>
        <p:spPr>
          <a:xfrm>
            <a:off x="910799" y="253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from pymycobot.mycobot280 import MyCobot280</a:t>
            </a:r>
          </a:p>
        </p:txBody>
      </p:sp>
      <p:sp>
        <p:nvSpPr>
          <p:cNvPr id="6" name="blk0121"/>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that as: from the </a:t>
            </a:r>
            <a:r>
              <a:rPr sz="1743" b="0" i="0">
                <a:solidFill>
                  <a:srgbClr val="FFFFFF"/>
                </a:solidFill>
                <a:latin typeface="Courier New"/>
                <a:ea typeface="Courier New"/>
                <a:cs typeface="Courier New"/>
                <a:sym typeface="Courier New"/>
              </a:rPr>
              <a:t>pymycobot.mycobot280</a:t>
            </a:r>
            <a:r>
              <a:rPr sz="2027" b="0" i="0">
                <a:solidFill>
                  <a:srgbClr val="FFFFFF"/>
                </a:solidFill>
                <a:latin typeface="Avenir"/>
                <a:ea typeface="Avenir"/>
                <a:cs typeface="Avenir"/>
                <a:sym typeface="Avenir"/>
              </a:rPr>
              <a:t> module, take the </a:t>
            </a:r>
            <a:r>
              <a:rPr sz="1743" b="0" i="0">
                <a:solidFill>
                  <a:srgbClr val="FFFFFF"/>
                </a:solidFill>
                <a:latin typeface="Courier New"/>
                <a:ea typeface="Courier New"/>
                <a:cs typeface="Courier New"/>
                <a:sym typeface="Courier New"/>
              </a:rPr>
              <a:t>MyCobot280</a:t>
            </a:r>
            <a:r>
              <a:rPr sz="2027" b="0" i="0">
                <a:solidFill>
                  <a:srgbClr val="FFFFFF"/>
                </a:solidFill>
                <a:latin typeface="Avenir"/>
                <a:ea typeface="Avenir"/>
                <a:cs typeface="Avenir"/>
                <a:sym typeface="Avenir"/>
              </a:rPr>
              <a:t> class. The package lives on the Raspberry Pi, not in this file — which is why the import line has to be typed exactly as written.</a:t>
            </a:r>
          </a:p>
        </p:txBody>
      </p:sp>
      <p:sp>
        <p:nvSpPr>
          <p:cNvPr id="7" name="blk0122"/>
          <p:cNvSpPr/>
          <p:nvPr/>
        </p:nvSpPr>
        <p:spPr>
          <a:xfrm>
            <a:off x="687600" y="468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22"/>
          <p:cNvSpPr/>
          <p:nvPr/>
        </p:nvSpPr>
        <p:spPr>
          <a:xfrm>
            <a:off x="885600" y="513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22"/>
          <p:cNvSpPr txBox="1"/>
          <p:nvPr/>
        </p:nvSpPr>
        <p:spPr>
          <a:xfrm>
            <a:off x="1162800" y="4824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mistyped import fails immediately, at the top of the file, before a single line of your own logic has run. That is a gift: the error message tells you the module is missing rather than leaving you to work out why the program stopped.</a:t>
            </a:r>
          </a:p>
        </p:txBody>
      </p:sp>
      <p:sp>
        <p:nvSpPr>
          <p:cNvPr id="10" name="blk0123"/>
          <p:cNvSpPr txBox="1"/>
          <p:nvPr/>
        </p:nvSpPr>
        <p:spPr>
          <a:xfrm>
            <a:off x="687600" y="5903999"/>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It will also fail if you try to run this file on a laptop that has never seen the robot libraries installed. For this project the code has to be run on the Pi.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connect and power on</a:t>
            </a:r>
          </a:p>
        </p:txBody>
      </p:sp>
      <p:sp>
        <p:nvSpPr>
          <p:cNvPr id="3" name="blk012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lines inside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that already exists. Two device paths, two short waits, and a confirmation line:</a:t>
            </a:r>
          </a:p>
        </p:txBody>
      </p:sp>
      <p:sp>
        <p:nvSpPr>
          <p:cNvPr id="4" name="blk0126"/>
          <p:cNvSpPr/>
          <p:nvPr/>
        </p:nvSpPr>
        <p:spPr>
          <a:xfrm>
            <a:off x="687600" y="2520000"/>
            <a:ext cx="8686800" cy="166412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6"/>
          <p:cNvSpPr txBox="1"/>
          <p:nvPr/>
        </p:nvSpPr>
        <p:spPr>
          <a:xfrm>
            <a:off x="910799" y="2682000"/>
            <a:ext cx="8240400" cy="1340122"/>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    print("Connecting to myCobot280...")</a:t>
            </a:r>
          </a:p>
          <a:p>
            <a:pPr algn="l">
              <a:lnSpc>
                <a:spcPct val="115000"/>
              </a:lnSpc>
            </a:pPr>
            <a:r>
              <a:rPr sz="1350" b="0" i="0">
                <a:solidFill>
                  <a:srgbClr val="FFFFFF"/>
                </a:solidFill>
                <a:latin typeface="Courier New"/>
                <a:ea typeface="Courier New"/>
                <a:cs typeface="Courier New"/>
                <a:sym typeface="Courier New"/>
              </a:rPr>
              <a:t/>
            </a:r>
          </a:p>
          <a:p>
            <a:pPr algn="l">
              <a:lnSpc>
                <a:spcPct val="115000"/>
              </a:lnSpc>
            </a:pPr>
            <a:r>
              <a:rPr sz="1350" b="0" i="0">
                <a:solidFill>
                  <a:srgbClr val="FFFFFF"/>
                </a:solidFill>
                <a:latin typeface="Courier New"/>
                <a:ea typeface="Courier New"/>
                <a:cs typeface="Courier New"/>
                <a:sym typeface="Courier New"/>
              </a:rPr>
              <a:t>    mc = MyCobot280('/dev/ttyAMA0', 1000000)</a:t>
            </a:r>
          </a:p>
          <a:p>
            <a:pPr algn="l">
              <a:lnSpc>
                <a:spcPct val="115000"/>
              </a:lnSpc>
            </a:pPr>
            <a:r>
              <a:rPr sz="1350" b="0" i="0">
                <a:solidFill>
                  <a:srgbClr val="FFFFFF"/>
                </a:solidFill>
                <a:latin typeface="Courier New"/>
                <a:ea typeface="Courier New"/>
                <a:cs typeface="Courier New"/>
                <a:sym typeface="Courier New"/>
              </a:rPr>
              <a:t>    time.sleep(0.5)</a:t>
            </a:r>
          </a:p>
          <a:p>
            <a:pPr algn="l">
              <a:lnSpc>
                <a:spcPct val="115000"/>
              </a:lnSpc>
            </a:pPr>
            <a:r>
              <a:rPr sz="1350" b="0" i="0">
                <a:solidFill>
                  <a:srgbClr val="FFFFFF"/>
                </a:solidFill>
                <a:latin typeface="Courier New"/>
                <a:ea typeface="Courier New"/>
                <a:cs typeface="Courier New"/>
                <a:sym typeface="Courier New"/>
              </a:rPr>
              <a:t>    mc.power_on()</a:t>
            </a:r>
          </a:p>
          <a:p>
            <a:pPr algn="l">
              <a:lnSpc>
                <a:spcPct val="115000"/>
              </a:lnSpc>
            </a:pPr>
            <a:r>
              <a:rPr sz="1350" b="0" i="0">
                <a:solidFill>
                  <a:srgbClr val="FFFFFF"/>
                </a:solidFill>
                <a:latin typeface="Courier New"/>
                <a:ea typeface="Courier New"/>
                <a:cs typeface="Courier New"/>
                <a:sym typeface="Courier New"/>
              </a:rPr>
              <a:t>    time.sleep(0.5)</a:t>
            </a:r>
          </a:p>
        </p:txBody>
      </p:sp>
      <p:sp>
        <p:nvSpPr>
          <p:cNvPr id="6" name="blk0127"/>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the constructor as two questions. Which serial port? </a:t>
            </a:r>
            <a:r>
              <a:rPr sz="1743" b="0" i="0">
                <a:solidFill>
                  <a:srgbClr val="FFFFFF"/>
                </a:solidFill>
                <a:latin typeface="Courier New"/>
                <a:ea typeface="Courier New"/>
                <a:cs typeface="Courier New"/>
                <a:sym typeface="Courier New"/>
              </a:rPr>
              <a:t>/dev/ttyAMA0</a:t>
            </a:r>
            <a:r>
              <a:rPr sz="2027" b="0" i="0">
                <a:solidFill>
                  <a:srgbClr val="FFFFFF"/>
                </a:solidFill>
                <a:latin typeface="Avenir"/>
                <a:ea typeface="Avenir"/>
                <a:cs typeface="Avenir"/>
                <a:sym typeface="Avenir"/>
              </a:rPr>
              <a:t>. At what baud rate? </a:t>
            </a:r>
            <a:r>
              <a:rPr sz="1743" b="0" i="0">
                <a:solidFill>
                  <a:srgbClr val="FFFFFF"/>
                </a:solidFill>
                <a:latin typeface="Courier New"/>
                <a:ea typeface="Courier New"/>
                <a:cs typeface="Courier New"/>
                <a:sym typeface="Courier New"/>
              </a:rPr>
              <a:t>1000000</a:t>
            </a:r>
            <a:r>
              <a:rPr sz="2027" b="0" i="0">
                <a:solidFill>
                  <a:srgbClr val="FFFFFF"/>
                </a:solidFill>
                <a:latin typeface="Avenir"/>
                <a:ea typeface="Avenir"/>
                <a:cs typeface="Avenir"/>
                <a:sym typeface="Avenir"/>
              </a:rPr>
              <a:t>. Both are wrong-looking numbers on purpose, and both must match the arm exactly.</a:t>
            </a:r>
          </a:p>
        </p:txBody>
      </p:sp>
      <p:sp>
        <p:nvSpPr>
          <p:cNvPr id="7" name="blk0128"/>
          <p:cNvSpPr txBox="1"/>
          <p:nvPr/>
        </p:nvSpPr>
        <p:spPr>
          <a:xfrm>
            <a:off x="687600" y="5807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two </a:t>
            </a:r>
            <a:r>
              <a:rPr sz="1419" b="0" i="0">
                <a:solidFill>
                  <a:srgbClr val="FFFFFF"/>
                </a:solidFill>
                <a:latin typeface="Courier New"/>
                <a:ea typeface="Courier New"/>
                <a:cs typeface="Courier New"/>
                <a:sym typeface="Courier New"/>
              </a:rPr>
              <a:t>time.sleep(0.5)</a:t>
            </a:r>
            <a:r>
              <a:rPr sz="1650" b="0" i="0">
                <a:solidFill>
                  <a:srgbClr val="FFFFFF"/>
                </a:solidFill>
                <a:latin typeface="Avenir"/>
                <a:ea typeface="Avenir"/>
                <a:cs typeface="Avenir"/>
                <a:sym typeface="Avenir"/>
              </a:rPr>
              <a:t> calls are not padding — they are giving the board time to finish booting and to acknowledge the power command. Send commands faster than it can accept them and the very first one is the one that gets lost.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go to the home pose</a:t>
            </a:r>
          </a:p>
        </p:txBody>
      </p:sp>
      <p:sp>
        <p:nvSpPr>
          <p:cNvPr id="3" name="blk013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lines that tell the arm where to start and how long to settle there.</a:t>
            </a:r>
          </a:p>
        </p:txBody>
      </p:sp>
      <p:sp>
        <p:nvSpPr>
          <p:cNvPr id="4" name="blk0131"/>
          <p:cNvSpPr/>
          <p:nvPr/>
        </p:nvSpPr>
        <p:spPr>
          <a:xfrm>
            <a:off x="687600" y="2376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1"/>
          <p:cNvSpPr txBox="1"/>
          <p:nvPr/>
        </p:nvSpPr>
        <p:spPr>
          <a:xfrm>
            <a:off x="910799" y="253800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mc.send_angles(home_pos, 50)</a:t>
            </a:r>
          </a:p>
          <a:p>
            <a:pPr algn="l">
              <a:lnSpc>
                <a:spcPct val="115000"/>
              </a:lnSpc>
            </a:pPr>
            <a:r>
              <a:rPr sz="1500" b="0" i="0">
                <a:solidFill>
                  <a:srgbClr val="FFFFFF"/>
                </a:solidFill>
                <a:latin typeface="Courier New"/>
                <a:ea typeface="Courier New"/>
                <a:cs typeface="Courier New"/>
                <a:sym typeface="Courier New"/>
              </a:rPr>
              <a:t>    time.sleep(2.0)</a:t>
            </a:r>
          </a:p>
        </p:txBody>
      </p:sp>
      <p:sp>
        <p:nvSpPr>
          <p:cNvPr id="6" name="blk0132"/>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two-second sleep is the longest single wait in the whole file, and it is at startup, where nothing is waiting on you yet. There is no reason to rush it.</a:t>
            </a:r>
          </a:p>
        </p:txBody>
      </p:sp>
      <p:sp>
        <p:nvSpPr>
          <p:cNvPr id="7" name="blk0133"/>
          <p:cNvSpPr/>
          <p:nvPr/>
        </p:nvSpPr>
        <p:spPr>
          <a:xfrm>
            <a:off x="687600" y="446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33"/>
          <p:cNvSpPr/>
          <p:nvPr/>
        </p:nvSpPr>
        <p:spPr>
          <a:xfrm>
            <a:off x="885600" y="491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33"/>
          <p:cNvSpPr txBox="1"/>
          <p:nvPr/>
        </p:nvSpPr>
        <p:spPr>
          <a:xfrm>
            <a:off x="1162800" y="460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Where is home_pos defined? You did not type it in this step. It is the line given to you near the top of the file, before the try block, because the main loop needs it too and the loop is nowhere near this code.</a:t>
            </a:r>
          </a:p>
        </p:txBody>
      </p:sp>
      <p:sp>
        <p:nvSpPr>
          <p:cNvPr id="10" name="blk0134"/>
          <p:cNvSpPr txBox="1"/>
          <p:nvPr/>
        </p:nvSpPr>
        <p:spPr>
          <a:xfrm>
            <a:off x="687600" y="5688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speed of </a:t>
            </a:r>
            <a:r>
              <a:rPr sz="1419" b="0" i="0">
                <a:solidFill>
                  <a:srgbClr val="FFFFFF"/>
                </a:solidFill>
                <a:latin typeface="Courier New"/>
                <a:ea typeface="Courier New"/>
                <a:cs typeface="Courier New"/>
                <a:sym typeface="Courier New"/>
              </a:rPr>
              <a:t>50</a:t>
            </a:r>
            <a:r>
              <a:rPr sz="1650" b="0" i="0">
                <a:solidFill>
                  <a:srgbClr val="FFFFFF"/>
                </a:solidFill>
                <a:latin typeface="Avenir"/>
                <a:ea typeface="Avenir"/>
                <a:cs typeface="Avenir"/>
                <a:sym typeface="Avenir"/>
              </a:rPr>
              <a:t> is deliberately slow. This is a starting position, not a demonstration — you want the arm to arrive without knocking anything over.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set up MediaPipe</a:t>
            </a:r>
          </a:p>
        </p:txBody>
      </p:sp>
      <p:sp>
        <p:nvSpPr>
          <p:cNvPr id="3" name="blk013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step that finally replaces colour detection with a hand tracker. Five lines of setup:</a:t>
            </a:r>
          </a:p>
        </p:txBody>
      </p:sp>
      <p:sp>
        <p:nvSpPr>
          <p:cNvPr id="4" name="blk0137"/>
          <p:cNvSpPr/>
          <p:nvPr/>
        </p:nvSpPr>
        <p:spPr>
          <a:xfrm>
            <a:off x="687600" y="2520000"/>
            <a:ext cx="8686800" cy="233418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7"/>
          <p:cNvSpPr txBox="1"/>
          <p:nvPr/>
        </p:nvSpPr>
        <p:spPr>
          <a:xfrm>
            <a:off x="910799" y="2682000"/>
            <a:ext cx="8240400" cy="2010184"/>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mp_hands = mp.solutions.hands</a:t>
            </a:r>
          </a:p>
          <a:p>
            <a:pPr algn="l">
              <a:lnSpc>
                <a:spcPct val="115000"/>
              </a:lnSpc>
            </a:pPr>
            <a:r>
              <a:rPr sz="1350" b="0" i="0">
                <a:solidFill>
                  <a:srgbClr val="FFFFFF"/>
                </a:solidFill>
                <a:latin typeface="Courier New"/>
                <a:ea typeface="Courier New"/>
                <a:cs typeface="Courier New"/>
                <a:sym typeface="Courier New"/>
              </a:rPr>
              <a:t>mp_drawing = mp.solutions.drawing_utils</a:t>
            </a:r>
          </a:p>
          <a:p>
            <a:pPr algn="l">
              <a:lnSpc>
                <a:spcPct val="115000"/>
              </a:lnSpc>
            </a:pPr>
            <a:r>
              <a:rPr sz="1350" b="0" i="0">
                <a:solidFill>
                  <a:srgbClr val="FFFFFF"/>
                </a:solidFill>
                <a:latin typeface="Courier New"/>
                <a:ea typeface="Courier New"/>
                <a:cs typeface="Courier New"/>
                <a:sym typeface="Courier New"/>
              </a:rPr>
              <a:t/>
            </a:r>
          </a:p>
          <a:p>
            <a:pPr algn="l">
              <a:lnSpc>
                <a:spcPct val="115000"/>
              </a:lnSpc>
            </a:pPr>
            <a:r>
              <a:rPr sz="1350" b="0" i="0">
                <a:solidFill>
                  <a:srgbClr val="FFFFFF"/>
                </a:solidFill>
                <a:latin typeface="Courier New"/>
                <a:ea typeface="Courier New"/>
                <a:cs typeface="Courier New"/>
                <a:sym typeface="Courier New"/>
              </a:rPr>
              <a:t>hands = mp_hands.Hands(</a:t>
            </a:r>
          </a:p>
          <a:p>
            <a:pPr algn="l">
              <a:lnSpc>
                <a:spcPct val="115000"/>
              </a:lnSpc>
            </a:pPr>
            <a:r>
              <a:rPr sz="1350" b="0" i="0">
                <a:solidFill>
                  <a:srgbClr val="FFFFFF"/>
                </a:solidFill>
                <a:latin typeface="Courier New"/>
                <a:ea typeface="Courier New"/>
                <a:cs typeface="Courier New"/>
                <a:sym typeface="Courier New"/>
              </a:rPr>
              <a:t>    static_image_mode=False,</a:t>
            </a:r>
          </a:p>
          <a:p>
            <a:pPr algn="l">
              <a:lnSpc>
                <a:spcPct val="115000"/>
              </a:lnSpc>
            </a:pPr>
            <a:r>
              <a:rPr sz="1350" b="0" i="0">
                <a:solidFill>
                  <a:srgbClr val="FFFFFF"/>
                </a:solidFill>
                <a:latin typeface="Courier New"/>
                <a:ea typeface="Courier New"/>
                <a:cs typeface="Courier New"/>
                <a:sym typeface="Courier New"/>
              </a:rPr>
              <a:t>    max_num_hands=1,</a:t>
            </a:r>
          </a:p>
          <a:p>
            <a:pPr algn="l">
              <a:lnSpc>
                <a:spcPct val="115000"/>
              </a:lnSpc>
            </a:pPr>
            <a:r>
              <a:rPr sz="1350" b="0" i="0">
                <a:solidFill>
                  <a:srgbClr val="FFFFFF"/>
                </a:solidFill>
                <a:latin typeface="Courier New"/>
                <a:ea typeface="Courier New"/>
                <a:cs typeface="Courier New"/>
                <a:sym typeface="Courier New"/>
              </a:rPr>
              <a:t>    min_detection_confidence=0.7,</a:t>
            </a:r>
          </a:p>
          <a:p>
            <a:pPr algn="l">
              <a:lnSpc>
                <a:spcPct val="115000"/>
              </a:lnSpc>
            </a:pPr>
            <a:r>
              <a:rPr sz="1350" b="0" i="0">
                <a:solidFill>
                  <a:srgbClr val="FFFFFF"/>
                </a:solidFill>
                <a:latin typeface="Courier New"/>
                <a:ea typeface="Courier New"/>
                <a:cs typeface="Courier New"/>
                <a:sym typeface="Courier New"/>
              </a:rPr>
              <a:t>    min_tracking_confidence=0.7</a:t>
            </a:r>
          </a:p>
          <a:p>
            <a:pPr algn="l">
              <a:lnSpc>
                <a:spcPct val="115000"/>
              </a:lnSpc>
            </a:pPr>
            <a:r>
              <a:rPr sz="1350" b="0" i="0">
                <a:solidFill>
                  <a:srgbClr val="FFFFFF"/>
                </a:solidFill>
                <a:latin typeface="Courier New"/>
                <a:ea typeface="Courier New"/>
                <a:cs typeface="Courier New"/>
                <a:sym typeface="Courier New"/>
              </a:rPr>
              <a:t>)</a:t>
            </a:r>
          </a:p>
        </p:txBody>
      </p:sp>
      <p:sp>
        <p:nvSpPr>
          <p:cNvPr id="6" name="blk0138"/>
          <p:cNvSpPr/>
          <p:nvPr/>
        </p:nvSpPr>
        <p:spPr>
          <a:xfrm>
            <a:off x="741600" y="499098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38"/>
          <p:cNvSpPr txBox="1"/>
          <p:nvPr/>
        </p:nvSpPr>
        <p:spPr>
          <a:xfrm>
            <a:off x="1252800" y="4962184"/>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static_image_mode=False</a:t>
            </a:r>
            <a:r>
              <a:rPr sz="1600" b="0" i="0">
                <a:solidFill>
                  <a:srgbClr val="FFFFFF"/>
                </a:solidFill>
                <a:latin typeface="Avenir"/>
                <a:ea typeface="Avenir"/>
                <a:cs typeface="Avenir"/>
                <a:sym typeface="Avenir"/>
              </a:rPr>
              <a:t>  — a live video feed, not a photo, so keep the previous frame as a hint.</a:t>
            </a:r>
          </a:p>
        </p:txBody>
      </p:sp>
      <p:sp>
        <p:nvSpPr>
          <p:cNvPr id="8" name="blk0139"/>
          <p:cNvSpPr/>
          <p:nvPr/>
        </p:nvSpPr>
        <p:spPr>
          <a:xfrm>
            <a:off x="741600" y="56842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39"/>
          <p:cNvSpPr txBox="1"/>
          <p:nvPr/>
        </p:nvSpPr>
        <p:spPr>
          <a:xfrm>
            <a:off x="1252800" y="5655400"/>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max_num_hands=1</a:t>
            </a:r>
            <a:r>
              <a:rPr sz="1600" b="0" i="0">
                <a:solidFill>
                  <a:srgbClr val="FFFFFF"/>
                </a:solidFill>
                <a:latin typeface="Avenir"/>
                <a:ea typeface="Avenir"/>
                <a:cs typeface="Avenir"/>
                <a:sym typeface="Avenir"/>
              </a:rPr>
              <a:t>  — one pair of hands, which is all this game needs and all the loop can track.</a:t>
            </a:r>
          </a:p>
        </p:txBody>
      </p:sp>
      <p:sp>
        <p:nvSpPr>
          <p:cNvPr id="10" name="blk0140"/>
          <p:cNvSpPr/>
          <p:nvPr/>
        </p:nvSpPr>
        <p:spPr>
          <a:xfrm>
            <a:off x="687600" y="6348615"/>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40"/>
          <p:cNvSpPr/>
          <p:nvPr/>
        </p:nvSpPr>
        <p:spPr>
          <a:xfrm>
            <a:off x="885600" y="6799695"/>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40"/>
          <p:cNvSpPr txBox="1"/>
          <p:nvPr/>
        </p:nvSpPr>
        <p:spPr>
          <a:xfrm>
            <a:off x="1162800" y="6492615"/>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Those last two confidence values are the only tuning knobs in the entire detection path. Raise them and the tracker gets faster but shakier; lower them and steadier but slower to notice a new hand.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open the camera</a:t>
            </a:r>
          </a:p>
        </p:txBody>
      </p:sp>
      <p:sp>
        <p:nvSpPr>
          <p:cNvPr id="3" name="blk014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and it is not </a:t>
            </a:r>
            <a:r>
              <a:rPr sz="1743" b="0" i="0">
                <a:solidFill>
                  <a:srgbClr val="FFFFFF"/>
                </a:solidFill>
                <a:latin typeface="Courier New"/>
                <a:ea typeface="Courier New"/>
                <a:cs typeface="Courier New"/>
                <a:sym typeface="Courier New"/>
              </a:rPr>
              <a:t>cv2.VideoCapture</a:t>
            </a:r>
            <a:r>
              <a:rPr sz="2027" b="0" i="0">
                <a:solidFill>
                  <a:srgbClr val="FFFFFF"/>
                </a:solidFill>
                <a:latin typeface="Avenir"/>
                <a:ea typeface="Avenir"/>
                <a:cs typeface="Avenir"/>
                <a:sym typeface="Avenir"/>
              </a:rPr>
              <a:t>:</a:t>
            </a:r>
          </a:p>
        </p:txBody>
      </p:sp>
      <p:sp>
        <p:nvSpPr>
          <p:cNvPr id="4" name="blk0143"/>
          <p:cNvSpPr/>
          <p:nvPr/>
        </p:nvSpPr>
        <p:spPr>
          <a:xfrm>
            <a:off x="687600" y="2376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3"/>
          <p:cNvSpPr txBox="1"/>
          <p:nvPr/>
        </p:nvSpPr>
        <p:spPr>
          <a:xfrm>
            <a:off x="910799" y="253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cap = ThreadedCamera(0)</a:t>
            </a:r>
          </a:p>
        </p:txBody>
      </p:sp>
      <p:sp>
        <p:nvSpPr>
          <p:cNvPr id="6" name="blk0144"/>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class is already written for you, above the </a:t>
            </a:r>
            <a:r>
              <a:rPr sz="1743" b="0" i="0">
                <a:solidFill>
                  <a:srgbClr val="FFFFFF"/>
                </a:solidFill>
                <a:latin typeface="Courier New"/>
                <a:ea typeface="Courier New"/>
                <a:cs typeface="Courier New"/>
                <a:sym typeface="Courier New"/>
              </a:rPr>
              <a:t>TODO</a:t>
            </a:r>
            <a:r>
              <a:rPr sz="2027" b="0" i="0">
                <a:solidFill>
                  <a:srgbClr val="FFFFFF"/>
                </a:solidFill>
                <a:latin typeface="Avenir"/>
                <a:ea typeface="Avenir"/>
                <a:cs typeface="Avenir"/>
                <a:sym typeface="Avenir"/>
              </a:rPr>
              <a:t> markers. The </a:t>
            </a:r>
            <a:r>
              <a:rPr sz="1743" b="0" i="0">
                <a:solidFill>
                  <a:srgbClr val="FFFFFF"/>
                </a:solidFill>
                <a:latin typeface="Courier New"/>
                <a:ea typeface="Courier New"/>
                <a:cs typeface="Courier New"/>
                <a:sym typeface="Courier New"/>
              </a:rPr>
              <a:t>0</a:t>
            </a:r>
            <a:r>
              <a:rPr sz="2027" b="0" i="0">
                <a:solidFill>
                  <a:srgbClr val="FFFFFF"/>
                </a:solidFill>
                <a:latin typeface="Avenir"/>
                <a:ea typeface="Avenir"/>
                <a:cs typeface="Avenir"/>
                <a:sym typeface="Avenir"/>
              </a:rPr>
              <a:t> is the camera index — zero is the first one. Everything that made the class complicated is a response to the four and a half seconds of blocking work that comes later in the loop.</a:t>
            </a:r>
          </a:p>
        </p:txBody>
      </p:sp>
      <p:sp>
        <p:nvSpPr>
          <p:cNvPr id="7" name="blk0145"/>
          <p:cNvSpPr/>
          <p:nvPr/>
        </p:nvSpPr>
        <p:spPr>
          <a:xfrm>
            <a:off x="687600" y="4964573"/>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45"/>
          <p:cNvSpPr/>
          <p:nvPr/>
        </p:nvSpPr>
        <p:spPr>
          <a:xfrm>
            <a:off x="885600" y="5552813"/>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45"/>
          <p:cNvSpPr txBox="1"/>
          <p:nvPr/>
        </p:nvSpPr>
        <p:spPr>
          <a:xfrm>
            <a:off x="1162800" y="5108573"/>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Every call in the main loop stays the same as the other projects. </a:t>
            </a:r>
            <a:r>
              <a:rPr sz="1290" b="0" i="1">
                <a:solidFill>
                  <a:srgbClr val="FFCF08"/>
                </a:solidFill>
                <a:latin typeface="Courier New"/>
                <a:ea typeface="Courier New"/>
                <a:cs typeface="Courier New"/>
                <a:sym typeface="Courier New"/>
              </a:rPr>
              <a:t>cap.read()</a:t>
            </a:r>
            <a:r>
              <a:rPr sz="1500" b="0" i="1">
                <a:solidFill>
                  <a:srgbClr val="FFCF08"/>
                </a:solidFill>
                <a:latin typeface="Avenir"/>
                <a:ea typeface="Avenir"/>
                <a:cs typeface="Avenir"/>
                <a:sym typeface="Avenir"/>
              </a:rPr>
              <a:t>, </a:t>
            </a:r>
            <a:r>
              <a:rPr sz="1290" b="0" i="1">
                <a:solidFill>
                  <a:srgbClr val="FFCF08"/>
                </a:solidFill>
                <a:latin typeface="Courier New"/>
                <a:ea typeface="Courier New"/>
                <a:cs typeface="Courier New"/>
                <a:sym typeface="Courier New"/>
              </a:rPr>
              <a:t>cap.isOpened()</a:t>
            </a:r>
            <a:r>
              <a:rPr sz="1500" b="0" i="1">
                <a:solidFill>
                  <a:srgbClr val="FFCF08"/>
                </a:solidFill>
                <a:latin typeface="Avenir"/>
                <a:ea typeface="Avenir"/>
                <a:cs typeface="Avenir"/>
                <a:sym typeface="Avenir"/>
              </a:rPr>
              <a:t>, </a:t>
            </a:r>
            <a:r>
              <a:rPr sz="1290" b="0" i="1">
                <a:solidFill>
                  <a:srgbClr val="FFCF08"/>
                </a:solidFill>
                <a:latin typeface="Courier New"/>
                <a:ea typeface="Courier New"/>
                <a:cs typeface="Courier New"/>
                <a:sym typeface="Courier New"/>
              </a:rPr>
              <a:t>cap.release()</a:t>
            </a:r>
            <a:r>
              <a:rPr sz="1500" b="0" i="1">
                <a:solidFill>
                  <a:srgbClr val="FFCF08"/>
                </a:solidFill>
                <a:latin typeface="Avenir"/>
                <a:ea typeface="Avenir"/>
                <a:cs typeface="Avenir"/>
                <a:sym typeface="Avenir"/>
              </a:rPr>
              <a:t> — the class was written to be a drop-in replacement for a normal capture object, so the loop code never has to know there is a thread in here.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count fingers, part one</a:t>
            </a:r>
          </a:p>
        </p:txBody>
      </p:sp>
      <p:sp>
        <p:nvSpPr>
          <p:cNvPr id="3" name="blk014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function signature, the docstring, and the two lists of landmark indices that make this project possible:</a:t>
            </a:r>
          </a:p>
        </p:txBody>
      </p:sp>
      <p:sp>
        <p:nvSpPr>
          <p:cNvPr id="4" name="blk0148"/>
          <p:cNvSpPr/>
          <p:nvPr/>
        </p:nvSpPr>
        <p:spPr>
          <a:xfrm>
            <a:off x="687600" y="2592000"/>
            <a:ext cx="8686800" cy="225973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8"/>
          <p:cNvSpPr txBox="1"/>
          <p:nvPr/>
        </p:nvSpPr>
        <p:spPr>
          <a:xfrm>
            <a:off x="910799" y="2754000"/>
            <a:ext cx="8240400" cy="1935733"/>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def count_fingers(hand_landmarks):</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Count extended fingers using MediaPipe landmarks.</a:t>
            </a:r>
          </a:p>
          <a:p>
            <a:pPr algn="l">
              <a:lnSpc>
                <a:spcPct val="115000"/>
              </a:lnSpc>
            </a:pPr>
            <a:r>
              <a:rPr sz="1300" b="0" i="0">
                <a:solidFill>
                  <a:srgbClr val="FFFFFF"/>
                </a:solidFill>
                <a:latin typeface="Courier New"/>
                <a:ea typeface="Courier New"/>
                <a:cs typeface="Courier New"/>
                <a:sym typeface="Courier New"/>
              </a:rPr>
              <a:t>    Returns: number of extended fingers (0-5)</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tips = [4, 8, 12, 16, 20]  # Thumb, Index, Middle, Ring, Pinky tips</a:t>
            </a:r>
          </a:p>
          <a:p>
            <a:pPr algn="l">
              <a:lnSpc>
                <a:spcPct val="115000"/>
              </a:lnSpc>
            </a:pPr>
            <a:r>
              <a:rPr sz="1300" b="0" i="0">
                <a:solidFill>
                  <a:srgbClr val="FFFFFF"/>
                </a:solidFill>
                <a:latin typeface="Courier New"/>
                <a:ea typeface="Courier New"/>
                <a:cs typeface="Courier New"/>
                <a:sym typeface="Courier New"/>
              </a:rPr>
              <a:t>    pips = [3, 6, 10, 14, 18]  # Corresponding PIP joints</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extended = 0</a:t>
            </a:r>
          </a:p>
        </p:txBody>
      </p:sp>
      <p:sp>
        <p:nvSpPr>
          <p:cNvPr id="6" name="blk0149"/>
          <p:cNvSpPr txBox="1"/>
          <p:nvPr/>
        </p:nvSpPr>
        <p:spPr>
          <a:xfrm>
            <a:off x="687600" y="4959733"/>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Index 0 of each list is the thumb, so the two lists stay parallel — position 2 is the middle finger in both. That is the property the rest of the function depends 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count fingers, part two</a:t>
            </a:r>
          </a:p>
        </p:txBody>
      </p:sp>
      <p:sp>
        <p:nvSpPr>
          <p:cNvPr id="3" name="blk015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different comparisons, because there are two different kinds of finger:</a:t>
            </a:r>
          </a:p>
        </p:txBody>
      </p:sp>
      <p:sp>
        <p:nvSpPr>
          <p:cNvPr id="4" name="blk0152"/>
          <p:cNvSpPr/>
          <p:nvPr/>
        </p:nvSpPr>
        <p:spPr>
          <a:xfrm>
            <a:off x="687600" y="2520000"/>
            <a:ext cx="8686800" cy="222664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2"/>
          <p:cNvSpPr txBox="1"/>
          <p:nvPr/>
        </p:nvSpPr>
        <p:spPr>
          <a:xfrm>
            <a:off x="910799" y="2682000"/>
            <a:ext cx="8240400" cy="1902643"/>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 Thumb: compare x-coordinates (horizontal)</a:t>
            </a:r>
          </a:p>
          <a:p>
            <a:pPr algn="l">
              <a:lnSpc>
                <a:spcPct val="115000"/>
              </a:lnSpc>
            </a:pPr>
            <a:r>
              <a:rPr sz="1150" b="0" i="0">
                <a:solidFill>
                  <a:srgbClr val="FFFFFF"/>
                </a:solidFill>
                <a:latin typeface="Courier New"/>
                <a:ea typeface="Courier New"/>
                <a:cs typeface="Courier New"/>
                <a:sym typeface="Courier New"/>
              </a:rPr>
              <a:t>    if hand_landmarks.landmark[tips[0]].x &lt; hand_landmarks.landmark[pips[0]].x:</a:t>
            </a:r>
          </a:p>
          <a:p>
            <a:pPr algn="l">
              <a:lnSpc>
                <a:spcPct val="115000"/>
              </a:lnSpc>
            </a:pPr>
            <a:r>
              <a:rPr sz="1150" b="0" i="0">
                <a:solidFill>
                  <a:srgbClr val="FFFFFF"/>
                </a:solidFill>
                <a:latin typeface="Courier New"/>
                <a:ea typeface="Courier New"/>
                <a:cs typeface="Courier New"/>
                <a:sym typeface="Courier New"/>
              </a:rPr>
              <a:t>        extended += 1</a:t>
            </a:r>
          </a:p>
          <a:p>
            <a:pPr algn="l">
              <a:lnSpc>
                <a:spcPct val="115000"/>
              </a:lnSpc>
            </a:pPr>
            <a:r>
              <a:rPr sz="1150" b="0" i="0">
                <a:solidFill>
                  <a:srgbClr val="FFFFFF"/>
                </a:solidFill>
                <a:latin typeface="Courier New"/>
                <a:ea typeface="Courier New"/>
                <a:cs typeface="Courier New"/>
                <a:sym typeface="Courier New"/>
              </a:rPr>
              <a:t>    </a:t>
            </a:r>
          </a:p>
          <a:p>
            <a:pPr algn="l">
              <a:lnSpc>
                <a:spcPct val="115000"/>
              </a:lnSpc>
            </a:pPr>
            <a:r>
              <a:rPr sz="1150" b="0" i="0">
                <a:solidFill>
                  <a:srgbClr val="FFFFFF"/>
                </a:solidFill>
                <a:latin typeface="Courier New"/>
                <a:ea typeface="Courier New"/>
                <a:cs typeface="Courier New"/>
                <a:sym typeface="Courier New"/>
              </a:rPr>
              <a:t>    # Other 4 fingers: compare y-coordinates (vertical, tip above pip = extended)</a:t>
            </a:r>
          </a:p>
          <a:p>
            <a:pPr algn="l">
              <a:lnSpc>
                <a:spcPct val="115000"/>
              </a:lnSpc>
            </a:pPr>
            <a:r>
              <a:rPr sz="1150" b="0" i="0">
                <a:solidFill>
                  <a:srgbClr val="FFFFFF"/>
                </a:solidFill>
                <a:latin typeface="Courier New"/>
                <a:ea typeface="Courier New"/>
                <a:cs typeface="Courier New"/>
                <a:sym typeface="Courier New"/>
              </a:rPr>
              <a:t>    for i in range(1, 5):</a:t>
            </a:r>
          </a:p>
          <a:p>
            <a:pPr algn="l">
              <a:lnSpc>
                <a:spcPct val="115000"/>
              </a:lnSpc>
            </a:pPr>
            <a:r>
              <a:rPr sz="1150" b="0" i="0">
                <a:solidFill>
                  <a:srgbClr val="FFFFFF"/>
                </a:solidFill>
                <a:latin typeface="Courier New"/>
                <a:ea typeface="Courier New"/>
                <a:cs typeface="Courier New"/>
                <a:sym typeface="Courier New"/>
              </a:rPr>
              <a:t>        if hand_landmarks.landmark[tips[i]].y &lt; hand_landmarks.landmark[pips[i]].y:</a:t>
            </a:r>
          </a:p>
          <a:p>
            <a:pPr algn="l">
              <a:lnSpc>
                <a:spcPct val="115000"/>
              </a:lnSpc>
            </a:pPr>
            <a:r>
              <a:rPr sz="1150" b="0" i="0">
                <a:solidFill>
                  <a:srgbClr val="FFFFFF"/>
                </a:solidFill>
                <a:latin typeface="Courier New"/>
                <a:ea typeface="Courier New"/>
                <a:cs typeface="Courier New"/>
                <a:sym typeface="Courier New"/>
              </a:rPr>
              <a:t>            extended += 1</a:t>
            </a:r>
          </a:p>
          <a:p>
            <a:pPr algn="l">
              <a:lnSpc>
                <a:spcPct val="115000"/>
              </a:lnSpc>
            </a:pPr>
            <a:r>
              <a:rPr sz="1150" b="0" i="0">
                <a:solidFill>
                  <a:srgbClr val="FFFFFF"/>
                </a:solidFill>
                <a:latin typeface="Courier New"/>
                <a:ea typeface="Courier New"/>
                <a:cs typeface="Courier New"/>
                <a:sym typeface="Courier New"/>
              </a:rPr>
              <a:t>            </a:t>
            </a:r>
          </a:p>
          <a:p>
            <a:pPr algn="l">
              <a:lnSpc>
                <a:spcPct val="115000"/>
              </a:lnSpc>
            </a:pPr>
            <a:r>
              <a:rPr sz="1150" b="0" i="0">
                <a:solidFill>
                  <a:srgbClr val="FFFFFF"/>
                </a:solidFill>
                <a:latin typeface="Courier New"/>
                <a:ea typeface="Courier New"/>
                <a:cs typeface="Courier New"/>
                <a:sym typeface="Courier New"/>
              </a:rPr>
              <a:t>    return extended</a:t>
            </a:r>
          </a:p>
        </p:txBody>
      </p:sp>
      <p:sp>
        <p:nvSpPr>
          <p:cNvPr id="6" name="blk0153"/>
          <p:cNvSpPr/>
          <p:nvPr/>
        </p:nvSpPr>
        <p:spPr>
          <a:xfrm>
            <a:off x="687600" y="504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53"/>
          <p:cNvSpPr/>
          <p:nvPr/>
        </p:nvSpPr>
        <p:spPr>
          <a:xfrm>
            <a:off x="885600" y="549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53"/>
          <p:cNvSpPr txBox="1"/>
          <p:nvPr/>
        </p:nvSpPr>
        <p:spPr>
          <a:xfrm>
            <a:off x="1162800" y="5184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thumb is handled first and outside the loop, then the loop starts at 1. If it started at 0 the thumb would be counted a second time and every gesture in the game would be wrong by exactly one finger.</a:t>
            </a:r>
          </a:p>
        </p:txBody>
      </p:sp>
      <p:sp>
        <p:nvSpPr>
          <p:cNvPr id="9" name="blk0154"/>
          <p:cNvSpPr txBox="1"/>
          <p:nvPr/>
        </p:nvSpPr>
        <p:spPr>
          <a:xfrm>
            <a:off x="687600" y="6186959"/>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Smaller </a:t>
            </a:r>
            <a:r>
              <a:rPr sz="1419" b="0" i="0">
                <a:solidFill>
                  <a:srgbClr val="FFFFFF"/>
                </a:solidFill>
                <a:latin typeface="Courier New"/>
                <a:ea typeface="Courier New"/>
                <a:cs typeface="Courier New"/>
                <a:sym typeface="Courier New"/>
              </a:rPr>
              <a:t>y</a:t>
            </a:r>
            <a:r>
              <a:rPr sz="1650" b="0" i="0">
                <a:solidFill>
                  <a:srgbClr val="FFFFFF"/>
                </a:solidFill>
                <a:latin typeface="Avenir"/>
                <a:ea typeface="Avenir"/>
                <a:cs typeface="Avenir"/>
                <a:sym typeface="Avenir"/>
              </a:rPr>
              <a:t> means higher up in the frame, so a tip above its joint means the finger is pointing up. That single inequality is the whole test.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count to gesture</a:t>
            </a:r>
          </a:p>
        </p:txBody>
      </p:sp>
      <p:sp>
        <p:nvSpPr>
          <p:cNvPr id="3" name="blk015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branches. The comments matter as much as the code, because they define what each pose is meant to be:</a:t>
            </a:r>
          </a:p>
        </p:txBody>
      </p:sp>
      <p:sp>
        <p:nvSpPr>
          <p:cNvPr id="4" name="blk0157"/>
          <p:cNvSpPr/>
          <p:nvPr/>
        </p:nvSpPr>
        <p:spPr>
          <a:xfrm>
            <a:off x="687600" y="2592000"/>
            <a:ext cx="8686800" cy="327723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7"/>
          <p:cNvSpPr txBox="1"/>
          <p:nvPr/>
        </p:nvSpPr>
        <p:spPr>
          <a:xfrm>
            <a:off x="910799" y="2754000"/>
            <a:ext cx="8240400" cy="2953233"/>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def classify_gesture(finger_count):</a:t>
            </a:r>
          </a:p>
          <a:p>
            <a:pPr algn="l">
              <a:lnSpc>
                <a:spcPct val="115000"/>
              </a:lnSpc>
            </a:pPr>
            <a:r>
              <a:rPr sz="1050" b="0" i="0">
                <a:solidFill>
                  <a:srgbClr val="FFFFFF"/>
                </a:solidFill>
                <a:latin typeface="Courier New"/>
                <a:ea typeface="Courier New"/>
                <a:cs typeface="Courier New"/>
                <a:sym typeface="Courier New"/>
              </a:rPr>
              <a:t>    """</a:t>
            </a:r>
          </a:p>
          <a:p>
            <a:pPr algn="l">
              <a:lnSpc>
                <a:spcPct val="115000"/>
              </a:lnSpc>
            </a:pPr>
            <a:r>
              <a:rPr sz="1050" b="0" i="0">
                <a:solidFill>
                  <a:srgbClr val="FFFFFF"/>
                </a:solidFill>
                <a:latin typeface="Courier New"/>
                <a:ea typeface="Courier New"/>
                <a:cs typeface="Courier New"/>
                <a:sym typeface="Courier New"/>
              </a:rPr>
              <a:t>    Classify gesture based on finger count.</a:t>
            </a:r>
          </a:p>
          <a:p>
            <a:pPr algn="l">
              <a:lnSpc>
                <a:spcPct val="115000"/>
              </a:lnSpc>
            </a:pPr>
            <a:r>
              <a:rPr sz="1050" b="0" i="0">
                <a:solidFill>
                  <a:srgbClr val="FFFFFF"/>
                </a:solidFill>
                <a:latin typeface="Courier New"/>
                <a:ea typeface="Courier New"/>
                <a:cs typeface="Courier New"/>
                <a:sym typeface="Courier New"/>
              </a:rPr>
              <a:t>    Returns: "Rock", "Paper", "Scissors", or "Unknown"</a:t>
            </a:r>
          </a:p>
          <a:p>
            <a:pPr algn="l">
              <a:lnSpc>
                <a:spcPct val="115000"/>
              </a:lnSpc>
            </a:pPr>
            <a:r>
              <a:rPr sz="1050" b="0" i="0">
                <a:solidFill>
                  <a:srgbClr val="FFFFFF"/>
                </a:solidFill>
                <a:latin typeface="Courier New"/>
                <a:ea typeface="Courier New"/>
                <a:cs typeface="Courier New"/>
                <a:sym typeface="Courier New"/>
              </a:rPr>
              <a:t>    """</a:t>
            </a:r>
          </a:p>
          <a:p>
            <a:pPr algn="l">
              <a:lnSpc>
                <a:spcPct val="115000"/>
              </a:lnSpc>
            </a:pPr>
            <a:r>
              <a:rPr sz="1050" b="0" i="0">
                <a:solidFill>
                  <a:srgbClr val="FFFFFF"/>
                </a:solidFill>
                <a:latin typeface="Courier New"/>
                <a:ea typeface="Courier New"/>
                <a:cs typeface="Courier New"/>
                <a:sym typeface="Courier New"/>
              </a:rPr>
              <a:t>    # 0 fingers (fist) = Rock</a:t>
            </a:r>
          </a:p>
          <a:p>
            <a:pPr algn="l">
              <a:lnSpc>
                <a:spcPct val="115000"/>
              </a:lnSpc>
            </a:pPr>
            <a:r>
              <a:rPr sz="1050" b="0" i="0">
                <a:solidFill>
                  <a:srgbClr val="FFFFFF"/>
                </a:solidFill>
                <a:latin typeface="Courier New"/>
                <a:ea typeface="Courier New"/>
                <a:cs typeface="Courier New"/>
                <a:sym typeface="Courier New"/>
              </a:rPr>
              <a:t>    # 5 fingers (open hand) = Paper  </a:t>
            </a:r>
          </a:p>
          <a:p>
            <a:pPr algn="l">
              <a:lnSpc>
                <a:spcPct val="115000"/>
              </a:lnSpc>
            </a:pPr>
            <a:r>
              <a:rPr sz="1050" b="0" i="0">
                <a:solidFill>
                  <a:srgbClr val="FFFFFF"/>
                </a:solidFill>
                <a:latin typeface="Courier New"/>
                <a:ea typeface="Courier New"/>
                <a:cs typeface="Courier New"/>
                <a:sym typeface="Courier New"/>
              </a:rPr>
              <a:t>    # 2 fingers (index + middle) = Scissors</a:t>
            </a:r>
          </a:p>
          <a:p>
            <a:pPr algn="l">
              <a:lnSpc>
                <a:spcPct val="115000"/>
              </a:lnSpc>
            </a:pPr>
            <a:r>
              <a:rPr sz="1050" b="0" i="0">
                <a:solidFill>
                  <a:srgbClr val="FFFFFF"/>
                </a:solidFill>
                <a:latin typeface="Courier New"/>
                <a:ea typeface="Courier New"/>
                <a:cs typeface="Courier New"/>
                <a:sym typeface="Courier New"/>
              </a:rPr>
              <a:t>    # Anything else = Unknown</a:t>
            </a:r>
          </a:p>
          <a:p>
            <a:pPr algn="l">
              <a:lnSpc>
                <a:spcPct val="115000"/>
              </a:lnSpc>
            </a:pPr>
            <a:r>
              <a:rPr sz="1050" b="0" i="0">
                <a:solidFill>
                  <a:srgbClr val="FFFFFF"/>
                </a:solidFill>
                <a:latin typeface="Courier New"/>
                <a:ea typeface="Courier New"/>
                <a:cs typeface="Courier New"/>
                <a:sym typeface="Courier New"/>
              </a:rPr>
              <a:t>    if finger_count == 0:</a:t>
            </a:r>
          </a:p>
          <a:p>
            <a:pPr algn="l">
              <a:lnSpc>
                <a:spcPct val="115000"/>
              </a:lnSpc>
            </a:pPr>
            <a:r>
              <a:rPr sz="1050" b="0" i="0">
                <a:solidFill>
                  <a:srgbClr val="FFFFFF"/>
                </a:solidFill>
                <a:latin typeface="Courier New"/>
                <a:ea typeface="Courier New"/>
                <a:cs typeface="Courier New"/>
                <a:sym typeface="Courier New"/>
              </a:rPr>
              <a:t>        return "Rock"</a:t>
            </a:r>
          </a:p>
          <a:p>
            <a:pPr algn="l">
              <a:lnSpc>
                <a:spcPct val="115000"/>
              </a:lnSpc>
            </a:pPr>
            <a:r>
              <a:rPr sz="1050" b="0" i="0">
                <a:solidFill>
                  <a:srgbClr val="FFFFFF"/>
                </a:solidFill>
                <a:latin typeface="Courier New"/>
                <a:ea typeface="Courier New"/>
                <a:cs typeface="Courier New"/>
                <a:sym typeface="Courier New"/>
              </a:rPr>
              <a:t>    elif finger_count == 5:</a:t>
            </a:r>
          </a:p>
          <a:p>
            <a:pPr algn="l">
              <a:lnSpc>
                <a:spcPct val="115000"/>
              </a:lnSpc>
            </a:pPr>
            <a:r>
              <a:rPr sz="1050" b="0" i="0">
                <a:solidFill>
                  <a:srgbClr val="FFFFFF"/>
                </a:solidFill>
                <a:latin typeface="Courier New"/>
                <a:ea typeface="Courier New"/>
                <a:cs typeface="Courier New"/>
                <a:sym typeface="Courier New"/>
              </a:rPr>
              <a:t>        return "Paper"</a:t>
            </a:r>
          </a:p>
          <a:p>
            <a:pPr algn="l">
              <a:lnSpc>
                <a:spcPct val="115000"/>
              </a:lnSpc>
            </a:pPr>
            <a:r>
              <a:rPr sz="1050" b="0" i="0">
                <a:solidFill>
                  <a:srgbClr val="FFFFFF"/>
                </a:solidFill>
                <a:latin typeface="Courier New"/>
                <a:ea typeface="Courier New"/>
                <a:cs typeface="Courier New"/>
                <a:sym typeface="Courier New"/>
              </a:rPr>
              <a:t>    elif finger_count == 2:</a:t>
            </a:r>
          </a:p>
          <a:p>
            <a:pPr algn="l">
              <a:lnSpc>
                <a:spcPct val="115000"/>
              </a:lnSpc>
            </a:pPr>
            <a:r>
              <a:rPr sz="1050" b="0" i="0">
                <a:solidFill>
                  <a:srgbClr val="FFFFFF"/>
                </a:solidFill>
                <a:latin typeface="Courier New"/>
                <a:ea typeface="Courier New"/>
                <a:cs typeface="Courier New"/>
                <a:sym typeface="Courier New"/>
              </a:rPr>
              <a:t>        return "Scissors"</a:t>
            </a:r>
          </a:p>
          <a:p>
            <a:pPr algn="l">
              <a:lnSpc>
                <a:spcPct val="115000"/>
              </a:lnSpc>
            </a:pPr>
            <a:r>
              <a:rPr sz="1050" b="0" i="0">
                <a:solidFill>
                  <a:srgbClr val="FFFFFF"/>
                </a:solidFill>
                <a:latin typeface="Courier New"/>
                <a:ea typeface="Courier New"/>
                <a:cs typeface="Courier New"/>
                <a:sym typeface="Courier New"/>
              </a:rPr>
              <a:t>    else:</a:t>
            </a:r>
          </a:p>
          <a:p>
            <a:pPr algn="l">
              <a:lnSpc>
                <a:spcPct val="115000"/>
              </a:lnSpc>
            </a:pPr>
            <a:r>
              <a:rPr sz="1050" b="0" i="0">
                <a:solidFill>
                  <a:srgbClr val="FFFFFF"/>
                </a:solidFill>
                <a:latin typeface="Courier New"/>
                <a:ea typeface="Courier New"/>
                <a:cs typeface="Courier New"/>
                <a:sym typeface="Courier New"/>
              </a:rPr>
              <a:t>        return "Unknown"</a:t>
            </a:r>
          </a:p>
        </p:txBody>
      </p:sp>
      <p:sp>
        <p:nvSpPr>
          <p:cNvPr id="6" name="blk0158"/>
          <p:cNvSpPr/>
          <p:nvPr/>
        </p:nvSpPr>
        <p:spPr>
          <a:xfrm>
            <a:off x="687600" y="5977233"/>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58"/>
          <p:cNvSpPr/>
          <p:nvPr/>
        </p:nvSpPr>
        <p:spPr>
          <a:xfrm>
            <a:off x="885600" y="6428313"/>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58"/>
          <p:cNvSpPr txBox="1"/>
          <p:nvPr/>
        </p:nvSpPr>
        <p:spPr>
          <a:xfrm>
            <a:off x="1162800" y="6121233"/>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Three counts are accepted and the fourth case is refused on purpose. Returning </a:t>
            </a:r>
            <a:r>
              <a:rPr sz="1290" b="0" i="1">
                <a:solidFill>
                  <a:srgbClr val="FFCF08"/>
                </a:solidFill>
                <a:latin typeface="Courier New"/>
                <a:ea typeface="Courier New"/>
                <a:cs typeface="Courier New"/>
                <a:sym typeface="Courier New"/>
              </a:rPr>
              <a:t>"Unknown"</a:t>
            </a:r>
            <a:r>
              <a:rPr sz="1500" b="0" i="1">
                <a:solidFill>
                  <a:srgbClr val="FFCF08"/>
                </a:solidFill>
                <a:latin typeface="Avenir"/>
                <a:ea typeface="Avenir"/>
                <a:cs typeface="Avenir"/>
                <a:sym typeface="Avenir"/>
              </a:rPr>
              <a:t> is how the main loop knows to keep waiting instead of scoring a round nobody made.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let the robot choose</a:t>
            </a:r>
          </a:p>
        </p:txBody>
      </p:sp>
      <p:sp>
        <p:nvSpPr>
          <p:cNvPr id="3" name="blk016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entire function:</a:t>
            </a:r>
          </a:p>
        </p:txBody>
      </p:sp>
      <p:sp>
        <p:nvSpPr>
          <p:cNvPr id="4" name="blk0161"/>
          <p:cNvSpPr/>
          <p:nvPr/>
        </p:nvSpPr>
        <p:spPr>
          <a:xfrm>
            <a:off x="687600" y="2304000"/>
            <a:ext cx="8686800" cy="171375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1"/>
          <p:cNvSpPr txBox="1"/>
          <p:nvPr/>
        </p:nvSpPr>
        <p:spPr>
          <a:xfrm>
            <a:off x="910799" y="2466000"/>
            <a:ext cx="8240400" cy="1389757"/>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def get_robot_move():</a:t>
            </a:r>
          </a:p>
          <a:p>
            <a:pPr algn="l">
              <a:lnSpc>
                <a:spcPct val="115000"/>
              </a:lnSpc>
            </a:pPr>
            <a:r>
              <a:rPr sz="1400" b="0" i="0">
                <a:solidFill>
                  <a:srgbClr val="FFFFFF"/>
                </a:solidFill>
                <a:latin typeface="Courier New"/>
                <a:ea typeface="Courier New"/>
                <a:cs typeface="Courier New"/>
                <a:sym typeface="Courier New"/>
              </a:rPr>
              <a:t>    """</a:t>
            </a:r>
          </a:p>
          <a:p>
            <a:pPr algn="l">
              <a:lnSpc>
                <a:spcPct val="115000"/>
              </a:lnSpc>
            </a:pPr>
            <a:r>
              <a:rPr sz="1400" b="0" i="0">
                <a:solidFill>
                  <a:srgbClr val="FFFFFF"/>
                </a:solidFill>
                <a:latin typeface="Courier New"/>
                <a:ea typeface="Courier New"/>
                <a:cs typeface="Courier New"/>
                <a:sym typeface="Courier New"/>
              </a:rPr>
              <a:t>    Robot randomly chooses Rock, Paper, or Scissors.</a:t>
            </a:r>
          </a:p>
          <a:p>
            <a:pPr algn="l">
              <a:lnSpc>
                <a:spcPct val="115000"/>
              </a:lnSpc>
            </a:pPr>
            <a:r>
              <a:rPr sz="1400" b="0" i="0">
                <a:solidFill>
                  <a:srgbClr val="FFFFFF"/>
                </a:solidFill>
                <a:latin typeface="Courier New"/>
                <a:ea typeface="Courier New"/>
                <a:cs typeface="Courier New"/>
                <a:sym typeface="Courier New"/>
              </a:rPr>
              <a:t>    Returns: gesture string</a:t>
            </a:r>
          </a:p>
          <a:p>
            <a:pPr algn="l">
              <a:lnSpc>
                <a:spcPct val="115000"/>
              </a:lnSpc>
            </a:pPr>
            <a:r>
              <a:rPr sz="1400" b="0" i="0">
                <a:solidFill>
                  <a:srgbClr val="FFFFFF"/>
                </a:solidFill>
                <a:latin typeface="Courier New"/>
                <a:ea typeface="Courier New"/>
                <a:cs typeface="Courier New"/>
                <a:sym typeface="Courier New"/>
              </a:rPr>
              <a:t>    """</a:t>
            </a:r>
          </a:p>
          <a:p>
            <a:pPr algn="l">
              <a:lnSpc>
                <a:spcPct val="115000"/>
              </a:lnSpc>
            </a:pPr>
            <a:r>
              <a:rPr sz="1400" b="0" i="0">
                <a:solidFill>
                  <a:srgbClr val="FFFFFF"/>
                </a:solidFill>
                <a:latin typeface="Courier New"/>
                <a:ea typeface="Courier New"/>
                <a:cs typeface="Courier New"/>
                <a:sym typeface="Courier New"/>
              </a:rPr>
              <a:t>    return random.choice(GESTURES)</a:t>
            </a:r>
          </a:p>
        </p:txBody>
      </p:sp>
      <p:sp>
        <p:nvSpPr>
          <p:cNvPr id="6" name="blk0162"/>
          <p:cNvSpPr txBox="1"/>
          <p:nvPr/>
        </p:nvSpPr>
        <p:spPr>
          <a:xfrm>
            <a:off x="687600" y="4125757"/>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It picks from </a:t>
            </a:r>
            <a:r>
              <a:rPr sz="1743" b="0" i="0">
                <a:solidFill>
                  <a:srgbClr val="FFFFFF"/>
                </a:solidFill>
                <a:latin typeface="Courier New"/>
                <a:ea typeface="Courier New"/>
                <a:cs typeface="Courier New"/>
                <a:sym typeface="Courier New"/>
              </a:rPr>
              <a:t>GESTURES</a:t>
            </a:r>
            <a:r>
              <a:rPr sz="2027" b="0" i="0">
                <a:solidFill>
                  <a:srgbClr val="FFFFFF"/>
                </a:solidFill>
                <a:latin typeface="Avenir"/>
                <a:ea typeface="Avenir"/>
                <a:cs typeface="Avenir"/>
                <a:sym typeface="Avenir"/>
              </a:rPr>
              <a:t>, the same list the main loop uses to test whether a gesture is valid, so the robot can never choose something the program does not understand.</a:t>
            </a:r>
          </a:p>
        </p:txBody>
      </p:sp>
      <p:sp>
        <p:nvSpPr>
          <p:cNvPr id="7" name="blk0163"/>
          <p:cNvSpPr/>
          <p:nvPr/>
        </p:nvSpPr>
        <p:spPr>
          <a:xfrm>
            <a:off x="687600" y="518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63"/>
          <p:cNvSpPr/>
          <p:nvPr/>
        </p:nvSpPr>
        <p:spPr>
          <a:xfrm>
            <a:off x="885600" y="563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63"/>
          <p:cNvSpPr txBox="1"/>
          <p:nvPr/>
        </p:nvSpPr>
        <p:spPr>
          <a:xfrm>
            <a:off x="1162800" y="532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 seeding. Every call draws a fresh move, so the robot is genuinely unpredictable — which is what makes the game worth replaying and what makes it worth fixing the cooldown.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decide the winner</a:t>
            </a:r>
          </a:p>
        </p:txBody>
      </p:sp>
      <p:sp>
        <p:nvSpPr>
          <p:cNvPr id="3" name="blk016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Handle the tie first, then translate both names to indices and ask the lookup table:</a:t>
            </a:r>
          </a:p>
        </p:txBody>
      </p:sp>
      <p:sp>
        <p:nvSpPr>
          <p:cNvPr id="4" name="blk0166"/>
          <p:cNvSpPr/>
          <p:nvPr/>
        </p:nvSpPr>
        <p:spPr>
          <a:xfrm>
            <a:off x="687600" y="2592000"/>
            <a:ext cx="8686800" cy="280570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6"/>
          <p:cNvSpPr txBox="1"/>
          <p:nvPr/>
        </p:nvSpPr>
        <p:spPr>
          <a:xfrm>
            <a:off x="910799" y="2754000"/>
            <a:ext cx="8240400" cy="2481708"/>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def determine_winner(player_move, robot_move):</a:t>
            </a:r>
          </a:p>
          <a:p>
            <a:pPr algn="l">
              <a:lnSpc>
                <a:spcPct val="115000"/>
              </a:lnSpc>
            </a:pPr>
            <a:r>
              <a:rPr sz="1250" b="0" i="0">
                <a:solidFill>
                  <a:srgbClr val="FFFFFF"/>
                </a:solidFill>
                <a:latin typeface="Courier New"/>
                <a:ea typeface="Courier New"/>
                <a:cs typeface="Courier New"/>
                <a:sym typeface="Courier New"/>
              </a:rPr>
              <a:t>    """</a:t>
            </a:r>
          </a:p>
          <a:p>
            <a:pPr algn="l">
              <a:lnSpc>
                <a:spcPct val="115000"/>
              </a:lnSpc>
            </a:pPr>
            <a:r>
              <a:rPr sz="1250" b="0" i="0">
                <a:solidFill>
                  <a:srgbClr val="FFFFFF"/>
                </a:solidFill>
                <a:latin typeface="Courier New"/>
                <a:ea typeface="Courier New"/>
                <a:cs typeface="Courier New"/>
                <a:sym typeface="Courier New"/>
              </a:rPr>
              <a:t>    Determine round winner.</a:t>
            </a:r>
          </a:p>
          <a:p>
            <a:pPr algn="l">
              <a:lnSpc>
                <a:spcPct val="115000"/>
              </a:lnSpc>
            </a:pPr>
            <a:r>
              <a:rPr sz="1250" b="0" i="0">
                <a:solidFill>
                  <a:srgbClr val="FFFFFF"/>
                </a:solidFill>
                <a:latin typeface="Courier New"/>
                <a:ea typeface="Courier New"/>
                <a:cs typeface="Courier New"/>
                <a:sym typeface="Courier New"/>
              </a:rPr>
              <a:t>    Returns: "PLAYER", "ROBOT", or "DRAW"</a:t>
            </a:r>
          </a:p>
          <a:p>
            <a:pPr algn="l">
              <a:lnSpc>
                <a:spcPct val="115000"/>
              </a:lnSpc>
            </a:pPr>
            <a:r>
              <a:rPr sz="1250" b="0" i="0">
                <a:solidFill>
                  <a:srgbClr val="FFFFFF"/>
                </a:solidFill>
                <a:latin typeface="Courier New"/>
                <a:ea typeface="Courier New"/>
                <a:cs typeface="Courier New"/>
                <a:sym typeface="Courier New"/>
              </a:rPr>
              <a:t>    """</a:t>
            </a:r>
          </a:p>
          <a:p>
            <a:pPr algn="l">
              <a:lnSpc>
                <a:spcPct val="115000"/>
              </a:lnSpc>
            </a:pPr>
            <a:r>
              <a:rPr sz="1250" b="0" i="0">
                <a:solidFill>
                  <a:srgbClr val="FFFFFF"/>
                </a:solidFill>
                <a:latin typeface="Courier New"/>
                <a:ea typeface="Courier New"/>
                <a:cs typeface="Courier New"/>
                <a:sym typeface="Courier New"/>
              </a:rPr>
              <a:t>    if player_move == robot_move:</a:t>
            </a:r>
          </a:p>
          <a:p>
            <a:pPr algn="l">
              <a:lnSpc>
                <a:spcPct val="115000"/>
              </a:lnSpc>
            </a:pPr>
            <a:r>
              <a:rPr sz="1250" b="0" i="0">
                <a:solidFill>
                  <a:srgbClr val="FFFFFF"/>
                </a:solidFill>
                <a:latin typeface="Courier New"/>
                <a:ea typeface="Courier New"/>
                <a:cs typeface="Courier New"/>
                <a:sym typeface="Courier New"/>
              </a:rPr>
              <a:t>        return "DRAW"</a:t>
            </a:r>
          </a:p>
          <a:p>
            <a:pPr algn="l">
              <a:lnSpc>
                <a:spcPct val="115000"/>
              </a:lnSpc>
            </a:pPr>
            <a:r>
              <a:rPr sz="1250" b="0" i="0">
                <a:solidFill>
                  <a:srgbClr val="FFFFFF"/>
                </a:solidFill>
                <a:latin typeface="Courier New"/>
                <a:ea typeface="Courier New"/>
                <a:cs typeface="Courier New"/>
                <a:sym typeface="Courier New"/>
              </a:rPr>
              <a:t>    </a:t>
            </a:r>
          </a:p>
          <a:p>
            <a:pPr algn="l">
              <a:lnSpc>
                <a:spcPct val="115000"/>
              </a:lnSpc>
            </a:pPr>
            <a:r>
              <a:rPr sz="1250" b="0" i="0">
                <a:solidFill>
                  <a:srgbClr val="FFFFFF"/>
                </a:solidFill>
                <a:latin typeface="Courier New"/>
                <a:ea typeface="Courier New"/>
                <a:cs typeface="Courier New"/>
                <a:sym typeface="Courier New"/>
              </a:rPr>
              <a:t>    p_idx = GESTURE_IDX[player_move]</a:t>
            </a:r>
          </a:p>
          <a:p>
            <a:pPr algn="l">
              <a:lnSpc>
                <a:spcPct val="115000"/>
              </a:lnSpc>
            </a:pPr>
            <a:r>
              <a:rPr sz="1250" b="0" i="0">
                <a:solidFill>
                  <a:srgbClr val="FFFFFF"/>
                </a:solidFill>
                <a:latin typeface="Courier New"/>
                <a:ea typeface="Courier New"/>
                <a:cs typeface="Courier New"/>
                <a:sym typeface="Courier New"/>
              </a:rPr>
              <a:t>    r_idx = GESTURE_IDX[robot_move]</a:t>
            </a:r>
          </a:p>
          <a:p>
            <a:pPr algn="l">
              <a:lnSpc>
                <a:spcPct val="115000"/>
              </a:lnSpc>
            </a:pPr>
            <a:r>
              <a:rPr sz="1250" b="0" i="0">
                <a:solidFill>
                  <a:srgbClr val="FFFFFF"/>
                </a:solidFill>
                <a:latin typeface="Courier New"/>
                <a:ea typeface="Courier New"/>
                <a:cs typeface="Courier New"/>
                <a:sym typeface="Courier New"/>
              </a:rPr>
              <a:t>    </a:t>
            </a:r>
          </a:p>
          <a:p>
            <a:pPr algn="l">
              <a:lnSpc>
                <a:spcPct val="115000"/>
              </a:lnSpc>
            </a:pPr>
            <a:r>
              <a:rPr sz="1250" b="0" i="0">
                <a:solidFill>
                  <a:srgbClr val="FFFFFF"/>
                </a:solidFill>
                <a:latin typeface="Courier New"/>
                <a:ea typeface="Courier New"/>
                <a:cs typeface="Courier New"/>
                <a:sym typeface="Courier New"/>
              </a:rPr>
              <a:t>    return WIN_MAP.get((p_idx, r_idx), "DRAW")</a:t>
            </a:r>
          </a:p>
        </p:txBody>
      </p:sp>
      <p:sp>
        <p:nvSpPr>
          <p:cNvPr id="6" name="blk0167"/>
          <p:cNvSpPr txBox="1"/>
          <p:nvPr/>
        </p:nvSpPr>
        <p:spPr>
          <a:xfrm>
            <a:off x="687600" y="5505708"/>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tie is pulled out first because the dictionary has no entry for it. Leaving that in the table would mean filling all three tie pairs with "DRAW" for no benefit — and the early return also means the dictionary only ever holds the six interesting cases.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guard comes first</a:t>
            </a:r>
          </a:p>
        </p:txBody>
      </p:sp>
      <p:sp>
        <p:nvSpPr>
          <p:cNvPr id="3" name="blk016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most important three lines in the project, and they are not about gestures at all:</a:t>
            </a:r>
          </a:p>
        </p:txBody>
      </p:sp>
      <p:sp>
        <p:nvSpPr>
          <p:cNvPr id="4" name="blk0170"/>
          <p:cNvSpPr/>
          <p:nvPr/>
        </p:nvSpPr>
        <p:spPr>
          <a:xfrm>
            <a:off x="687600" y="2520000"/>
            <a:ext cx="8686800" cy="268989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0"/>
          <p:cNvSpPr txBox="1"/>
          <p:nvPr/>
        </p:nvSpPr>
        <p:spPr>
          <a:xfrm>
            <a:off x="910799" y="2682000"/>
            <a:ext cx="8240400" cy="2365895"/>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def execute_robot_gesture(gesture):</a:t>
            </a:r>
          </a:p>
          <a:p>
            <a:pPr algn="l">
              <a:lnSpc>
                <a:spcPct val="115000"/>
              </a:lnSpc>
            </a:pPr>
            <a:r>
              <a:rPr sz="1300" b="0" i="0">
                <a:solidFill>
                  <a:srgbClr val="FFFFFF"/>
                </a:solidFill>
                <a:latin typeface="Courier New"/>
                <a:ea typeface="Courier New"/>
                <a:cs typeface="Courier New"/>
                <a:sym typeface="Courier New"/>
              </a:rPr>
              <a:t>    global last_robot_move</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 Record the move first, so the on-screen label is right even when</a:t>
            </a:r>
          </a:p>
          <a:p>
            <a:pPr algn="l">
              <a:lnSpc>
                <a:spcPct val="115000"/>
              </a:lnSpc>
            </a:pPr>
            <a:r>
              <a:rPr sz="1300" b="0" i="0">
                <a:solidFill>
                  <a:srgbClr val="FFFFFF"/>
                </a:solidFill>
                <a:latin typeface="Courier New"/>
                <a:ea typeface="Courier New"/>
                <a:cs typeface="Courier New"/>
                <a:sym typeface="Courier New"/>
              </a:rPr>
              <a:t>    # there is no arm to move.</a:t>
            </a:r>
          </a:p>
          <a:p>
            <a:pPr algn="l">
              <a:lnSpc>
                <a:spcPct val="115000"/>
              </a:lnSpc>
            </a:pPr>
            <a:r>
              <a:rPr sz="1300" b="0" i="0">
                <a:solidFill>
                  <a:srgbClr val="FFFFFF"/>
                </a:solidFill>
                <a:latin typeface="Courier New"/>
                <a:ea typeface="Courier New"/>
                <a:cs typeface="Courier New"/>
                <a:sym typeface="Courier New"/>
              </a:rPr>
              <a:t>    last_robot_move = gesture</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 No arm attached: the gesture is still recorded and scored, it just</a:t>
            </a:r>
          </a:p>
          <a:p>
            <a:pPr algn="l">
              <a:lnSpc>
                <a:spcPct val="115000"/>
              </a:lnSpc>
            </a:pPr>
            <a:r>
              <a:rPr sz="1300" b="0" i="0">
                <a:solidFill>
                  <a:srgbClr val="FFFFFF"/>
                </a:solidFill>
                <a:latin typeface="Courier New"/>
                <a:ea typeface="Courier New"/>
                <a:cs typeface="Courier New"/>
                <a:sym typeface="Courier New"/>
              </a:rPr>
              <a:t>    # is not performed. This is what lets the game run without hardware.</a:t>
            </a:r>
          </a:p>
          <a:p>
            <a:pPr algn="l">
              <a:lnSpc>
                <a:spcPct val="115000"/>
              </a:lnSpc>
            </a:pPr>
            <a:r>
              <a:rPr sz="1300" b="0" i="0">
                <a:solidFill>
                  <a:srgbClr val="FFFFFF"/>
                </a:solidFill>
                <a:latin typeface="Courier New"/>
                <a:ea typeface="Courier New"/>
                <a:cs typeface="Courier New"/>
                <a:sym typeface="Courier New"/>
              </a:rPr>
              <a:t>    if mc is None:</a:t>
            </a:r>
          </a:p>
          <a:p>
            <a:pPr algn="l">
              <a:lnSpc>
                <a:spcPct val="115000"/>
              </a:lnSpc>
            </a:pPr>
            <a:r>
              <a:rPr sz="1300" b="0" i="0">
                <a:solidFill>
                  <a:srgbClr val="FFFFFF"/>
                </a:solidFill>
                <a:latin typeface="Courier New"/>
                <a:ea typeface="Courier New"/>
                <a:cs typeface="Courier New"/>
                <a:sym typeface="Courier New"/>
              </a:rPr>
              <a:t>        return</a:t>
            </a:r>
          </a:p>
        </p:txBody>
      </p:sp>
      <p:sp>
        <p:nvSpPr>
          <p:cNvPr id="6" name="blk0171"/>
          <p:cNvSpPr/>
          <p:nvPr/>
        </p:nvSpPr>
        <p:spPr>
          <a:xfrm>
            <a:off x="741600" y="5346695"/>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71"/>
          <p:cNvSpPr txBox="1"/>
          <p:nvPr/>
        </p:nvSpPr>
        <p:spPr>
          <a:xfrm>
            <a:off x="1252800" y="5317895"/>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global</a:t>
            </a:r>
            <a:r>
              <a:rPr sz="1600" b="0" i="0">
                <a:solidFill>
                  <a:srgbClr val="FFFFFF"/>
                </a:solidFill>
                <a:latin typeface="Avenir"/>
                <a:ea typeface="Avenir"/>
                <a:cs typeface="Avenir"/>
                <a:sym typeface="Avenir"/>
              </a:rPr>
              <a:t>  — this function assigns to a variable the loop owns, so Python needs to be told.</a:t>
            </a:r>
          </a:p>
        </p:txBody>
      </p:sp>
      <p:sp>
        <p:nvSpPr>
          <p:cNvPr id="8" name="blk0172"/>
          <p:cNvSpPr/>
          <p:nvPr/>
        </p:nvSpPr>
        <p:spPr>
          <a:xfrm>
            <a:off x="741600" y="603991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72"/>
          <p:cNvSpPr txBox="1"/>
          <p:nvPr/>
        </p:nvSpPr>
        <p:spPr>
          <a:xfrm>
            <a:off x="1252800" y="6011111"/>
            <a:ext cx="8118000" cy="684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Record first</a:t>
            </a:r>
            <a:r>
              <a:rPr sz="1600" b="0" i="0">
                <a:solidFill>
                  <a:srgbClr val="FFFFFF"/>
                </a:solidFill>
                <a:latin typeface="Avenir"/>
                <a:ea typeface="Avenir"/>
                <a:cs typeface="Avenir"/>
                <a:sym typeface="Avenir"/>
              </a:rPr>
              <a:t>, guard second. Reversing those two lines makes the on-screen label blank exactly when hardware is missing.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movement</a:t>
            </a:r>
          </a:p>
        </p:txBody>
      </p:sp>
      <p:sp>
        <p:nvSpPr>
          <p:cNvPr id="3" name="blk017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Everything past the guard runs only when there is an arm. Choose the pose, move, hold, and come home:</a:t>
            </a:r>
          </a:p>
        </p:txBody>
      </p:sp>
      <p:sp>
        <p:nvSpPr>
          <p:cNvPr id="4" name="blk0175"/>
          <p:cNvSpPr/>
          <p:nvPr/>
        </p:nvSpPr>
        <p:spPr>
          <a:xfrm>
            <a:off x="687600" y="2592000"/>
            <a:ext cx="8686800" cy="379839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5"/>
          <p:cNvSpPr txBox="1"/>
          <p:nvPr/>
        </p:nvSpPr>
        <p:spPr>
          <a:xfrm>
            <a:off x="910799" y="2754000"/>
            <a:ext cx="8240400" cy="3474392"/>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    if gesture == "Rock":</a:t>
            </a:r>
          </a:p>
          <a:p>
            <a:pPr algn="l">
              <a:lnSpc>
                <a:spcPct val="115000"/>
              </a:lnSpc>
            </a:pPr>
            <a:r>
              <a:rPr sz="1050" b="0" i="0">
                <a:solidFill>
                  <a:srgbClr val="FFFFFF"/>
                </a:solidFill>
                <a:latin typeface="Courier New"/>
                <a:ea typeface="Courier New"/>
                <a:cs typeface="Courier New"/>
                <a:sym typeface="Courier New"/>
              </a:rPr>
              <a:t>        pose = POSE_ROCK</a:t>
            </a:r>
          </a:p>
          <a:p>
            <a:pPr algn="l">
              <a:lnSpc>
                <a:spcPct val="115000"/>
              </a:lnSpc>
            </a:pPr>
            <a:r>
              <a:rPr sz="1050" b="0" i="0">
                <a:solidFill>
                  <a:srgbClr val="FFFFFF"/>
                </a:solidFill>
                <a:latin typeface="Courier New"/>
                <a:ea typeface="Courier New"/>
                <a:cs typeface="Courier New"/>
                <a:sym typeface="Courier New"/>
              </a:rPr>
              <a:t>        grip = GRIP_ROCK</a:t>
            </a:r>
          </a:p>
          <a:p>
            <a:pPr algn="l">
              <a:lnSpc>
                <a:spcPct val="115000"/>
              </a:lnSpc>
            </a:pPr>
            <a:r>
              <a:rPr sz="1050" b="0" i="0">
                <a:solidFill>
                  <a:srgbClr val="FFFFFF"/>
                </a:solidFill>
                <a:latin typeface="Courier New"/>
                <a:ea typeface="Courier New"/>
                <a:cs typeface="Courier New"/>
                <a:sym typeface="Courier New"/>
              </a:rPr>
              <a:t>    elif gesture == "Paper":</a:t>
            </a:r>
          </a:p>
          <a:p>
            <a:pPr algn="l">
              <a:lnSpc>
                <a:spcPct val="115000"/>
              </a:lnSpc>
            </a:pPr>
            <a:r>
              <a:rPr sz="1050" b="0" i="0">
                <a:solidFill>
                  <a:srgbClr val="FFFFFF"/>
                </a:solidFill>
                <a:latin typeface="Courier New"/>
                <a:ea typeface="Courier New"/>
                <a:cs typeface="Courier New"/>
                <a:sym typeface="Courier New"/>
              </a:rPr>
              <a:t>        pose = POSE_PAPER</a:t>
            </a:r>
          </a:p>
          <a:p>
            <a:pPr algn="l">
              <a:lnSpc>
                <a:spcPct val="115000"/>
              </a:lnSpc>
            </a:pPr>
            <a:r>
              <a:rPr sz="1050" b="0" i="0">
                <a:solidFill>
                  <a:srgbClr val="FFFFFF"/>
                </a:solidFill>
                <a:latin typeface="Courier New"/>
                <a:ea typeface="Courier New"/>
                <a:cs typeface="Courier New"/>
                <a:sym typeface="Courier New"/>
              </a:rPr>
              <a:t>        grip = GRIP_PAPER</a:t>
            </a:r>
          </a:p>
          <a:p>
            <a:pPr algn="l">
              <a:lnSpc>
                <a:spcPct val="115000"/>
              </a:lnSpc>
            </a:pPr>
            <a:r>
              <a:rPr sz="1050" b="0" i="0">
                <a:solidFill>
                  <a:srgbClr val="FFFFFF"/>
                </a:solidFill>
                <a:latin typeface="Courier New"/>
                <a:ea typeface="Courier New"/>
                <a:cs typeface="Courier New"/>
                <a:sym typeface="Courier New"/>
              </a:rPr>
              <a:t>    else:  # Scissors</a:t>
            </a:r>
          </a:p>
          <a:p>
            <a:pPr algn="l">
              <a:lnSpc>
                <a:spcPct val="115000"/>
              </a:lnSpc>
            </a:pPr>
            <a:r>
              <a:rPr sz="1050" b="0" i="0">
                <a:solidFill>
                  <a:srgbClr val="FFFFFF"/>
                </a:solidFill>
                <a:latin typeface="Courier New"/>
                <a:ea typeface="Courier New"/>
                <a:cs typeface="Courier New"/>
                <a:sym typeface="Courier New"/>
              </a:rPr>
              <a:t>        pose = POSE_SCISSORS</a:t>
            </a:r>
          </a:p>
          <a:p>
            <a:pPr algn="l">
              <a:lnSpc>
                <a:spcPct val="115000"/>
              </a:lnSpc>
            </a:pPr>
            <a:r>
              <a:rPr sz="1050" b="0" i="0">
                <a:solidFill>
                  <a:srgbClr val="FFFFFF"/>
                </a:solidFill>
                <a:latin typeface="Courier New"/>
                <a:ea typeface="Courier New"/>
                <a:cs typeface="Courier New"/>
                <a:sym typeface="Courier New"/>
              </a:rPr>
              <a:t>        grip = GRIP_SCISSORS</a:t>
            </a:r>
          </a:p>
          <a:p>
            <a:pPr algn="l">
              <a:lnSpc>
                <a:spcPct val="115000"/>
              </a:lnSpc>
            </a:pPr>
            <a:r>
              <a:rPr sz="1050" b="0" i="0">
                <a:solidFill>
                  <a:srgbClr val="FFFFFF"/>
                </a:solidFill>
                <a:latin typeface="Courier New"/>
                <a:ea typeface="Courier New"/>
                <a:cs typeface="Courier New"/>
                <a:sym typeface="Courier New"/>
              </a:rPr>
              <a:t>    # Move to gesture pose</a:t>
            </a:r>
          </a:p>
          <a:p>
            <a:pPr algn="l">
              <a:lnSpc>
                <a:spcPct val="115000"/>
              </a:lnSpc>
            </a:pPr>
            <a:r>
              <a:rPr sz="1050" b="0" i="0">
                <a:solidFill>
                  <a:srgbClr val="FFFFFF"/>
                </a:solidFill>
                <a:latin typeface="Courier New"/>
                <a:ea typeface="Courier New"/>
                <a:cs typeface="Courier New"/>
                <a:sym typeface="Courier New"/>
              </a:rPr>
              <a:t>    mc.send_coords(pose, ARM_SPEED, 1)</a:t>
            </a:r>
          </a:p>
          <a:p>
            <a:pPr algn="l">
              <a:lnSpc>
                <a:spcPct val="115000"/>
              </a:lnSpc>
            </a:pPr>
            <a:r>
              <a:rPr sz="1050" b="0" i="0">
                <a:solidFill>
                  <a:srgbClr val="FFFFFF"/>
                </a:solidFill>
                <a:latin typeface="Courier New"/>
                <a:ea typeface="Courier New"/>
                <a:cs typeface="Courier New"/>
                <a:sym typeface="Courier New"/>
              </a:rPr>
              <a:t>    time.sleep(1.5)</a:t>
            </a:r>
          </a:p>
          <a:p>
            <a:pPr algn="l">
              <a:lnSpc>
                <a:spcPct val="115000"/>
              </a:lnSpc>
            </a:pPr>
            <a:r>
              <a:rPr sz="1050" b="0" i="0">
                <a:solidFill>
                  <a:srgbClr val="FFFFFF"/>
                </a:solidFill>
                <a:latin typeface="Courier New"/>
                <a:ea typeface="Courier New"/>
                <a:cs typeface="Courier New"/>
                <a:sym typeface="Courier New"/>
              </a:rPr>
              <a:t>    # Set gripper</a:t>
            </a:r>
          </a:p>
          <a:p>
            <a:pPr algn="l">
              <a:lnSpc>
                <a:spcPct val="115000"/>
              </a:lnSpc>
            </a:pPr>
            <a:r>
              <a:rPr sz="1050" b="0" i="0">
                <a:solidFill>
                  <a:srgbClr val="FFFFFF"/>
                </a:solidFill>
                <a:latin typeface="Courier New"/>
                <a:ea typeface="Courier New"/>
                <a:cs typeface="Courier New"/>
                <a:sym typeface="Courier New"/>
              </a:rPr>
              <a:t>    mc.set_gripper_state(grip, 80)</a:t>
            </a:r>
          </a:p>
          <a:p>
            <a:pPr algn="l">
              <a:lnSpc>
                <a:spcPct val="115000"/>
              </a:lnSpc>
            </a:pPr>
            <a:r>
              <a:rPr sz="1050" b="0" i="0">
                <a:solidFill>
                  <a:srgbClr val="FFFFFF"/>
                </a:solidFill>
                <a:latin typeface="Courier New"/>
                <a:ea typeface="Courier New"/>
                <a:cs typeface="Courier New"/>
                <a:sym typeface="Courier New"/>
              </a:rPr>
              <a:t>    time.sleep(0.5)</a:t>
            </a:r>
          </a:p>
          <a:p>
            <a:pPr algn="l">
              <a:lnSpc>
                <a:spcPct val="115000"/>
              </a:lnSpc>
            </a:pPr>
            <a:r>
              <a:rPr sz="1050" b="0" i="0">
                <a:solidFill>
                  <a:srgbClr val="FFFFFF"/>
                </a:solidFill>
                <a:latin typeface="Courier New"/>
                <a:ea typeface="Courier New"/>
                <a:cs typeface="Courier New"/>
                <a:sym typeface="Courier New"/>
              </a:rPr>
              <a:t>    # Hold pose briefly for player to see</a:t>
            </a:r>
          </a:p>
          <a:p>
            <a:pPr algn="l">
              <a:lnSpc>
                <a:spcPct val="115000"/>
              </a:lnSpc>
            </a:pPr>
            <a:r>
              <a:rPr sz="1050" b="0" i="0">
                <a:solidFill>
                  <a:srgbClr val="FFFFFF"/>
                </a:solidFill>
                <a:latin typeface="Courier New"/>
                <a:ea typeface="Courier New"/>
                <a:cs typeface="Courier New"/>
                <a:sym typeface="Courier New"/>
              </a:rPr>
              <a:t>    time.sleep(1.0)</a:t>
            </a:r>
          </a:p>
          <a:p>
            <a:pPr algn="l">
              <a:lnSpc>
                <a:spcPct val="115000"/>
              </a:lnSpc>
            </a:pPr>
            <a:r>
              <a:rPr sz="1050" b="0" i="0">
                <a:solidFill>
                  <a:srgbClr val="FFFFFF"/>
                </a:solidFill>
                <a:latin typeface="Courier New"/>
                <a:ea typeface="Courier New"/>
                <a:cs typeface="Courier New"/>
                <a:sym typeface="Courier New"/>
              </a:rPr>
              <a:t>    # Return to home</a:t>
            </a:r>
          </a:p>
          <a:p>
            <a:pPr algn="l">
              <a:lnSpc>
                <a:spcPct val="115000"/>
              </a:lnSpc>
            </a:pPr>
            <a:r>
              <a:rPr sz="1050" b="0" i="0">
                <a:solidFill>
                  <a:srgbClr val="FFFFFF"/>
                </a:solidFill>
                <a:latin typeface="Courier New"/>
                <a:ea typeface="Courier New"/>
                <a:cs typeface="Courier New"/>
                <a:sym typeface="Courier New"/>
              </a:rPr>
              <a:t>    mc.send_angles(home_pos, ARM_SPEED)</a:t>
            </a:r>
          </a:p>
          <a:p>
            <a:pPr algn="l">
              <a:lnSpc>
                <a:spcPct val="115000"/>
              </a:lnSpc>
            </a:pPr>
            <a:r>
              <a:rPr sz="1050" b="0" i="0">
                <a:solidFill>
                  <a:srgbClr val="FFFFFF"/>
                </a:solidFill>
                <a:latin typeface="Courier New"/>
                <a:ea typeface="Courier New"/>
                <a:cs typeface="Courier New"/>
                <a:sym typeface="Courier New"/>
              </a:rPr>
              <a:t>    time.sleep(1.5)</a:t>
            </a:r>
          </a:p>
        </p:txBody>
      </p:sp>
      <p:sp>
        <p:nvSpPr>
          <p:cNvPr id="6" name="blk0176"/>
          <p:cNvSpPr/>
          <p:nvPr/>
        </p:nvSpPr>
        <p:spPr>
          <a:xfrm>
            <a:off x="687600" y="6498392"/>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76"/>
          <p:cNvSpPr/>
          <p:nvPr/>
        </p:nvSpPr>
        <p:spPr>
          <a:xfrm>
            <a:off x="885600" y="694947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76"/>
          <p:cNvSpPr txBox="1"/>
          <p:nvPr/>
        </p:nvSpPr>
        <p:spPr>
          <a:xfrm>
            <a:off x="1162800" y="6642392"/>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gripper is doing real work here: a closed gripper is a fist, an open one is a flat hand, and the two-finger pose is faked with the same open gripper. The arm is not pointing at a label, it is shaping a gesture.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draw the UI, part one</a:t>
            </a:r>
          </a:p>
        </p:txBody>
      </p:sp>
      <p:sp>
        <p:nvSpPr>
          <p:cNvPr id="3" name="blk017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longest function in the file — </a:t>
            </a:r>
            <a:r>
              <a:rPr sz="1743" b="0" i="0">
                <a:solidFill>
                  <a:srgbClr val="FFFFFF"/>
                </a:solidFill>
                <a:latin typeface="Courier New"/>
                <a:ea typeface="Courier New"/>
                <a:cs typeface="Courier New"/>
                <a:sym typeface="Courier New"/>
              </a:rPr>
              <a:t>draw_ui</a:t>
            </a:r>
            <a:r>
              <a:rPr sz="2027" b="0" i="0">
                <a:solidFill>
                  <a:srgbClr val="FFFFFF"/>
                </a:solidFill>
                <a:latin typeface="Avenir"/>
                <a:ea typeface="Avenir"/>
                <a:cs typeface="Avenir"/>
                <a:sym typeface="Avenir"/>
              </a:rPr>
              <a:t> — and it is only </a:t>
            </a:r>
            <a:r>
              <a:rPr sz="1743" b="0" i="0">
                <a:solidFill>
                  <a:srgbClr val="FFFFFF"/>
                </a:solidFill>
                <a:latin typeface="Courier New"/>
                <a:ea typeface="Courier New"/>
                <a:cs typeface="Courier New"/>
                <a:sym typeface="Courier New"/>
              </a:rPr>
              <a:t>cv2.putText</a:t>
            </a:r>
            <a:r>
              <a:rPr sz="2027" b="0" i="0">
                <a:solidFill>
                  <a:srgbClr val="FFFFFF"/>
                </a:solidFill>
                <a:latin typeface="Avenir"/>
                <a:ea typeface="Avenir"/>
                <a:cs typeface="Avenir"/>
                <a:sym typeface="Avenir"/>
              </a:rPr>
              <a:t> calls on one frame. The signature takes the data in and draws it, and reads nothing global except the scores:</a:t>
            </a:r>
          </a:p>
        </p:txBody>
      </p:sp>
      <p:sp>
        <p:nvSpPr>
          <p:cNvPr id="4" name="blk0179"/>
          <p:cNvSpPr/>
          <p:nvPr/>
        </p:nvSpPr>
        <p:spPr>
          <a:xfrm>
            <a:off x="687600" y="2951999"/>
            <a:ext cx="8686800" cy="275607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9"/>
          <p:cNvSpPr txBox="1"/>
          <p:nvPr/>
        </p:nvSpPr>
        <p:spPr>
          <a:xfrm>
            <a:off x="910799" y="3113999"/>
            <a:ext cx="8240400" cy="2432074"/>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def draw_ui(frame, player_gesture, robot_gesture, result, finger_count):</a:t>
            </a:r>
          </a:p>
          <a:p>
            <a:pPr algn="l">
              <a:lnSpc>
                <a:spcPct val="115000"/>
              </a:lnSpc>
            </a:pPr>
            <a:r>
              <a:rPr sz="1050" b="0" i="0">
                <a:solidFill>
                  <a:srgbClr val="FFFFFF"/>
                </a:solidFill>
                <a:latin typeface="Courier New"/>
                <a:ea typeface="Courier New"/>
                <a:cs typeface="Courier New"/>
                <a:sym typeface="Courier New"/>
              </a:rPr>
              <a:t>    """</a:t>
            </a:r>
          </a:p>
          <a:p>
            <a:pPr algn="l">
              <a:lnSpc>
                <a:spcPct val="115000"/>
              </a:lnSpc>
            </a:pPr>
            <a:r>
              <a:rPr sz="1050" b="0" i="0">
                <a:solidFill>
                  <a:srgbClr val="FFFFFF"/>
                </a:solidFill>
                <a:latin typeface="Courier New"/>
                <a:ea typeface="Courier New"/>
                <a:cs typeface="Courier New"/>
                <a:sym typeface="Courier New"/>
              </a:rPr>
              <a:t>    Draw game UI on frame.</a:t>
            </a:r>
          </a:p>
          <a:p>
            <a:pPr algn="l">
              <a:lnSpc>
                <a:spcPct val="115000"/>
              </a:lnSpc>
            </a:pPr>
            <a:r>
              <a:rPr sz="1050" b="0" i="0">
                <a:solidFill>
                  <a:srgbClr val="FFFFFF"/>
                </a:solidFill>
                <a:latin typeface="Courier New"/>
                <a:ea typeface="Courier New"/>
                <a:cs typeface="Courier New"/>
                <a:sym typeface="Courier New"/>
              </a:rPr>
              <a:t>    """</a:t>
            </a:r>
          </a:p>
          <a:p>
            <a:pPr algn="l">
              <a:lnSpc>
                <a:spcPct val="115000"/>
              </a:lnSpc>
            </a:pPr>
            <a:r>
              <a:rPr sz="1050" b="0" i="0">
                <a:solidFill>
                  <a:srgbClr val="FFFFFF"/>
                </a:solidFill>
                <a:latin typeface="Courier New"/>
                <a:ea typeface="Courier New"/>
                <a:cs typeface="Courier New"/>
                <a:sym typeface="Courier New"/>
              </a:rPr>
              <a:t>    h, w = frame.shape[:2]</a:t>
            </a:r>
          </a:p>
          <a:p>
            <a:pPr algn="l">
              <a:lnSpc>
                <a:spcPct val="115000"/>
              </a:lnSpc>
            </a:pPr>
            <a:r>
              <a:rPr sz="1050" b="0" i="0">
                <a:solidFill>
                  <a:srgbClr val="FFFFFF"/>
                </a:solidFill>
                <a:latin typeface="Courier New"/>
                <a:ea typeface="Courier New"/>
                <a:cs typeface="Courier New"/>
                <a:sym typeface="Courier New"/>
              </a:rPr>
              <a:t>    </a:t>
            </a:r>
          </a:p>
          <a:p>
            <a:pPr algn="l">
              <a:lnSpc>
                <a:spcPct val="115000"/>
              </a:lnSpc>
            </a:pPr>
            <a:r>
              <a:rPr sz="1050" b="0" i="0">
                <a:solidFill>
                  <a:srgbClr val="FFFFFF"/>
                </a:solidFill>
                <a:latin typeface="Courier New"/>
                <a:ea typeface="Courier New"/>
                <a:cs typeface="Courier New"/>
                <a:sym typeface="Courier New"/>
              </a:rPr>
              <a:t>    # Title</a:t>
            </a:r>
          </a:p>
          <a:p>
            <a:pPr algn="l">
              <a:lnSpc>
                <a:spcPct val="115000"/>
              </a:lnSpc>
            </a:pPr>
            <a:r>
              <a:rPr sz="1050" b="0" i="0">
                <a:solidFill>
                  <a:srgbClr val="FFFFFF"/>
                </a:solidFill>
                <a:latin typeface="Courier New"/>
                <a:ea typeface="Courier New"/>
                <a:cs typeface="Courier New"/>
                <a:sym typeface="Courier New"/>
              </a:rPr>
              <a:t>    cv2.putText(frame, "Rock Paper Scissors!", (20, 40),</a:t>
            </a:r>
          </a:p>
          <a:p>
            <a:pPr algn="l">
              <a:lnSpc>
                <a:spcPct val="115000"/>
              </a:lnSpc>
            </a:pPr>
            <a:r>
              <a:rPr sz="1050" b="0" i="0">
                <a:solidFill>
                  <a:srgbClr val="FFFFFF"/>
                </a:solidFill>
                <a:latin typeface="Courier New"/>
                <a:ea typeface="Courier New"/>
                <a:cs typeface="Courier New"/>
                <a:sym typeface="Courier New"/>
              </a:rPr>
              <a:t>                cv2.FONT_HERSHEY_SIMPLEX, 1.0, (255, 255, 255), 2)</a:t>
            </a:r>
          </a:p>
          <a:p>
            <a:pPr algn="l">
              <a:lnSpc>
                <a:spcPct val="115000"/>
              </a:lnSpc>
            </a:pPr>
            <a:r>
              <a:rPr sz="1050" b="0" i="0">
                <a:solidFill>
                  <a:srgbClr val="FFFFFF"/>
                </a:solidFill>
                <a:latin typeface="Courier New"/>
                <a:ea typeface="Courier New"/>
                <a:cs typeface="Courier New"/>
                <a:sym typeface="Courier New"/>
              </a:rPr>
              <a:t>    </a:t>
            </a:r>
          </a:p>
          <a:p>
            <a:pPr algn="l">
              <a:lnSpc>
                <a:spcPct val="115000"/>
              </a:lnSpc>
            </a:pPr>
            <a:r>
              <a:rPr sz="1050" b="0" i="0">
                <a:solidFill>
                  <a:srgbClr val="FFFFFF"/>
                </a:solidFill>
                <a:latin typeface="Courier New"/>
                <a:ea typeface="Courier New"/>
                <a:cs typeface="Courier New"/>
                <a:sym typeface="Courier New"/>
              </a:rPr>
              <a:t>    # Score</a:t>
            </a:r>
          </a:p>
          <a:p>
            <a:pPr algn="l">
              <a:lnSpc>
                <a:spcPct val="115000"/>
              </a:lnSpc>
            </a:pPr>
            <a:r>
              <a:rPr sz="1050" b="0" i="0">
                <a:solidFill>
                  <a:srgbClr val="FFFFFF"/>
                </a:solidFill>
                <a:latin typeface="Courier New"/>
                <a:ea typeface="Courier New"/>
                <a:cs typeface="Courier New"/>
                <a:sym typeface="Courier New"/>
              </a:rPr>
              <a:t>    score_text = f"Player: {player_score}  |  Robot: {robot_score}  |  Round: {rounds_played}"</a:t>
            </a:r>
          </a:p>
          <a:p>
            <a:pPr algn="l">
              <a:lnSpc>
                <a:spcPct val="115000"/>
              </a:lnSpc>
            </a:pPr>
            <a:r>
              <a:rPr sz="1050" b="0" i="0">
                <a:solidFill>
                  <a:srgbClr val="FFFFFF"/>
                </a:solidFill>
                <a:latin typeface="Courier New"/>
                <a:ea typeface="Courier New"/>
                <a:cs typeface="Courier New"/>
                <a:sym typeface="Courier New"/>
              </a:rPr>
              <a:t>    cv2.putText(frame, score_text, (20, 80),</a:t>
            </a:r>
          </a:p>
          <a:p>
            <a:pPr algn="l">
              <a:lnSpc>
                <a:spcPct val="115000"/>
              </a:lnSpc>
            </a:pPr>
            <a:r>
              <a:rPr sz="1050" b="0" i="0">
                <a:solidFill>
                  <a:srgbClr val="FFFFFF"/>
                </a:solidFill>
                <a:latin typeface="Courier New"/>
                <a:ea typeface="Courier New"/>
                <a:cs typeface="Courier New"/>
                <a:sym typeface="Courier New"/>
              </a:rPr>
              <a:t>                cv2.FONT_HERSHEY_SIMPLEX, 0.7, (255, 255, 0), 2)</a:t>
            </a:r>
          </a:p>
        </p:txBody>
      </p:sp>
      <p:sp>
        <p:nvSpPr>
          <p:cNvPr id="6" name="blk0180"/>
          <p:cNvSpPr txBox="1"/>
          <p:nvPr/>
        </p:nvSpPr>
        <p:spPr>
          <a:xfrm>
            <a:off x="687600" y="5816073"/>
            <a:ext cx="7542000" cy="115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the asymmetry: the scores are read straight out of the enclosing scope without being passed in, while the result and the gestures arrive as parameters. That is inconsistent, and it is harmless, because assigning to a name like </a:t>
            </a:r>
            <a:r>
              <a:rPr sz="1419" b="0" i="0">
                <a:solidFill>
                  <a:srgbClr val="FFFFFF"/>
                </a:solidFill>
                <a:latin typeface="Courier New"/>
                <a:ea typeface="Courier New"/>
                <a:cs typeface="Courier New"/>
                <a:sym typeface="Courier New"/>
              </a:rPr>
              <a:t>game_result</a:t>
            </a:r>
            <a:r>
              <a:rPr sz="1650" b="0" i="0">
                <a:solidFill>
                  <a:srgbClr val="FFFFFF"/>
                </a:solidFill>
                <a:latin typeface="Avenir"/>
                <a:ea typeface="Avenir"/>
                <a:cs typeface="Avenir"/>
                <a:sym typeface="Avenir"/>
              </a:rPr>
              <a:t> inside this function would create a new local variable instead of updating the one the loop is about to read.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draw the UI, part two</a:t>
            </a:r>
          </a:p>
        </p:txBody>
      </p:sp>
      <p:sp>
        <p:nvSpPr>
          <p:cNvPr id="3" name="blk018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player line, the robot line, and the one piece of information that makes this project debuggable:</a:t>
            </a:r>
          </a:p>
        </p:txBody>
      </p:sp>
      <p:sp>
        <p:nvSpPr>
          <p:cNvPr id="4" name="blk0183"/>
          <p:cNvSpPr/>
          <p:nvPr/>
        </p:nvSpPr>
        <p:spPr>
          <a:xfrm>
            <a:off x="687600" y="2592000"/>
            <a:ext cx="8686800" cy="240863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3"/>
          <p:cNvSpPr txBox="1"/>
          <p:nvPr/>
        </p:nvSpPr>
        <p:spPr>
          <a:xfrm>
            <a:off x="910799" y="2754000"/>
            <a:ext cx="8240400" cy="2084635"/>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    # Player gesture detection</a:t>
            </a:r>
          </a:p>
          <a:p>
            <a:pPr algn="l">
              <a:lnSpc>
                <a:spcPct val="115000"/>
              </a:lnSpc>
            </a:pPr>
            <a:r>
              <a:rPr sz="1050" b="0" i="0">
                <a:solidFill>
                  <a:srgbClr val="FFFFFF"/>
                </a:solidFill>
                <a:latin typeface="Courier New"/>
                <a:ea typeface="Courier New"/>
                <a:cs typeface="Courier New"/>
                <a:sym typeface="Courier New"/>
              </a:rPr>
              <a:t>    if player_gesture != "Unknown":</a:t>
            </a:r>
          </a:p>
          <a:p>
            <a:pPr algn="l">
              <a:lnSpc>
                <a:spcPct val="115000"/>
              </a:lnSpc>
            </a:pPr>
            <a:r>
              <a:rPr sz="1050" b="0" i="0">
                <a:solidFill>
                  <a:srgbClr val="FFFFFF"/>
                </a:solidFill>
                <a:latin typeface="Courier New"/>
                <a:ea typeface="Courier New"/>
                <a:cs typeface="Courier New"/>
                <a:sym typeface="Courier New"/>
              </a:rPr>
              <a:t>        cv2.putText(frame, f"Your Move: {player_gesture}", (20, 130),</a:t>
            </a:r>
          </a:p>
          <a:p>
            <a:pPr algn="l">
              <a:lnSpc>
                <a:spcPct val="115000"/>
              </a:lnSpc>
            </a:pPr>
            <a:r>
              <a:rPr sz="1050" b="0" i="0">
                <a:solidFill>
                  <a:srgbClr val="FFFFFF"/>
                </a:solidFill>
                <a:latin typeface="Courier New"/>
                <a:ea typeface="Courier New"/>
                <a:cs typeface="Courier New"/>
                <a:sym typeface="Courier New"/>
              </a:rPr>
              <a:t>                    cv2.FONT_HERSHEY_SIMPLEX, 0.8, (0, 255, 0), 2)</a:t>
            </a:r>
          </a:p>
          <a:p>
            <a:pPr algn="l">
              <a:lnSpc>
                <a:spcPct val="115000"/>
              </a:lnSpc>
            </a:pPr>
            <a:r>
              <a:rPr sz="1050" b="0" i="0">
                <a:solidFill>
                  <a:srgbClr val="FFFFFF"/>
                </a:solidFill>
                <a:latin typeface="Courier New"/>
                <a:ea typeface="Courier New"/>
                <a:cs typeface="Courier New"/>
                <a:sym typeface="Courier New"/>
              </a:rPr>
              <a:t>    else:</a:t>
            </a:r>
          </a:p>
          <a:p>
            <a:pPr algn="l">
              <a:lnSpc>
                <a:spcPct val="115000"/>
              </a:lnSpc>
            </a:pPr>
            <a:r>
              <a:rPr sz="1050" b="0" i="0">
                <a:solidFill>
                  <a:srgbClr val="FFFFFF"/>
                </a:solidFill>
                <a:latin typeface="Courier New"/>
                <a:ea typeface="Courier New"/>
                <a:cs typeface="Courier New"/>
                <a:sym typeface="Courier New"/>
              </a:rPr>
              <a:t>        cv2.putText(frame, f"Fingers: {finger_count} - Make a clear gesture!", (20, 130),</a:t>
            </a:r>
          </a:p>
          <a:p>
            <a:pPr algn="l">
              <a:lnSpc>
                <a:spcPct val="115000"/>
              </a:lnSpc>
            </a:pPr>
            <a:r>
              <a:rPr sz="1050" b="0" i="0">
                <a:solidFill>
                  <a:srgbClr val="FFFFFF"/>
                </a:solidFill>
                <a:latin typeface="Courier New"/>
                <a:ea typeface="Courier New"/>
                <a:cs typeface="Courier New"/>
                <a:sym typeface="Courier New"/>
              </a:rPr>
              <a:t>                    cv2.FONT_HERSHEY_SIMPLEX, 0.7, (0, 255, 255), 2)</a:t>
            </a:r>
          </a:p>
          <a:p>
            <a:pPr algn="l">
              <a:lnSpc>
                <a:spcPct val="115000"/>
              </a:lnSpc>
            </a:pPr>
            <a:r>
              <a:rPr sz="1050" b="0" i="0">
                <a:solidFill>
                  <a:srgbClr val="FFFFFF"/>
                </a:solidFill>
                <a:latin typeface="Courier New"/>
                <a:ea typeface="Courier New"/>
                <a:cs typeface="Courier New"/>
                <a:sym typeface="Courier New"/>
              </a:rPr>
              <a:t>    </a:t>
            </a:r>
          </a:p>
          <a:p>
            <a:pPr algn="l">
              <a:lnSpc>
                <a:spcPct val="115000"/>
              </a:lnSpc>
            </a:pPr>
            <a:r>
              <a:rPr sz="1050" b="0" i="0">
                <a:solidFill>
                  <a:srgbClr val="FFFFFF"/>
                </a:solidFill>
                <a:latin typeface="Courier New"/>
                <a:ea typeface="Courier New"/>
                <a:cs typeface="Courier New"/>
                <a:sym typeface="Courier New"/>
              </a:rPr>
              <a:t>    # Robot gesture</a:t>
            </a:r>
          </a:p>
          <a:p>
            <a:pPr algn="l">
              <a:lnSpc>
                <a:spcPct val="115000"/>
              </a:lnSpc>
            </a:pPr>
            <a:r>
              <a:rPr sz="1050" b="0" i="0">
                <a:solidFill>
                  <a:srgbClr val="FFFFFF"/>
                </a:solidFill>
                <a:latin typeface="Courier New"/>
                <a:ea typeface="Courier New"/>
                <a:cs typeface="Courier New"/>
                <a:sym typeface="Courier New"/>
              </a:rPr>
              <a:t>    if robot_gesture:</a:t>
            </a:r>
          </a:p>
          <a:p>
            <a:pPr algn="l">
              <a:lnSpc>
                <a:spcPct val="115000"/>
              </a:lnSpc>
            </a:pPr>
            <a:r>
              <a:rPr sz="1050" b="0" i="0">
                <a:solidFill>
                  <a:srgbClr val="FFFFFF"/>
                </a:solidFill>
                <a:latin typeface="Courier New"/>
                <a:ea typeface="Courier New"/>
                <a:cs typeface="Courier New"/>
                <a:sym typeface="Courier New"/>
              </a:rPr>
              <a:t>        cv2.putText(frame, f"Robot Move: {robot_gesture}", (20, 170),</a:t>
            </a:r>
          </a:p>
          <a:p>
            <a:pPr algn="l">
              <a:lnSpc>
                <a:spcPct val="115000"/>
              </a:lnSpc>
            </a:pPr>
            <a:r>
              <a:rPr sz="1050" b="0" i="0">
                <a:solidFill>
                  <a:srgbClr val="FFFFFF"/>
                </a:solidFill>
                <a:latin typeface="Courier New"/>
                <a:ea typeface="Courier New"/>
                <a:cs typeface="Courier New"/>
                <a:sym typeface="Courier New"/>
              </a:rPr>
              <a:t>                    cv2.FONT_HERSHEY_SIMPLEX, 0.8, (255, 0, 0), 2)</a:t>
            </a:r>
          </a:p>
        </p:txBody>
      </p:sp>
      <p:sp>
        <p:nvSpPr>
          <p:cNvPr id="6" name="blk0184"/>
          <p:cNvSpPr/>
          <p:nvPr/>
        </p:nvSpPr>
        <p:spPr>
          <a:xfrm>
            <a:off x="687600" y="525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84"/>
          <p:cNvSpPr/>
          <p:nvPr/>
        </p:nvSpPr>
        <p:spPr>
          <a:xfrm>
            <a:off x="885600" y="5707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84"/>
          <p:cNvSpPr txBox="1"/>
          <p:nvPr/>
        </p:nvSpPr>
        <p:spPr>
          <a:xfrm>
            <a:off x="1162800" y="540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That yellow fallback line is a debugging tool that ships in the final program. When the game refuses to score a round, this line tells you whether it read zero fingers or four.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draw the UI, part three</a:t>
            </a:r>
          </a:p>
        </p:txBody>
      </p:sp>
      <p:sp>
        <p:nvSpPr>
          <p:cNvPr id="3" name="blk018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verdict. Four outcomes, four colours, one line of output:</a:t>
            </a:r>
          </a:p>
        </p:txBody>
      </p:sp>
      <p:sp>
        <p:nvSpPr>
          <p:cNvPr id="4" name="blk0187"/>
          <p:cNvSpPr/>
          <p:nvPr/>
        </p:nvSpPr>
        <p:spPr>
          <a:xfrm>
            <a:off x="687600" y="2520000"/>
            <a:ext cx="8686800" cy="336822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7"/>
          <p:cNvSpPr txBox="1"/>
          <p:nvPr/>
        </p:nvSpPr>
        <p:spPr>
          <a:xfrm>
            <a:off x="910799" y="2682000"/>
            <a:ext cx="8240400" cy="3044229"/>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 Result</a:t>
            </a:r>
          </a:p>
          <a:p>
            <a:pPr algn="l">
              <a:lnSpc>
                <a:spcPct val="115000"/>
              </a:lnSpc>
            </a:pPr>
            <a:r>
              <a:rPr sz="1150" b="0" i="0">
                <a:solidFill>
                  <a:srgbClr val="FFFFFF"/>
                </a:solidFill>
                <a:latin typeface="Courier New"/>
                <a:ea typeface="Courier New"/>
                <a:cs typeface="Courier New"/>
                <a:sym typeface="Courier New"/>
              </a:rPr>
              <a:t>    if result == "PLAYER":</a:t>
            </a:r>
          </a:p>
          <a:p>
            <a:pPr algn="l">
              <a:lnSpc>
                <a:spcPct val="115000"/>
              </a:lnSpc>
            </a:pPr>
            <a:r>
              <a:rPr sz="1150" b="0" i="0">
                <a:solidFill>
                  <a:srgbClr val="FFFFFF"/>
                </a:solidFill>
                <a:latin typeface="Courier New"/>
                <a:ea typeface="Courier New"/>
                <a:cs typeface="Courier New"/>
                <a:sym typeface="Courier New"/>
              </a:rPr>
              <a:t>        color = (0, 255, 0)</a:t>
            </a:r>
          </a:p>
          <a:p>
            <a:pPr algn="l">
              <a:lnSpc>
                <a:spcPct val="115000"/>
              </a:lnSpc>
            </a:pPr>
            <a:r>
              <a:rPr sz="1150" b="0" i="0">
                <a:solidFill>
                  <a:srgbClr val="FFFFFF"/>
                </a:solidFill>
                <a:latin typeface="Courier New"/>
                <a:ea typeface="Courier New"/>
                <a:cs typeface="Courier New"/>
                <a:sym typeface="Courier New"/>
              </a:rPr>
              <a:t>        text = "YOU WIN!"</a:t>
            </a:r>
          </a:p>
          <a:p>
            <a:pPr algn="l">
              <a:lnSpc>
                <a:spcPct val="115000"/>
              </a:lnSpc>
            </a:pPr>
            <a:r>
              <a:rPr sz="1150" b="0" i="0">
                <a:solidFill>
                  <a:srgbClr val="FFFFFF"/>
                </a:solidFill>
                <a:latin typeface="Courier New"/>
                <a:ea typeface="Courier New"/>
                <a:cs typeface="Courier New"/>
                <a:sym typeface="Courier New"/>
              </a:rPr>
              <a:t>    elif result == "ROBOT":</a:t>
            </a:r>
          </a:p>
          <a:p>
            <a:pPr algn="l">
              <a:lnSpc>
                <a:spcPct val="115000"/>
              </a:lnSpc>
            </a:pPr>
            <a:r>
              <a:rPr sz="1150" b="0" i="0">
                <a:solidFill>
                  <a:srgbClr val="FFFFFF"/>
                </a:solidFill>
                <a:latin typeface="Courier New"/>
                <a:ea typeface="Courier New"/>
                <a:cs typeface="Courier New"/>
                <a:sym typeface="Courier New"/>
              </a:rPr>
              <a:t>        color = (0, 0, 255)</a:t>
            </a:r>
          </a:p>
          <a:p>
            <a:pPr algn="l">
              <a:lnSpc>
                <a:spcPct val="115000"/>
              </a:lnSpc>
            </a:pPr>
            <a:r>
              <a:rPr sz="1150" b="0" i="0">
                <a:solidFill>
                  <a:srgbClr val="FFFFFF"/>
                </a:solidFill>
                <a:latin typeface="Courier New"/>
                <a:ea typeface="Courier New"/>
                <a:cs typeface="Courier New"/>
                <a:sym typeface="Courier New"/>
              </a:rPr>
              <a:t>        text = "ROBOT WINS!"</a:t>
            </a:r>
          </a:p>
          <a:p>
            <a:pPr algn="l">
              <a:lnSpc>
                <a:spcPct val="115000"/>
              </a:lnSpc>
            </a:pPr>
            <a:r>
              <a:rPr sz="1150" b="0" i="0">
                <a:solidFill>
                  <a:srgbClr val="FFFFFF"/>
                </a:solidFill>
                <a:latin typeface="Courier New"/>
                <a:ea typeface="Courier New"/>
                <a:cs typeface="Courier New"/>
                <a:sym typeface="Courier New"/>
              </a:rPr>
              <a:t>    elif result == "DRAW":</a:t>
            </a:r>
          </a:p>
          <a:p>
            <a:pPr algn="l">
              <a:lnSpc>
                <a:spcPct val="115000"/>
              </a:lnSpc>
            </a:pPr>
            <a:r>
              <a:rPr sz="1150" b="0" i="0">
                <a:solidFill>
                  <a:srgbClr val="FFFFFF"/>
                </a:solidFill>
                <a:latin typeface="Courier New"/>
                <a:ea typeface="Courier New"/>
                <a:cs typeface="Courier New"/>
                <a:sym typeface="Courier New"/>
              </a:rPr>
              <a:t>        color = (255, 255, 0)</a:t>
            </a:r>
          </a:p>
          <a:p>
            <a:pPr algn="l">
              <a:lnSpc>
                <a:spcPct val="115000"/>
              </a:lnSpc>
            </a:pPr>
            <a:r>
              <a:rPr sz="1150" b="0" i="0">
                <a:solidFill>
                  <a:srgbClr val="FFFFFF"/>
                </a:solidFill>
                <a:latin typeface="Courier New"/>
                <a:ea typeface="Courier New"/>
                <a:cs typeface="Courier New"/>
                <a:sym typeface="Courier New"/>
              </a:rPr>
              <a:t>        text = "DRAW!"</a:t>
            </a:r>
          </a:p>
          <a:p>
            <a:pPr algn="l">
              <a:lnSpc>
                <a:spcPct val="115000"/>
              </a:lnSpc>
            </a:pPr>
            <a:r>
              <a:rPr sz="1150" b="0" i="0">
                <a:solidFill>
                  <a:srgbClr val="FFFFFF"/>
                </a:solidFill>
                <a:latin typeface="Courier New"/>
                <a:ea typeface="Courier New"/>
                <a:cs typeface="Courier New"/>
                <a:sym typeface="Courier New"/>
              </a:rPr>
              <a:t>    else:</a:t>
            </a:r>
          </a:p>
          <a:p>
            <a:pPr algn="l">
              <a:lnSpc>
                <a:spcPct val="115000"/>
              </a:lnSpc>
            </a:pPr>
            <a:r>
              <a:rPr sz="1150" b="0" i="0">
                <a:solidFill>
                  <a:srgbClr val="FFFFFF"/>
                </a:solidFill>
                <a:latin typeface="Courier New"/>
                <a:ea typeface="Courier New"/>
                <a:cs typeface="Courier New"/>
                <a:sym typeface="Courier New"/>
              </a:rPr>
              <a:t>        color = (255, 255, 255)</a:t>
            </a:r>
          </a:p>
          <a:p>
            <a:pPr algn="l">
              <a:lnSpc>
                <a:spcPct val="115000"/>
              </a:lnSpc>
            </a:pPr>
            <a:r>
              <a:rPr sz="1150" b="0" i="0">
                <a:solidFill>
                  <a:srgbClr val="FFFFFF"/>
                </a:solidFill>
                <a:latin typeface="Courier New"/>
                <a:ea typeface="Courier New"/>
                <a:cs typeface="Courier New"/>
                <a:sym typeface="Courier New"/>
              </a:rPr>
              <a:t>        text = game_result</a:t>
            </a:r>
          </a:p>
          <a:p>
            <a:pPr algn="l">
              <a:lnSpc>
                <a:spcPct val="115000"/>
              </a:lnSpc>
            </a:pPr>
            <a:r>
              <a:rPr sz="1150" b="0" i="0">
                <a:solidFill>
                  <a:srgbClr val="FFFFFF"/>
                </a:solidFill>
                <a:latin typeface="Courier New"/>
                <a:ea typeface="Courier New"/>
                <a:cs typeface="Courier New"/>
                <a:sym typeface="Courier New"/>
              </a:rPr>
              <a:t>    </a:t>
            </a:r>
          </a:p>
          <a:p>
            <a:pPr algn="l">
              <a:lnSpc>
                <a:spcPct val="115000"/>
              </a:lnSpc>
            </a:pPr>
            <a:r>
              <a:rPr sz="1150" b="0" i="0">
                <a:solidFill>
                  <a:srgbClr val="FFFFFF"/>
                </a:solidFill>
                <a:latin typeface="Courier New"/>
                <a:ea typeface="Courier New"/>
                <a:cs typeface="Courier New"/>
                <a:sym typeface="Courier New"/>
              </a:rPr>
              <a:t>    cv2.putText(frame, text, (20, 230),</a:t>
            </a:r>
          </a:p>
          <a:p>
            <a:pPr algn="l">
              <a:lnSpc>
                <a:spcPct val="115000"/>
              </a:lnSpc>
            </a:pPr>
            <a:r>
              <a:rPr sz="1150" b="0" i="0">
                <a:solidFill>
                  <a:srgbClr val="FFFFFF"/>
                </a:solidFill>
                <a:latin typeface="Courier New"/>
                <a:ea typeface="Courier New"/>
                <a:cs typeface="Courier New"/>
                <a:sym typeface="Courier New"/>
              </a:rPr>
              <a:t>                cv2.FONT_HERSHEY_SIMPLEX, 1.2, color, 3)</a:t>
            </a:r>
          </a:p>
        </p:txBody>
      </p:sp>
      <p:sp>
        <p:nvSpPr>
          <p:cNvPr id="6" name="blk0188"/>
          <p:cNvSpPr txBox="1"/>
          <p:nvPr/>
        </p:nvSpPr>
        <p:spPr>
          <a:xfrm>
            <a:off x="687600" y="5996229"/>
            <a:ext cx="7542000" cy="24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fourth branch is the default prompt, and it reads </a:t>
            </a:r>
            <a:r>
              <a:rPr sz="1743" b="0" i="0">
                <a:solidFill>
                  <a:srgbClr val="FFFFFF"/>
                </a:solidFill>
                <a:latin typeface="Courier New"/>
                <a:ea typeface="Courier New"/>
                <a:cs typeface="Courier New"/>
                <a:sym typeface="Courier New"/>
              </a:rPr>
              <a:t>game_result</a:t>
            </a:r>
            <a:r>
              <a:rPr sz="2027" b="0" i="0">
                <a:solidFill>
                  <a:srgbClr val="FFFFFF"/>
                </a:solidFill>
                <a:latin typeface="Avenir"/>
                <a:ea typeface="Avenir"/>
                <a:cs typeface="Avenir"/>
                <a:sym typeface="Avenir"/>
              </a:rPr>
              <a:t> from the enclosing scope.</a:t>
            </a:r>
          </a:p>
        </p:txBody>
      </p:sp>
      <p:sp>
        <p:nvSpPr>
          <p:cNvPr id="7" name="blk0189"/>
          <p:cNvSpPr/>
          <p:nvPr/>
        </p:nvSpPr>
        <p:spPr>
          <a:xfrm>
            <a:off x="687600" y="6722058"/>
            <a:ext cx="8686800" cy="648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89"/>
          <p:cNvSpPr/>
          <p:nvPr/>
        </p:nvSpPr>
        <p:spPr>
          <a:xfrm>
            <a:off x="885600" y="697765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89"/>
          <p:cNvSpPr txBox="1"/>
          <p:nvPr/>
        </p:nvSpPr>
        <p:spPr>
          <a:xfrm>
            <a:off x="1162800" y="6866057"/>
            <a:ext cx="7956000" cy="360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Whatever you do not recognise becomes the idle message.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read a frame</a:t>
            </a:r>
          </a:p>
        </p:txBody>
      </p:sp>
      <p:sp>
        <p:nvSpPr>
          <p:cNvPr id="3" name="blk019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At the top of the loop, five lines that are almost identical to previous projects:</a:t>
            </a:r>
          </a:p>
        </p:txBody>
      </p:sp>
      <p:sp>
        <p:nvSpPr>
          <p:cNvPr id="4" name="blk0192"/>
          <p:cNvSpPr/>
          <p:nvPr/>
        </p:nvSpPr>
        <p:spPr>
          <a:xfrm>
            <a:off x="687600" y="2448000"/>
            <a:ext cx="8686800" cy="21852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2"/>
          <p:cNvSpPr txBox="1"/>
          <p:nvPr/>
        </p:nvSpPr>
        <p:spPr>
          <a:xfrm>
            <a:off x="910799" y="2610000"/>
            <a:ext cx="8240400" cy="1861281"/>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ret, frame = cap.read()</a:t>
            </a:r>
          </a:p>
          <a:p>
            <a:pPr algn="l">
              <a:lnSpc>
                <a:spcPct val="115000"/>
              </a:lnSpc>
            </a:pPr>
            <a:r>
              <a:rPr sz="1250" b="0" i="0">
                <a:solidFill>
                  <a:srgbClr val="FFFFFF"/>
                </a:solidFill>
                <a:latin typeface="Courier New"/>
                <a:ea typeface="Courier New"/>
                <a:cs typeface="Courier New"/>
                <a:sym typeface="Courier New"/>
              </a:rPr>
              <a:t>        if not ret:</a:t>
            </a:r>
          </a:p>
          <a:p>
            <a:pPr algn="l">
              <a:lnSpc>
                <a:spcPct val="115000"/>
              </a:lnSpc>
            </a:pPr>
            <a:r>
              <a:rPr sz="1250" b="0" i="0">
                <a:solidFill>
                  <a:srgbClr val="FFFFFF"/>
                </a:solidFill>
                <a:latin typeface="Courier New"/>
                <a:ea typeface="Courier New"/>
                <a:cs typeface="Courier New"/>
                <a:sym typeface="Courier New"/>
              </a:rPr>
              <a:t>            break</a:t>
            </a:r>
          </a:p>
          <a:p>
            <a:pPr algn="l">
              <a:lnSpc>
                <a:spcPct val="115000"/>
              </a:lnSpc>
            </a:pPr>
            <a:r>
              <a:rPr sz="1250" b="0" i="0">
                <a:solidFill>
                  <a:srgbClr val="FFFFFF"/>
                </a:solidFill>
                <a:latin typeface="Courier New"/>
                <a:ea typeface="Courier New"/>
                <a:cs typeface="Courier New"/>
                <a:sym typeface="Courier New"/>
              </a:rPr>
              <a:t>        </a:t>
            </a:r>
          </a:p>
          <a:p>
            <a:pPr algn="l">
              <a:lnSpc>
                <a:spcPct val="115000"/>
              </a:lnSpc>
            </a:pPr>
            <a:r>
              <a:rPr sz="1250" b="0" i="0">
                <a:solidFill>
                  <a:srgbClr val="FFFFFF"/>
                </a:solidFill>
                <a:latin typeface="Courier New"/>
                <a:ea typeface="Courier New"/>
                <a:cs typeface="Courier New"/>
                <a:sym typeface="Courier New"/>
              </a:rPr>
              <a:t>        # Flip for mirror view</a:t>
            </a:r>
          </a:p>
          <a:p>
            <a:pPr algn="l">
              <a:lnSpc>
                <a:spcPct val="115000"/>
              </a:lnSpc>
            </a:pPr>
            <a:r>
              <a:rPr sz="1250" b="0" i="0">
                <a:solidFill>
                  <a:srgbClr val="FFFFFF"/>
                </a:solidFill>
                <a:latin typeface="Courier New"/>
                <a:ea typeface="Courier New"/>
                <a:cs typeface="Courier New"/>
                <a:sym typeface="Courier New"/>
              </a:rPr>
              <a:t>        frame = cv2.flip(frame, 1)</a:t>
            </a:r>
          </a:p>
          <a:p>
            <a:pPr algn="l">
              <a:lnSpc>
                <a:spcPct val="115000"/>
              </a:lnSpc>
            </a:pPr>
            <a:r>
              <a:rPr sz="1250" b="0" i="0">
                <a:solidFill>
                  <a:srgbClr val="FFFFFF"/>
                </a:solidFill>
                <a:latin typeface="Courier New"/>
                <a:ea typeface="Courier New"/>
                <a:cs typeface="Courier New"/>
                <a:sym typeface="Courier New"/>
              </a:rPr>
              <a:t>        h, w = frame.shape[:2]</a:t>
            </a:r>
          </a:p>
          <a:p>
            <a:pPr algn="l">
              <a:lnSpc>
                <a:spcPct val="115000"/>
              </a:lnSpc>
            </a:pPr>
            <a:r>
              <a:rPr sz="1250" b="0" i="0">
                <a:solidFill>
                  <a:srgbClr val="FFFFFF"/>
                </a:solidFill>
                <a:latin typeface="Courier New"/>
                <a:ea typeface="Courier New"/>
                <a:cs typeface="Courier New"/>
                <a:sym typeface="Courier New"/>
              </a:rPr>
              <a:t>        rgb_frame = cv2.cvtColor(frame, cv2.COLOR_BGR2RGB)</a:t>
            </a:r>
          </a:p>
          <a:p>
            <a:pPr algn="l">
              <a:lnSpc>
                <a:spcPct val="115000"/>
              </a:lnSpc>
            </a:pPr>
            <a:r>
              <a:rPr sz="1250" b="0" i="0">
                <a:solidFill>
                  <a:srgbClr val="FFFFFF"/>
                </a:solidFill>
                <a:latin typeface="Courier New"/>
                <a:ea typeface="Courier New"/>
                <a:cs typeface="Courier New"/>
                <a:sym typeface="Courier New"/>
              </a:rPr>
              <a:t>        results = hands.process(rgb_frame)</a:t>
            </a:r>
          </a:p>
        </p:txBody>
      </p:sp>
      <p:sp>
        <p:nvSpPr>
          <p:cNvPr id="6" name="blk0193"/>
          <p:cNvSpPr/>
          <p:nvPr/>
        </p:nvSpPr>
        <p:spPr>
          <a:xfrm>
            <a:off x="741600" y="485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93"/>
          <p:cNvSpPr txBox="1"/>
          <p:nvPr/>
        </p:nvSpPr>
        <p:spPr>
          <a:xfrm>
            <a:off x="1252800" y="4824000"/>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cv2.flip(frame, 1)</a:t>
            </a:r>
            <a:r>
              <a:rPr sz="1600" b="0" i="0">
                <a:solidFill>
                  <a:srgbClr val="FFFFFF"/>
                </a:solidFill>
                <a:latin typeface="Avenir"/>
                <a:ea typeface="Avenir"/>
                <a:cs typeface="Avenir"/>
                <a:sym typeface="Avenir"/>
              </a:rPr>
              <a:t>  — horizontal flip, so moving right moves right on screen.</a:t>
            </a:r>
          </a:p>
        </p:txBody>
      </p:sp>
      <p:sp>
        <p:nvSpPr>
          <p:cNvPr id="8" name="blk0194"/>
          <p:cNvSpPr/>
          <p:nvPr/>
        </p:nvSpPr>
        <p:spPr>
          <a:xfrm>
            <a:off x="741600" y="553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94"/>
          <p:cNvSpPr txBox="1"/>
          <p:nvPr/>
        </p:nvSpPr>
        <p:spPr>
          <a:xfrm>
            <a:off x="1252800" y="5508000"/>
            <a:ext cx="8118000" cy="684000"/>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cvtColor</a:t>
            </a:r>
            <a:r>
              <a:rPr sz="1600" b="0" i="0">
                <a:solidFill>
                  <a:srgbClr val="FFFFFF"/>
                </a:solidFill>
                <a:latin typeface="Avenir"/>
                <a:ea typeface="Avenir"/>
                <a:cs typeface="Avenir"/>
                <a:sym typeface="Avenir"/>
              </a:rPr>
              <a:t>  — MediaPipe expects RGB, OpenCV hands back BGR, and the tracker quietly performs badly if you skip this.</a:t>
            </a:r>
          </a:p>
        </p:txBody>
      </p:sp>
      <p:sp>
        <p:nvSpPr>
          <p:cNvPr id="10" name="blk0195"/>
          <p:cNvSpPr/>
          <p:nvPr/>
        </p:nvSpPr>
        <p:spPr>
          <a:xfrm>
            <a:off x="687600" y="6336000"/>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95"/>
          <p:cNvSpPr/>
          <p:nvPr/>
        </p:nvSpPr>
        <p:spPr>
          <a:xfrm>
            <a:off x="885600" y="664992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95"/>
          <p:cNvSpPr txBox="1"/>
          <p:nvPr/>
        </p:nvSpPr>
        <p:spPr>
          <a:xfrm>
            <a:off x="1162800" y="648000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a:t>
            </a:r>
            <a:r>
              <a:rPr sz="1290" b="0" i="1">
                <a:solidFill>
                  <a:srgbClr val="FFCF08"/>
                </a:solidFill>
                <a:latin typeface="Courier New"/>
                <a:ea typeface="Courier New"/>
                <a:cs typeface="Courier New"/>
                <a:sym typeface="Courier New"/>
              </a:rPr>
              <a:t>break</a:t>
            </a:r>
            <a:r>
              <a:rPr sz="1500" b="0" i="1">
                <a:solidFill>
                  <a:srgbClr val="FFCF08"/>
                </a:solidFill>
                <a:latin typeface="Avenir"/>
                <a:ea typeface="Avenir"/>
                <a:cs typeface="Avenir"/>
                <a:sym typeface="Avenir"/>
              </a:rPr>
              <a:t> on a failed read is what stops this loop on a camera that has been unplugged mid-session, instead of spinning on None forever.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draw the hand skeleton</a:t>
            </a:r>
          </a:p>
        </p:txBody>
      </p:sp>
      <p:sp>
        <p:nvSpPr>
          <p:cNvPr id="3" name="blk019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lines of drawing, inside the hand loop, so the skeleton is overlaid on the picture you are about to analyse:</a:t>
            </a:r>
          </a:p>
        </p:txBody>
      </p:sp>
      <p:sp>
        <p:nvSpPr>
          <p:cNvPr id="4" name="blk0198"/>
          <p:cNvSpPr/>
          <p:nvPr/>
        </p:nvSpPr>
        <p:spPr>
          <a:xfrm>
            <a:off x="687600" y="2592000"/>
            <a:ext cx="8686800" cy="146558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8"/>
          <p:cNvSpPr txBox="1"/>
          <p:nvPr/>
        </p:nvSpPr>
        <p:spPr>
          <a:xfrm>
            <a:off x="910799" y="2754000"/>
            <a:ext cx="8240400" cy="1141586"/>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mp_drawing.draw_landmarks(</a:t>
            </a:r>
          </a:p>
          <a:p>
            <a:pPr algn="l">
              <a:lnSpc>
                <a:spcPct val="115000"/>
              </a:lnSpc>
            </a:pPr>
            <a:r>
              <a:rPr sz="1150" b="0" i="0">
                <a:solidFill>
                  <a:srgbClr val="FFFFFF"/>
                </a:solidFill>
                <a:latin typeface="Courier New"/>
                <a:ea typeface="Courier New"/>
                <a:cs typeface="Courier New"/>
                <a:sym typeface="Courier New"/>
              </a:rPr>
              <a:t>                    frame, hand_landmarks, mp_hands.HAND_CONNECTIONS,</a:t>
            </a:r>
          </a:p>
          <a:p>
            <a:pPr algn="l">
              <a:lnSpc>
                <a:spcPct val="115000"/>
              </a:lnSpc>
            </a:pPr>
            <a:r>
              <a:rPr sz="1150" b="0" i="0">
                <a:solidFill>
                  <a:srgbClr val="FFFFFF"/>
                </a:solidFill>
                <a:latin typeface="Courier New"/>
                <a:ea typeface="Courier New"/>
                <a:cs typeface="Courier New"/>
                <a:sym typeface="Courier New"/>
              </a:rPr>
              <a:t>                    mp_drawing.DrawingSpec(color=(0, 255, 0),</a:t>
            </a:r>
          </a:p>
          <a:p>
            <a:pPr algn="l">
              <a:lnSpc>
                <a:spcPct val="115000"/>
              </a:lnSpc>
            </a:pPr>
            <a:r>
              <a:rPr sz="1150" b="0" i="0">
                <a:solidFill>
                  <a:srgbClr val="FFFFFF"/>
                </a:solidFill>
                <a:latin typeface="Courier New"/>
                <a:ea typeface="Courier New"/>
                <a:cs typeface="Courier New"/>
                <a:sym typeface="Courier New"/>
              </a:rPr>
              <a:t>                        thickness=2, circle_radius=2),</a:t>
            </a:r>
          </a:p>
          <a:p>
            <a:pPr algn="l">
              <a:lnSpc>
                <a:spcPct val="115000"/>
              </a:lnSpc>
            </a:pPr>
            <a:r>
              <a:rPr sz="1150" b="0" i="0">
                <a:solidFill>
                  <a:srgbClr val="FFFFFF"/>
                </a:solidFill>
                <a:latin typeface="Courier New"/>
                <a:ea typeface="Courier New"/>
                <a:cs typeface="Courier New"/>
                <a:sym typeface="Courier New"/>
              </a:rPr>
              <a:t>                    mp_drawing.DrawingSpec(color=(255, 0, 0), thickness=2)</a:t>
            </a:r>
          </a:p>
          <a:p>
            <a:pPr algn="l">
              <a:lnSpc>
                <a:spcPct val="115000"/>
              </a:lnSpc>
            </a:pPr>
            <a:r>
              <a:rPr sz="1150" b="0" i="0">
                <a:solidFill>
                  <a:srgbClr val="FFFFFF"/>
                </a:solidFill>
                <a:latin typeface="Courier New"/>
                <a:ea typeface="Courier New"/>
                <a:cs typeface="Courier New"/>
                <a:sym typeface="Courier New"/>
              </a:rPr>
              <a:t>                )</a:t>
            </a:r>
          </a:p>
        </p:txBody>
      </p:sp>
      <p:sp>
        <p:nvSpPr>
          <p:cNvPr id="6" name="blk0199"/>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a:t>
            </a:r>
            <a:r>
              <a:rPr sz="1743" b="0" i="0">
                <a:solidFill>
                  <a:srgbClr val="FFFFFF"/>
                </a:solidFill>
                <a:latin typeface="Courier New"/>
                <a:ea typeface="Courier New"/>
                <a:cs typeface="Courier New"/>
                <a:sym typeface="Courier New"/>
              </a:rPr>
              <a:t>DrawingSpec</a:t>
            </a:r>
            <a:r>
              <a:rPr sz="2027" b="0" i="0">
                <a:solidFill>
                  <a:srgbClr val="FFFFFF"/>
                </a:solidFill>
                <a:latin typeface="Avenir"/>
                <a:ea typeface="Avenir"/>
                <a:cs typeface="Avenir"/>
                <a:sym typeface="Avenir"/>
              </a:rPr>
              <a:t> objects because MediaPipe draws the points and the bones separately, and they are styled independently. The connections themselves come from </a:t>
            </a:r>
            <a:r>
              <a:rPr sz="1743" b="0" i="0">
                <a:solidFill>
                  <a:srgbClr val="FFFFFF"/>
                </a:solidFill>
                <a:latin typeface="Courier New"/>
                <a:ea typeface="Courier New"/>
                <a:cs typeface="Courier New"/>
                <a:sym typeface="Courier New"/>
              </a:rPr>
              <a:t>HAND_CONNECTIONS</a:t>
            </a:r>
            <a:r>
              <a:rPr sz="2027" b="0" i="0">
                <a:solidFill>
                  <a:srgbClr val="FFFFFF"/>
                </a:solidFill>
                <a:latin typeface="Avenir"/>
                <a:ea typeface="Avenir"/>
                <a:cs typeface="Avenir"/>
                <a:sym typeface="Avenir"/>
              </a:rPr>
              <a:t> — the library already knows the bone layout, so you do not draw any of it by hand.</a:t>
            </a:r>
          </a:p>
        </p:txBody>
      </p:sp>
      <p:sp>
        <p:nvSpPr>
          <p:cNvPr id="7" name="blk0200"/>
          <p:cNvSpPr txBox="1"/>
          <p:nvPr/>
        </p:nvSpPr>
        <p:spPr>
          <a:xfrm>
            <a:off x="687600" y="611657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Draw before you count, not after. The landmark positions do not change because you drew on the frame, but if you ever start cropping the frame for display you must do it after this block, or the coordinates will no longer line up with the picture.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15</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count and classify</a:t>
            </a:r>
          </a:p>
        </p:txBody>
      </p:sp>
      <p:sp>
        <p:nvSpPr>
          <p:cNvPr id="3" name="blk02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lines, and they are the only two in the whole loop that talk to the functions you wrote:</a:t>
            </a:r>
          </a:p>
        </p:txBody>
      </p:sp>
      <p:sp>
        <p:nvSpPr>
          <p:cNvPr id="4" name="blk0203"/>
          <p:cNvSpPr/>
          <p:nvPr/>
        </p:nvSpPr>
        <p:spPr>
          <a:xfrm>
            <a:off x="687600" y="2376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03"/>
          <p:cNvSpPr txBox="1"/>
          <p:nvPr/>
        </p:nvSpPr>
        <p:spPr>
          <a:xfrm>
            <a:off x="910799" y="2538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finger_count = count_fingers(hand_landmarks)</a:t>
            </a:r>
          </a:p>
          <a:p>
            <a:pPr algn="l">
              <a:lnSpc>
                <a:spcPct val="115000"/>
              </a:lnSpc>
            </a:pPr>
            <a:r>
              <a:rPr sz="1400" b="0" i="0">
                <a:solidFill>
                  <a:srgbClr val="FFFFFF"/>
                </a:solidFill>
                <a:latin typeface="Courier New"/>
                <a:ea typeface="Courier New"/>
                <a:cs typeface="Courier New"/>
                <a:sym typeface="Courier New"/>
              </a:rPr>
              <a:t>                player_gesture = classify_gesture(finger_count)</a:t>
            </a:r>
          </a:p>
        </p:txBody>
      </p:sp>
      <p:sp>
        <p:nvSpPr>
          <p:cNvPr id="6" name="blk0204"/>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counts, one names. Keeping them apart means you can test the second half of the project without a camera at all — call </a:t>
            </a:r>
            <a:r>
              <a:rPr sz="1743" b="0" i="0">
                <a:solidFill>
                  <a:srgbClr val="FFFFFF"/>
                </a:solidFill>
                <a:latin typeface="Courier New"/>
                <a:ea typeface="Courier New"/>
                <a:cs typeface="Courier New"/>
                <a:sym typeface="Courier New"/>
              </a:rPr>
              <a:t>classify_gesture(2)</a:t>
            </a:r>
            <a:r>
              <a:rPr sz="2027" b="0" i="0">
                <a:solidFill>
                  <a:srgbClr val="FFFFFF"/>
                </a:solidFill>
                <a:latin typeface="Avenir"/>
                <a:ea typeface="Avenir"/>
                <a:cs typeface="Avenir"/>
                <a:sym typeface="Avenir"/>
              </a:rPr>
              <a:t> directly and you get </a:t>
            </a:r>
            <a:r>
              <a:rPr sz="1743" b="0" i="0">
                <a:solidFill>
                  <a:srgbClr val="FFFFFF"/>
                </a:solidFill>
                <a:latin typeface="Courier New"/>
                <a:ea typeface="Courier New"/>
                <a:cs typeface="Courier New"/>
                <a:sym typeface="Courier New"/>
              </a:rPr>
              <a:t>"Scissors"</a:t>
            </a:r>
            <a:r>
              <a:rPr sz="2027" b="0" i="0">
                <a:solidFill>
                  <a:srgbClr val="FFFFFF"/>
                </a:solidFill>
                <a:latin typeface="Avenir"/>
                <a:ea typeface="Avenir"/>
                <a:cs typeface="Avenir"/>
                <a:sym typeface="Avenir"/>
              </a:rPr>
              <a:t>, no hand required.</a:t>
            </a:r>
          </a:p>
        </p:txBody>
      </p:sp>
      <p:sp>
        <p:nvSpPr>
          <p:cNvPr id="7" name="blk0205"/>
          <p:cNvSpPr/>
          <p:nvPr/>
        </p:nvSpPr>
        <p:spPr>
          <a:xfrm>
            <a:off x="687600" y="4655658"/>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05"/>
          <p:cNvSpPr/>
          <p:nvPr/>
        </p:nvSpPr>
        <p:spPr>
          <a:xfrm>
            <a:off x="885600" y="510673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05"/>
          <p:cNvSpPr txBox="1"/>
          <p:nvPr/>
        </p:nvSpPr>
        <p:spPr>
          <a:xfrm>
            <a:off x="1162800" y="4799658"/>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Note what is not here. Nothing checks that the count is stable, and nothing checks that this gesture is different from the last one. Two lines that look complete are not the same as two lines that are enough.</a:t>
            </a:r>
          </a:p>
        </p:txBody>
      </p:sp>
      <p:sp>
        <p:nvSpPr>
          <p:cNvPr id="10" name="blk0206"/>
          <p:cNvSpPr txBox="1"/>
          <p:nvPr/>
        </p:nvSpPr>
        <p:spPr>
          <a:xfrm>
            <a:off x="687600" y="5802617"/>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exact place where a real gesture game needs more than a counting function, and we will come back to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16</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robot move and winner</a:t>
            </a:r>
          </a:p>
        </p:txBody>
      </p:sp>
      <p:sp>
        <p:nvSpPr>
          <p:cNvPr id="3" name="blk020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Still inside the gesture check. Two calls, and the order matters:</a:t>
            </a:r>
          </a:p>
        </p:txBody>
      </p:sp>
      <p:sp>
        <p:nvSpPr>
          <p:cNvPr id="4" name="blk0209"/>
          <p:cNvSpPr/>
          <p:nvPr/>
        </p:nvSpPr>
        <p:spPr>
          <a:xfrm>
            <a:off x="687600" y="2376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09"/>
          <p:cNvSpPr txBox="1"/>
          <p:nvPr/>
        </p:nvSpPr>
        <p:spPr>
          <a:xfrm>
            <a:off x="910799" y="2538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robot_gesture = get_robot_move()</a:t>
            </a:r>
          </a:p>
          <a:p>
            <a:pPr algn="l">
              <a:lnSpc>
                <a:spcPct val="115000"/>
              </a:lnSpc>
            </a:pPr>
            <a:r>
              <a:rPr sz="1400" b="0" i="0">
                <a:solidFill>
                  <a:srgbClr val="FFFFFF"/>
                </a:solidFill>
                <a:latin typeface="Courier New"/>
                <a:ea typeface="Courier New"/>
                <a:cs typeface="Courier New"/>
                <a:sym typeface="Courier New"/>
              </a:rPr>
              <a:t>                    result = determine_winner(player_gesture, robot_gesture)</a:t>
            </a:r>
          </a:p>
        </p:txBody>
      </p:sp>
      <p:sp>
        <p:nvSpPr>
          <p:cNvPr id="6" name="blk0210"/>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robot picks first, then the winner is computed from both moves. Swapping them computes the same answer, which is a good reminder that the winner function takes both moves rather than asking the robot.</a:t>
            </a:r>
          </a:p>
        </p:txBody>
      </p:sp>
      <p:sp>
        <p:nvSpPr>
          <p:cNvPr id="7" name="blk0211"/>
          <p:cNvSpPr txBox="1"/>
          <p:nvPr/>
        </p:nvSpPr>
        <p:spPr>
          <a:xfrm>
            <a:off x="687600" y="4727659"/>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Both lines sit inside the </a:t>
            </a:r>
            <a:r>
              <a:rPr sz="1419" b="0" i="0">
                <a:solidFill>
                  <a:srgbClr val="FFFFFF"/>
                </a:solidFill>
                <a:latin typeface="Courier New"/>
                <a:ea typeface="Courier New"/>
                <a:cs typeface="Courier New"/>
                <a:sym typeface="Courier New"/>
              </a:rPr>
              <a:t>if valid_gesture and cooldown_ready</a:t>
            </a:r>
            <a:r>
              <a:rPr sz="1650" b="0" i="0">
                <a:solidFill>
                  <a:srgbClr val="FFFFFF"/>
                </a:solidFill>
                <a:latin typeface="Avenir"/>
                <a:ea typeface="Avenir"/>
                <a:cs typeface="Avenir"/>
                <a:sym typeface="Avenir"/>
              </a:rPr>
              <a:t> condition, so neither runs unless the gesture has been held and the cooldown has expired. Those two flags are the entire rate limit for the game, and Step 15 never mentioned them.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17</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update the scores</a:t>
            </a:r>
          </a:p>
        </p:txBody>
      </p:sp>
      <p:sp>
        <p:nvSpPr>
          <p:cNvPr id="3" name="blk021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Straightforward, and worth reading closely because it decides whether the score and the round counter agree:</a:t>
            </a:r>
          </a:p>
        </p:txBody>
      </p:sp>
      <p:sp>
        <p:nvSpPr>
          <p:cNvPr id="4" name="blk0214"/>
          <p:cNvSpPr/>
          <p:nvPr/>
        </p:nvSpPr>
        <p:spPr>
          <a:xfrm>
            <a:off x="687600" y="2448000"/>
            <a:ext cx="8686800" cy="144076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14"/>
          <p:cNvSpPr txBox="1"/>
          <p:nvPr/>
        </p:nvSpPr>
        <p:spPr>
          <a:xfrm>
            <a:off x="910799" y="2610000"/>
            <a:ext cx="8240400" cy="1116769"/>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                    rounds_played += 1</a:t>
            </a:r>
          </a:p>
          <a:p>
            <a:pPr algn="l">
              <a:lnSpc>
                <a:spcPct val="115000"/>
              </a:lnSpc>
            </a:pPr>
            <a:r>
              <a:rPr sz="1350" b="0" i="0">
                <a:solidFill>
                  <a:srgbClr val="FFFFFF"/>
                </a:solidFill>
                <a:latin typeface="Courier New"/>
                <a:ea typeface="Courier New"/>
                <a:cs typeface="Courier New"/>
                <a:sym typeface="Courier New"/>
              </a:rPr>
              <a:t>                    if result == "PLAYER":</a:t>
            </a:r>
          </a:p>
          <a:p>
            <a:pPr algn="l">
              <a:lnSpc>
                <a:spcPct val="115000"/>
              </a:lnSpc>
            </a:pPr>
            <a:r>
              <a:rPr sz="1350" b="0" i="0">
                <a:solidFill>
                  <a:srgbClr val="FFFFFF"/>
                </a:solidFill>
                <a:latin typeface="Courier New"/>
                <a:ea typeface="Courier New"/>
                <a:cs typeface="Courier New"/>
                <a:sym typeface="Courier New"/>
              </a:rPr>
              <a:t>                        player_score += 1</a:t>
            </a:r>
          </a:p>
          <a:p>
            <a:pPr algn="l">
              <a:lnSpc>
                <a:spcPct val="115000"/>
              </a:lnSpc>
            </a:pPr>
            <a:r>
              <a:rPr sz="1350" b="0" i="0">
                <a:solidFill>
                  <a:srgbClr val="FFFFFF"/>
                </a:solidFill>
                <a:latin typeface="Courier New"/>
                <a:ea typeface="Courier New"/>
                <a:cs typeface="Courier New"/>
                <a:sym typeface="Courier New"/>
              </a:rPr>
              <a:t>                    elif result == "ROBOT":</a:t>
            </a:r>
          </a:p>
          <a:p>
            <a:pPr algn="l">
              <a:lnSpc>
                <a:spcPct val="115000"/>
              </a:lnSpc>
            </a:pPr>
            <a:r>
              <a:rPr sz="1350" b="0" i="0">
                <a:solidFill>
                  <a:srgbClr val="FFFFFF"/>
                </a:solidFill>
                <a:latin typeface="Courier New"/>
                <a:ea typeface="Courier New"/>
                <a:cs typeface="Courier New"/>
                <a:sym typeface="Courier New"/>
              </a:rPr>
              <a:t>                        robot_score += 1</a:t>
            </a:r>
          </a:p>
        </p:txBody>
      </p:sp>
      <p:sp>
        <p:nvSpPr>
          <p:cNvPr id="6" name="blk0215"/>
          <p:cNvSpPr/>
          <p:nvPr/>
        </p:nvSpPr>
        <p:spPr>
          <a:xfrm>
            <a:off x="741600" y="42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15"/>
          <p:cNvSpPr txBox="1"/>
          <p:nvPr/>
        </p:nvSpPr>
        <p:spPr>
          <a:xfrm>
            <a:off x="1252800" y="4248000"/>
            <a:ext cx="8118000" cy="684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rounds_played</a:t>
            </a:r>
            <a:r>
              <a:rPr sz="1600" b="0" i="0">
                <a:solidFill>
                  <a:srgbClr val="FFFFFF"/>
                </a:solidFill>
                <a:latin typeface="Avenir"/>
                <a:ea typeface="Avenir"/>
                <a:cs typeface="Avenir"/>
                <a:sym typeface="Avenir"/>
              </a:rPr>
              <a:t> counts rounds, not points — it increments on a draw too.</a:t>
            </a:r>
          </a:p>
        </p:txBody>
      </p:sp>
      <p:sp>
        <p:nvSpPr>
          <p:cNvPr id="8" name="blk0216"/>
          <p:cNvSpPr/>
          <p:nvPr/>
        </p:nvSpPr>
        <p:spPr>
          <a:xfrm>
            <a:off x="741600" y="496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16"/>
          <p:cNvSpPr txBox="1"/>
          <p:nvPr/>
        </p:nvSpPr>
        <p:spPr>
          <a:xfrm>
            <a:off x="1252800" y="4932000"/>
            <a:ext cx="8118000" cy="684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So the score line can read</a:t>
            </a:r>
            <a:r>
              <a:rPr sz="1376" b="0" i="0">
                <a:solidFill>
                  <a:srgbClr val="FFFFFF"/>
                </a:solidFill>
                <a:latin typeface="Courier New"/>
                <a:ea typeface="Courier New"/>
                <a:cs typeface="Courier New"/>
                <a:sym typeface="Courier New"/>
              </a:rPr>
              <a:t> 1  |  0  |  Round: 3</a:t>
            </a:r>
            <a:r>
              <a:rPr sz="1600" b="0" i="0">
                <a:solidFill>
                  <a:srgbClr val="FFFFFF"/>
                </a:solidFill>
                <a:latin typeface="Avenir"/>
                <a:ea typeface="Avenir"/>
                <a:cs typeface="Avenir"/>
                <a:sym typeface="Avenir"/>
              </a:rPr>
              <a:t>, and that is correct rather than a bug.</a:t>
            </a:r>
          </a:p>
        </p:txBody>
      </p:sp>
      <p:sp>
        <p:nvSpPr>
          <p:cNvPr id="10" name="blk0217"/>
          <p:cNvSpPr txBox="1"/>
          <p:nvPr/>
        </p:nvSpPr>
        <p:spPr>
          <a:xfrm>
            <a:off x="687600" y="5832000"/>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reset key at the bottom of the loop resets all three together, which is why they belong together here.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18</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perform the gesture</a:t>
            </a:r>
          </a:p>
        </p:txBody>
      </p:sp>
      <p:sp>
        <p:nvSpPr>
          <p:cNvPr id="3" name="blk021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Everything expensive happens inside the function it calls.</a:t>
            </a:r>
          </a:p>
        </p:txBody>
      </p:sp>
      <p:sp>
        <p:nvSpPr>
          <p:cNvPr id="4" name="blk0220"/>
          <p:cNvSpPr/>
          <p:nvPr/>
        </p:nvSpPr>
        <p:spPr>
          <a:xfrm>
            <a:off x="687600" y="2376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0"/>
          <p:cNvSpPr txBox="1"/>
          <p:nvPr/>
        </p:nvSpPr>
        <p:spPr>
          <a:xfrm>
            <a:off x="910799" y="253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execute_robot_gesture(robot_gesture)</a:t>
            </a:r>
          </a:p>
        </p:txBody>
      </p:sp>
      <p:sp>
        <p:nvSpPr>
          <p:cNvPr id="6" name="blk0221"/>
          <p:cNvSpPr/>
          <p:nvPr/>
        </p:nvSpPr>
        <p:spPr>
          <a:xfrm>
            <a:off x="687600" y="338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21"/>
          <p:cNvSpPr/>
          <p:nvPr/>
        </p:nvSpPr>
        <p:spPr>
          <a:xfrm>
            <a:off x="885600" y="383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21"/>
          <p:cNvSpPr txBox="1"/>
          <p:nvPr/>
        </p:nvSpPr>
        <p:spPr>
          <a:xfrm>
            <a:off x="1162800" y="352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single line is where the loop stops for four and a half seconds. Nothing is drawn, nothing is detected, and nothing is checked. The gameplay logic is frozen for the entire duration of the arm movement.</a:t>
            </a:r>
          </a:p>
        </p:txBody>
      </p:sp>
      <p:sp>
        <p:nvSpPr>
          <p:cNvPr id="9" name="blk0222"/>
          <p:cNvSpPr txBox="1"/>
          <p:nvPr/>
        </p:nvSpPr>
        <p:spPr>
          <a:xfrm>
            <a:off x="687600" y="4680000"/>
            <a:ext cx="7542000" cy="294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If the arm is not attached, Step 11 returned early and this line costs microseconds instead. So the four and a half seconds are not a property of the game — they are a property of the hardware.</a:t>
            </a:r>
          </a:p>
        </p:txBody>
      </p:sp>
      <p:sp>
        <p:nvSpPr>
          <p:cNvPr id="10" name="blk0223"/>
          <p:cNvSpPr txBox="1"/>
          <p:nvPr/>
        </p:nvSpPr>
        <p:spPr>
          <a:xfrm>
            <a:off x="687600" y="6023659"/>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Keep that in mind. It changes which of the problems ahead are always present and which only appear once you plug the arm 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19</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draw the game UI</a:t>
            </a:r>
          </a:p>
        </p:txBody>
      </p:sp>
      <p:sp>
        <p:nvSpPr>
          <p:cNvPr id="3" name="blk022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Call the function you wrote in Step 12, near the bottom of the loop:</a:t>
            </a:r>
          </a:p>
        </p:txBody>
      </p:sp>
      <p:sp>
        <p:nvSpPr>
          <p:cNvPr id="4" name="blk0226"/>
          <p:cNvSpPr/>
          <p:nvPr/>
        </p:nvSpPr>
        <p:spPr>
          <a:xfrm>
            <a:off x="687600" y="2376000"/>
            <a:ext cx="8686800" cy="5225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6"/>
          <p:cNvSpPr txBox="1"/>
          <p:nvPr/>
        </p:nvSpPr>
        <p:spPr>
          <a:xfrm>
            <a:off x="910799" y="2538000"/>
            <a:ext cx="8240400" cy="198536"/>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draw_ui(frame, player_gesture, last_robot_move, game_result, finger_count)</a:t>
            </a:r>
          </a:p>
        </p:txBody>
      </p:sp>
      <p:sp>
        <p:nvSpPr>
          <p:cNvPr id="6" name="blk0227"/>
          <p:cNvSpPr txBox="1"/>
          <p:nvPr/>
        </p:nvSpPr>
        <p:spPr>
          <a:xfrm>
            <a:off x="687600" y="3456000"/>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arguments, all of them values the loop already has. Note the second one: it passes </a:t>
            </a:r>
            <a:r>
              <a:rPr sz="1743" b="0" i="0">
                <a:solidFill>
                  <a:srgbClr val="FFFFFF"/>
                </a:solidFill>
                <a:latin typeface="Courier New"/>
                <a:ea typeface="Courier New"/>
                <a:cs typeface="Courier New"/>
                <a:sym typeface="Courier New"/>
              </a:rPr>
              <a:t>last_robot_move</a:t>
            </a:r>
            <a:r>
              <a:rPr sz="2027" b="0" i="0">
                <a:solidFill>
                  <a:srgbClr val="FFFFFF"/>
                </a:solidFill>
                <a:latin typeface="Avenir"/>
                <a:ea typeface="Avenir"/>
                <a:cs typeface="Avenir"/>
                <a:sym typeface="Avenir"/>
              </a:rPr>
              <a:t>, the label recorded in Step 11, not a live reading of the arm. The screen describes the last round, not the current pose.</a:t>
            </a:r>
          </a:p>
        </p:txBody>
      </p:sp>
      <p:sp>
        <p:nvSpPr>
          <p:cNvPr id="7" name="blk0228"/>
          <p:cNvSpPr/>
          <p:nvPr/>
        </p:nvSpPr>
        <p:spPr>
          <a:xfrm>
            <a:off x="687600" y="479965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28"/>
          <p:cNvSpPr/>
          <p:nvPr/>
        </p:nvSpPr>
        <p:spPr>
          <a:xfrm>
            <a:off x="885600" y="525073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28"/>
          <p:cNvSpPr txBox="1"/>
          <p:nvPr/>
        </p:nvSpPr>
        <p:spPr>
          <a:xfrm>
            <a:off x="1162800" y="494365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also the last chance the verdict gets to appear. Whatever </a:t>
            </a:r>
            <a:r>
              <a:rPr sz="1290" b="0" i="1">
                <a:solidFill>
                  <a:srgbClr val="FFCF08"/>
                </a:solidFill>
                <a:latin typeface="Courier New"/>
                <a:ea typeface="Courier New"/>
                <a:cs typeface="Courier New"/>
                <a:sym typeface="Courier New"/>
              </a:rPr>
              <a:t>game_result</a:t>
            </a:r>
            <a:r>
              <a:rPr sz="1500" b="0" i="1">
                <a:solidFill>
                  <a:srgbClr val="FFCF08"/>
                </a:solidFill>
                <a:latin typeface="Avenir"/>
                <a:ea typeface="Avenir"/>
                <a:cs typeface="Avenir"/>
                <a:sym typeface="Avenir"/>
              </a:rPr>
              <a:t> holds at the moment this line runs is what the player sees — so the order of the lines below it is not a style preference.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20</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show the frame</a:t>
            </a:r>
          </a:p>
        </p:txBody>
      </p:sp>
      <p:sp>
        <p:nvSpPr>
          <p:cNvPr id="3" name="blk023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TODO in the file:</a:t>
            </a:r>
          </a:p>
        </p:txBody>
      </p:sp>
      <p:sp>
        <p:nvSpPr>
          <p:cNvPr id="4" name="blk0231"/>
          <p:cNvSpPr/>
          <p:nvPr/>
        </p:nvSpPr>
        <p:spPr>
          <a:xfrm>
            <a:off x="687600" y="2376000"/>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31"/>
          <p:cNvSpPr txBox="1"/>
          <p:nvPr/>
        </p:nvSpPr>
        <p:spPr>
          <a:xfrm>
            <a:off x="910799" y="2538000"/>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cv2.imshow("Mission 02 - Project 06: Rock Paper Scissors", frame)</a:t>
            </a:r>
          </a:p>
        </p:txBody>
      </p:sp>
      <p:sp>
        <p:nvSpPr>
          <p:cNvPr id="6" name="blk0232"/>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Then the two lines that come with it. </a:t>
            </a:r>
            <a:r>
              <a:rPr sz="1743" b="0" i="0">
                <a:solidFill>
                  <a:srgbClr val="FFFFFF"/>
                </a:solidFill>
                <a:latin typeface="Courier New"/>
                <a:ea typeface="Courier New"/>
                <a:cs typeface="Courier New"/>
                <a:sym typeface="Courier New"/>
              </a:rPr>
              <a:t>waitKey(1)</a:t>
            </a:r>
            <a:r>
              <a:rPr sz="2027" b="0" i="0">
                <a:solidFill>
                  <a:srgbClr val="FFFFFF"/>
                </a:solidFill>
                <a:latin typeface="Avenir"/>
                <a:ea typeface="Avenir"/>
                <a:cs typeface="Avenir"/>
                <a:sym typeface="Avenir"/>
              </a:rPr>
              <a:t> is what makes the window interactive — without it the picture freezes and no key is ever read:</a:t>
            </a:r>
          </a:p>
        </p:txBody>
      </p:sp>
      <p:sp>
        <p:nvSpPr>
          <p:cNvPr id="7" name="blk0233"/>
          <p:cNvSpPr/>
          <p:nvPr/>
        </p:nvSpPr>
        <p:spPr>
          <a:xfrm>
            <a:off x="687600" y="4464000"/>
            <a:ext cx="8686800" cy="21852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33"/>
          <p:cNvSpPr txBox="1"/>
          <p:nvPr/>
        </p:nvSpPr>
        <p:spPr>
          <a:xfrm>
            <a:off x="910799" y="4626000"/>
            <a:ext cx="8240400" cy="1861281"/>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key = cv2.waitKey(1) &amp; 0xFF</a:t>
            </a:r>
          </a:p>
          <a:p>
            <a:pPr algn="l">
              <a:lnSpc>
                <a:spcPct val="115000"/>
              </a:lnSpc>
            </a:pPr>
            <a:r>
              <a:rPr sz="1250" b="0" i="0">
                <a:solidFill>
                  <a:srgbClr val="FFFFFF"/>
                </a:solidFill>
                <a:latin typeface="Courier New"/>
                <a:ea typeface="Courier New"/>
                <a:cs typeface="Courier New"/>
                <a:sym typeface="Courier New"/>
              </a:rPr>
              <a:t>        if key == ord('q'):</a:t>
            </a:r>
          </a:p>
          <a:p>
            <a:pPr algn="l">
              <a:lnSpc>
                <a:spcPct val="115000"/>
              </a:lnSpc>
            </a:pPr>
            <a:r>
              <a:rPr sz="1250" b="0" i="0">
                <a:solidFill>
                  <a:srgbClr val="FFFFFF"/>
                </a:solidFill>
                <a:latin typeface="Courier New"/>
                <a:ea typeface="Courier New"/>
                <a:cs typeface="Courier New"/>
                <a:sym typeface="Courier New"/>
              </a:rPr>
              <a:t>            break</a:t>
            </a:r>
          </a:p>
          <a:p>
            <a:pPr algn="l">
              <a:lnSpc>
                <a:spcPct val="115000"/>
              </a:lnSpc>
            </a:pPr>
            <a:r>
              <a:rPr sz="1250" b="0" i="0">
                <a:solidFill>
                  <a:srgbClr val="FFFFFF"/>
                </a:solidFill>
                <a:latin typeface="Courier New"/>
                <a:ea typeface="Courier New"/>
                <a:cs typeface="Courier New"/>
                <a:sym typeface="Courier New"/>
              </a:rPr>
              <a:t>        elif key == ord('r'):</a:t>
            </a:r>
          </a:p>
          <a:p>
            <a:pPr algn="l">
              <a:lnSpc>
                <a:spcPct val="115000"/>
              </a:lnSpc>
            </a:pPr>
            <a:r>
              <a:rPr sz="1250" b="0" i="0">
                <a:solidFill>
                  <a:srgbClr val="FFFFFF"/>
                </a:solidFill>
                <a:latin typeface="Courier New"/>
                <a:ea typeface="Courier New"/>
                <a:cs typeface="Courier New"/>
                <a:sym typeface="Courier New"/>
              </a:rPr>
              <a:t>            player_score = 0</a:t>
            </a:r>
          </a:p>
          <a:p>
            <a:pPr algn="l">
              <a:lnSpc>
                <a:spcPct val="115000"/>
              </a:lnSpc>
            </a:pPr>
            <a:r>
              <a:rPr sz="1250" b="0" i="0">
                <a:solidFill>
                  <a:srgbClr val="FFFFFF"/>
                </a:solidFill>
                <a:latin typeface="Courier New"/>
                <a:ea typeface="Courier New"/>
                <a:cs typeface="Courier New"/>
                <a:sym typeface="Courier New"/>
              </a:rPr>
              <a:t>            robot_score = 0</a:t>
            </a:r>
          </a:p>
          <a:p>
            <a:pPr algn="l">
              <a:lnSpc>
                <a:spcPct val="115000"/>
              </a:lnSpc>
            </a:pPr>
            <a:r>
              <a:rPr sz="1250" b="0" i="0">
                <a:solidFill>
                  <a:srgbClr val="FFFFFF"/>
                </a:solidFill>
                <a:latin typeface="Courier New"/>
                <a:ea typeface="Courier New"/>
                <a:cs typeface="Courier New"/>
                <a:sym typeface="Courier New"/>
              </a:rPr>
              <a:t>            rounds_played = 0</a:t>
            </a:r>
          </a:p>
          <a:p>
            <a:pPr algn="l">
              <a:lnSpc>
                <a:spcPct val="115000"/>
              </a:lnSpc>
            </a:pPr>
            <a:r>
              <a:rPr sz="1250" b="0" i="0">
                <a:solidFill>
                  <a:srgbClr val="FFFFFF"/>
                </a:solidFill>
                <a:latin typeface="Courier New"/>
                <a:ea typeface="Courier New"/>
                <a:cs typeface="Courier New"/>
                <a:sym typeface="Courier New"/>
              </a:rPr>
              <a:t>            last_robot_move = None</a:t>
            </a:r>
          </a:p>
          <a:p>
            <a:pPr algn="l">
              <a:lnSpc>
                <a:spcPct val="115000"/>
              </a:lnSpc>
            </a:pPr>
            <a:r>
              <a:rPr sz="1250" b="0" i="0">
                <a:solidFill>
                  <a:srgbClr val="FFFFFF"/>
                </a:solidFill>
                <a:latin typeface="Courier New"/>
                <a:ea typeface="Courier New"/>
                <a:cs typeface="Courier New"/>
                <a:sym typeface="Courier New"/>
              </a:rPr>
              <a:t>            game_result = "Score reset!"</a:t>
            </a:r>
          </a:p>
        </p:txBody>
      </p:sp>
      <p:sp>
        <p:nvSpPr>
          <p:cNvPr id="9" name="blk0234"/>
          <p:cNvSpPr/>
          <p:nvPr/>
        </p:nvSpPr>
        <p:spPr>
          <a:xfrm>
            <a:off x="687600" y="6757281"/>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34"/>
          <p:cNvSpPr/>
          <p:nvPr/>
        </p:nvSpPr>
        <p:spPr>
          <a:xfrm>
            <a:off x="885600" y="7071201"/>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34"/>
          <p:cNvSpPr txBox="1"/>
          <p:nvPr/>
        </p:nvSpPr>
        <p:spPr>
          <a:xfrm>
            <a:off x="1162800" y="6901280"/>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You have now filled in all twenty TODOs. The program is complete, it runs, and every message it prints is true. We are about to check that last part.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Reading the screen</a:t>
            </a:r>
          </a:p>
        </p:txBody>
      </p:sp>
      <p:sp>
        <p:nvSpPr>
          <p:cNvPr id="3" name="blk023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project is finished. Before changing a single line, learn to read what the program is already telling you.</a:t>
            </a:r>
          </a:p>
        </p:txBody>
      </p:sp>
      <p:sp>
        <p:nvSpPr>
          <p:cNvPr id="4" name="blk0237"/>
          <p:cNvSpPr/>
          <p:nvPr/>
        </p:nvSpPr>
        <p:spPr>
          <a:xfrm>
            <a:off x="741600" y="26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37"/>
          <p:cNvSpPr txBox="1"/>
          <p:nvPr/>
        </p:nvSpPr>
        <p:spPr>
          <a:xfrm>
            <a:off x="1252800" y="266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yellow fallback line</a:t>
            </a:r>
            <a:r>
              <a:rPr sz="1600" b="0" i="0">
                <a:solidFill>
                  <a:srgbClr val="FFFFFF"/>
                </a:solidFill>
                <a:latin typeface="Avenir"/>
                <a:ea typeface="Avenir"/>
                <a:cs typeface="Avenir"/>
                <a:sym typeface="Avenir"/>
              </a:rPr>
              <a:t>  — how many fingers were counted. If it says 3, the problem is your hand, not your code.</a:t>
            </a:r>
          </a:p>
        </p:txBody>
      </p:sp>
      <p:sp>
        <p:nvSpPr>
          <p:cNvPr id="6" name="blk0238"/>
          <p:cNvSpPr/>
          <p:nvPr/>
        </p:nvSpPr>
        <p:spPr>
          <a:xfrm>
            <a:off x="741600" y="352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38"/>
          <p:cNvSpPr txBox="1"/>
          <p:nvPr/>
        </p:nvSpPr>
        <p:spPr>
          <a:xfrm>
            <a:off x="1252800" y="3491999"/>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score line</a:t>
            </a:r>
            <a:r>
              <a:rPr sz="1600" b="0" i="0">
                <a:solidFill>
                  <a:srgbClr val="FFFFFF"/>
                </a:solidFill>
                <a:latin typeface="Avenir"/>
                <a:ea typeface="Avenir"/>
                <a:cs typeface="Avenir"/>
                <a:sym typeface="Avenir"/>
              </a:rPr>
              <a:t>  — rounds played and points scored. If rounds climb but points do not, the robot is drawing every time.</a:t>
            </a:r>
          </a:p>
        </p:txBody>
      </p:sp>
      <p:sp>
        <p:nvSpPr>
          <p:cNvPr id="8" name="blk0239"/>
          <p:cNvSpPr/>
          <p:nvPr/>
        </p:nvSpPr>
        <p:spPr>
          <a:xfrm>
            <a:off x="741600" y="43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39"/>
          <p:cNvSpPr txBox="1"/>
          <p:nvPr/>
        </p:nvSpPr>
        <p:spPr>
          <a:xfrm>
            <a:off x="1252800" y="4320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verdict line</a:t>
            </a:r>
            <a:r>
              <a:rPr sz="1600" b="0" i="0">
                <a:solidFill>
                  <a:srgbClr val="FFFFFF"/>
                </a:solidFill>
                <a:latin typeface="Avenir"/>
                <a:ea typeface="Avenir"/>
                <a:cs typeface="Avenir"/>
                <a:sym typeface="Avenir"/>
              </a:rPr>
              <a:t>  — the biggest text on the screen, at 1.2 scale, and the one you will forget to look at.</a:t>
            </a:r>
          </a:p>
        </p:txBody>
      </p:sp>
      <p:sp>
        <p:nvSpPr>
          <p:cNvPr id="10" name="blk0240"/>
          <p:cNvSpPr/>
          <p:nvPr/>
        </p:nvSpPr>
        <p:spPr>
          <a:xfrm>
            <a:off x="741600" y="51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40"/>
          <p:cNvSpPr txBox="1"/>
          <p:nvPr/>
        </p:nvSpPr>
        <p:spPr>
          <a:xfrm>
            <a:off x="1252800" y="5148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console</a:t>
            </a:r>
            <a:r>
              <a:rPr sz="1600" b="0" i="0">
                <a:solidFill>
                  <a:srgbClr val="FFFFFF"/>
                </a:solidFill>
                <a:latin typeface="Avenir"/>
                <a:ea typeface="Avenir"/>
                <a:cs typeface="Avenir"/>
                <a:sym typeface="Avenir"/>
              </a:rPr>
              <a:t>  — three banner lines on startup, and the hardware warning block if the arm is not found.</a:t>
            </a:r>
          </a:p>
        </p:txBody>
      </p:sp>
      <p:sp>
        <p:nvSpPr>
          <p:cNvPr id="12" name="blk0241"/>
          <p:cNvSpPr/>
          <p:nvPr/>
        </p:nvSpPr>
        <p:spPr>
          <a:xfrm>
            <a:off x="687600" y="6120000"/>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41"/>
          <p:cNvSpPr/>
          <p:nvPr/>
        </p:nvSpPr>
        <p:spPr>
          <a:xfrm>
            <a:off x="885600" y="64836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241"/>
          <p:cNvSpPr txBox="1"/>
          <p:nvPr/>
        </p:nvSpPr>
        <p:spPr>
          <a:xfrm>
            <a:off x="1162800" y="6263999"/>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Each of those is a measurement. A project that prints its own state is giving you the evidence you need before you have written a single print statement yourself.</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change anything</a:t>
            </a:r>
          </a:p>
        </p:txBody>
      </p:sp>
      <p:sp>
        <p:nvSpPr>
          <p:cNvPr id="3" name="blk024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project made four claims about its own behaviour. All four were wrong, and none of them was wrong in a way that crashes.</a:t>
            </a:r>
          </a:p>
        </p:txBody>
      </p:sp>
      <p:graphicFrame>
        <p:nvGraphicFramePr>
          <p:cNvPr id="4" name="blk0244"/>
          <p:cNvGraphicFramePr>
            <a:graphicFrameLocks noGrp="1"/>
          </p:cNvGraphicFramePr>
          <p:nvPr/>
        </p:nvGraphicFramePr>
        <p:xfrm>
          <a:off x="687600" y="2592000"/>
          <a:ext cx="7775999" cy="2105996"/>
        </p:xfrm>
        <a:graphic>
          <a:graphicData uri="http://schemas.openxmlformats.org/drawingml/2006/table">
            <a:tbl>
              <a:tblPr firstRow="0" bandRow="0"/>
              <a:tblGrid>
                <a:gridCol w="503999"/>
                <a:gridCol w="2664000"/>
                <a:gridCol w="4608000"/>
              </a:tblGrid>
              <a:tr h="450000">
                <a:tc>
                  <a:txBody>
                    <a:bodyPr wrap="square"/>
                    <a:lstStyle/>
                    <a:p>
                      <a:pPr algn="l">
                        <a:lnSpc>
                          <a:spcPct val="100000"/>
                        </a:lnSpc>
                      </a:pPr>
                      <a:r>
                        <a:rPr sz="1350" b="1" i="0">
                          <a:solidFill>
                            <a:srgbClr val="FFCF08"/>
                          </a:solidFill>
                          <a:latin typeface="Avenir"/>
                          <a:ea typeface="Avenir"/>
                          <a:cs typeface="Avenir"/>
                          <a:sym typeface="Avenir"/>
                        </a:rPr>
                        <a: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The claim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What actually happened</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1</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Hold steady for 1 second</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A single noisy frame triggered a 4.5 second arm movement</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2</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verdict appears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It was cleared before it was ever drawn</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3</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Rounds cannot repeat instantly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cooldown was measured across the arm delay, so it never blocked</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4</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Runs without a robot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handler crashed on a name it never defined</a:t>
                      </a:r>
                    </a:p>
                  </a:txBody>
                  <a:tcPr marL="72000" marR="72000" marT="36000" marB="36000" anchor="ctr">
                    <a:solidFill>
                      <a:srgbClr val="2E338C"/>
                    </a:solidFill>
                  </a:tcPr>
                </a:tc>
              </a:tr>
            </a:tbl>
          </a:graphicData>
        </a:graphic>
      </p:graphicFrame>
      <p:sp>
        <p:nvSpPr>
          <p:cNvPr id="5" name="blk0245"/>
          <p:cNvSpPr txBox="1"/>
          <p:nvPr/>
        </p:nvSpPr>
        <p:spPr>
          <a:xfrm>
            <a:off x="687600" y="5903999"/>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Three of those four are the same mistake wearing different clothes: a timestamp taken at the wrong moment.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How this project was corrected</a:t>
            </a:r>
          </a:p>
        </p:txBody>
      </p:sp>
      <p:sp>
        <p:nvSpPr>
          <p:cNvPr id="3" name="blk024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fix is already in the file you have. It starts with new state, because two of the four failures needed somewhere to remember when something happened:</a:t>
            </a:r>
          </a:p>
        </p:txBody>
      </p:sp>
      <p:sp>
        <p:nvSpPr>
          <p:cNvPr id="4" name="blk0248"/>
          <p:cNvSpPr/>
          <p:nvPr/>
        </p:nvSpPr>
        <p:spPr>
          <a:xfrm>
            <a:off x="687600" y="2384744"/>
            <a:ext cx="8686800" cy="148213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48"/>
          <p:cNvSpPr txBox="1"/>
          <p:nvPr/>
        </p:nvSpPr>
        <p:spPr>
          <a:xfrm>
            <a:off x="910799" y="2546744"/>
            <a:ext cx="8240400" cy="1158130"/>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GESTURE_HOLD_TIME = 1.0  # seconds</a:t>
            </a:r>
          </a:p>
          <a:p>
            <a:pPr algn="l">
              <a:lnSpc>
                <a:spcPct val="115000"/>
              </a:lnSpc>
            </a:pPr>
            <a:r>
              <a:rPr sz="1000" b="0" i="0">
                <a:solidFill>
                  <a:srgbClr val="FFFFFF"/>
                </a:solidFill>
                <a:latin typeface="Courier New"/>
                <a:ea typeface="Courier New"/>
                <a:cs typeface="Courier New"/>
                <a:sym typeface="Courier New"/>
              </a:rPr>
              <a:t>hold_gesture = None</a:t>
            </a:r>
          </a:p>
          <a:p>
            <a:pPr algn="l">
              <a:lnSpc>
                <a:spcPct val="115000"/>
              </a:lnSpc>
            </a:pPr>
            <a:r>
              <a:rPr sz="1000" b="0" i="0">
                <a:solidFill>
                  <a:srgbClr val="FFFFFF"/>
                </a:solidFill>
                <a:latin typeface="Courier New"/>
                <a:ea typeface="Courier New"/>
                <a:cs typeface="Courier New"/>
                <a:sym typeface="Courier New"/>
              </a:rPr>
              <a:t>hold_start = 0.0</a:t>
            </a:r>
          </a:p>
          <a:p>
            <a:pPr algn="l">
              <a:lnSpc>
                <a:spcPct val="115000"/>
              </a:lnSpc>
            </a:pPr>
            <a:r>
              <a:rPr sz="1000" b="0" i="0">
                <a:solidFill>
                  <a:srgbClr val="FFFFFF"/>
                </a:solidFill>
                <a:latin typeface="Courier New"/>
                <a:ea typeface="Courier New"/>
                <a:cs typeface="Courier New"/>
                <a:sym typeface="Courier New"/>
              </a:rPr>
              <a:t/>
            </a:r>
          </a:p>
          <a:p>
            <a:pPr algn="l">
              <a:lnSpc>
                <a:spcPct val="115000"/>
              </a:lnSpc>
            </a:pPr>
            <a:r>
              <a:rPr sz="1000" b="0" i="0">
                <a:solidFill>
                  <a:srgbClr val="FFFFFF"/>
                </a:solidFill>
                <a:latin typeface="Courier New"/>
                <a:ea typeface="Courier New"/>
                <a:cs typeface="Courier New"/>
                <a:sym typeface="Courier New"/>
              </a:rPr>
              <a:t># How long a verdict stays on screen before it is cleared</a:t>
            </a:r>
          </a:p>
          <a:p>
            <a:pPr algn="l">
              <a:lnSpc>
                <a:spcPct val="115000"/>
              </a:lnSpc>
            </a:pPr>
            <a:r>
              <a:rPr sz="1000" b="0" i="0">
                <a:solidFill>
                  <a:srgbClr val="FFFFFF"/>
                </a:solidFill>
                <a:latin typeface="Courier New"/>
                <a:ea typeface="Courier New"/>
                <a:cs typeface="Courier New"/>
                <a:sym typeface="Courier New"/>
              </a:rPr>
              <a:t>RESULT_DISPLAY_TIME = 2.0  # seconds</a:t>
            </a:r>
          </a:p>
          <a:p>
            <a:pPr algn="l">
              <a:lnSpc>
                <a:spcPct val="115000"/>
              </a:lnSpc>
            </a:pPr>
            <a:r>
              <a:rPr sz="1000" b="0" i="0">
                <a:solidFill>
                  <a:srgbClr val="FFFFFF"/>
                </a:solidFill>
                <a:latin typeface="Courier New"/>
                <a:ea typeface="Courier New"/>
                <a:cs typeface="Courier New"/>
                <a:sym typeface="Courier New"/>
              </a:rPr>
              <a:t>last_result_time = 0.0</a:t>
            </a:r>
          </a:p>
        </p:txBody>
      </p:sp>
      <p:sp>
        <p:nvSpPr>
          <p:cNvPr id="6" name="blk0249"/>
          <p:cNvSpPr txBox="1"/>
          <p:nvPr/>
        </p:nvSpPr>
        <p:spPr>
          <a:xfrm>
            <a:off x="687600" y="3974874"/>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Constant for the promise, constant for the verdict window, three variables that hold the time.</a:t>
            </a:r>
          </a:p>
        </p:txBody>
      </p:sp>
      <p:sp>
        <p:nvSpPr>
          <p:cNvPr id="7" name="blk0250"/>
          <p:cNvSpPr/>
          <p:nvPr/>
        </p:nvSpPr>
        <p:spPr>
          <a:xfrm>
            <a:off x="741600" y="4715178"/>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50"/>
          <p:cNvSpPr txBox="1"/>
          <p:nvPr/>
        </p:nvSpPr>
        <p:spPr>
          <a:xfrm>
            <a:off x="1252800" y="4686378"/>
            <a:ext cx="8118000" cy="756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Fresh clocks</a:t>
            </a:r>
            <a:r>
              <a:rPr sz="1600" b="0" i="0">
                <a:solidFill>
                  <a:srgbClr val="FFFFFF"/>
                </a:solidFill>
                <a:latin typeface="Avenir"/>
                <a:ea typeface="Avenir"/>
                <a:cs typeface="Avenir"/>
                <a:sym typeface="Avenir"/>
              </a:rPr>
              <a:t>  — </a:t>
            </a:r>
            <a:r>
              <a:rPr sz="1376" b="0" i="0">
                <a:solidFill>
                  <a:srgbClr val="FFFFFF"/>
                </a:solidFill>
                <a:latin typeface="Courier New"/>
                <a:ea typeface="Courier New"/>
                <a:cs typeface="Courier New"/>
                <a:sym typeface="Courier New"/>
              </a:rPr>
              <a:t>time.time()</a:t>
            </a:r>
            <a:r>
              <a:rPr sz="1600" b="0" i="0">
                <a:solidFill>
                  <a:srgbClr val="FFFFFF"/>
                </a:solidFill>
                <a:latin typeface="Avenir"/>
                <a:ea typeface="Avenir"/>
                <a:cs typeface="Avenir"/>
                <a:sym typeface="Avenir"/>
              </a:rPr>
              <a:t> is read at the point of use, and the verdict gets its own </a:t>
            </a:r>
            <a:r>
              <a:rPr sz="1376" b="0" i="0">
                <a:solidFill>
                  <a:srgbClr val="FFFFFF"/>
                </a:solidFill>
                <a:latin typeface="Courier New"/>
                <a:ea typeface="Courier New"/>
                <a:cs typeface="Courier New"/>
                <a:sym typeface="Courier New"/>
              </a:rPr>
              <a:t>last_result_time</a:t>
            </a:r>
            <a:r>
              <a:rPr sz="1600" b="0" i="0">
                <a:solidFill>
                  <a:srgbClr val="FFFFFF"/>
                </a:solidFill>
                <a:latin typeface="Avenir"/>
                <a:ea typeface="Avenir"/>
                <a:cs typeface="Avenir"/>
                <a:sym typeface="Avenir"/>
              </a:rPr>
              <a:t> instead of borrowing the cooldown stamp.</a:t>
            </a:r>
          </a:p>
        </p:txBody>
      </p:sp>
      <p:sp>
        <p:nvSpPr>
          <p:cNvPr id="9" name="blk0251"/>
          <p:cNvSpPr/>
          <p:nvPr/>
        </p:nvSpPr>
        <p:spPr>
          <a:xfrm>
            <a:off x="741600" y="540839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51"/>
          <p:cNvSpPr txBox="1"/>
          <p:nvPr/>
        </p:nvSpPr>
        <p:spPr>
          <a:xfrm>
            <a:off x="1252800" y="5379594"/>
            <a:ext cx="8118000" cy="756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A verdict window</a:t>
            </a:r>
            <a:r>
              <a:rPr sz="1600" b="0" i="0">
                <a:solidFill>
                  <a:srgbClr val="FFFFFF"/>
                </a:solidFill>
                <a:latin typeface="Avenir"/>
                <a:ea typeface="Avenir"/>
                <a:cs typeface="Avenir"/>
                <a:sym typeface="Avenir"/>
              </a:rPr>
              <a:t>  — the result is stamped </a:t>
            </a:r>
            <a:r>
              <a:rPr sz="1600" b="1" i="0">
                <a:solidFill>
                  <a:srgbClr val="FFFFFF"/>
                </a:solidFill>
                <a:latin typeface="Google Sans"/>
                <a:ea typeface="Google Sans"/>
                <a:cs typeface="Google Sans"/>
                <a:sym typeface="Google Sans"/>
              </a:rPr>
              <a:t>after</a:t>
            </a:r>
            <a:r>
              <a:rPr sz="1600" b="0" i="0">
                <a:solidFill>
                  <a:srgbClr val="FFFFFF"/>
                </a:solidFill>
                <a:latin typeface="Avenir"/>
                <a:ea typeface="Avenir"/>
                <a:cs typeface="Avenir"/>
                <a:sym typeface="Avenir"/>
              </a:rPr>
              <a:t> the arm returns home, so the display window starts when it should.</a:t>
            </a:r>
          </a:p>
        </p:txBody>
      </p:sp>
      <p:sp>
        <p:nvSpPr>
          <p:cNvPr id="11" name="blk0252"/>
          <p:cNvSpPr/>
          <p:nvPr/>
        </p:nvSpPr>
        <p:spPr>
          <a:xfrm>
            <a:off x="741600" y="610161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52"/>
          <p:cNvSpPr txBox="1"/>
          <p:nvPr/>
        </p:nvSpPr>
        <p:spPr>
          <a:xfrm>
            <a:off x="1252800" y="6072810"/>
            <a:ext cx="8118000" cy="756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A defined handle</a:t>
            </a:r>
            <a:r>
              <a:rPr sz="1600" b="0" i="0">
                <a:solidFill>
                  <a:srgbClr val="FFFFFF"/>
                </a:solidFill>
                <a:latin typeface="Avenir"/>
                <a:ea typeface="Avenir"/>
                <a:cs typeface="Avenir"/>
                <a:sym typeface="Avenir"/>
              </a:rPr>
              <a:t>  — </a:t>
            </a:r>
            <a:r>
              <a:rPr sz="1376" b="0" i="0">
                <a:solidFill>
                  <a:srgbClr val="FFFFFF"/>
                </a:solidFill>
                <a:latin typeface="Courier New"/>
                <a:ea typeface="Courier New"/>
                <a:cs typeface="Courier New"/>
                <a:sym typeface="Courier New"/>
              </a:rPr>
              <a:t>mc = None</a:t>
            </a:r>
            <a:r>
              <a:rPr sz="1600" b="0" i="0">
                <a:solidFill>
                  <a:srgbClr val="FFFFFF"/>
                </a:solidFill>
                <a:latin typeface="Avenir"/>
                <a:ea typeface="Avenir"/>
                <a:cs typeface="Avenir"/>
                <a:sym typeface="Avenir"/>
              </a:rPr>
              <a:t> before the </a:t>
            </a:r>
            <a:r>
              <a:rPr sz="1376" b="0" i="0">
                <a:solidFill>
                  <a:srgbClr val="FFFFFF"/>
                </a:solidFill>
                <a:latin typeface="Courier New"/>
                <a:ea typeface="Courier New"/>
                <a:cs typeface="Courier New"/>
                <a:sym typeface="Courier New"/>
              </a:rPr>
              <a:t>try</a:t>
            </a:r>
            <a:r>
              <a:rPr sz="1600" b="0" i="0">
                <a:solidFill>
                  <a:srgbClr val="FFFFFF"/>
                </a:solidFill>
                <a:latin typeface="Avenir"/>
                <a:ea typeface="Avenir"/>
                <a:cs typeface="Avenir"/>
                <a:sym typeface="Avenir"/>
              </a:rPr>
              <a:t>, assigned to </a:t>
            </a:r>
            <a:r>
              <a:rPr sz="1376" b="0" i="0">
                <a:solidFill>
                  <a:srgbClr val="FFFFFF"/>
                </a:solidFill>
                <a:latin typeface="Courier New"/>
                <a:ea typeface="Courier New"/>
                <a:cs typeface="Courier New"/>
                <a:sym typeface="Courier New"/>
              </a:rPr>
              <a:t>None</a:t>
            </a:r>
            <a:r>
              <a:rPr sz="1600" b="0" i="0">
                <a:solidFill>
                  <a:srgbClr val="FFFFFF"/>
                </a:solidFill>
                <a:latin typeface="Avenir"/>
                <a:ea typeface="Avenir"/>
                <a:cs typeface="Avenir"/>
                <a:sym typeface="Avenir"/>
              </a:rPr>
              <a:t> in the handler, guarded at both use sites.</a:t>
            </a:r>
          </a:p>
        </p:txBody>
      </p:sp>
      <p:sp>
        <p:nvSpPr>
          <p:cNvPr id="13" name="blk0253"/>
          <p:cNvSpPr/>
          <p:nvPr/>
        </p:nvSpPr>
        <p:spPr>
          <a:xfrm>
            <a:off x="687600" y="6766026"/>
            <a:ext cx="8686800" cy="576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253"/>
          <p:cNvSpPr/>
          <p:nvPr/>
        </p:nvSpPr>
        <p:spPr>
          <a:xfrm>
            <a:off x="885600" y="698562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253"/>
          <p:cNvSpPr txBox="1"/>
          <p:nvPr/>
        </p:nvSpPr>
        <p:spPr>
          <a:xfrm>
            <a:off x="1162800" y="6910025"/>
            <a:ext cx="7956000" cy="288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Twenty lines changed in a 478 line file — no restructuring.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5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1</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hold that was not</a:t>
            </a:r>
          </a:p>
        </p:txBody>
      </p:sp>
      <p:sp>
        <p:nvSpPr>
          <p:cNvPr id="3" name="blk025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program printed a promise:</a:t>
            </a:r>
          </a:p>
        </p:txBody>
      </p:sp>
      <p:sp>
        <p:nvSpPr>
          <p:cNvPr id="4" name="blk0256"/>
          <p:cNvSpPr/>
          <p:nvPr/>
        </p:nvSpPr>
        <p:spPr>
          <a:xfrm>
            <a:off x="687600" y="2088000"/>
            <a:ext cx="8686800" cy="54735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56"/>
          <p:cNvSpPr txBox="1"/>
          <p:nvPr/>
        </p:nvSpPr>
        <p:spPr>
          <a:xfrm>
            <a:off x="910799" y="2250000"/>
            <a:ext cx="8240400" cy="223353"/>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print("Hold gesture steady for 1 second to play.")</a:t>
            </a:r>
          </a:p>
        </p:txBody>
      </p:sp>
      <p:sp>
        <p:nvSpPr>
          <p:cNvPr id="6" name="blk0257"/>
          <p:cNvSpPr txBox="1"/>
          <p:nvPr/>
        </p:nvSpPr>
        <p:spPr>
          <a:xfrm>
            <a:off x="687600" y="2743353"/>
            <a:ext cx="7542000" cy="48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And the loop that decides whether to play a round asked only whether the gesture was recognised. The version before this project was corrected gated on exactly one thing:</a:t>
            </a:r>
          </a:p>
        </p:txBody>
      </p:sp>
      <p:sp>
        <p:nvSpPr>
          <p:cNvPr id="7" name="blk0258"/>
          <p:cNvSpPr/>
          <p:nvPr/>
        </p:nvSpPr>
        <p:spPr>
          <a:xfrm>
            <a:off x="687600" y="3778097"/>
            <a:ext cx="8686800" cy="5390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58"/>
          <p:cNvSpPr txBox="1"/>
          <p:nvPr/>
        </p:nvSpPr>
        <p:spPr>
          <a:xfrm>
            <a:off x="910799" y="3940096"/>
            <a:ext cx="8240400" cy="21508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valid_gesture = player_gesture in GESTURES</a:t>
            </a:r>
          </a:p>
        </p:txBody>
      </p:sp>
      <p:sp>
        <p:nvSpPr>
          <p:cNvPr id="9" name="blk0259"/>
          <p:cNvSpPr txBox="1"/>
          <p:nvPr/>
        </p:nvSpPr>
        <p:spPr>
          <a:xfrm>
            <a:off x="687600" y="4425178"/>
            <a:ext cx="7542000" cy="338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frame could commit the arm, so the correction adds the question the promise implied:</a:t>
            </a:r>
          </a:p>
        </p:txBody>
      </p:sp>
      <p:sp>
        <p:nvSpPr>
          <p:cNvPr id="10" name="blk0260"/>
          <p:cNvSpPr/>
          <p:nvPr/>
        </p:nvSpPr>
        <p:spPr>
          <a:xfrm>
            <a:off x="687600" y="5151008"/>
            <a:ext cx="8686800" cy="173857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60"/>
          <p:cNvSpPr txBox="1"/>
          <p:nvPr/>
        </p:nvSpPr>
        <p:spPr>
          <a:xfrm>
            <a:off x="910799" y="5313007"/>
            <a:ext cx="8240400" cy="1414574"/>
          </a:xfrm>
          <a:prstGeom prst="rect">
            <a:avLst/>
          </a:prstGeom>
          <a:noFill/>
        </p:spPr>
        <p:txBody>
          <a:bodyPr wrap="square" anchor="t" lIns="0" rIns="0" tIns="0" bIns="0">
            <a:noAutofit/>
          </a:bodyPr>
          <a:lstStyle/>
          <a:p>
            <a:pPr algn="l">
              <a:lnSpc>
                <a:spcPct val="115000"/>
              </a:lnSpc>
            </a:pPr>
            <a:r>
              <a:rPr sz="950" b="0" i="0">
                <a:solidFill>
                  <a:srgbClr val="FFFFFF"/>
                </a:solidFill>
                <a:latin typeface="Courier New"/>
                <a:ea typeface="Courier New"/>
                <a:cs typeface="Courier New"/>
                <a:sym typeface="Courier New"/>
              </a:rPr>
              <a:t>                if player_gesture in GESTURES:</a:t>
            </a:r>
          </a:p>
          <a:p>
            <a:pPr algn="l">
              <a:lnSpc>
                <a:spcPct val="115000"/>
              </a:lnSpc>
            </a:pPr>
            <a:r>
              <a:rPr sz="950" b="0" i="0">
                <a:solidFill>
                  <a:srgbClr val="FFFFFF"/>
                </a:solidFill>
                <a:latin typeface="Courier New"/>
                <a:ea typeface="Courier New"/>
                <a:cs typeface="Courier New"/>
                <a:sym typeface="Courier New"/>
              </a:rPr>
              <a:t>                    if player_gesture != hold_gesture:</a:t>
            </a:r>
          </a:p>
          <a:p>
            <a:pPr algn="l">
              <a:lnSpc>
                <a:spcPct val="115000"/>
              </a:lnSpc>
            </a:pPr>
            <a:r>
              <a:rPr sz="950" b="0" i="0">
                <a:solidFill>
                  <a:srgbClr val="FFFFFF"/>
                </a:solidFill>
                <a:latin typeface="Courier New"/>
                <a:ea typeface="Courier New"/>
                <a:cs typeface="Courier New"/>
                <a:sym typeface="Courier New"/>
              </a:rPr>
              <a:t>                        hold_gesture = player_gesture</a:t>
            </a:r>
          </a:p>
          <a:p>
            <a:pPr algn="l">
              <a:lnSpc>
                <a:spcPct val="115000"/>
              </a:lnSpc>
            </a:pPr>
            <a:r>
              <a:rPr sz="950" b="0" i="0">
                <a:solidFill>
                  <a:srgbClr val="FFFFFF"/>
                </a:solidFill>
                <a:latin typeface="Courier New"/>
                <a:ea typeface="Courier New"/>
                <a:cs typeface="Courier New"/>
                <a:sym typeface="Courier New"/>
              </a:rPr>
              <a:t>                        hold_start = current_time</a:t>
            </a:r>
          </a:p>
          <a:p>
            <a:pPr algn="l">
              <a:lnSpc>
                <a:spcPct val="115000"/>
              </a:lnSpc>
            </a:pPr>
            <a:r>
              <a:rPr sz="950" b="0" i="0">
                <a:solidFill>
                  <a:srgbClr val="FFFFFF"/>
                </a:solidFill>
                <a:latin typeface="Courier New"/>
                <a:ea typeface="Courier New"/>
                <a:cs typeface="Courier New"/>
                <a:sym typeface="Courier New"/>
              </a:rPr>
              <a:t>                    held_for = current_time - hold_start</a:t>
            </a:r>
          </a:p>
          <a:p>
            <a:pPr algn="l">
              <a:lnSpc>
                <a:spcPct val="115000"/>
              </a:lnSpc>
            </a:pPr>
            <a:r>
              <a:rPr sz="950" b="0" i="0">
                <a:solidFill>
                  <a:srgbClr val="FFFFFF"/>
                </a:solidFill>
                <a:latin typeface="Courier New"/>
                <a:ea typeface="Courier New"/>
                <a:cs typeface="Courier New"/>
                <a:sym typeface="Courier New"/>
              </a:rPr>
              <a:t>                else:</a:t>
            </a:r>
          </a:p>
          <a:p>
            <a:pPr algn="l">
              <a:lnSpc>
                <a:spcPct val="115000"/>
              </a:lnSpc>
            </a:pPr>
            <a:r>
              <a:rPr sz="950" b="0" i="0">
                <a:solidFill>
                  <a:srgbClr val="FFFFFF"/>
                </a:solidFill>
                <a:latin typeface="Courier New"/>
                <a:ea typeface="Courier New"/>
                <a:cs typeface="Courier New"/>
                <a:sym typeface="Courier New"/>
              </a:rPr>
              <a:t>                    hold_gesture = None</a:t>
            </a:r>
          </a:p>
          <a:p>
            <a:pPr algn="l">
              <a:lnSpc>
                <a:spcPct val="115000"/>
              </a:lnSpc>
            </a:pPr>
            <a:r>
              <a:rPr sz="950" b="0" i="0">
                <a:solidFill>
                  <a:srgbClr val="FFFFFF"/>
                </a:solidFill>
                <a:latin typeface="Courier New"/>
                <a:ea typeface="Courier New"/>
                <a:cs typeface="Courier New"/>
                <a:sym typeface="Courier New"/>
              </a:rPr>
              <a:t>                    held_for = 0.0</a:t>
            </a:r>
          </a:p>
          <a:p>
            <a:pPr algn="l">
              <a:lnSpc>
                <a:spcPct val="115000"/>
              </a:lnSpc>
            </a:pPr>
            <a:r>
              <a:rPr sz="950" b="0" i="0">
                <a:solidFill>
                  <a:srgbClr val="FFFFFF"/>
                </a:solidFill>
                <a:latin typeface="Courier New"/>
                <a:ea typeface="Courier New"/>
                <a:cs typeface="Courier New"/>
                <a:sym typeface="Courier New"/>
              </a:rPr>
              <a:t>                valid_gesture = (player_gesture in GESTURES and held_for &gt; GESTURE_HOLD_TIME)</a:t>
            </a:r>
          </a:p>
        </p:txBody>
      </p:sp>
      <p:sp>
        <p:nvSpPr>
          <p:cNvPr id="12" name="blk0261"/>
          <p:cNvSpPr txBox="1"/>
          <p:nvPr/>
        </p:nvSpPr>
        <p:spPr>
          <a:xfrm>
            <a:off x="687600" y="6997582"/>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Changing gesture resets the clock, an unrecognised one zeroes it — the second must be deliberate.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6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2</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verdict nobody saw</a:t>
            </a:r>
          </a:p>
        </p:txBody>
      </p:sp>
      <p:sp>
        <p:nvSpPr>
          <p:cNvPr id="3" name="blk026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round finished, a winner was computed, the score updated, the arm moved. And the player never saw the result.</a:t>
            </a:r>
          </a:p>
        </p:txBody>
      </p:sp>
      <p:sp>
        <p:nvSpPr>
          <p:cNvPr id="4" name="blk0264"/>
          <p:cNvSpPr txBox="1"/>
          <p:nvPr/>
        </p:nvSpPr>
        <p:spPr>
          <a:xfrm>
            <a:off x="687600" y="252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round ended by stamping two values. Note that the timestamp comes from the top of the frame:</a:t>
            </a:r>
          </a:p>
        </p:txBody>
      </p:sp>
      <p:sp>
        <p:nvSpPr>
          <p:cNvPr id="5" name="blk0265"/>
          <p:cNvSpPr/>
          <p:nvPr/>
        </p:nvSpPr>
        <p:spPr>
          <a:xfrm>
            <a:off x="687600" y="3456000"/>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65"/>
          <p:cNvSpPr txBox="1"/>
          <p:nvPr/>
        </p:nvSpPr>
        <p:spPr>
          <a:xfrm>
            <a:off x="910799" y="3617999"/>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game_result = result</a:t>
            </a:r>
          </a:p>
          <a:p>
            <a:pPr algn="l">
              <a:lnSpc>
                <a:spcPct val="115000"/>
              </a:lnSpc>
            </a:pPr>
            <a:r>
              <a:rPr sz="1300" b="0" i="0">
                <a:solidFill>
                  <a:srgbClr val="FFFFFF"/>
                </a:solidFill>
                <a:latin typeface="Courier New"/>
                <a:ea typeface="Courier New"/>
                <a:cs typeface="Courier New"/>
                <a:sym typeface="Courier New"/>
              </a:rPr>
              <a:t>                    last_game_time = current_time</a:t>
            </a:r>
          </a:p>
        </p:txBody>
      </p:sp>
      <p:sp>
        <p:nvSpPr>
          <p:cNvPr id="7" name="blk0266"/>
          <p:cNvSpPr txBox="1"/>
          <p:nvPr/>
        </p:nvSpPr>
        <p:spPr>
          <a:xfrm>
            <a:off x="687600" y="4318162"/>
            <a:ext cx="7542000" cy="338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and a half seconds of arm movement later, the loop reached this, above the call that draws the screen:</a:t>
            </a:r>
          </a:p>
        </p:txBody>
      </p:sp>
      <p:sp>
        <p:nvSpPr>
          <p:cNvPr id="8" name="blk0267"/>
          <p:cNvSpPr/>
          <p:nvPr/>
        </p:nvSpPr>
        <p:spPr>
          <a:xfrm>
            <a:off x="687600" y="5184000"/>
            <a:ext cx="8686800" cy="86997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67"/>
          <p:cNvSpPr txBox="1"/>
          <p:nvPr/>
        </p:nvSpPr>
        <p:spPr>
          <a:xfrm>
            <a:off x="910799" y="5346000"/>
            <a:ext cx="8240400" cy="545975"/>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        # Clear the result message after a delay</a:t>
            </a:r>
          </a:p>
          <a:p>
            <a:pPr algn="l">
              <a:lnSpc>
                <a:spcPct val="115000"/>
              </a:lnSpc>
            </a:pPr>
            <a:r>
              <a:rPr sz="1100" b="0" i="0">
                <a:solidFill>
                  <a:srgbClr val="FFFFFF"/>
                </a:solidFill>
                <a:latin typeface="Courier New"/>
                <a:ea typeface="Courier New"/>
                <a:cs typeface="Courier New"/>
                <a:sym typeface="Courier New"/>
              </a:rPr>
              <a:t>        if (time.time() - last_game_time) &gt; RESULT_DISPLAY_TIME:</a:t>
            </a:r>
          </a:p>
          <a:p>
            <a:pPr algn="l">
              <a:lnSpc>
                <a:spcPct val="115000"/>
              </a:lnSpc>
            </a:pPr>
            <a:r>
              <a:rPr sz="1100" b="0" i="0">
                <a:solidFill>
                  <a:srgbClr val="FFFFFF"/>
                </a:solidFill>
                <a:latin typeface="Courier New"/>
                <a:ea typeface="Courier New"/>
                <a:cs typeface="Courier New"/>
                <a:sym typeface="Courier New"/>
              </a:rPr>
              <a:t>            game_result = "Make a gesture!"</a:t>
            </a:r>
          </a:p>
        </p:txBody>
      </p:sp>
      <p:sp>
        <p:nvSpPr>
          <p:cNvPr id="10" name="blk0268"/>
          <p:cNvSpPr txBox="1"/>
          <p:nvPr/>
        </p:nvSpPr>
        <p:spPr>
          <a:xfrm>
            <a:off x="687600" y="6192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delay had already elapsed before the verdict was ever drawn, so every round reset the message on its way to the screen. The correction gives the verdict its own clock and stamps it after the arm has finished moving — because the move is what consumed the window.</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6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3</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the broken cooldown</a:t>
            </a:r>
          </a:p>
        </p:txBody>
      </p:sp>
      <p:sp>
        <p:nvSpPr>
          <p:cNvPr id="3" name="blk027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cooldown exists so that one gesture cannot fire several rounds in a row. This one tested the right idea against the wrong clock:</a:t>
            </a:r>
          </a:p>
        </p:txBody>
      </p:sp>
      <p:sp>
        <p:nvSpPr>
          <p:cNvPr id="4" name="blk0271"/>
          <p:cNvSpPr/>
          <p:nvPr/>
        </p:nvSpPr>
        <p:spPr>
          <a:xfrm>
            <a:off x="687600" y="2736000"/>
            <a:ext cx="8686800" cy="50599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71"/>
          <p:cNvSpPr txBox="1"/>
          <p:nvPr/>
        </p:nvSpPr>
        <p:spPr>
          <a:xfrm>
            <a:off x="910799" y="2897999"/>
            <a:ext cx="8240400" cy="18199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                cooldown_ready = (current_time - last_game_time) &gt; GAME_COOLDOWN</a:t>
            </a:r>
          </a:p>
        </p:txBody>
      </p:sp>
      <p:sp>
        <p:nvSpPr>
          <p:cNvPr id="6" name="blk0272"/>
          <p:cNvSpPr txBox="1"/>
          <p:nvPr/>
        </p:nvSpPr>
        <p:spPr>
          <a:xfrm>
            <a:off x="687600" y="3600000"/>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Both timestamps are frame timestamps. </a:t>
            </a:r>
            <a:r>
              <a:rPr sz="1743" b="0" i="0">
                <a:solidFill>
                  <a:srgbClr val="FFFFFF"/>
                </a:solidFill>
                <a:latin typeface="Courier New"/>
                <a:ea typeface="Courier New"/>
                <a:cs typeface="Courier New"/>
                <a:sym typeface="Courier New"/>
              </a:rPr>
              <a:t>last_game_time</a:t>
            </a:r>
            <a:r>
              <a:rPr sz="2027" b="0" i="0">
                <a:solidFill>
                  <a:srgbClr val="FFFFFF"/>
                </a:solidFill>
                <a:latin typeface="Avenir"/>
                <a:ea typeface="Avenir"/>
                <a:cs typeface="Avenir"/>
                <a:sym typeface="Avenir"/>
              </a:rPr>
              <a:t> was recorded at the top of the frame that started the round, and </a:t>
            </a:r>
            <a:r>
              <a:rPr sz="1743" b="0" i="0">
                <a:solidFill>
                  <a:srgbClr val="FFFFFF"/>
                </a:solidFill>
                <a:latin typeface="Courier New"/>
                <a:ea typeface="Courier New"/>
                <a:cs typeface="Courier New"/>
                <a:sym typeface="Courier New"/>
              </a:rPr>
              <a:t>current_time</a:t>
            </a:r>
            <a:r>
              <a:rPr sz="2027" b="0" i="0">
                <a:solidFill>
                  <a:srgbClr val="FFFFFF"/>
                </a:solidFill>
                <a:latin typeface="Avenir"/>
                <a:ea typeface="Avenir"/>
                <a:cs typeface="Avenir"/>
                <a:sym typeface="Avenir"/>
              </a:rPr>
              <a:t> is the top of a frame taken after four and a half seconds of blocking movement. The measured gap included the entire arm movement, so it was always larger than two seconds.</a:t>
            </a:r>
          </a:p>
        </p:txBody>
      </p:sp>
      <p:sp>
        <p:nvSpPr>
          <p:cNvPr id="7" name="blk0273"/>
          <p:cNvSpPr/>
          <p:nvPr/>
        </p:nvSpPr>
        <p:spPr>
          <a:xfrm>
            <a:off x="687600" y="5561488"/>
            <a:ext cx="8686800" cy="864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73"/>
          <p:cNvSpPr/>
          <p:nvPr/>
        </p:nvSpPr>
        <p:spPr>
          <a:xfrm>
            <a:off x="885600" y="592508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73"/>
          <p:cNvSpPr txBox="1"/>
          <p:nvPr/>
        </p:nvSpPr>
        <p:spPr>
          <a:xfrm>
            <a:off x="1162800" y="5705488"/>
            <a:ext cx="7956000" cy="576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cooldown was satisfied before it could ever refuse anything. The feature was present, named, commented and completely inert.</a:t>
            </a:r>
          </a:p>
        </p:txBody>
      </p:sp>
      <p:sp>
        <p:nvSpPr>
          <p:cNvPr id="10" name="blk0274"/>
          <p:cNvSpPr txBox="1"/>
          <p:nvPr/>
        </p:nvSpPr>
        <p:spPr>
          <a:xfrm>
            <a:off x="687600" y="6533488"/>
            <a:ext cx="7542000" cy="43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correction reads the clock at the point of use instead:</a:t>
            </a:r>
          </a:p>
        </p:txBody>
      </p:sp>
      <p:sp>
        <p:nvSpPr>
          <p:cNvPr id="11" name="blk0275"/>
          <p:cNvSpPr/>
          <p:nvPr/>
        </p:nvSpPr>
        <p:spPr>
          <a:xfrm>
            <a:off x="687600" y="6943240"/>
            <a:ext cx="8686800" cy="48944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75"/>
          <p:cNvSpPr txBox="1"/>
          <p:nvPr/>
        </p:nvSpPr>
        <p:spPr>
          <a:xfrm>
            <a:off x="910799" y="7105240"/>
            <a:ext cx="8240400" cy="165447"/>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                cooldown_ready = (time.time() - last_game_time) &gt; GAME_COOLDOWN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7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Claim 4</a:t>
            </a:r>
            <a:r>
              <a:rPr sz="2827" b="0" i="0">
                <a:solidFill>
                  <a:srgbClr val="FFFFFF"/>
                </a:solidFill>
                <a:latin typeface="Bungee"/>
                <a:ea typeface="Bungee"/>
                <a:cs typeface="Bungee"/>
                <a:sym typeface="Bungee"/>
              </a:rPr>
              <a:t>  —  </a:t>
            </a:r>
            <a:r>
              <a:rPr sz="2827" b="1" i="0">
                <a:solidFill>
                  <a:srgbClr val="FFCF08"/>
                </a:solidFill>
                <a:latin typeface="Bungee"/>
                <a:ea typeface="Bungee"/>
                <a:cs typeface="Bungee"/>
                <a:sym typeface="Bungee"/>
              </a:rPr>
              <a:t>an unkept promise</a:t>
            </a:r>
          </a:p>
        </p:txBody>
      </p:sp>
      <p:sp>
        <p:nvSpPr>
          <p:cNvPr id="3" name="blk027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Pull the arm, run it on a laptop without the robot libraries, and the handler prints a promise:</a:t>
            </a:r>
          </a:p>
        </p:txBody>
      </p:sp>
      <p:sp>
        <p:nvSpPr>
          <p:cNvPr id="4" name="blk0278"/>
          <p:cNvSpPr/>
          <p:nvPr/>
        </p:nvSpPr>
        <p:spPr>
          <a:xfrm>
            <a:off x="687600" y="2304000"/>
            <a:ext cx="8686800" cy="50599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78"/>
          <p:cNvSpPr txBox="1"/>
          <p:nvPr/>
        </p:nvSpPr>
        <p:spPr>
          <a:xfrm>
            <a:off x="910799" y="2466000"/>
            <a:ext cx="8240400" cy="181991"/>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print("Continuing without the robot. Gestures are still detected and scored.\n")</a:t>
            </a:r>
          </a:p>
        </p:txBody>
      </p:sp>
      <p:sp>
        <p:nvSpPr>
          <p:cNvPr id="6" name="blk0279"/>
          <p:cNvSpPr txBox="1"/>
          <p:nvPr/>
        </p:nvSpPr>
        <p:spPr>
          <a:xfrm>
            <a:off x="687600" y="2917991"/>
            <a:ext cx="7542000" cy="474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It could not: </a:t>
            </a:r>
            <a:r>
              <a:rPr sz="1743" b="0" i="0">
                <a:solidFill>
                  <a:srgbClr val="FFFFFF"/>
                </a:solidFill>
                <a:latin typeface="Courier New"/>
                <a:ea typeface="Courier New"/>
                <a:cs typeface="Courier New"/>
                <a:sym typeface="Courier New"/>
              </a:rPr>
              <a:t>mc</a:t>
            </a:r>
            <a:r>
              <a:rPr sz="2027" b="0" i="0">
                <a:solidFill>
                  <a:srgbClr val="FFFFFF"/>
                </a:solidFill>
                <a:latin typeface="Avenir"/>
                <a:ea typeface="Avenir"/>
                <a:cs typeface="Avenir"/>
                <a:sym typeface="Avenir"/>
              </a:rPr>
              <a:t> only existed inside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so the handler fell through to </a:t>
            </a:r>
            <a:r>
              <a:rPr sz="1743" b="0" i="0">
                <a:solidFill>
                  <a:srgbClr val="FFFFFF"/>
                </a:solidFill>
                <a:latin typeface="Courier New"/>
                <a:ea typeface="Courier New"/>
                <a:cs typeface="Courier New"/>
                <a:sym typeface="Courier New"/>
              </a:rPr>
              <a:t>finally</a:t>
            </a:r>
            <a:r>
              <a:rPr sz="2027" b="0" i="0">
                <a:solidFill>
                  <a:srgbClr val="FFFFFF"/>
                </a:solidFill>
                <a:latin typeface="Avenir"/>
                <a:ea typeface="Avenir"/>
                <a:cs typeface="Avenir"/>
                <a:sym typeface="Avenir"/>
              </a:rPr>
              <a:t>:</a:t>
            </a:r>
          </a:p>
        </p:txBody>
      </p:sp>
      <p:sp>
        <p:nvSpPr>
          <p:cNvPr id="7" name="blk0280"/>
          <p:cNvSpPr/>
          <p:nvPr/>
        </p:nvSpPr>
        <p:spPr>
          <a:xfrm>
            <a:off x="687600" y="4104000"/>
            <a:ext cx="8686800" cy="111814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80"/>
          <p:cNvSpPr txBox="1"/>
          <p:nvPr/>
        </p:nvSpPr>
        <p:spPr>
          <a:xfrm>
            <a:off x="910799" y="4266000"/>
            <a:ext cx="8240400" cy="794146"/>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finally:</a:t>
            </a:r>
          </a:p>
          <a:p>
            <a:pPr algn="l">
              <a:lnSpc>
                <a:spcPct val="115000"/>
              </a:lnSpc>
            </a:pPr>
            <a:r>
              <a:rPr sz="1200" b="0" i="0">
                <a:solidFill>
                  <a:srgbClr val="FFFFFF"/>
                </a:solidFill>
                <a:latin typeface="Courier New"/>
                <a:ea typeface="Courier New"/>
                <a:cs typeface="Courier New"/>
                <a:sym typeface="Courier New"/>
              </a:rPr>
              <a:t>    cap.release()</a:t>
            </a:r>
          </a:p>
          <a:p>
            <a:pPr algn="l">
              <a:lnSpc>
                <a:spcPct val="115000"/>
              </a:lnSpc>
            </a:pPr>
            <a:r>
              <a:rPr sz="1200" b="0" i="0">
                <a:solidFill>
                  <a:srgbClr val="FFFFFF"/>
                </a:solidFill>
                <a:latin typeface="Courier New"/>
                <a:ea typeface="Courier New"/>
                <a:cs typeface="Courier New"/>
                <a:sym typeface="Courier New"/>
              </a:rPr>
              <a:t>    cv2.destroyAllWindows()</a:t>
            </a:r>
          </a:p>
          <a:p>
            <a:pPr algn="l">
              <a:lnSpc>
                <a:spcPct val="115000"/>
              </a:lnSpc>
            </a:pPr>
            <a:r>
              <a:rPr sz="1200" b="0" i="0">
                <a:solidFill>
                  <a:srgbClr val="FFFFFF"/>
                </a:solidFill>
                <a:latin typeface="Courier New"/>
                <a:ea typeface="Courier New"/>
                <a:cs typeface="Courier New"/>
                <a:sym typeface="Courier New"/>
              </a:rPr>
              <a:t>    mc.release_all_servos()</a:t>
            </a:r>
          </a:p>
        </p:txBody>
      </p:sp>
      <p:sp>
        <p:nvSpPr>
          <p:cNvPr id="9" name="blk0281"/>
          <p:cNvSpPr/>
          <p:nvPr/>
        </p:nvSpPr>
        <p:spPr>
          <a:xfrm>
            <a:off x="687600" y="5330146"/>
            <a:ext cx="8686800" cy="648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81"/>
          <p:cNvSpPr/>
          <p:nvPr/>
        </p:nvSpPr>
        <p:spPr>
          <a:xfrm>
            <a:off x="885600" y="5585746"/>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81"/>
          <p:cNvSpPr txBox="1"/>
          <p:nvPr/>
        </p:nvSpPr>
        <p:spPr>
          <a:xfrm>
            <a:off x="1162800" y="5474146"/>
            <a:ext cx="7956000" cy="360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NameError, on the one path guaranteed to work.</a:t>
            </a:r>
          </a:p>
        </p:txBody>
      </p:sp>
      <p:sp>
        <p:nvSpPr>
          <p:cNvPr id="12" name="blk0282"/>
          <p:cNvSpPr txBox="1"/>
          <p:nvPr/>
        </p:nvSpPr>
        <p:spPr>
          <a:xfrm>
            <a:off x="687600" y="6086146"/>
            <a:ext cx="7542000" cy="20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fix: </a:t>
            </a:r>
            <a:r>
              <a:rPr sz="1743" b="0" i="0">
                <a:solidFill>
                  <a:srgbClr val="FFFFFF"/>
                </a:solidFill>
                <a:latin typeface="Courier New"/>
                <a:ea typeface="Courier New"/>
                <a:cs typeface="Courier New"/>
                <a:sym typeface="Courier New"/>
              </a:rPr>
              <a:t>mc = None</a:t>
            </a:r>
            <a:r>
              <a:rPr sz="2027" b="0" i="0">
                <a:solidFill>
                  <a:srgbClr val="FFFFFF"/>
                </a:solidFill>
                <a:latin typeface="Avenir"/>
                <a:ea typeface="Avenir"/>
                <a:cs typeface="Avenir"/>
                <a:sym typeface="Avenir"/>
              </a:rPr>
              <a:t> before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guarded at the use.</a:t>
            </a:r>
          </a:p>
        </p:txBody>
      </p:sp>
      <p:sp>
        <p:nvSpPr>
          <p:cNvPr id="13" name="blk0283"/>
          <p:cNvSpPr/>
          <p:nvPr/>
        </p:nvSpPr>
        <p:spPr>
          <a:xfrm>
            <a:off x="687600" y="6503060"/>
            <a:ext cx="8686800" cy="110987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283"/>
          <p:cNvSpPr txBox="1"/>
          <p:nvPr/>
        </p:nvSpPr>
        <p:spPr>
          <a:xfrm>
            <a:off x="910799" y="6665060"/>
            <a:ext cx="8240400" cy="785874"/>
          </a:xfrm>
          <a:prstGeom prst="rect">
            <a:avLst/>
          </a:prstGeom>
          <a:noFill/>
        </p:spPr>
        <p:txBody>
          <a:bodyPr wrap="square" anchor="t" lIns="0" rIns="0" tIns="0" bIns="0">
            <a:noAutofit/>
          </a:bodyPr>
          <a:lstStyle/>
          <a:p>
            <a:pPr algn="l">
              <a:lnSpc>
                <a:spcPct val="115000"/>
              </a:lnSpc>
            </a:pPr>
            <a:r>
              <a:rPr sz="950" b="0" i="0">
                <a:solidFill>
                  <a:srgbClr val="FFFFFF"/>
                </a:solidFill>
                <a:latin typeface="Courier New"/>
                <a:ea typeface="Courier New"/>
                <a:cs typeface="Courier New"/>
                <a:sym typeface="Courier New"/>
              </a:rPr>
              <a:t>finally:</a:t>
            </a:r>
          </a:p>
          <a:p>
            <a:pPr algn="l">
              <a:lnSpc>
                <a:spcPct val="115000"/>
              </a:lnSpc>
            </a:pPr>
            <a:r>
              <a:rPr sz="950" b="0" i="0">
                <a:solidFill>
                  <a:srgbClr val="FFFFFF"/>
                </a:solidFill>
                <a:latin typeface="Courier New"/>
                <a:ea typeface="Courier New"/>
                <a:cs typeface="Courier New"/>
                <a:sym typeface="Courier New"/>
              </a:rPr>
              <a:t>    cap.release()</a:t>
            </a:r>
          </a:p>
          <a:p>
            <a:pPr algn="l">
              <a:lnSpc>
                <a:spcPct val="115000"/>
              </a:lnSpc>
            </a:pPr>
            <a:r>
              <a:rPr sz="950" b="0" i="0">
                <a:solidFill>
                  <a:srgbClr val="FFFFFF"/>
                </a:solidFill>
                <a:latin typeface="Courier New"/>
                <a:ea typeface="Courier New"/>
                <a:cs typeface="Courier New"/>
                <a:sym typeface="Courier New"/>
              </a:rPr>
              <a:t>    cv2.destroyAllWindows()</a:t>
            </a:r>
          </a:p>
          <a:p>
            <a:pPr algn="l">
              <a:lnSpc>
                <a:spcPct val="115000"/>
              </a:lnSpc>
            </a:pPr>
            <a:r>
              <a:rPr sz="950" b="0" i="0">
                <a:solidFill>
                  <a:srgbClr val="FFFFFF"/>
                </a:solidFill>
                <a:latin typeface="Courier New"/>
                <a:ea typeface="Courier New"/>
                <a:cs typeface="Courier New"/>
                <a:sym typeface="Courier New"/>
              </a:rPr>
              <a:t>    if mc is not None:</a:t>
            </a:r>
          </a:p>
          <a:p>
            <a:pPr algn="l">
              <a:lnSpc>
                <a:spcPct val="115000"/>
              </a:lnSpc>
            </a:pPr>
            <a:r>
              <a:rPr sz="950" b="0" i="0">
                <a:solidFill>
                  <a:srgbClr val="FFFFFF"/>
                </a:solidFill>
                <a:latin typeface="Courier New"/>
                <a:ea typeface="Courier New"/>
                <a:cs typeface="Courier New"/>
                <a:sym typeface="Courier New"/>
              </a:rPr>
              <a:t>        mc.release_all_servos()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8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habit that catches all four</a:t>
            </a:r>
          </a:p>
        </p:txBody>
      </p:sp>
      <p:sp>
        <p:nvSpPr>
          <p:cNvPr id="3" name="blk028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Different bugs, one repeated mistake: trusting that a value means what its name suggests at the moment you read it.</a:t>
            </a:r>
          </a:p>
        </p:txBody>
      </p:sp>
      <p:sp>
        <p:nvSpPr>
          <p:cNvPr id="4" name="blk0286"/>
          <p:cNvSpPr/>
          <p:nvPr/>
        </p:nvSpPr>
        <p:spPr>
          <a:xfrm>
            <a:off x="741600" y="25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86"/>
          <p:cNvSpPr txBox="1"/>
          <p:nvPr/>
        </p:nvSpPr>
        <p:spPr>
          <a:xfrm>
            <a:off x="1252800" y="2520000"/>
            <a:ext cx="8118000" cy="900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When was this clock read?</a:t>
            </a:r>
            <a:r>
              <a:rPr sz="1600" b="0" i="0">
                <a:solidFill>
                  <a:srgbClr val="FFFFFF"/>
                </a:solidFill>
                <a:latin typeface="Avenir"/>
                <a:ea typeface="Avenir"/>
                <a:cs typeface="Avenir"/>
                <a:sym typeface="Avenir"/>
              </a:rPr>
              <a:t>  — a frame timestamp is fine for measuring across a frame and wrong for measuring across four seconds of sleeping.</a:t>
            </a:r>
          </a:p>
        </p:txBody>
      </p:sp>
      <p:sp>
        <p:nvSpPr>
          <p:cNvPr id="6" name="blk0287"/>
          <p:cNvSpPr/>
          <p:nvPr/>
        </p:nvSpPr>
        <p:spPr>
          <a:xfrm>
            <a:off x="741600" y="34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87"/>
          <p:cNvSpPr txBox="1"/>
          <p:nvPr/>
        </p:nvSpPr>
        <p:spPr>
          <a:xfrm>
            <a:off x="1252800" y="3420000"/>
            <a:ext cx="8118000" cy="900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Does this name exist yet?</a:t>
            </a:r>
            <a:r>
              <a:rPr sz="1600" b="0" i="0">
                <a:solidFill>
                  <a:srgbClr val="FFFFFF"/>
                </a:solidFill>
                <a:latin typeface="Avenir"/>
                <a:ea typeface="Avenir"/>
                <a:cs typeface="Avenir"/>
                <a:sym typeface="Avenir"/>
              </a:rPr>
              <a:t>  — anything created inside a </a:t>
            </a:r>
            <a:r>
              <a:rPr sz="1376" b="0" i="0">
                <a:solidFill>
                  <a:srgbClr val="FFFFFF"/>
                </a:solidFill>
                <a:latin typeface="Courier New"/>
                <a:ea typeface="Courier New"/>
                <a:cs typeface="Courier New"/>
                <a:sym typeface="Courier New"/>
              </a:rPr>
              <a:t>try</a:t>
            </a:r>
            <a:r>
              <a:rPr sz="1600" b="0" i="0">
                <a:solidFill>
                  <a:srgbClr val="FFFFFF"/>
                </a:solidFill>
                <a:latin typeface="Avenir"/>
                <a:ea typeface="Avenir"/>
                <a:cs typeface="Avenir"/>
                <a:sym typeface="Avenir"/>
              </a:rPr>
              <a:t> block can be missing by the time you need it.</a:t>
            </a:r>
          </a:p>
        </p:txBody>
      </p:sp>
      <p:sp>
        <p:nvSpPr>
          <p:cNvPr id="8" name="blk0288"/>
          <p:cNvSpPr/>
          <p:nvPr/>
        </p:nvSpPr>
        <p:spPr>
          <a:xfrm>
            <a:off x="741600" y="43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88"/>
          <p:cNvSpPr txBox="1"/>
          <p:nvPr/>
        </p:nvSpPr>
        <p:spPr>
          <a:xfrm>
            <a:off x="1252800" y="4320000"/>
            <a:ext cx="8118000" cy="900000"/>
          </a:xfrm>
          <a:prstGeom prst="rect">
            <a:avLst/>
          </a:prstGeom>
          <a:noFill/>
        </p:spPr>
        <p:txBody>
          <a:bodyPr wrap="square" anchor="t" lIns="0" rIns="0" tIns="0" bIns="0">
            <a:noAutofit/>
          </a:bodyPr>
          <a:lstStyle/>
          <a:p>
            <a:pPr algn="l">
              <a:lnSpc>
                <a:spcPct val="120000"/>
              </a:lnSpc>
            </a:pPr>
            <a:r>
              <a:rPr sz="1600" b="1" i="0">
                <a:solidFill>
                  <a:srgbClr val="FFCF08"/>
                </a:solidFill>
                <a:latin typeface="Avenir"/>
                <a:ea typeface="Avenir"/>
                <a:cs typeface="Avenir"/>
                <a:sym typeface="Avenir"/>
              </a:rPr>
              <a:t>Is the promise still true downstream?</a:t>
            </a:r>
            <a:r>
              <a:rPr sz="1600" b="0" i="0">
                <a:solidFill>
                  <a:srgbClr val="FFFFFF"/>
                </a:solidFill>
                <a:latin typeface="Avenir"/>
                <a:ea typeface="Avenir"/>
                <a:cs typeface="Avenir"/>
                <a:sym typeface="Avenir"/>
              </a:rPr>
              <a:t>  — a printed message makes a claim about the whole run, not about the line above it.</a:t>
            </a:r>
          </a:p>
        </p:txBody>
      </p:sp>
      <p:sp>
        <p:nvSpPr>
          <p:cNvPr id="10" name="blk0289"/>
          <p:cNvSpPr txBox="1"/>
          <p:nvPr/>
        </p:nvSpPr>
        <p:spPr>
          <a:xfrm>
            <a:off x="687600" y="5400000"/>
            <a:ext cx="7542000" cy="115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None of these four failures threw an error that pointed at the real problem. They were found by writing down what the program promised, then running it and looking for the promise. That is the same habit that found the OpenCV contour change in Project 5, and it is the one worth keeping.</a:t>
            </a:r>
          </a:p>
        </p:txBody>
      </p:sp>
      <p:sp>
        <p:nvSpPr>
          <p:cNvPr id="11" name="blk0290"/>
          <p:cNvSpPr/>
          <p:nvPr/>
        </p:nvSpPr>
        <p:spPr>
          <a:xfrm>
            <a:off x="687600" y="7016760"/>
            <a:ext cx="8686800" cy="576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90"/>
          <p:cNvSpPr/>
          <p:nvPr/>
        </p:nvSpPr>
        <p:spPr>
          <a:xfrm>
            <a:off x="885600" y="723636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90"/>
          <p:cNvSpPr txBox="1"/>
          <p:nvPr/>
        </p:nvSpPr>
        <p:spPr>
          <a:xfrm>
            <a:off x="1162800" y="7160759"/>
            <a:ext cx="7956000" cy="288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quiet bug is not a small bug. It is a bug that costs you the time to notice 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9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Brief</a:t>
            </a:r>
          </a:p>
        </p:txBody>
      </p:sp>
      <p:sp>
        <p:nvSpPr>
          <p:cNvPr id="3" name="blk029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1" i="0">
                <a:solidFill>
                  <a:srgbClr val="FFCF08"/>
                </a:solidFill>
                <a:latin typeface="Avenir"/>
                <a:ea typeface="Avenir"/>
                <a:cs typeface="Avenir"/>
                <a:sym typeface="Avenir"/>
              </a:rPr>
              <a:t>Rock, Paper, Robot</a:t>
            </a:r>
            <a:r>
              <a:rPr sz="2027" b="0" i="0">
                <a:solidFill>
                  <a:srgbClr val="FFFFFF"/>
                </a:solidFill>
                <a:latin typeface="Avenir"/>
                <a:ea typeface="Avenir"/>
                <a:cs typeface="Avenir"/>
                <a:sym typeface="Avenir"/>
              </a:rPr>
              <a:t>
</a:t>
            </a:r>
          </a:p>
          <a:p>
            <a:pPr algn="l">
              <a:lnSpc>
                <a:spcPct val="100000"/>
              </a:lnSpc>
            </a:pPr>
            <a:r>
              <a:rPr sz="2027" b="0" i="0">
                <a:solidFill>
                  <a:srgbClr val="FFFFFF"/>
                </a:solidFill>
                <a:latin typeface="Avenir"/>
                <a:ea typeface="Avenir"/>
                <a:cs typeface="Avenir"/>
                <a:sym typeface="Avenir"/>
              </a:rPr>
              <a:t>Your arm is playing rock paper scissors against a hand you cannot see. MediaPipe reads 21 landmarks off the camera, five comparisons turn those landmarks into a number, three numbers become a gesture, and a lookup table decides a winner.</a:t>
            </a:r>
          </a:p>
          <a:p>
            <a:pPr algn="l">
              <a:lnSpc>
                <a:spcPct val="100000"/>
              </a:lnSpc>
            </a:pPr>
            <a:r>
              <a:rPr sz="2027" b="0" i="0">
                <a:solidFill>
                  <a:srgbClr val="FFFFFF"/>
                </a:solidFill>
                <a:latin typeface="Avenir"/>
                <a:ea typeface="Avenir"/>
                <a:cs typeface="Avenir"/>
                <a:sym typeface="Avenir"/>
              </a:rPr>
              <a:t>Then the robot has to perform. Not describe. Perform — travel to the pose, hold it, come home, four and a half seconds of real movement between two frames.</a:t>
            </a:r>
          </a:p>
          <a:p>
            <a:pPr algn="l">
              <a:lnSpc>
                <a:spcPct val="100000"/>
              </a:lnSpc>
            </a:pPr>
            <a:r>
              <a:rPr sz="2027" b="0" i="0">
                <a:solidFill>
                  <a:srgbClr val="FFFFFF"/>
                </a:solidFill>
                <a:latin typeface="Avenir"/>
                <a:ea typeface="Avenir"/>
                <a:cs typeface="Avenir"/>
                <a:sym typeface="Avenir"/>
              </a:rPr>
              <a:t>Which means the whole program has to survive being wrong. Not crash. Survive.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9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Mission</a:t>
            </a:r>
          </a:p>
        </p:txBody>
      </p:sp>
      <p:sp>
        <p:nvSpPr>
          <p:cNvPr id="3" name="blk029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parts, in order.</a:t>
            </a:r>
          </a:p>
        </p:txBody>
      </p:sp>
      <p:sp>
        <p:nvSpPr>
          <p:cNvPr id="4" name="blk0295"/>
          <p:cNvSpPr txBox="1"/>
          <p:nvPr/>
        </p:nvSpPr>
        <p:spPr>
          <a:xfrm>
            <a:off x="687600" y="2448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5" name="blk0295"/>
          <p:cNvSpPr txBox="1"/>
          <p:nvPr/>
        </p:nvSpPr>
        <p:spPr>
          <a:xfrm>
            <a:off x="1252800" y="2448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Break it on purpose.</a:t>
            </a:r>
            <a:r>
              <a:rPr sz="1650" b="0" i="0">
                <a:solidFill>
                  <a:srgbClr val="FFFFFF"/>
                </a:solidFill>
                <a:latin typeface="Avenir"/>
                <a:ea typeface="Avenir"/>
                <a:cs typeface="Avenir"/>
                <a:sym typeface="Avenir"/>
              </a:rPr>
              <a:t>  Remove the hold check from Step 15, run the game, and count how many rounds a single pass of your hand produces.</a:t>
            </a:r>
          </a:p>
        </p:txBody>
      </p:sp>
      <p:sp>
        <p:nvSpPr>
          <p:cNvPr id="6" name="blk0296"/>
          <p:cNvSpPr txBox="1"/>
          <p:nvPr/>
        </p:nvSpPr>
        <p:spPr>
          <a:xfrm>
            <a:off x="687600" y="3384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7" name="blk0296"/>
          <p:cNvSpPr txBox="1"/>
          <p:nvPr/>
        </p:nvSpPr>
        <p:spPr>
          <a:xfrm>
            <a:off x="1252800" y="3384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Break it on purpose, part two.</a:t>
            </a:r>
            <a:r>
              <a:rPr sz="1650" b="0" i="0">
                <a:solidFill>
                  <a:srgbClr val="FFFFFF"/>
                </a:solidFill>
                <a:latin typeface="Avenir"/>
                <a:ea typeface="Avenir"/>
                <a:cs typeface="Avenir"/>
                <a:sym typeface="Avenir"/>
              </a:rPr>
              <a:t>  Unplug the arm, run the program, and record the exact text you get back.</a:t>
            </a:r>
          </a:p>
        </p:txBody>
      </p:sp>
      <p:sp>
        <p:nvSpPr>
          <p:cNvPr id="8" name="blk0297"/>
          <p:cNvSpPr txBox="1"/>
          <p:nvPr/>
        </p:nvSpPr>
        <p:spPr>
          <a:xfrm>
            <a:off x="687600" y="4320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9" name="blk0297"/>
          <p:cNvSpPr txBox="1"/>
          <p:nvPr/>
        </p:nvSpPr>
        <p:spPr>
          <a:xfrm>
            <a:off x="1252800" y="4320000"/>
            <a:ext cx="8118000" cy="720000"/>
          </a:xfrm>
          <a:prstGeom prst="rect">
            <a:avLst/>
          </a:prstGeom>
          <a:noFill/>
        </p:spPr>
        <p:txBody>
          <a:bodyPr wrap="square" anchor="t" lIns="0" rIns="0" tIns="0" bIns="0">
            <a:noAutofit/>
          </a:bodyPr>
          <a:lstStyle/>
          <a:p>
            <a:pPr algn="l">
              <a:lnSpc>
                <a:spcPct val="120000"/>
              </a:lnSpc>
            </a:pPr>
            <a:r>
              <a:rPr sz="1650" b="1" i="0">
                <a:solidFill>
                  <a:srgbClr val="FFFFFF"/>
                </a:solidFill>
                <a:latin typeface="Google Sans"/>
                <a:ea typeface="Google Sans"/>
                <a:cs typeface="Google Sans"/>
                <a:sym typeface="Google Sans"/>
              </a:rPr>
              <a:t>Explain each one.</a:t>
            </a:r>
            <a:r>
              <a:rPr sz="1650" b="0" i="0">
                <a:solidFill>
                  <a:srgbClr val="FFFFFF"/>
                </a:solidFill>
                <a:latin typeface="Avenir"/>
                <a:ea typeface="Avenir"/>
                <a:cs typeface="Avenir"/>
                <a:sym typeface="Avenir"/>
              </a:rPr>
              <a:t>  For each failure, write the claim it broke, the line that broke it, and the correction now sitting in the file.</a:t>
            </a:r>
          </a:p>
        </p:txBody>
      </p:sp>
      <p:sp>
        <p:nvSpPr>
          <p:cNvPr id="10" name="blk0298"/>
          <p:cNvSpPr txBox="1"/>
          <p:nvPr/>
        </p:nvSpPr>
        <p:spPr>
          <a:xfrm>
            <a:off x="687600" y="5472000"/>
            <a:ext cx="7542000" cy="115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Do this with the corrected file in front of you. The point is not to re-discover the bugs — they are already fixed — it is to prove to yourself that you can see a claim, break it, and name the fix without being told which line to look at.</a:t>
            </a:r>
          </a:p>
        </p:txBody>
      </p:sp>
      <p:sp>
        <p:nvSpPr>
          <p:cNvPr id="11" name="blk0299"/>
          <p:cNvSpPr/>
          <p:nvPr/>
        </p:nvSpPr>
        <p:spPr>
          <a:xfrm>
            <a:off x="687600" y="6787007"/>
            <a:ext cx="8686800" cy="50399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99"/>
          <p:cNvSpPr/>
          <p:nvPr/>
        </p:nvSpPr>
        <p:spPr>
          <a:xfrm>
            <a:off x="885600" y="6970607"/>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99"/>
          <p:cNvSpPr txBox="1"/>
          <p:nvPr/>
        </p:nvSpPr>
        <p:spPr>
          <a:xfrm>
            <a:off x="1162800" y="6931007"/>
            <a:ext cx="7956000" cy="21599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bug you cannot reproduce on demand is a bug you cannot prove you fixed.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0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Data Log</a:t>
            </a:r>
          </a:p>
        </p:txBody>
      </p:sp>
      <p:graphicFrame>
        <p:nvGraphicFramePr>
          <p:cNvPr id="3" name="blk0301"/>
          <p:cNvGraphicFramePr>
            <a:graphicFrameLocks noGrp="1"/>
          </p:cNvGraphicFramePr>
          <p:nvPr/>
        </p:nvGraphicFramePr>
        <p:xfrm>
          <a:off x="687600" y="2376000"/>
          <a:ext cx="7775999" cy="3546000"/>
        </p:xfrm>
        <a:graphic>
          <a:graphicData uri="http://schemas.openxmlformats.org/drawingml/2006/table">
            <a:tbl>
              <a:tblPr firstRow="0" bandRow="0"/>
              <a:tblGrid>
                <a:gridCol w="1296000"/>
                <a:gridCol w="2232000"/>
                <a:gridCol w="2232000"/>
                <a:gridCol w="2015999"/>
              </a:tblGrid>
              <a:tr h="450000">
                <a:tc>
                  <a:txBody>
                    <a:bodyPr wrap="square"/>
                    <a:lstStyle/>
                    <a:p>
                      <a:pPr algn="l">
                        <a:lnSpc>
                          <a:spcPct val="100000"/>
                        </a:lnSpc>
                      </a:pPr>
                      <a:r>
                        <a:rPr sz="1350" b="1" i="0">
                          <a:solidFill>
                            <a:srgbClr val="FFCF08"/>
                          </a:solidFill>
                          <a:latin typeface="Avenir"/>
                          <a:ea typeface="Avenir"/>
                          <a:cs typeface="Avenir"/>
                          <a:sym typeface="Avenir"/>
                        </a:rPr>
                        <a:t>Claim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How you broke it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What you saw</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The line that did it</a:t>
                      </a:r>
                    </a:p>
                  </a:txBody>
                  <a:tcPr marL="72000" marR="72000" marT="36000" marB="36000" anchor="ctr">
                    <a:solidFill>
                      <a:srgbClr val="3B41A0"/>
                    </a:solidFill>
                  </a:tcPr>
                </a:tc>
              </a:tr>
              <a:tr h="774000">
                <a:tc>
                  <a:txBody>
                    <a:bodyPr wrap="square"/>
                    <a:lstStyle/>
                    <a:p>
                      <a:pPr algn="l">
                        <a:lnSpc>
                          <a:spcPct val="100000"/>
                        </a:lnSpc>
                      </a:pPr>
                      <a:r>
                        <a:rPr sz="1350" b="0" i="0">
                          <a:solidFill>
                            <a:srgbClr val="FFFFFF"/>
                          </a:solidFill>
                          <a:latin typeface="Avenir"/>
                          <a:ea typeface="Avenir"/>
                          <a:cs typeface="Avenir"/>
                          <a:sym typeface="Avenir"/>
                        </a:rPr>
                        <a:t>1 sec hold</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774000">
                <a:tc>
                  <a:txBody>
                    <a:bodyPr wrap="square"/>
                    <a:lstStyle/>
                    <a:p>
                      <a:pPr algn="l">
                        <a:lnSpc>
                          <a:spcPct val="100000"/>
                        </a:lnSpc>
                      </a:pPr>
                      <a:r>
                        <a:rPr sz="1350" b="0" i="0">
                          <a:solidFill>
                            <a:srgbClr val="FFFFFF"/>
                          </a:solidFill>
                          <a:latin typeface="Avenir"/>
                          <a:ea typeface="Avenir"/>
                          <a:cs typeface="Avenir"/>
                          <a:sym typeface="Avenir"/>
                        </a:rPr>
                        <a:t>Verdict shows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774000">
                <a:tc>
                  <a:txBody>
                    <a:bodyPr wrap="square"/>
                    <a:lstStyle/>
                    <a:p>
                      <a:pPr algn="l">
                        <a:lnSpc>
                          <a:spcPct val="100000"/>
                        </a:lnSpc>
                      </a:pPr>
                      <a:r>
                        <a:rPr sz="1350" b="0" i="0">
                          <a:solidFill>
                            <a:srgbClr val="FFFFFF"/>
                          </a:solidFill>
                          <a:latin typeface="Avenir"/>
                          <a:ea typeface="Avenir"/>
                          <a:cs typeface="Avenir"/>
                          <a:sym typeface="Avenir"/>
                        </a:rPr>
                        <a:t>Cooldown holds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774000">
                <a:tc>
                  <a:txBody>
                    <a:bodyPr wrap="square"/>
                    <a:lstStyle/>
                    <a:p>
                      <a:pPr algn="l">
                        <a:lnSpc>
                          <a:spcPct val="100000"/>
                        </a:lnSpc>
                      </a:pPr>
                      <a:r>
                        <a:rPr sz="1350" b="0" i="0">
                          <a:solidFill>
                            <a:srgbClr val="FFFFFF"/>
                          </a:solidFill>
                          <a:latin typeface="Avenir"/>
                          <a:ea typeface="Avenir"/>
                          <a:cs typeface="Avenir"/>
                          <a:sym typeface="Avenir"/>
                        </a:rPr>
                        <a:t>Runs no-arm</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bl>
          </a:graphicData>
        </a:graphic>
      </p:graphicFrame>
      <p:sp>
        <p:nvSpPr>
          <p:cNvPr id="4" name="blk0302"/>
          <p:cNvSpPr txBox="1"/>
          <p:nvPr/>
        </p:nvSpPr>
        <p:spPr>
          <a:xfrm>
            <a:off x="687600" y="626399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Exact text, not a paraphrase. The phrase </a:t>
            </a:r>
            <a:r>
              <a:rPr sz="1419" b="0" i="0">
                <a:solidFill>
                  <a:srgbClr val="FFFFFF"/>
                </a:solidFill>
                <a:latin typeface="Courier New"/>
                <a:ea typeface="Courier New"/>
                <a:cs typeface="Courier New"/>
                <a:sym typeface="Courier New"/>
              </a:rPr>
              <a:t>name 'mc' is not defined</a:t>
            </a:r>
            <a:r>
              <a:rPr sz="1650" b="0" i="0">
                <a:solidFill>
                  <a:srgbClr val="FFFFFF"/>
                </a:solidFill>
                <a:latin typeface="Avenir"/>
                <a:ea typeface="Avenir"/>
                <a:cs typeface="Avenir"/>
                <a:sym typeface="Avenir"/>
              </a:rPr>
              <a:t> is worth more to your future self than the word "crashed", because it tells you the failure happened in cleanup rather than in the game.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0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Definition of Done</a:t>
            </a:r>
          </a:p>
        </p:txBody>
      </p:sp>
      <p:sp>
        <p:nvSpPr>
          <p:cNvPr id="3" name="blk0304"/>
          <p:cNvSpPr/>
          <p:nvPr/>
        </p:nvSpPr>
        <p:spPr>
          <a:xfrm>
            <a:off x="705600" y="2448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304"/>
          <p:cNvSpPr txBox="1"/>
          <p:nvPr/>
        </p:nvSpPr>
        <p:spPr>
          <a:xfrm>
            <a:off x="1252800" y="2426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All twenty TODOs filled in and the file runs on the Pi.</a:t>
            </a:r>
          </a:p>
        </p:txBody>
      </p:sp>
      <p:sp>
        <p:nvSpPr>
          <p:cNvPr id="5" name="blk0305"/>
          <p:cNvSpPr/>
          <p:nvPr/>
        </p:nvSpPr>
        <p:spPr>
          <a:xfrm>
            <a:off x="705600" y="309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305"/>
          <p:cNvSpPr txBox="1"/>
          <p:nvPr/>
        </p:nvSpPr>
        <p:spPr>
          <a:xfrm>
            <a:off x="1252800" y="3074399"/>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No </a:t>
            </a:r>
            <a:r>
              <a:rPr sz="1376" b="0" i="0">
                <a:solidFill>
                  <a:srgbClr val="FFFFFF"/>
                </a:solidFill>
                <a:latin typeface="Courier New"/>
                <a:ea typeface="Courier New"/>
                <a:cs typeface="Courier New"/>
                <a:sym typeface="Courier New"/>
              </a:rPr>
              <a:t>TODO</a:t>
            </a:r>
            <a:r>
              <a:rPr sz="1600" b="0" i="0">
                <a:solidFill>
                  <a:srgbClr val="FFFFFF"/>
                </a:solidFill>
                <a:latin typeface="Avenir"/>
                <a:ea typeface="Avenir"/>
                <a:cs typeface="Avenir"/>
                <a:sym typeface="Avenir"/>
              </a:rPr>
              <a:t> markers left anywhere in the file.</a:t>
            </a:r>
          </a:p>
        </p:txBody>
      </p:sp>
      <p:sp>
        <p:nvSpPr>
          <p:cNvPr id="7" name="blk0306"/>
          <p:cNvSpPr/>
          <p:nvPr/>
        </p:nvSpPr>
        <p:spPr>
          <a:xfrm>
            <a:off x="705600" y="374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306"/>
          <p:cNvSpPr txBox="1"/>
          <p:nvPr/>
        </p:nvSpPr>
        <p:spPr>
          <a:xfrm>
            <a:off x="1252800" y="3722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Each of the four failures above reproduced on demand, with the exact message recorded.</a:t>
            </a:r>
          </a:p>
        </p:txBody>
      </p:sp>
      <p:sp>
        <p:nvSpPr>
          <p:cNvPr id="9" name="blk0307"/>
          <p:cNvSpPr/>
          <p:nvPr/>
        </p:nvSpPr>
        <p:spPr>
          <a:xfrm>
            <a:off x="705600" y="4437216"/>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307"/>
          <p:cNvSpPr txBox="1"/>
          <p:nvPr/>
        </p:nvSpPr>
        <p:spPr>
          <a:xfrm>
            <a:off x="1252800" y="4415616"/>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hold survives a two-second pause in tracking without firing a round.</a:t>
            </a:r>
          </a:p>
        </p:txBody>
      </p:sp>
      <p:sp>
        <p:nvSpPr>
          <p:cNvPr id="11" name="blk0308"/>
          <p:cNvSpPr/>
          <p:nvPr/>
        </p:nvSpPr>
        <p:spPr>
          <a:xfrm>
            <a:off x="705600" y="504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308"/>
          <p:cNvSpPr txBox="1"/>
          <p:nvPr/>
        </p:nvSpPr>
        <p:spPr>
          <a:xfrm>
            <a:off x="1252800" y="501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verdict is on screen long enough to read, and the score line agrees with it.</a:t>
            </a:r>
          </a:p>
        </p:txBody>
      </p:sp>
      <p:sp>
        <p:nvSpPr>
          <p:cNvPr id="13" name="blk0309"/>
          <p:cNvSpPr/>
          <p:nvPr/>
        </p:nvSpPr>
        <p:spPr>
          <a:xfrm>
            <a:off x="705600" y="5733216"/>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309"/>
          <p:cNvSpPr txBox="1"/>
          <p:nvPr/>
        </p:nvSpPr>
        <p:spPr>
          <a:xfrm>
            <a:off x="1252800" y="5711616"/>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One gesture cannot start two rounds in a row.</a:t>
            </a:r>
          </a:p>
        </p:txBody>
      </p:sp>
      <p:sp>
        <p:nvSpPr>
          <p:cNvPr id="15" name="blk0310"/>
          <p:cNvSpPr/>
          <p:nvPr/>
        </p:nvSpPr>
        <p:spPr>
          <a:xfrm>
            <a:off x="705600" y="633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lk0310"/>
          <p:cNvSpPr txBox="1"/>
          <p:nvPr/>
        </p:nvSpPr>
        <p:spPr>
          <a:xfrm>
            <a:off x="1252800" y="6314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Pulling the arm mid-game leaves the program running.</a:t>
            </a:r>
          </a:p>
        </p:txBody>
      </p:sp>
      <p:sp>
        <p:nvSpPr>
          <p:cNvPr id="17" name="blk0311"/>
          <p:cNvSpPr/>
          <p:nvPr/>
        </p:nvSpPr>
        <p:spPr>
          <a:xfrm>
            <a:off x="687600" y="6715008"/>
            <a:ext cx="8686800" cy="648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lk0311"/>
          <p:cNvSpPr/>
          <p:nvPr/>
        </p:nvSpPr>
        <p:spPr>
          <a:xfrm>
            <a:off x="885600" y="697060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lk0311"/>
          <p:cNvSpPr txBox="1"/>
          <p:nvPr/>
        </p:nvSpPr>
        <p:spPr>
          <a:xfrm>
            <a:off x="1162800" y="6859007"/>
            <a:ext cx="7956000" cy="360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last one is the real test: the project keeps working with the arm unplugged.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1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Go Further</a:t>
            </a:r>
          </a:p>
        </p:txBody>
      </p:sp>
      <p:sp>
        <p:nvSpPr>
          <p:cNvPr id="3" name="blk0313"/>
          <p:cNvSpPr/>
          <p:nvPr/>
        </p:nvSpPr>
        <p:spPr>
          <a:xfrm>
            <a:off x="741600" y="24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313"/>
          <p:cNvSpPr txBox="1"/>
          <p:nvPr/>
        </p:nvSpPr>
        <p:spPr>
          <a:xfrm>
            <a:off x="1252800" y="2448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Four gestures.</a:t>
            </a:r>
            <a:r>
              <a:rPr sz="1600" b="0" i="0">
                <a:solidFill>
                  <a:srgbClr val="FFFFFF"/>
                </a:solidFill>
                <a:latin typeface="Avenir"/>
                <a:ea typeface="Avenir"/>
                <a:cs typeface="Avenir"/>
                <a:sym typeface="Avenir"/>
              </a:rPr>
              <a:t>  Add Spock, and add the three new </a:t>
            </a:r>
            <a:r>
              <a:rPr sz="1376" b="0" i="0">
                <a:solidFill>
                  <a:srgbClr val="FFFFFF"/>
                </a:solidFill>
                <a:latin typeface="Courier New"/>
                <a:ea typeface="Courier New"/>
                <a:cs typeface="Courier New"/>
                <a:sym typeface="Courier New"/>
              </a:rPr>
              <a:t>WIN_MAP</a:t>
            </a:r>
            <a:r>
              <a:rPr sz="1600" b="0" i="0">
                <a:solidFill>
                  <a:srgbClr val="FFFFFF"/>
                </a:solidFill>
                <a:latin typeface="Avenir"/>
                <a:ea typeface="Avenir"/>
                <a:cs typeface="Avenir"/>
                <a:sym typeface="Avenir"/>
              </a:rPr>
              <a:t> pairs. Then decide what a count of 4 now means.</a:t>
            </a:r>
          </a:p>
        </p:txBody>
      </p:sp>
      <p:sp>
        <p:nvSpPr>
          <p:cNvPr id="5" name="blk0314"/>
          <p:cNvSpPr/>
          <p:nvPr/>
        </p:nvSpPr>
        <p:spPr>
          <a:xfrm>
            <a:off x="741600" y="330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314"/>
          <p:cNvSpPr txBox="1"/>
          <p:nvPr/>
        </p:nvSpPr>
        <p:spPr>
          <a:xfrm>
            <a:off x="1252800" y="3276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Two hands.</a:t>
            </a:r>
            <a:r>
              <a:rPr sz="1600" b="0" i="0">
                <a:solidFill>
                  <a:srgbClr val="FFFFFF"/>
                </a:solidFill>
                <a:latin typeface="Avenir"/>
                <a:ea typeface="Avenir"/>
                <a:cs typeface="Avenir"/>
                <a:sym typeface="Avenir"/>
              </a:rPr>
              <a:t>  Raise </a:t>
            </a:r>
            <a:r>
              <a:rPr sz="1376" b="0" i="0">
                <a:solidFill>
                  <a:srgbClr val="FFFFFF"/>
                </a:solidFill>
                <a:latin typeface="Courier New"/>
                <a:ea typeface="Courier New"/>
                <a:cs typeface="Courier New"/>
                <a:sym typeface="Courier New"/>
              </a:rPr>
              <a:t>max_num_hands</a:t>
            </a:r>
            <a:r>
              <a:rPr sz="1600" b="0" i="0">
                <a:solidFill>
                  <a:srgbClr val="FFFFFF"/>
                </a:solidFill>
                <a:latin typeface="Avenir"/>
                <a:ea typeface="Avenir"/>
                <a:cs typeface="Avenir"/>
                <a:sym typeface="Avenir"/>
              </a:rPr>
              <a:t> to 2 and decide what the game is when both are playing.</a:t>
            </a:r>
          </a:p>
        </p:txBody>
      </p:sp>
      <p:sp>
        <p:nvSpPr>
          <p:cNvPr id="7" name="blk0315"/>
          <p:cNvSpPr/>
          <p:nvPr/>
        </p:nvSpPr>
        <p:spPr>
          <a:xfrm>
            <a:off x="741600" y="413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315"/>
          <p:cNvSpPr txBox="1"/>
          <p:nvPr/>
        </p:nvSpPr>
        <p:spPr>
          <a:xfrm>
            <a:off x="1252800" y="410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Move the blocking work off the loop.</a:t>
            </a:r>
            <a:r>
              <a:rPr sz="1600" b="0" i="0">
                <a:solidFill>
                  <a:srgbClr val="FFFFFF"/>
                </a:solidFill>
                <a:latin typeface="Avenir"/>
                <a:ea typeface="Avenir"/>
                <a:cs typeface="Avenir"/>
                <a:sym typeface="Avenir"/>
              </a:rPr>
              <a:t>  A thread for the arm, or a queue with one pending gesture, so the window never freezes.</a:t>
            </a:r>
          </a:p>
        </p:txBody>
      </p:sp>
      <p:sp>
        <p:nvSpPr>
          <p:cNvPr id="9" name="blk0316"/>
          <p:cNvSpPr/>
          <p:nvPr/>
        </p:nvSpPr>
        <p:spPr>
          <a:xfrm>
            <a:off x="741600" y="496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316"/>
          <p:cNvSpPr txBox="1"/>
          <p:nvPr/>
        </p:nvSpPr>
        <p:spPr>
          <a:xfrm>
            <a:off x="1252800" y="4932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Real velocities.</a:t>
            </a:r>
            <a:r>
              <a:rPr sz="1600" b="0" i="0">
                <a:solidFill>
                  <a:srgbClr val="FFFFFF"/>
                </a:solidFill>
                <a:latin typeface="Avenir"/>
                <a:ea typeface="Avenir"/>
                <a:cs typeface="Avenir"/>
                <a:sym typeface="Avenir"/>
              </a:rPr>
              <a:t>  </a:t>
            </a:r>
            <a:r>
              <a:rPr sz="1376" b="0" i="0">
                <a:solidFill>
                  <a:srgbClr val="FFFFFF"/>
                </a:solidFill>
                <a:latin typeface="Courier New"/>
                <a:ea typeface="Courier New"/>
                <a:cs typeface="Courier New"/>
                <a:sym typeface="Courier New"/>
              </a:rPr>
              <a:t>send_coords</a:t>
            </a:r>
            <a:r>
              <a:rPr sz="1600" b="0" i="0">
                <a:solidFill>
                  <a:srgbClr val="FFFFFF"/>
                </a:solidFill>
                <a:latin typeface="Avenir"/>
                <a:ea typeface="Avenir"/>
                <a:cs typeface="Avenir"/>
                <a:sym typeface="Avenir"/>
              </a:rPr>
              <a:t> takes a speed argument. Find out what the units are and make the gesture feel deliberate rather than slow.</a:t>
            </a:r>
          </a:p>
        </p:txBody>
      </p:sp>
      <p:sp>
        <p:nvSpPr>
          <p:cNvPr id="11" name="blk0317"/>
          <p:cNvSpPr/>
          <p:nvPr/>
        </p:nvSpPr>
        <p:spPr>
          <a:xfrm>
            <a:off x="741600" y="5788799"/>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317"/>
          <p:cNvSpPr txBox="1"/>
          <p:nvPr/>
        </p:nvSpPr>
        <p:spPr>
          <a:xfrm>
            <a:off x="1252800" y="5760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Check the tracker.</a:t>
            </a:r>
            <a:r>
              <a:rPr sz="1600" b="0" i="0">
                <a:solidFill>
                  <a:srgbClr val="FFFFFF"/>
                </a:solidFill>
                <a:latin typeface="Avenir"/>
                <a:ea typeface="Avenir"/>
                <a:cs typeface="Avenir"/>
                <a:sym typeface="Avenir"/>
              </a:rPr>
              <a:t>  The confidence thresholds are guesses. Instrument them and find out which one is actually rejecting your hand.</a:t>
            </a:r>
          </a:p>
        </p:txBody>
      </p:sp>
      <p:sp>
        <p:nvSpPr>
          <p:cNvPr id="13" name="blk0318"/>
          <p:cNvSpPr txBox="1"/>
          <p:nvPr/>
        </p:nvSpPr>
        <p:spPr>
          <a:xfrm>
            <a:off x="687600" y="6840000"/>
            <a:ext cx="7542000" cy="36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Pick one. Not all five.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319"/>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Debrief</a:t>
            </a:r>
          </a:p>
        </p:txBody>
      </p:sp>
      <p:sp>
        <p:nvSpPr>
          <p:cNvPr id="3" name="blk0320"/>
          <p:cNvSpPr txBox="1"/>
          <p:nvPr/>
        </p:nvSpPr>
        <p:spPr>
          <a:xfrm>
            <a:off x="687600" y="13356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project had three systems and one of them was optional, which turned out to be the interesting part.</a:t>
            </a:r>
          </a:p>
          <a:p>
            <a:pPr algn="l">
              <a:lnSpc>
                <a:spcPct val="100000"/>
              </a:lnSpc>
            </a:pPr>
            <a:r>
              <a:rPr sz="2027" b="0" i="0">
                <a:solidFill>
                  <a:srgbClr val="FFFFFF"/>
                </a:solidFill>
                <a:latin typeface="Avenir"/>
                <a:ea typeface="Avenir"/>
                <a:cs typeface="Avenir"/>
                <a:sym typeface="Avenir"/>
              </a:rPr>
              <a:t>The camera problem was solved by never letting a queue form. The arm problem was solved by a four and a half second sleep nobody could remove. The bug problem was solved by treating a printed message as a promise and checking it.</a:t>
            </a:r>
          </a:p>
          <a:p>
            <a:pPr algn="l">
              <a:lnSpc>
                <a:spcPct val="100000"/>
              </a:lnSpc>
            </a:pPr>
            <a:r>
              <a:rPr sz="2027" b="0" i="0">
                <a:solidFill>
                  <a:srgbClr val="FFFFFF"/>
                </a:solidFill>
                <a:latin typeface="Avenir"/>
                <a:ea typeface="Avenir"/>
                <a:cs typeface="Avenir"/>
                <a:sym typeface="Avenir"/>
              </a:rPr>
              <a:t>Every one of the four failures was quiet. No traceback, no exception, no error message — just a score that went up, a verdict that never appeared, and a message that promised something the program could not deliver.</a:t>
            </a:r>
          </a:p>
          <a:p>
            <a:pPr algn="l">
              <a:lnSpc>
                <a:spcPct val="100000"/>
              </a:lnSpc>
            </a:pPr>
            <a:r>
              <a:rPr sz="2027" b="0" i="0">
                <a:solidFill>
                  <a:srgbClr val="FFFFFF"/>
                </a:solidFill>
                <a:latin typeface="Avenir"/>
                <a:ea typeface="Avenir"/>
                <a:cs typeface="Avenir"/>
                <a:sym typeface="Avenir"/>
              </a:rPr>
              <a:t>Write the claim down first. Run it second.</a:t>
            </a:r>
            <a:r>
              <a:rPr sz="2027" b="0" i="0">
                <a:solidFill>
                  <a:srgbClr val="FFFFFF"/>
                </a:solidFill>
                <a:latin typeface="Avenir"/>
                <a:ea typeface="Avenir"/>
                <a:cs typeface="Avenir"/>
                <a:sym typeface="Avenir"/>
              </a:rPr>
              <a:t>
</a:t>
            </a:r>
            <a:r>
              <a:rPr sz="2027" b="0" i="0">
                <a:solidFill>
                  <a:srgbClr val="FFFFFF"/>
                </a:solidFill>
                <a:latin typeface="Avenir"/>
                <a:ea typeface="Avenir"/>
                <a:cs typeface="Avenir"/>
                <a:sym typeface="Avenir"/>
              </a:rPr>
              <a:t>That is the whole lesson, and it applies to every project in this module.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