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 id="2147483661" r:id="rId6"/>
  </p:sldMasterIdLst>
  <p:notesMasterIdLst>
    <p:notesMasterId r:id="rId7"/>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12"/>
    <p:sldId id="291" r:id="rId11"/>
    <p:sldId id="292" r:id="rId10"/>
    <p:sldId id="293" r:id="rId9"/>
    <p:sldId id="294" r:id="rId8"/>
    <p:sldId id="295" r:id="rId52"/>
    <p:sldId id="296" r:id="rId53"/>
    <p:sldId id="297" r:id="rId54"/>
    <p:sldId id="298" r:id="rId55"/>
    <p:sldId id="299" r:id="rId56"/>
    <p:sldId id="300" r:id="rId57"/>
    <p:sldId id="301" r:id="rId58"/>
    <p:sldId id="302" r:id="rId59"/>
    <p:sldId id="303" r:id="rId60"/>
    <p:sldId id="304" r:id="rId61"/>
    <p:sldId id="305" r:id="rId62"/>
  </p:sldIdLst>
  <p:sldSz cy="7772400" cx="10058400"/>
  <p:notesSz cx="6858000" cy="9144000"/>
  <p:embeddedFontLst>
    <p:embeddedFont>
      <p:font typeface="Google Sans"/>
      <p:regular r:id="rId47"/>
      <p:bold r:id="rId48"/>
      <p:italic r:id="rId49"/>
      <p:boldItalic r:id="rId50"/>
    </p:embeddedFont>
    <p:embeddedFont>
      <p:font typeface="Bungee"/>
      <p:regular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448">
          <p15:clr>
            <a:srgbClr val="747775"/>
          </p15:clr>
        </p15:guide>
        <p15:guide id="2" pos="316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BDFC22C-DABC-4BF4-A259-F465392D9469}">
  <a:tblStyle styleId="{FBDFC22C-DABC-4BF4-A259-F465392D946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448" orient="horz"/>
        <p:guide pos="31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39.xml"/><Relationship Id="rId9" Type="http://schemas.openxmlformats.org/officeDocument/2006/relationships/slide" Target="slides/slide38.xml"/><Relationship Id="rId10" Type="http://schemas.openxmlformats.org/officeDocument/2006/relationships/slide" Target="slides/slide37.xml"/><Relationship Id="rId11" Type="http://schemas.openxmlformats.org/officeDocument/2006/relationships/slide" Target="slides/slide36.xml"/><Relationship Id="rId12" Type="http://schemas.openxmlformats.org/officeDocument/2006/relationships/slide" Target="slides/slide35.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font" Target="fonts/GoogleSans-regular.fntdata"/><Relationship Id="rId48" Type="http://schemas.openxmlformats.org/officeDocument/2006/relationships/font" Target="fonts/GoogleSans-bold.fntdata"/><Relationship Id="rId49" Type="http://schemas.openxmlformats.org/officeDocument/2006/relationships/font" Target="fonts/GoogleSans-italic.fntdata"/><Relationship Id="rId50" Type="http://schemas.openxmlformats.org/officeDocument/2006/relationships/font" Target="fonts/GoogleSans-boldItalic.fntdata"/><Relationship Id="rId51" Type="http://schemas.openxmlformats.org/officeDocument/2006/relationships/font" Target="fonts/Bungee-regular.fntdata"/><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10545" y="685800"/>
            <a:ext cx="4437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42879" y="1125136"/>
            <a:ext cx="9372600" cy="3101700"/>
          </a:xfrm>
          <a:prstGeom prst="rect">
            <a:avLst/>
          </a:prstGeom>
          <a:noFill/>
          <a:ln>
            <a:noFill/>
          </a:ln>
        </p:spPr>
        <p:txBody>
          <a:bodyPr anchorCtr="0" anchor="b" bIns="113100" lIns="113100" spcFirstLastPara="1" rIns="113100" wrap="square" tIns="113100">
            <a:spAutoFit/>
          </a:bodyPr>
          <a:lstStyle>
            <a:lvl1pPr lvl="0" algn="ctr">
              <a:lnSpc>
                <a:spcPct val="100000"/>
              </a:lnSpc>
              <a:spcBef>
                <a:spcPts val="0"/>
              </a:spcBef>
              <a:spcAft>
                <a:spcPts val="0"/>
              </a:spcAft>
              <a:buSzPts val="6433"/>
              <a:buNone/>
              <a:defRPr sz="6433"/>
            </a:lvl1pPr>
            <a:lvl2pPr lvl="1" algn="ctr">
              <a:lnSpc>
                <a:spcPct val="100000"/>
              </a:lnSpc>
              <a:spcBef>
                <a:spcPts val="0"/>
              </a:spcBef>
              <a:spcAft>
                <a:spcPts val="0"/>
              </a:spcAft>
              <a:buSzPts val="6433"/>
              <a:buNone/>
              <a:defRPr sz="6433"/>
            </a:lvl2pPr>
            <a:lvl3pPr lvl="2" algn="ctr">
              <a:lnSpc>
                <a:spcPct val="100000"/>
              </a:lnSpc>
              <a:spcBef>
                <a:spcPts val="0"/>
              </a:spcBef>
              <a:spcAft>
                <a:spcPts val="0"/>
              </a:spcAft>
              <a:buSzPts val="6433"/>
              <a:buNone/>
              <a:defRPr sz="6433"/>
            </a:lvl3pPr>
            <a:lvl4pPr lvl="3" algn="ctr">
              <a:lnSpc>
                <a:spcPct val="100000"/>
              </a:lnSpc>
              <a:spcBef>
                <a:spcPts val="0"/>
              </a:spcBef>
              <a:spcAft>
                <a:spcPts val="0"/>
              </a:spcAft>
              <a:buSzPts val="6433"/>
              <a:buNone/>
              <a:defRPr sz="6433"/>
            </a:lvl4pPr>
            <a:lvl5pPr lvl="4" algn="ctr">
              <a:lnSpc>
                <a:spcPct val="100000"/>
              </a:lnSpc>
              <a:spcBef>
                <a:spcPts val="0"/>
              </a:spcBef>
              <a:spcAft>
                <a:spcPts val="0"/>
              </a:spcAft>
              <a:buSzPts val="6433"/>
              <a:buNone/>
              <a:defRPr sz="6433"/>
            </a:lvl5pPr>
            <a:lvl6pPr lvl="5" algn="ctr">
              <a:lnSpc>
                <a:spcPct val="100000"/>
              </a:lnSpc>
              <a:spcBef>
                <a:spcPts val="0"/>
              </a:spcBef>
              <a:spcAft>
                <a:spcPts val="0"/>
              </a:spcAft>
              <a:buSzPts val="6433"/>
              <a:buNone/>
              <a:defRPr sz="6433"/>
            </a:lvl6pPr>
            <a:lvl7pPr lvl="6" algn="ctr">
              <a:lnSpc>
                <a:spcPct val="100000"/>
              </a:lnSpc>
              <a:spcBef>
                <a:spcPts val="0"/>
              </a:spcBef>
              <a:spcAft>
                <a:spcPts val="0"/>
              </a:spcAft>
              <a:buSzPts val="6433"/>
              <a:buNone/>
              <a:defRPr sz="6433"/>
            </a:lvl7pPr>
            <a:lvl8pPr lvl="7" algn="ctr">
              <a:lnSpc>
                <a:spcPct val="100000"/>
              </a:lnSpc>
              <a:spcBef>
                <a:spcPts val="0"/>
              </a:spcBef>
              <a:spcAft>
                <a:spcPts val="0"/>
              </a:spcAft>
              <a:buSzPts val="6433"/>
              <a:buNone/>
              <a:defRPr sz="6433"/>
            </a:lvl8pPr>
            <a:lvl9pPr lvl="8" algn="ctr">
              <a:lnSpc>
                <a:spcPct val="100000"/>
              </a:lnSpc>
              <a:spcBef>
                <a:spcPts val="0"/>
              </a:spcBef>
              <a:spcAft>
                <a:spcPts val="0"/>
              </a:spcAft>
              <a:buSzPts val="6433"/>
              <a:buNone/>
              <a:defRPr sz="6433"/>
            </a:lvl9pPr>
          </a:lstStyle>
          <a:p/>
        </p:txBody>
      </p:sp>
      <p:sp>
        <p:nvSpPr>
          <p:cNvPr id="11" name="Google Shape;11;p2"/>
          <p:cNvSpPr txBox="1"/>
          <p:nvPr>
            <p:ph idx="1" type="subTitle"/>
          </p:nvPr>
        </p:nvSpPr>
        <p:spPr>
          <a:xfrm>
            <a:off x="342870" y="4282678"/>
            <a:ext cx="9372600" cy="1197600"/>
          </a:xfrm>
          <a:prstGeom prst="rect">
            <a:avLst/>
          </a:prstGeom>
          <a:noFill/>
          <a:ln>
            <a:noFill/>
          </a:ln>
        </p:spPr>
        <p:txBody>
          <a:bodyPr anchorCtr="0" anchor="t" bIns="113100" lIns="113100" spcFirstLastPara="1" rIns="113100" wrap="square" tIns="113100">
            <a:spAutoFit/>
          </a:bodyPr>
          <a:lstStyle>
            <a:lvl1pPr lvl="0" algn="ctr">
              <a:lnSpc>
                <a:spcPct val="100000"/>
              </a:lnSpc>
              <a:spcBef>
                <a:spcPts val="0"/>
              </a:spcBef>
              <a:spcAft>
                <a:spcPts val="0"/>
              </a:spcAft>
              <a:buSzPts val="3464"/>
              <a:buNone/>
              <a:defRPr sz="3464"/>
            </a:lvl1pPr>
            <a:lvl2pPr lvl="1" algn="ctr">
              <a:lnSpc>
                <a:spcPct val="100000"/>
              </a:lnSpc>
              <a:spcBef>
                <a:spcPts val="0"/>
              </a:spcBef>
              <a:spcAft>
                <a:spcPts val="0"/>
              </a:spcAft>
              <a:buSzPts val="3464"/>
              <a:buNone/>
              <a:defRPr sz="3464"/>
            </a:lvl2pPr>
            <a:lvl3pPr lvl="2" algn="ctr">
              <a:lnSpc>
                <a:spcPct val="100000"/>
              </a:lnSpc>
              <a:spcBef>
                <a:spcPts val="0"/>
              </a:spcBef>
              <a:spcAft>
                <a:spcPts val="0"/>
              </a:spcAft>
              <a:buSzPts val="3464"/>
              <a:buNone/>
              <a:defRPr sz="3464"/>
            </a:lvl3pPr>
            <a:lvl4pPr lvl="3" algn="ctr">
              <a:lnSpc>
                <a:spcPct val="100000"/>
              </a:lnSpc>
              <a:spcBef>
                <a:spcPts val="0"/>
              </a:spcBef>
              <a:spcAft>
                <a:spcPts val="0"/>
              </a:spcAft>
              <a:buSzPts val="3464"/>
              <a:buNone/>
              <a:defRPr sz="3464"/>
            </a:lvl4pPr>
            <a:lvl5pPr lvl="4" algn="ctr">
              <a:lnSpc>
                <a:spcPct val="100000"/>
              </a:lnSpc>
              <a:spcBef>
                <a:spcPts val="0"/>
              </a:spcBef>
              <a:spcAft>
                <a:spcPts val="0"/>
              </a:spcAft>
              <a:buSzPts val="3464"/>
              <a:buNone/>
              <a:defRPr sz="3464"/>
            </a:lvl5pPr>
            <a:lvl6pPr lvl="5" algn="ctr">
              <a:lnSpc>
                <a:spcPct val="100000"/>
              </a:lnSpc>
              <a:spcBef>
                <a:spcPts val="0"/>
              </a:spcBef>
              <a:spcAft>
                <a:spcPts val="0"/>
              </a:spcAft>
              <a:buSzPts val="3464"/>
              <a:buNone/>
              <a:defRPr sz="3464"/>
            </a:lvl6pPr>
            <a:lvl7pPr lvl="6" algn="ctr">
              <a:lnSpc>
                <a:spcPct val="100000"/>
              </a:lnSpc>
              <a:spcBef>
                <a:spcPts val="0"/>
              </a:spcBef>
              <a:spcAft>
                <a:spcPts val="0"/>
              </a:spcAft>
              <a:buSzPts val="3464"/>
              <a:buNone/>
              <a:defRPr sz="3464"/>
            </a:lvl7pPr>
            <a:lvl8pPr lvl="7" algn="ctr">
              <a:lnSpc>
                <a:spcPct val="100000"/>
              </a:lnSpc>
              <a:spcBef>
                <a:spcPts val="0"/>
              </a:spcBef>
              <a:spcAft>
                <a:spcPts val="0"/>
              </a:spcAft>
              <a:buSzPts val="3464"/>
              <a:buNone/>
              <a:defRPr sz="3464"/>
            </a:lvl8pPr>
            <a:lvl9pPr lvl="8" algn="ctr">
              <a:lnSpc>
                <a:spcPct val="100000"/>
              </a:lnSpc>
              <a:spcBef>
                <a:spcPts val="0"/>
              </a:spcBef>
              <a:spcAft>
                <a:spcPts val="0"/>
              </a:spcAft>
              <a:buSzPts val="3464"/>
              <a:buNone/>
              <a:defRPr sz="3464"/>
            </a:lvl9pPr>
          </a:lstStyle>
          <a:p/>
        </p:txBody>
      </p:sp>
      <p:sp>
        <p:nvSpPr>
          <p:cNvPr id="12" name="Google Shape;12;p2"/>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spAutoFit/>
          </a:bodyPr>
          <a:lstStyle>
            <a:lvl1pPr lvl="0" algn="l">
              <a:lnSpc>
                <a:spcPct val="100000"/>
              </a:lnSpc>
              <a:spcBef>
                <a:spcPts val="0"/>
              </a:spcBef>
              <a:spcAft>
                <a:spcPts val="0"/>
              </a:spcAft>
              <a:buSzPts val="3464"/>
              <a:buNone/>
              <a:defRPr sz="3464"/>
            </a:lvl1pPr>
            <a:lvl2pPr lvl="1" algn="l">
              <a:lnSpc>
                <a:spcPct val="100000"/>
              </a:lnSpc>
              <a:spcBef>
                <a:spcPts val="0"/>
              </a:spcBef>
              <a:spcAft>
                <a:spcPts val="0"/>
              </a:spcAft>
              <a:buSzPts val="3464"/>
              <a:buNone/>
              <a:defRPr sz="3464"/>
            </a:lvl2pPr>
            <a:lvl3pPr lvl="2" algn="l">
              <a:lnSpc>
                <a:spcPct val="100000"/>
              </a:lnSpc>
              <a:spcBef>
                <a:spcPts val="0"/>
              </a:spcBef>
              <a:spcAft>
                <a:spcPts val="0"/>
              </a:spcAft>
              <a:buSzPts val="3464"/>
              <a:buNone/>
              <a:defRPr sz="3464"/>
            </a:lvl3pPr>
            <a:lvl4pPr lvl="3" algn="l">
              <a:lnSpc>
                <a:spcPct val="100000"/>
              </a:lnSpc>
              <a:spcBef>
                <a:spcPts val="0"/>
              </a:spcBef>
              <a:spcAft>
                <a:spcPts val="0"/>
              </a:spcAft>
              <a:buSzPts val="3464"/>
              <a:buNone/>
              <a:defRPr sz="3464"/>
            </a:lvl4pPr>
            <a:lvl5pPr lvl="4" algn="l">
              <a:lnSpc>
                <a:spcPct val="100000"/>
              </a:lnSpc>
              <a:spcBef>
                <a:spcPts val="0"/>
              </a:spcBef>
              <a:spcAft>
                <a:spcPts val="0"/>
              </a:spcAft>
              <a:buSzPts val="3464"/>
              <a:buNone/>
              <a:defRPr sz="3464"/>
            </a:lvl5pPr>
            <a:lvl6pPr lvl="5" algn="l">
              <a:lnSpc>
                <a:spcPct val="100000"/>
              </a:lnSpc>
              <a:spcBef>
                <a:spcPts val="0"/>
              </a:spcBef>
              <a:spcAft>
                <a:spcPts val="0"/>
              </a:spcAft>
              <a:buSzPts val="3464"/>
              <a:buNone/>
              <a:defRPr sz="3464"/>
            </a:lvl6pPr>
            <a:lvl7pPr lvl="6" algn="l">
              <a:lnSpc>
                <a:spcPct val="100000"/>
              </a:lnSpc>
              <a:spcBef>
                <a:spcPts val="0"/>
              </a:spcBef>
              <a:spcAft>
                <a:spcPts val="0"/>
              </a:spcAft>
              <a:buSzPts val="3464"/>
              <a:buNone/>
              <a:defRPr sz="3464"/>
            </a:lvl7pPr>
            <a:lvl8pPr lvl="7" algn="l">
              <a:lnSpc>
                <a:spcPct val="100000"/>
              </a:lnSpc>
              <a:spcBef>
                <a:spcPts val="0"/>
              </a:spcBef>
              <a:spcAft>
                <a:spcPts val="0"/>
              </a:spcAft>
              <a:buSzPts val="3464"/>
              <a:buNone/>
              <a:defRPr sz="3464"/>
            </a:lvl8pPr>
            <a:lvl9pPr lvl="8" algn="l">
              <a:lnSpc>
                <a:spcPct val="100000"/>
              </a:lnSpc>
              <a:spcBef>
                <a:spcPts val="0"/>
              </a:spcBef>
              <a:spcAft>
                <a:spcPts val="0"/>
              </a:spcAft>
              <a:buSzPts val="3464"/>
              <a:buNone/>
              <a:defRPr sz="3464"/>
            </a:lvl9pPr>
          </a:lstStyle>
          <a:p/>
        </p:txBody>
      </p:sp>
      <p:sp>
        <p:nvSpPr>
          <p:cNvPr id="15" name="Google Shape;15;p3"/>
          <p:cNvSpPr txBox="1"/>
          <p:nvPr>
            <p:ph idx="1" type="body"/>
          </p:nvPr>
        </p:nvSpPr>
        <p:spPr>
          <a:xfrm>
            <a:off x="342870" y="1741518"/>
            <a:ext cx="9372600" cy="5162700"/>
          </a:xfrm>
          <a:prstGeom prst="rect">
            <a:avLst/>
          </a:prstGeom>
          <a:noFill/>
          <a:ln>
            <a:noFill/>
          </a:ln>
        </p:spPr>
        <p:txBody>
          <a:bodyPr anchorCtr="0" anchor="t" bIns="113100" lIns="113100" spcFirstLastPara="1" rIns="113100" wrap="square" tIns="113100">
            <a:spAutoFit/>
          </a:bodyPr>
          <a:lstStyle>
            <a:lvl1pPr indent="-370015" lvl="0" marL="457200" algn="l">
              <a:lnSpc>
                <a:spcPct val="115000"/>
              </a:lnSpc>
              <a:spcBef>
                <a:spcPts val="0"/>
              </a:spcBef>
              <a:spcAft>
                <a:spcPts val="0"/>
              </a:spcAft>
              <a:buSzPts val="2227"/>
              <a:buChar char="●"/>
              <a:defRPr sz="2227"/>
            </a:lvl1pPr>
            <a:lvl2pPr indent="-338582" lvl="1" marL="914400" algn="l">
              <a:lnSpc>
                <a:spcPct val="115000"/>
              </a:lnSpc>
              <a:spcBef>
                <a:spcPts val="0"/>
              </a:spcBef>
              <a:spcAft>
                <a:spcPts val="0"/>
              </a:spcAft>
              <a:buSzPts val="1732"/>
              <a:buChar char="○"/>
              <a:defRPr sz="1732"/>
            </a:lvl2pPr>
            <a:lvl3pPr indent="-338582" lvl="2" marL="1371600" algn="l">
              <a:lnSpc>
                <a:spcPct val="115000"/>
              </a:lnSpc>
              <a:spcBef>
                <a:spcPts val="0"/>
              </a:spcBef>
              <a:spcAft>
                <a:spcPts val="0"/>
              </a:spcAft>
              <a:buSzPts val="1732"/>
              <a:buChar char="■"/>
              <a:defRPr sz="1732"/>
            </a:lvl3pPr>
            <a:lvl4pPr indent="-338582" lvl="3" marL="1828800" algn="l">
              <a:lnSpc>
                <a:spcPct val="115000"/>
              </a:lnSpc>
              <a:spcBef>
                <a:spcPts val="0"/>
              </a:spcBef>
              <a:spcAft>
                <a:spcPts val="0"/>
              </a:spcAft>
              <a:buSzPts val="1732"/>
              <a:buChar char="●"/>
              <a:defRPr sz="1732"/>
            </a:lvl4pPr>
            <a:lvl5pPr indent="-338582" lvl="4" marL="2286000" algn="l">
              <a:lnSpc>
                <a:spcPct val="115000"/>
              </a:lnSpc>
              <a:spcBef>
                <a:spcPts val="0"/>
              </a:spcBef>
              <a:spcAft>
                <a:spcPts val="0"/>
              </a:spcAft>
              <a:buSzPts val="1732"/>
              <a:buChar char="○"/>
              <a:defRPr sz="1732"/>
            </a:lvl5pPr>
            <a:lvl6pPr indent="-338582" lvl="5" marL="2743200" algn="l">
              <a:lnSpc>
                <a:spcPct val="115000"/>
              </a:lnSpc>
              <a:spcBef>
                <a:spcPts val="0"/>
              </a:spcBef>
              <a:spcAft>
                <a:spcPts val="0"/>
              </a:spcAft>
              <a:buSzPts val="1732"/>
              <a:buChar char="■"/>
              <a:defRPr sz="1732"/>
            </a:lvl6pPr>
            <a:lvl7pPr indent="-338582" lvl="6" marL="3200400" algn="l">
              <a:lnSpc>
                <a:spcPct val="115000"/>
              </a:lnSpc>
              <a:spcBef>
                <a:spcPts val="0"/>
              </a:spcBef>
              <a:spcAft>
                <a:spcPts val="0"/>
              </a:spcAft>
              <a:buSzPts val="1732"/>
              <a:buChar char="●"/>
              <a:defRPr sz="1732"/>
            </a:lvl7pPr>
            <a:lvl8pPr indent="-338582" lvl="7" marL="3657600" algn="l">
              <a:lnSpc>
                <a:spcPct val="115000"/>
              </a:lnSpc>
              <a:spcBef>
                <a:spcPts val="0"/>
              </a:spcBef>
              <a:spcAft>
                <a:spcPts val="0"/>
              </a:spcAft>
              <a:buSzPts val="1732"/>
              <a:buChar char="○"/>
              <a:defRPr sz="1732"/>
            </a:lvl8pPr>
            <a:lvl9pPr indent="-338582" lvl="8" marL="4114800" algn="l">
              <a:lnSpc>
                <a:spcPct val="115000"/>
              </a:lnSpc>
              <a:spcBef>
                <a:spcPts val="0"/>
              </a:spcBef>
              <a:spcAft>
                <a:spcPts val="0"/>
              </a:spcAft>
              <a:buSzPts val="1732"/>
              <a:buChar char="■"/>
              <a:defRPr sz="1732"/>
            </a:lvl9pPr>
          </a:lstStyle>
          <a:p/>
        </p:txBody>
      </p:sp>
      <p:sp>
        <p:nvSpPr>
          <p:cNvPr id="16" name="Google Shape;16;p3"/>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
          <p:cNvSpPr txBox="1"/>
          <p:nvPr>
            <p:ph type="title"/>
          </p:nvPr>
        </p:nvSpPr>
        <p:spPr>
          <a:xfrm>
            <a:off x="342870" y="3250173"/>
            <a:ext cx="9372600" cy="1272000"/>
          </a:xfrm>
          <a:prstGeom prst="rect">
            <a:avLst/>
          </a:prstGeom>
          <a:noFill/>
          <a:ln>
            <a:noFill/>
          </a:ln>
        </p:spPr>
        <p:txBody>
          <a:bodyPr anchorCtr="0" anchor="ctr" bIns="113100" lIns="113100" spcFirstLastPara="1" rIns="113100" wrap="square" tIns="113100">
            <a:spAutoFit/>
          </a:bodyPr>
          <a:lstStyle>
            <a:lvl1pPr lvl="0" algn="ctr">
              <a:lnSpc>
                <a:spcPct val="100000"/>
              </a:lnSpc>
              <a:spcBef>
                <a:spcPts val="0"/>
              </a:spcBef>
              <a:spcAft>
                <a:spcPts val="0"/>
              </a:spcAft>
              <a:buSzPts val="4453"/>
              <a:buNone/>
              <a:defRPr sz="4453"/>
            </a:lvl1pPr>
            <a:lvl2pPr lvl="1" algn="ctr">
              <a:lnSpc>
                <a:spcPct val="100000"/>
              </a:lnSpc>
              <a:spcBef>
                <a:spcPts val="0"/>
              </a:spcBef>
              <a:spcAft>
                <a:spcPts val="0"/>
              </a:spcAft>
              <a:buSzPts val="4453"/>
              <a:buNone/>
              <a:defRPr sz="4453"/>
            </a:lvl2pPr>
            <a:lvl3pPr lvl="2" algn="ctr">
              <a:lnSpc>
                <a:spcPct val="100000"/>
              </a:lnSpc>
              <a:spcBef>
                <a:spcPts val="0"/>
              </a:spcBef>
              <a:spcAft>
                <a:spcPts val="0"/>
              </a:spcAft>
              <a:buSzPts val="4453"/>
              <a:buNone/>
              <a:defRPr sz="4453"/>
            </a:lvl3pPr>
            <a:lvl4pPr lvl="3" algn="ctr">
              <a:lnSpc>
                <a:spcPct val="100000"/>
              </a:lnSpc>
              <a:spcBef>
                <a:spcPts val="0"/>
              </a:spcBef>
              <a:spcAft>
                <a:spcPts val="0"/>
              </a:spcAft>
              <a:buSzPts val="4453"/>
              <a:buNone/>
              <a:defRPr sz="4453"/>
            </a:lvl4pPr>
            <a:lvl5pPr lvl="4" algn="ctr">
              <a:lnSpc>
                <a:spcPct val="100000"/>
              </a:lnSpc>
              <a:spcBef>
                <a:spcPts val="0"/>
              </a:spcBef>
              <a:spcAft>
                <a:spcPts val="0"/>
              </a:spcAft>
              <a:buSzPts val="4453"/>
              <a:buNone/>
              <a:defRPr sz="4453"/>
            </a:lvl5pPr>
            <a:lvl6pPr lvl="5" algn="ctr">
              <a:lnSpc>
                <a:spcPct val="100000"/>
              </a:lnSpc>
              <a:spcBef>
                <a:spcPts val="0"/>
              </a:spcBef>
              <a:spcAft>
                <a:spcPts val="0"/>
              </a:spcAft>
              <a:buSzPts val="4453"/>
              <a:buNone/>
              <a:defRPr sz="4453"/>
            </a:lvl6pPr>
            <a:lvl7pPr lvl="6" algn="ctr">
              <a:lnSpc>
                <a:spcPct val="100000"/>
              </a:lnSpc>
              <a:spcBef>
                <a:spcPts val="0"/>
              </a:spcBef>
              <a:spcAft>
                <a:spcPts val="0"/>
              </a:spcAft>
              <a:buSzPts val="4453"/>
              <a:buNone/>
              <a:defRPr sz="4453"/>
            </a:lvl7pPr>
            <a:lvl8pPr lvl="7" algn="ctr">
              <a:lnSpc>
                <a:spcPct val="100000"/>
              </a:lnSpc>
              <a:spcBef>
                <a:spcPts val="0"/>
              </a:spcBef>
              <a:spcAft>
                <a:spcPts val="0"/>
              </a:spcAft>
              <a:buSzPts val="4453"/>
              <a:buNone/>
              <a:defRPr sz="4453"/>
            </a:lvl8pPr>
            <a:lvl9pPr lvl="8" algn="ctr">
              <a:lnSpc>
                <a:spcPct val="100000"/>
              </a:lnSpc>
              <a:spcBef>
                <a:spcPts val="0"/>
              </a:spcBef>
              <a:spcAft>
                <a:spcPts val="0"/>
              </a:spcAft>
              <a:buSzPts val="4453"/>
              <a:buNone/>
              <a:defRPr sz="4453"/>
            </a:lvl9pPr>
          </a:lstStyle>
          <a:p/>
        </p:txBody>
      </p:sp>
      <p:sp>
        <p:nvSpPr>
          <p:cNvPr id="19" name="Google Shape;19;p4"/>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spAutoFit/>
          </a:bodyPr>
          <a:lstStyle>
            <a:lvl1pPr lvl="0" algn="l">
              <a:lnSpc>
                <a:spcPct val="100000"/>
              </a:lnSpc>
              <a:spcBef>
                <a:spcPts val="0"/>
              </a:spcBef>
              <a:spcAft>
                <a:spcPts val="0"/>
              </a:spcAft>
              <a:buSzPts val="3464"/>
              <a:buNone/>
              <a:defRPr sz="3464"/>
            </a:lvl1pPr>
            <a:lvl2pPr lvl="1" algn="l">
              <a:lnSpc>
                <a:spcPct val="100000"/>
              </a:lnSpc>
              <a:spcBef>
                <a:spcPts val="0"/>
              </a:spcBef>
              <a:spcAft>
                <a:spcPts val="0"/>
              </a:spcAft>
              <a:buSzPts val="3464"/>
              <a:buNone/>
              <a:defRPr sz="3464"/>
            </a:lvl2pPr>
            <a:lvl3pPr lvl="2" algn="l">
              <a:lnSpc>
                <a:spcPct val="100000"/>
              </a:lnSpc>
              <a:spcBef>
                <a:spcPts val="0"/>
              </a:spcBef>
              <a:spcAft>
                <a:spcPts val="0"/>
              </a:spcAft>
              <a:buSzPts val="3464"/>
              <a:buNone/>
              <a:defRPr sz="3464"/>
            </a:lvl3pPr>
            <a:lvl4pPr lvl="3" algn="l">
              <a:lnSpc>
                <a:spcPct val="100000"/>
              </a:lnSpc>
              <a:spcBef>
                <a:spcPts val="0"/>
              </a:spcBef>
              <a:spcAft>
                <a:spcPts val="0"/>
              </a:spcAft>
              <a:buSzPts val="3464"/>
              <a:buNone/>
              <a:defRPr sz="3464"/>
            </a:lvl4pPr>
            <a:lvl5pPr lvl="4" algn="l">
              <a:lnSpc>
                <a:spcPct val="100000"/>
              </a:lnSpc>
              <a:spcBef>
                <a:spcPts val="0"/>
              </a:spcBef>
              <a:spcAft>
                <a:spcPts val="0"/>
              </a:spcAft>
              <a:buSzPts val="3464"/>
              <a:buNone/>
              <a:defRPr sz="3464"/>
            </a:lvl5pPr>
            <a:lvl6pPr lvl="5" algn="l">
              <a:lnSpc>
                <a:spcPct val="100000"/>
              </a:lnSpc>
              <a:spcBef>
                <a:spcPts val="0"/>
              </a:spcBef>
              <a:spcAft>
                <a:spcPts val="0"/>
              </a:spcAft>
              <a:buSzPts val="3464"/>
              <a:buNone/>
              <a:defRPr sz="3464"/>
            </a:lvl6pPr>
            <a:lvl7pPr lvl="6" algn="l">
              <a:lnSpc>
                <a:spcPct val="100000"/>
              </a:lnSpc>
              <a:spcBef>
                <a:spcPts val="0"/>
              </a:spcBef>
              <a:spcAft>
                <a:spcPts val="0"/>
              </a:spcAft>
              <a:buSzPts val="3464"/>
              <a:buNone/>
              <a:defRPr sz="3464"/>
            </a:lvl7pPr>
            <a:lvl8pPr lvl="7" algn="l">
              <a:lnSpc>
                <a:spcPct val="100000"/>
              </a:lnSpc>
              <a:spcBef>
                <a:spcPts val="0"/>
              </a:spcBef>
              <a:spcAft>
                <a:spcPts val="0"/>
              </a:spcAft>
              <a:buSzPts val="3464"/>
              <a:buNone/>
              <a:defRPr sz="3464"/>
            </a:lvl8pPr>
            <a:lvl9pPr lvl="8" algn="l">
              <a:lnSpc>
                <a:spcPct val="100000"/>
              </a:lnSpc>
              <a:spcBef>
                <a:spcPts val="0"/>
              </a:spcBef>
              <a:spcAft>
                <a:spcPts val="0"/>
              </a:spcAft>
              <a:buSzPts val="3464"/>
              <a:buNone/>
              <a:defRPr sz="3464"/>
            </a:lvl9pPr>
          </a:lstStyle>
          <a:p/>
        </p:txBody>
      </p:sp>
      <p:sp>
        <p:nvSpPr>
          <p:cNvPr id="22" name="Google Shape;22;p5"/>
          <p:cNvSpPr txBox="1"/>
          <p:nvPr>
            <p:ph idx="1" type="body"/>
          </p:nvPr>
        </p:nvSpPr>
        <p:spPr>
          <a:xfrm>
            <a:off x="342870" y="1741518"/>
            <a:ext cx="4399800" cy="5162700"/>
          </a:xfrm>
          <a:prstGeom prst="rect">
            <a:avLst/>
          </a:prstGeom>
          <a:noFill/>
          <a:ln>
            <a:noFill/>
          </a:ln>
        </p:spPr>
        <p:txBody>
          <a:bodyPr anchorCtr="0" anchor="t" bIns="113100" lIns="113100" spcFirstLastPara="1" rIns="113100" wrap="square" tIns="113100">
            <a:spAutoFit/>
          </a:bodyPr>
          <a:lstStyle>
            <a:lvl1pPr indent="-338582" lvl="0" marL="457200" algn="l">
              <a:lnSpc>
                <a:spcPct val="115000"/>
              </a:lnSpc>
              <a:spcBef>
                <a:spcPts val="0"/>
              </a:spcBef>
              <a:spcAft>
                <a:spcPts val="0"/>
              </a:spcAft>
              <a:buSzPts val="1732"/>
              <a:buChar char="●"/>
              <a:defRPr sz="1732"/>
            </a:lvl1pPr>
            <a:lvl2pPr indent="-322834" lvl="1" marL="914400" algn="l">
              <a:lnSpc>
                <a:spcPct val="115000"/>
              </a:lnSpc>
              <a:spcBef>
                <a:spcPts val="0"/>
              </a:spcBef>
              <a:spcAft>
                <a:spcPts val="0"/>
              </a:spcAft>
              <a:buSzPts val="1484"/>
              <a:buChar char="○"/>
              <a:defRPr sz="1484"/>
            </a:lvl2pPr>
            <a:lvl3pPr indent="-322834" lvl="2" marL="1371600" algn="l">
              <a:lnSpc>
                <a:spcPct val="115000"/>
              </a:lnSpc>
              <a:spcBef>
                <a:spcPts val="0"/>
              </a:spcBef>
              <a:spcAft>
                <a:spcPts val="0"/>
              </a:spcAft>
              <a:buSzPts val="1484"/>
              <a:buChar char="■"/>
              <a:defRPr sz="1484"/>
            </a:lvl3pPr>
            <a:lvl4pPr indent="-322834" lvl="3" marL="1828800" algn="l">
              <a:lnSpc>
                <a:spcPct val="115000"/>
              </a:lnSpc>
              <a:spcBef>
                <a:spcPts val="0"/>
              </a:spcBef>
              <a:spcAft>
                <a:spcPts val="0"/>
              </a:spcAft>
              <a:buSzPts val="1484"/>
              <a:buChar char="●"/>
              <a:defRPr sz="1484"/>
            </a:lvl4pPr>
            <a:lvl5pPr indent="-322834" lvl="4" marL="2286000" algn="l">
              <a:lnSpc>
                <a:spcPct val="115000"/>
              </a:lnSpc>
              <a:spcBef>
                <a:spcPts val="0"/>
              </a:spcBef>
              <a:spcAft>
                <a:spcPts val="0"/>
              </a:spcAft>
              <a:buSzPts val="1484"/>
              <a:buChar char="○"/>
              <a:defRPr sz="1484"/>
            </a:lvl5pPr>
            <a:lvl6pPr indent="-322834" lvl="5" marL="2743200" algn="l">
              <a:lnSpc>
                <a:spcPct val="115000"/>
              </a:lnSpc>
              <a:spcBef>
                <a:spcPts val="0"/>
              </a:spcBef>
              <a:spcAft>
                <a:spcPts val="0"/>
              </a:spcAft>
              <a:buSzPts val="1484"/>
              <a:buChar char="■"/>
              <a:defRPr sz="1484"/>
            </a:lvl6pPr>
            <a:lvl7pPr indent="-322834" lvl="6" marL="3200400" algn="l">
              <a:lnSpc>
                <a:spcPct val="115000"/>
              </a:lnSpc>
              <a:spcBef>
                <a:spcPts val="0"/>
              </a:spcBef>
              <a:spcAft>
                <a:spcPts val="0"/>
              </a:spcAft>
              <a:buSzPts val="1484"/>
              <a:buChar char="●"/>
              <a:defRPr sz="1484"/>
            </a:lvl7pPr>
            <a:lvl8pPr indent="-322834" lvl="7" marL="3657600" algn="l">
              <a:lnSpc>
                <a:spcPct val="115000"/>
              </a:lnSpc>
              <a:spcBef>
                <a:spcPts val="0"/>
              </a:spcBef>
              <a:spcAft>
                <a:spcPts val="0"/>
              </a:spcAft>
              <a:buSzPts val="1484"/>
              <a:buChar char="○"/>
              <a:defRPr sz="1484"/>
            </a:lvl8pPr>
            <a:lvl9pPr indent="-322834" lvl="8" marL="4114800" algn="l">
              <a:lnSpc>
                <a:spcPct val="115000"/>
              </a:lnSpc>
              <a:spcBef>
                <a:spcPts val="0"/>
              </a:spcBef>
              <a:spcAft>
                <a:spcPts val="0"/>
              </a:spcAft>
              <a:buSzPts val="1484"/>
              <a:buChar char="■"/>
              <a:defRPr sz="1484"/>
            </a:lvl9pPr>
          </a:lstStyle>
          <a:p/>
        </p:txBody>
      </p:sp>
      <p:sp>
        <p:nvSpPr>
          <p:cNvPr id="23" name="Google Shape;23;p5"/>
          <p:cNvSpPr txBox="1"/>
          <p:nvPr>
            <p:ph idx="2" type="body"/>
          </p:nvPr>
        </p:nvSpPr>
        <p:spPr>
          <a:xfrm>
            <a:off x="5315640" y="1741518"/>
            <a:ext cx="4399800" cy="5162700"/>
          </a:xfrm>
          <a:prstGeom prst="rect">
            <a:avLst/>
          </a:prstGeom>
          <a:noFill/>
          <a:ln>
            <a:noFill/>
          </a:ln>
        </p:spPr>
        <p:txBody>
          <a:bodyPr anchorCtr="0" anchor="t" bIns="113100" lIns="113100" spcFirstLastPara="1" rIns="113100" wrap="square" tIns="113100">
            <a:spAutoFit/>
          </a:bodyPr>
          <a:lstStyle>
            <a:lvl1pPr indent="-338582" lvl="0" marL="457200" algn="l">
              <a:lnSpc>
                <a:spcPct val="115000"/>
              </a:lnSpc>
              <a:spcBef>
                <a:spcPts val="0"/>
              </a:spcBef>
              <a:spcAft>
                <a:spcPts val="0"/>
              </a:spcAft>
              <a:buSzPts val="1732"/>
              <a:buChar char="●"/>
              <a:defRPr sz="1732"/>
            </a:lvl1pPr>
            <a:lvl2pPr indent="-322834" lvl="1" marL="914400" algn="l">
              <a:lnSpc>
                <a:spcPct val="115000"/>
              </a:lnSpc>
              <a:spcBef>
                <a:spcPts val="0"/>
              </a:spcBef>
              <a:spcAft>
                <a:spcPts val="0"/>
              </a:spcAft>
              <a:buSzPts val="1484"/>
              <a:buChar char="○"/>
              <a:defRPr sz="1484"/>
            </a:lvl2pPr>
            <a:lvl3pPr indent="-322834" lvl="2" marL="1371600" algn="l">
              <a:lnSpc>
                <a:spcPct val="115000"/>
              </a:lnSpc>
              <a:spcBef>
                <a:spcPts val="0"/>
              </a:spcBef>
              <a:spcAft>
                <a:spcPts val="0"/>
              </a:spcAft>
              <a:buSzPts val="1484"/>
              <a:buChar char="■"/>
              <a:defRPr sz="1484"/>
            </a:lvl3pPr>
            <a:lvl4pPr indent="-322834" lvl="3" marL="1828800" algn="l">
              <a:lnSpc>
                <a:spcPct val="115000"/>
              </a:lnSpc>
              <a:spcBef>
                <a:spcPts val="0"/>
              </a:spcBef>
              <a:spcAft>
                <a:spcPts val="0"/>
              </a:spcAft>
              <a:buSzPts val="1484"/>
              <a:buChar char="●"/>
              <a:defRPr sz="1484"/>
            </a:lvl4pPr>
            <a:lvl5pPr indent="-322834" lvl="4" marL="2286000" algn="l">
              <a:lnSpc>
                <a:spcPct val="115000"/>
              </a:lnSpc>
              <a:spcBef>
                <a:spcPts val="0"/>
              </a:spcBef>
              <a:spcAft>
                <a:spcPts val="0"/>
              </a:spcAft>
              <a:buSzPts val="1484"/>
              <a:buChar char="○"/>
              <a:defRPr sz="1484"/>
            </a:lvl5pPr>
            <a:lvl6pPr indent="-322834" lvl="5" marL="2743200" algn="l">
              <a:lnSpc>
                <a:spcPct val="115000"/>
              </a:lnSpc>
              <a:spcBef>
                <a:spcPts val="0"/>
              </a:spcBef>
              <a:spcAft>
                <a:spcPts val="0"/>
              </a:spcAft>
              <a:buSzPts val="1484"/>
              <a:buChar char="■"/>
              <a:defRPr sz="1484"/>
            </a:lvl6pPr>
            <a:lvl7pPr indent="-322834" lvl="6" marL="3200400" algn="l">
              <a:lnSpc>
                <a:spcPct val="115000"/>
              </a:lnSpc>
              <a:spcBef>
                <a:spcPts val="0"/>
              </a:spcBef>
              <a:spcAft>
                <a:spcPts val="0"/>
              </a:spcAft>
              <a:buSzPts val="1484"/>
              <a:buChar char="●"/>
              <a:defRPr sz="1484"/>
            </a:lvl7pPr>
            <a:lvl8pPr indent="-322834" lvl="7" marL="3657600" algn="l">
              <a:lnSpc>
                <a:spcPct val="115000"/>
              </a:lnSpc>
              <a:spcBef>
                <a:spcPts val="0"/>
              </a:spcBef>
              <a:spcAft>
                <a:spcPts val="0"/>
              </a:spcAft>
              <a:buSzPts val="1484"/>
              <a:buChar char="○"/>
              <a:defRPr sz="1484"/>
            </a:lvl8pPr>
            <a:lvl9pPr indent="-322834" lvl="8" marL="4114800" algn="l">
              <a:lnSpc>
                <a:spcPct val="115000"/>
              </a:lnSpc>
              <a:spcBef>
                <a:spcPts val="0"/>
              </a:spcBef>
              <a:spcAft>
                <a:spcPts val="0"/>
              </a:spcAft>
              <a:buSzPts val="1484"/>
              <a:buChar char="■"/>
              <a:defRPr sz="1484"/>
            </a:lvl9pPr>
          </a:lstStyle>
          <a:p/>
        </p:txBody>
      </p:sp>
      <p:sp>
        <p:nvSpPr>
          <p:cNvPr id="24" name="Google Shape;24;p5"/>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spAutoFit/>
          </a:bodyPr>
          <a:lstStyle>
            <a:lvl1pPr lvl="0" algn="l">
              <a:lnSpc>
                <a:spcPct val="100000"/>
              </a:lnSpc>
              <a:spcBef>
                <a:spcPts val="0"/>
              </a:spcBef>
              <a:spcAft>
                <a:spcPts val="0"/>
              </a:spcAft>
              <a:buSzPts val="3464"/>
              <a:buNone/>
              <a:defRPr sz="3464"/>
            </a:lvl1pPr>
            <a:lvl2pPr lvl="1" algn="l">
              <a:lnSpc>
                <a:spcPct val="100000"/>
              </a:lnSpc>
              <a:spcBef>
                <a:spcPts val="0"/>
              </a:spcBef>
              <a:spcAft>
                <a:spcPts val="0"/>
              </a:spcAft>
              <a:buSzPts val="3464"/>
              <a:buNone/>
              <a:defRPr sz="3464"/>
            </a:lvl2pPr>
            <a:lvl3pPr lvl="2" algn="l">
              <a:lnSpc>
                <a:spcPct val="100000"/>
              </a:lnSpc>
              <a:spcBef>
                <a:spcPts val="0"/>
              </a:spcBef>
              <a:spcAft>
                <a:spcPts val="0"/>
              </a:spcAft>
              <a:buSzPts val="3464"/>
              <a:buNone/>
              <a:defRPr sz="3464"/>
            </a:lvl3pPr>
            <a:lvl4pPr lvl="3" algn="l">
              <a:lnSpc>
                <a:spcPct val="100000"/>
              </a:lnSpc>
              <a:spcBef>
                <a:spcPts val="0"/>
              </a:spcBef>
              <a:spcAft>
                <a:spcPts val="0"/>
              </a:spcAft>
              <a:buSzPts val="3464"/>
              <a:buNone/>
              <a:defRPr sz="3464"/>
            </a:lvl4pPr>
            <a:lvl5pPr lvl="4" algn="l">
              <a:lnSpc>
                <a:spcPct val="100000"/>
              </a:lnSpc>
              <a:spcBef>
                <a:spcPts val="0"/>
              </a:spcBef>
              <a:spcAft>
                <a:spcPts val="0"/>
              </a:spcAft>
              <a:buSzPts val="3464"/>
              <a:buNone/>
              <a:defRPr sz="3464"/>
            </a:lvl5pPr>
            <a:lvl6pPr lvl="5" algn="l">
              <a:lnSpc>
                <a:spcPct val="100000"/>
              </a:lnSpc>
              <a:spcBef>
                <a:spcPts val="0"/>
              </a:spcBef>
              <a:spcAft>
                <a:spcPts val="0"/>
              </a:spcAft>
              <a:buSzPts val="3464"/>
              <a:buNone/>
              <a:defRPr sz="3464"/>
            </a:lvl6pPr>
            <a:lvl7pPr lvl="6" algn="l">
              <a:lnSpc>
                <a:spcPct val="100000"/>
              </a:lnSpc>
              <a:spcBef>
                <a:spcPts val="0"/>
              </a:spcBef>
              <a:spcAft>
                <a:spcPts val="0"/>
              </a:spcAft>
              <a:buSzPts val="3464"/>
              <a:buNone/>
              <a:defRPr sz="3464"/>
            </a:lvl7pPr>
            <a:lvl8pPr lvl="7" algn="l">
              <a:lnSpc>
                <a:spcPct val="100000"/>
              </a:lnSpc>
              <a:spcBef>
                <a:spcPts val="0"/>
              </a:spcBef>
              <a:spcAft>
                <a:spcPts val="0"/>
              </a:spcAft>
              <a:buSzPts val="3464"/>
              <a:buNone/>
              <a:defRPr sz="3464"/>
            </a:lvl8pPr>
            <a:lvl9pPr lvl="8" algn="l">
              <a:lnSpc>
                <a:spcPct val="100000"/>
              </a:lnSpc>
              <a:spcBef>
                <a:spcPts val="0"/>
              </a:spcBef>
              <a:spcAft>
                <a:spcPts val="0"/>
              </a:spcAft>
              <a:buSzPts val="3464"/>
              <a:buNone/>
              <a:defRPr sz="3464"/>
            </a:lvl9pPr>
          </a:lstStyle>
          <a:p/>
        </p:txBody>
      </p:sp>
      <p:sp>
        <p:nvSpPr>
          <p:cNvPr id="27" name="Google Shape;27;p6"/>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42870" y="839573"/>
            <a:ext cx="3088800" cy="1141800"/>
          </a:xfrm>
          <a:prstGeom prst="rect">
            <a:avLst/>
          </a:prstGeom>
          <a:noFill/>
          <a:ln>
            <a:noFill/>
          </a:ln>
        </p:spPr>
        <p:txBody>
          <a:bodyPr anchorCtr="0" anchor="b" bIns="113100" lIns="113100" spcFirstLastPara="1" rIns="113100" wrap="square" tIns="113100">
            <a:spAutoFit/>
          </a:bodyPr>
          <a:lstStyle>
            <a:lvl1pPr lvl="0" algn="l">
              <a:lnSpc>
                <a:spcPct val="100000"/>
              </a:lnSpc>
              <a:spcBef>
                <a:spcPts val="0"/>
              </a:spcBef>
              <a:spcAft>
                <a:spcPts val="0"/>
              </a:spcAft>
              <a:buSzPts val="2969"/>
              <a:buNone/>
              <a:defRPr sz="2969"/>
            </a:lvl1pPr>
            <a:lvl2pPr lvl="1" algn="l">
              <a:lnSpc>
                <a:spcPct val="100000"/>
              </a:lnSpc>
              <a:spcBef>
                <a:spcPts val="0"/>
              </a:spcBef>
              <a:spcAft>
                <a:spcPts val="0"/>
              </a:spcAft>
              <a:buSzPts val="2969"/>
              <a:buNone/>
              <a:defRPr sz="2969"/>
            </a:lvl2pPr>
            <a:lvl3pPr lvl="2" algn="l">
              <a:lnSpc>
                <a:spcPct val="100000"/>
              </a:lnSpc>
              <a:spcBef>
                <a:spcPts val="0"/>
              </a:spcBef>
              <a:spcAft>
                <a:spcPts val="0"/>
              </a:spcAft>
              <a:buSzPts val="2969"/>
              <a:buNone/>
              <a:defRPr sz="2969"/>
            </a:lvl3pPr>
            <a:lvl4pPr lvl="3" algn="l">
              <a:lnSpc>
                <a:spcPct val="100000"/>
              </a:lnSpc>
              <a:spcBef>
                <a:spcPts val="0"/>
              </a:spcBef>
              <a:spcAft>
                <a:spcPts val="0"/>
              </a:spcAft>
              <a:buSzPts val="2969"/>
              <a:buNone/>
              <a:defRPr sz="2969"/>
            </a:lvl4pPr>
            <a:lvl5pPr lvl="4" algn="l">
              <a:lnSpc>
                <a:spcPct val="100000"/>
              </a:lnSpc>
              <a:spcBef>
                <a:spcPts val="0"/>
              </a:spcBef>
              <a:spcAft>
                <a:spcPts val="0"/>
              </a:spcAft>
              <a:buSzPts val="2969"/>
              <a:buNone/>
              <a:defRPr sz="2969"/>
            </a:lvl5pPr>
            <a:lvl6pPr lvl="5" algn="l">
              <a:lnSpc>
                <a:spcPct val="100000"/>
              </a:lnSpc>
              <a:spcBef>
                <a:spcPts val="0"/>
              </a:spcBef>
              <a:spcAft>
                <a:spcPts val="0"/>
              </a:spcAft>
              <a:buSzPts val="2969"/>
              <a:buNone/>
              <a:defRPr sz="2969"/>
            </a:lvl6pPr>
            <a:lvl7pPr lvl="6" algn="l">
              <a:lnSpc>
                <a:spcPct val="100000"/>
              </a:lnSpc>
              <a:spcBef>
                <a:spcPts val="0"/>
              </a:spcBef>
              <a:spcAft>
                <a:spcPts val="0"/>
              </a:spcAft>
              <a:buSzPts val="2969"/>
              <a:buNone/>
              <a:defRPr sz="2969"/>
            </a:lvl7pPr>
            <a:lvl8pPr lvl="7" algn="l">
              <a:lnSpc>
                <a:spcPct val="100000"/>
              </a:lnSpc>
              <a:spcBef>
                <a:spcPts val="0"/>
              </a:spcBef>
              <a:spcAft>
                <a:spcPts val="0"/>
              </a:spcAft>
              <a:buSzPts val="2969"/>
              <a:buNone/>
              <a:defRPr sz="2969"/>
            </a:lvl8pPr>
            <a:lvl9pPr lvl="8" algn="l">
              <a:lnSpc>
                <a:spcPct val="100000"/>
              </a:lnSpc>
              <a:spcBef>
                <a:spcPts val="0"/>
              </a:spcBef>
              <a:spcAft>
                <a:spcPts val="0"/>
              </a:spcAft>
              <a:buSzPts val="2969"/>
              <a:buNone/>
              <a:defRPr sz="2969"/>
            </a:lvl9pPr>
          </a:lstStyle>
          <a:p/>
        </p:txBody>
      </p:sp>
      <p:sp>
        <p:nvSpPr>
          <p:cNvPr id="30" name="Google Shape;30;p7"/>
          <p:cNvSpPr txBox="1"/>
          <p:nvPr>
            <p:ph idx="1" type="body"/>
          </p:nvPr>
        </p:nvSpPr>
        <p:spPr>
          <a:xfrm>
            <a:off x="342870" y="2099840"/>
            <a:ext cx="3088800" cy="4804500"/>
          </a:xfrm>
          <a:prstGeom prst="rect">
            <a:avLst/>
          </a:prstGeom>
          <a:noFill/>
          <a:ln>
            <a:noFill/>
          </a:ln>
        </p:spPr>
        <p:txBody>
          <a:bodyPr anchorCtr="0" anchor="t" bIns="113100" lIns="113100" spcFirstLastPara="1" rIns="113100" wrap="square" tIns="113100">
            <a:spAutoFit/>
          </a:bodyPr>
          <a:lstStyle>
            <a:lvl1pPr indent="-322834" lvl="0" marL="457200" algn="l">
              <a:lnSpc>
                <a:spcPct val="115000"/>
              </a:lnSpc>
              <a:spcBef>
                <a:spcPts val="0"/>
              </a:spcBef>
              <a:spcAft>
                <a:spcPts val="0"/>
              </a:spcAft>
              <a:buSzPts val="1484"/>
              <a:buChar char="●"/>
              <a:defRPr sz="1484"/>
            </a:lvl1pPr>
            <a:lvl2pPr indent="-322834" lvl="1" marL="914400" algn="l">
              <a:lnSpc>
                <a:spcPct val="115000"/>
              </a:lnSpc>
              <a:spcBef>
                <a:spcPts val="0"/>
              </a:spcBef>
              <a:spcAft>
                <a:spcPts val="0"/>
              </a:spcAft>
              <a:buSzPts val="1484"/>
              <a:buChar char="○"/>
              <a:defRPr sz="1484"/>
            </a:lvl2pPr>
            <a:lvl3pPr indent="-322834" lvl="2" marL="1371600" algn="l">
              <a:lnSpc>
                <a:spcPct val="115000"/>
              </a:lnSpc>
              <a:spcBef>
                <a:spcPts val="0"/>
              </a:spcBef>
              <a:spcAft>
                <a:spcPts val="0"/>
              </a:spcAft>
              <a:buSzPts val="1484"/>
              <a:buChar char="■"/>
              <a:defRPr sz="1484"/>
            </a:lvl3pPr>
            <a:lvl4pPr indent="-322834" lvl="3" marL="1828800" algn="l">
              <a:lnSpc>
                <a:spcPct val="115000"/>
              </a:lnSpc>
              <a:spcBef>
                <a:spcPts val="0"/>
              </a:spcBef>
              <a:spcAft>
                <a:spcPts val="0"/>
              </a:spcAft>
              <a:buSzPts val="1484"/>
              <a:buChar char="●"/>
              <a:defRPr sz="1484"/>
            </a:lvl4pPr>
            <a:lvl5pPr indent="-322834" lvl="4" marL="2286000" algn="l">
              <a:lnSpc>
                <a:spcPct val="115000"/>
              </a:lnSpc>
              <a:spcBef>
                <a:spcPts val="0"/>
              </a:spcBef>
              <a:spcAft>
                <a:spcPts val="0"/>
              </a:spcAft>
              <a:buSzPts val="1484"/>
              <a:buChar char="○"/>
              <a:defRPr sz="1484"/>
            </a:lvl5pPr>
            <a:lvl6pPr indent="-322834" lvl="5" marL="2743200" algn="l">
              <a:lnSpc>
                <a:spcPct val="115000"/>
              </a:lnSpc>
              <a:spcBef>
                <a:spcPts val="0"/>
              </a:spcBef>
              <a:spcAft>
                <a:spcPts val="0"/>
              </a:spcAft>
              <a:buSzPts val="1484"/>
              <a:buChar char="■"/>
              <a:defRPr sz="1484"/>
            </a:lvl6pPr>
            <a:lvl7pPr indent="-322834" lvl="6" marL="3200400" algn="l">
              <a:lnSpc>
                <a:spcPct val="115000"/>
              </a:lnSpc>
              <a:spcBef>
                <a:spcPts val="0"/>
              </a:spcBef>
              <a:spcAft>
                <a:spcPts val="0"/>
              </a:spcAft>
              <a:buSzPts val="1484"/>
              <a:buChar char="●"/>
              <a:defRPr sz="1484"/>
            </a:lvl7pPr>
            <a:lvl8pPr indent="-322834" lvl="7" marL="3657600" algn="l">
              <a:lnSpc>
                <a:spcPct val="115000"/>
              </a:lnSpc>
              <a:spcBef>
                <a:spcPts val="0"/>
              </a:spcBef>
              <a:spcAft>
                <a:spcPts val="0"/>
              </a:spcAft>
              <a:buSzPts val="1484"/>
              <a:buChar char="○"/>
              <a:defRPr sz="1484"/>
            </a:lvl8pPr>
            <a:lvl9pPr indent="-322834" lvl="8" marL="4114800" algn="l">
              <a:lnSpc>
                <a:spcPct val="115000"/>
              </a:lnSpc>
              <a:spcBef>
                <a:spcPts val="0"/>
              </a:spcBef>
              <a:spcAft>
                <a:spcPts val="0"/>
              </a:spcAft>
              <a:buSzPts val="1484"/>
              <a:buChar char="■"/>
              <a:defRPr sz="1484"/>
            </a:lvl9pPr>
          </a:lstStyle>
          <a:p/>
        </p:txBody>
      </p:sp>
      <p:sp>
        <p:nvSpPr>
          <p:cNvPr id="31" name="Google Shape;31;p7"/>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39275" y="680227"/>
            <a:ext cx="7004700" cy="6181800"/>
          </a:xfrm>
          <a:prstGeom prst="rect">
            <a:avLst/>
          </a:prstGeom>
          <a:noFill/>
          <a:ln>
            <a:noFill/>
          </a:ln>
        </p:spPr>
        <p:txBody>
          <a:bodyPr anchorCtr="0" anchor="ctr" bIns="113100" lIns="113100" spcFirstLastPara="1" rIns="113100" wrap="square" tIns="113100">
            <a:spAutoFit/>
          </a:bodyPr>
          <a:lstStyle>
            <a:lvl1pPr lvl="0" algn="l">
              <a:lnSpc>
                <a:spcPct val="100000"/>
              </a:lnSpc>
              <a:spcBef>
                <a:spcPts val="0"/>
              </a:spcBef>
              <a:spcAft>
                <a:spcPts val="0"/>
              </a:spcAft>
              <a:buSzPts val="5938"/>
              <a:buNone/>
              <a:defRPr sz="5938"/>
            </a:lvl1pPr>
            <a:lvl2pPr lvl="1" algn="l">
              <a:lnSpc>
                <a:spcPct val="100000"/>
              </a:lnSpc>
              <a:spcBef>
                <a:spcPts val="0"/>
              </a:spcBef>
              <a:spcAft>
                <a:spcPts val="0"/>
              </a:spcAft>
              <a:buSzPts val="5938"/>
              <a:buNone/>
              <a:defRPr sz="5938"/>
            </a:lvl2pPr>
            <a:lvl3pPr lvl="2" algn="l">
              <a:lnSpc>
                <a:spcPct val="100000"/>
              </a:lnSpc>
              <a:spcBef>
                <a:spcPts val="0"/>
              </a:spcBef>
              <a:spcAft>
                <a:spcPts val="0"/>
              </a:spcAft>
              <a:buSzPts val="5938"/>
              <a:buNone/>
              <a:defRPr sz="5938"/>
            </a:lvl3pPr>
            <a:lvl4pPr lvl="3" algn="l">
              <a:lnSpc>
                <a:spcPct val="100000"/>
              </a:lnSpc>
              <a:spcBef>
                <a:spcPts val="0"/>
              </a:spcBef>
              <a:spcAft>
                <a:spcPts val="0"/>
              </a:spcAft>
              <a:buSzPts val="5938"/>
              <a:buNone/>
              <a:defRPr sz="5938"/>
            </a:lvl4pPr>
            <a:lvl5pPr lvl="4" algn="l">
              <a:lnSpc>
                <a:spcPct val="100000"/>
              </a:lnSpc>
              <a:spcBef>
                <a:spcPts val="0"/>
              </a:spcBef>
              <a:spcAft>
                <a:spcPts val="0"/>
              </a:spcAft>
              <a:buSzPts val="5938"/>
              <a:buNone/>
              <a:defRPr sz="5938"/>
            </a:lvl5pPr>
            <a:lvl6pPr lvl="5" algn="l">
              <a:lnSpc>
                <a:spcPct val="100000"/>
              </a:lnSpc>
              <a:spcBef>
                <a:spcPts val="0"/>
              </a:spcBef>
              <a:spcAft>
                <a:spcPts val="0"/>
              </a:spcAft>
              <a:buSzPts val="5938"/>
              <a:buNone/>
              <a:defRPr sz="5938"/>
            </a:lvl6pPr>
            <a:lvl7pPr lvl="6" algn="l">
              <a:lnSpc>
                <a:spcPct val="100000"/>
              </a:lnSpc>
              <a:spcBef>
                <a:spcPts val="0"/>
              </a:spcBef>
              <a:spcAft>
                <a:spcPts val="0"/>
              </a:spcAft>
              <a:buSzPts val="5938"/>
              <a:buNone/>
              <a:defRPr sz="5938"/>
            </a:lvl7pPr>
            <a:lvl8pPr lvl="7" algn="l">
              <a:lnSpc>
                <a:spcPct val="100000"/>
              </a:lnSpc>
              <a:spcBef>
                <a:spcPts val="0"/>
              </a:spcBef>
              <a:spcAft>
                <a:spcPts val="0"/>
              </a:spcAft>
              <a:buSzPts val="5938"/>
              <a:buNone/>
              <a:defRPr sz="5938"/>
            </a:lvl8pPr>
            <a:lvl9pPr lvl="8" algn="l">
              <a:lnSpc>
                <a:spcPct val="100000"/>
              </a:lnSpc>
              <a:spcBef>
                <a:spcPts val="0"/>
              </a:spcBef>
              <a:spcAft>
                <a:spcPts val="0"/>
              </a:spcAft>
              <a:buSzPts val="5938"/>
              <a:buNone/>
              <a:defRPr sz="5938"/>
            </a:lvl9pPr>
          </a:lstStyle>
          <a:p/>
        </p:txBody>
      </p:sp>
      <p:sp>
        <p:nvSpPr>
          <p:cNvPr id="34" name="Google Shape;34;p8"/>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029200" y="-189"/>
            <a:ext cx="5029200" cy="7772400"/>
          </a:xfrm>
          <a:prstGeom prst="rect">
            <a:avLst/>
          </a:prstGeom>
          <a:solidFill>
            <a:schemeClr val="lt2"/>
          </a:solidFill>
          <a:ln>
            <a:noFill/>
          </a:ln>
        </p:spPr>
        <p:txBody>
          <a:bodyPr anchorCtr="0" anchor="ctr" bIns="113100" lIns="113100" spcFirstLastPara="1" rIns="113100" wrap="square" tIns="1131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92050" y="1863464"/>
            <a:ext cx="4449600" cy="2239800"/>
          </a:xfrm>
          <a:prstGeom prst="rect">
            <a:avLst/>
          </a:prstGeom>
          <a:noFill/>
          <a:ln>
            <a:noFill/>
          </a:ln>
        </p:spPr>
        <p:txBody>
          <a:bodyPr anchorCtr="0" anchor="b" bIns="113100" lIns="113100" spcFirstLastPara="1" rIns="113100" wrap="square" tIns="113100">
            <a:spAutoFit/>
          </a:bodyPr>
          <a:lstStyle>
            <a:lvl1pPr lvl="0" algn="ctr">
              <a:lnSpc>
                <a:spcPct val="100000"/>
              </a:lnSpc>
              <a:spcBef>
                <a:spcPts val="0"/>
              </a:spcBef>
              <a:spcAft>
                <a:spcPts val="0"/>
              </a:spcAft>
              <a:buSzPts val="5196"/>
              <a:buNone/>
              <a:defRPr sz="5196"/>
            </a:lvl1pPr>
            <a:lvl2pPr lvl="1" algn="ctr">
              <a:lnSpc>
                <a:spcPct val="100000"/>
              </a:lnSpc>
              <a:spcBef>
                <a:spcPts val="0"/>
              </a:spcBef>
              <a:spcAft>
                <a:spcPts val="0"/>
              </a:spcAft>
              <a:buSzPts val="5196"/>
              <a:buNone/>
              <a:defRPr sz="5196"/>
            </a:lvl2pPr>
            <a:lvl3pPr lvl="2" algn="ctr">
              <a:lnSpc>
                <a:spcPct val="100000"/>
              </a:lnSpc>
              <a:spcBef>
                <a:spcPts val="0"/>
              </a:spcBef>
              <a:spcAft>
                <a:spcPts val="0"/>
              </a:spcAft>
              <a:buSzPts val="5196"/>
              <a:buNone/>
              <a:defRPr sz="5196"/>
            </a:lvl3pPr>
            <a:lvl4pPr lvl="3" algn="ctr">
              <a:lnSpc>
                <a:spcPct val="100000"/>
              </a:lnSpc>
              <a:spcBef>
                <a:spcPts val="0"/>
              </a:spcBef>
              <a:spcAft>
                <a:spcPts val="0"/>
              </a:spcAft>
              <a:buSzPts val="5196"/>
              <a:buNone/>
              <a:defRPr sz="5196"/>
            </a:lvl4pPr>
            <a:lvl5pPr lvl="4" algn="ctr">
              <a:lnSpc>
                <a:spcPct val="100000"/>
              </a:lnSpc>
              <a:spcBef>
                <a:spcPts val="0"/>
              </a:spcBef>
              <a:spcAft>
                <a:spcPts val="0"/>
              </a:spcAft>
              <a:buSzPts val="5196"/>
              <a:buNone/>
              <a:defRPr sz="5196"/>
            </a:lvl5pPr>
            <a:lvl6pPr lvl="5" algn="ctr">
              <a:lnSpc>
                <a:spcPct val="100000"/>
              </a:lnSpc>
              <a:spcBef>
                <a:spcPts val="0"/>
              </a:spcBef>
              <a:spcAft>
                <a:spcPts val="0"/>
              </a:spcAft>
              <a:buSzPts val="5196"/>
              <a:buNone/>
              <a:defRPr sz="5196"/>
            </a:lvl6pPr>
            <a:lvl7pPr lvl="6" algn="ctr">
              <a:lnSpc>
                <a:spcPct val="100000"/>
              </a:lnSpc>
              <a:spcBef>
                <a:spcPts val="0"/>
              </a:spcBef>
              <a:spcAft>
                <a:spcPts val="0"/>
              </a:spcAft>
              <a:buSzPts val="5196"/>
              <a:buNone/>
              <a:defRPr sz="5196"/>
            </a:lvl7pPr>
            <a:lvl8pPr lvl="7" algn="ctr">
              <a:lnSpc>
                <a:spcPct val="100000"/>
              </a:lnSpc>
              <a:spcBef>
                <a:spcPts val="0"/>
              </a:spcBef>
              <a:spcAft>
                <a:spcPts val="0"/>
              </a:spcAft>
              <a:buSzPts val="5196"/>
              <a:buNone/>
              <a:defRPr sz="5196"/>
            </a:lvl8pPr>
            <a:lvl9pPr lvl="8" algn="ctr">
              <a:lnSpc>
                <a:spcPct val="100000"/>
              </a:lnSpc>
              <a:spcBef>
                <a:spcPts val="0"/>
              </a:spcBef>
              <a:spcAft>
                <a:spcPts val="0"/>
              </a:spcAft>
              <a:buSzPts val="5196"/>
              <a:buNone/>
              <a:defRPr sz="5196"/>
            </a:lvl9pPr>
          </a:lstStyle>
          <a:p/>
        </p:txBody>
      </p:sp>
      <p:sp>
        <p:nvSpPr>
          <p:cNvPr id="38" name="Google Shape;38;p9"/>
          <p:cNvSpPr txBox="1"/>
          <p:nvPr>
            <p:ph idx="1" type="subTitle"/>
          </p:nvPr>
        </p:nvSpPr>
        <p:spPr>
          <a:xfrm>
            <a:off x="292050" y="4235758"/>
            <a:ext cx="4449600" cy="1866300"/>
          </a:xfrm>
          <a:prstGeom prst="rect">
            <a:avLst/>
          </a:prstGeom>
          <a:noFill/>
          <a:ln>
            <a:noFill/>
          </a:ln>
        </p:spPr>
        <p:txBody>
          <a:bodyPr anchorCtr="0" anchor="t" bIns="113100" lIns="113100" spcFirstLastPara="1" rIns="113100" wrap="square" tIns="113100">
            <a:spAutoFit/>
          </a:bodyPr>
          <a:lstStyle>
            <a:lvl1pPr lvl="0" algn="ctr">
              <a:lnSpc>
                <a:spcPct val="100000"/>
              </a:lnSpc>
              <a:spcBef>
                <a:spcPts val="0"/>
              </a:spcBef>
              <a:spcAft>
                <a:spcPts val="0"/>
              </a:spcAft>
              <a:buSzPts val="2598"/>
              <a:buNone/>
              <a:defRPr sz="2598"/>
            </a:lvl1pPr>
            <a:lvl2pPr lvl="1" algn="ctr">
              <a:lnSpc>
                <a:spcPct val="100000"/>
              </a:lnSpc>
              <a:spcBef>
                <a:spcPts val="0"/>
              </a:spcBef>
              <a:spcAft>
                <a:spcPts val="0"/>
              </a:spcAft>
              <a:buSzPts val="2598"/>
              <a:buNone/>
              <a:defRPr sz="2598"/>
            </a:lvl2pPr>
            <a:lvl3pPr lvl="2" algn="ctr">
              <a:lnSpc>
                <a:spcPct val="100000"/>
              </a:lnSpc>
              <a:spcBef>
                <a:spcPts val="0"/>
              </a:spcBef>
              <a:spcAft>
                <a:spcPts val="0"/>
              </a:spcAft>
              <a:buSzPts val="2598"/>
              <a:buNone/>
              <a:defRPr sz="2598"/>
            </a:lvl3pPr>
            <a:lvl4pPr lvl="3" algn="ctr">
              <a:lnSpc>
                <a:spcPct val="100000"/>
              </a:lnSpc>
              <a:spcBef>
                <a:spcPts val="0"/>
              </a:spcBef>
              <a:spcAft>
                <a:spcPts val="0"/>
              </a:spcAft>
              <a:buSzPts val="2598"/>
              <a:buNone/>
              <a:defRPr sz="2598"/>
            </a:lvl4pPr>
            <a:lvl5pPr lvl="4" algn="ctr">
              <a:lnSpc>
                <a:spcPct val="100000"/>
              </a:lnSpc>
              <a:spcBef>
                <a:spcPts val="0"/>
              </a:spcBef>
              <a:spcAft>
                <a:spcPts val="0"/>
              </a:spcAft>
              <a:buSzPts val="2598"/>
              <a:buNone/>
              <a:defRPr sz="2598"/>
            </a:lvl5pPr>
            <a:lvl6pPr lvl="5" algn="ctr">
              <a:lnSpc>
                <a:spcPct val="100000"/>
              </a:lnSpc>
              <a:spcBef>
                <a:spcPts val="0"/>
              </a:spcBef>
              <a:spcAft>
                <a:spcPts val="0"/>
              </a:spcAft>
              <a:buSzPts val="2598"/>
              <a:buNone/>
              <a:defRPr sz="2598"/>
            </a:lvl6pPr>
            <a:lvl7pPr lvl="6" algn="ctr">
              <a:lnSpc>
                <a:spcPct val="100000"/>
              </a:lnSpc>
              <a:spcBef>
                <a:spcPts val="0"/>
              </a:spcBef>
              <a:spcAft>
                <a:spcPts val="0"/>
              </a:spcAft>
              <a:buSzPts val="2598"/>
              <a:buNone/>
              <a:defRPr sz="2598"/>
            </a:lvl7pPr>
            <a:lvl8pPr lvl="7" algn="ctr">
              <a:lnSpc>
                <a:spcPct val="100000"/>
              </a:lnSpc>
              <a:spcBef>
                <a:spcPts val="0"/>
              </a:spcBef>
              <a:spcAft>
                <a:spcPts val="0"/>
              </a:spcAft>
              <a:buSzPts val="2598"/>
              <a:buNone/>
              <a:defRPr sz="2598"/>
            </a:lvl8pPr>
            <a:lvl9pPr lvl="8" algn="ctr">
              <a:lnSpc>
                <a:spcPct val="100000"/>
              </a:lnSpc>
              <a:spcBef>
                <a:spcPts val="0"/>
              </a:spcBef>
              <a:spcAft>
                <a:spcPts val="0"/>
              </a:spcAft>
              <a:buSzPts val="2598"/>
              <a:buNone/>
              <a:defRPr sz="2598"/>
            </a:lvl9pPr>
          </a:lstStyle>
          <a:p/>
        </p:txBody>
      </p:sp>
      <p:sp>
        <p:nvSpPr>
          <p:cNvPr id="39" name="Google Shape;39;p9"/>
          <p:cNvSpPr txBox="1"/>
          <p:nvPr>
            <p:ph idx="2" type="body"/>
          </p:nvPr>
        </p:nvSpPr>
        <p:spPr>
          <a:xfrm>
            <a:off x="5433450" y="1094158"/>
            <a:ext cx="4220700" cy="5583600"/>
          </a:xfrm>
          <a:prstGeom prst="rect">
            <a:avLst/>
          </a:prstGeom>
          <a:noFill/>
          <a:ln>
            <a:noFill/>
          </a:ln>
        </p:spPr>
        <p:txBody>
          <a:bodyPr anchorCtr="0" anchor="ctr" bIns="113100" lIns="113100" spcFirstLastPara="1" rIns="113100" wrap="square" tIns="113100">
            <a:spAutoFit/>
          </a:bodyPr>
          <a:lstStyle>
            <a:lvl1pPr indent="-370015" lvl="0" marL="457200" algn="l">
              <a:lnSpc>
                <a:spcPct val="115000"/>
              </a:lnSpc>
              <a:spcBef>
                <a:spcPts val="0"/>
              </a:spcBef>
              <a:spcAft>
                <a:spcPts val="0"/>
              </a:spcAft>
              <a:buSzPts val="2227"/>
              <a:buChar char="●"/>
              <a:defRPr sz="2227"/>
            </a:lvl1pPr>
            <a:lvl2pPr indent="-338582" lvl="1" marL="914400" algn="l">
              <a:lnSpc>
                <a:spcPct val="115000"/>
              </a:lnSpc>
              <a:spcBef>
                <a:spcPts val="0"/>
              </a:spcBef>
              <a:spcAft>
                <a:spcPts val="0"/>
              </a:spcAft>
              <a:buSzPts val="1732"/>
              <a:buChar char="○"/>
              <a:defRPr sz="1732"/>
            </a:lvl2pPr>
            <a:lvl3pPr indent="-338582" lvl="2" marL="1371600" algn="l">
              <a:lnSpc>
                <a:spcPct val="115000"/>
              </a:lnSpc>
              <a:spcBef>
                <a:spcPts val="0"/>
              </a:spcBef>
              <a:spcAft>
                <a:spcPts val="0"/>
              </a:spcAft>
              <a:buSzPts val="1732"/>
              <a:buChar char="■"/>
              <a:defRPr sz="1732"/>
            </a:lvl3pPr>
            <a:lvl4pPr indent="-338582" lvl="3" marL="1828800" algn="l">
              <a:lnSpc>
                <a:spcPct val="115000"/>
              </a:lnSpc>
              <a:spcBef>
                <a:spcPts val="0"/>
              </a:spcBef>
              <a:spcAft>
                <a:spcPts val="0"/>
              </a:spcAft>
              <a:buSzPts val="1732"/>
              <a:buChar char="●"/>
              <a:defRPr sz="1732"/>
            </a:lvl4pPr>
            <a:lvl5pPr indent="-338582" lvl="4" marL="2286000" algn="l">
              <a:lnSpc>
                <a:spcPct val="115000"/>
              </a:lnSpc>
              <a:spcBef>
                <a:spcPts val="0"/>
              </a:spcBef>
              <a:spcAft>
                <a:spcPts val="0"/>
              </a:spcAft>
              <a:buSzPts val="1732"/>
              <a:buChar char="○"/>
              <a:defRPr sz="1732"/>
            </a:lvl5pPr>
            <a:lvl6pPr indent="-338582" lvl="5" marL="2743200" algn="l">
              <a:lnSpc>
                <a:spcPct val="115000"/>
              </a:lnSpc>
              <a:spcBef>
                <a:spcPts val="0"/>
              </a:spcBef>
              <a:spcAft>
                <a:spcPts val="0"/>
              </a:spcAft>
              <a:buSzPts val="1732"/>
              <a:buChar char="■"/>
              <a:defRPr sz="1732"/>
            </a:lvl6pPr>
            <a:lvl7pPr indent="-338582" lvl="6" marL="3200400" algn="l">
              <a:lnSpc>
                <a:spcPct val="115000"/>
              </a:lnSpc>
              <a:spcBef>
                <a:spcPts val="0"/>
              </a:spcBef>
              <a:spcAft>
                <a:spcPts val="0"/>
              </a:spcAft>
              <a:buSzPts val="1732"/>
              <a:buChar char="●"/>
              <a:defRPr sz="1732"/>
            </a:lvl7pPr>
            <a:lvl8pPr indent="-338582" lvl="7" marL="3657600" algn="l">
              <a:lnSpc>
                <a:spcPct val="115000"/>
              </a:lnSpc>
              <a:spcBef>
                <a:spcPts val="0"/>
              </a:spcBef>
              <a:spcAft>
                <a:spcPts val="0"/>
              </a:spcAft>
              <a:buSzPts val="1732"/>
              <a:buChar char="○"/>
              <a:defRPr sz="1732"/>
            </a:lvl8pPr>
            <a:lvl9pPr indent="-338582" lvl="8" marL="4114800" algn="l">
              <a:lnSpc>
                <a:spcPct val="115000"/>
              </a:lnSpc>
              <a:spcBef>
                <a:spcPts val="0"/>
              </a:spcBef>
              <a:spcAft>
                <a:spcPts val="0"/>
              </a:spcAft>
              <a:buSzPts val="1732"/>
              <a:buChar char="■"/>
              <a:defRPr sz="1732"/>
            </a:lvl9pPr>
          </a:lstStyle>
          <a:p/>
        </p:txBody>
      </p:sp>
      <p:sp>
        <p:nvSpPr>
          <p:cNvPr id="40" name="Google Shape;40;p9"/>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42870" y="6392869"/>
            <a:ext cx="6598800" cy="914400"/>
          </a:xfrm>
          <a:prstGeom prst="rect">
            <a:avLst/>
          </a:prstGeom>
          <a:noFill/>
          <a:ln>
            <a:noFill/>
          </a:ln>
        </p:spPr>
        <p:txBody>
          <a:bodyPr anchorCtr="0" anchor="ctr" bIns="113100" lIns="113100" spcFirstLastPara="1" rIns="113100" wrap="square" tIns="113100">
            <a:spAutoFit/>
          </a:bodyPr>
          <a:lstStyle>
            <a:lvl1pPr indent="-228600" lvl="0" marL="457200" algn="l">
              <a:lnSpc>
                <a:spcPct val="100000"/>
              </a:lnSpc>
              <a:spcBef>
                <a:spcPts val="0"/>
              </a:spcBef>
              <a:spcAft>
                <a:spcPts val="0"/>
              </a:spcAft>
              <a:buSzPts val="2227"/>
              <a:buNone/>
              <a:defRPr sz="2227"/>
            </a:lvl1pPr>
          </a:lstStyle>
          <a:p/>
        </p:txBody>
      </p:sp>
      <p:sp>
        <p:nvSpPr>
          <p:cNvPr id="43" name="Google Shape;43;p10"/>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42870" y="1671478"/>
            <a:ext cx="9372600" cy="2967000"/>
          </a:xfrm>
          <a:prstGeom prst="rect">
            <a:avLst/>
          </a:prstGeom>
          <a:noFill/>
          <a:ln>
            <a:noFill/>
          </a:ln>
        </p:spPr>
        <p:txBody>
          <a:bodyPr anchorCtr="0" anchor="b" bIns="113100" lIns="113100" spcFirstLastPara="1" rIns="113100" wrap="square" tIns="113100">
            <a:spAutoFit/>
          </a:bodyPr>
          <a:lstStyle>
            <a:lvl1pPr lvl="0" algn="ctr">
              <a:lnSpc>
                <a:spcPct val="100000"/>
              </a:lnSpc>
              <a:spcBef>
                <a:spcPts val="0"/>
              </a:spcBef>
              <a:spcAft>
                <a:spcPts val="0"/>
              </a:spcAft>
              <a:buSzPts val="14844"/>
              <a:buNone/>
              <a:defRPr sz="14844"/>
            </a:lvl1pPr>
            <a:lvl2pPr lvl="1" algn="ctr">
              <a:lnSpc>
                <a:spcPct val="100000"/>
              </a:lnSpc>
              <a:spcBef>
                <a:spcPts val="0"/>
              </a:spcBef>
              <a:spcAft>
                <a:spcPts val="0"/>
              </a:spcAft>
              <a:buSzPts val="14844"/>
              <a:buNone/>
              <a:defRPr sz="14844"/>
            </a:lvl2pPr>
            <a:lvl3pPr lvl="2" algn="ctr">
              <a:lnSpc>
                <a:spcPct val="100000"/>
              </a:lnSpc>
              <a:spcBef>
                <a:spcPts val="0"/>
              </a:spcBef>
              <a:spcAft>
                <a:spcPts val="0"/>
              </a:spcAft>
              <a:buSzPts val="14844"/>
              <a:buNone/>
              <a:defRPr sz="14844"/>
            </a:lvl3pPr>
            <a:lvl4pPr lvl="3" algn="ctr">
              <a:lnSpc>
                <a:spcPct val="100000"/>
              </a:lnSpc>
              <a:spcBef>
                <a:spcPts val="0"/>
              </a:spcBef>
              <a:spcAft>
                <a:spcPts val="0"/>
              </a:spcAft>
              <a:buSzPts val="14844"/>
              <a:buNone/>
              <a:defRPr sz="14844"/>
            </a:lvl4pPr>
            <a:lvl5pPr lvl="4" algn="ctr">
              <a:lnSpc>
                <a:spcPct val="100000"/>
              </a:lnSpc>
              <a:spcBef>
                <a:spcPts val="0"/>
              </a:spcBef>
              <a:spcAft>
                <a:spcPts val="0"/>
              </a:spcAft>
              <a:buSzPts val="14844"/>
              <a:buNone/>
              <a:defRPr sz="14844"/>
            </a:lvl5pPr>
            <a:lvl6pPr lvl="5" algn="ctr">
              <a:lnSpc>
                <a:spcPct val="100000"/>
              </a:lnSpc>
              <a:spcBef>
                <a:spcPts val="0"/>
              </a:spcBef>
              <a:spcAft>
                <a:spcPts val="0"/>
              </a:spcAft>
              <a:buSzPts val="14844"/>
              <a:buNone/>
              <a:defRPr sz="14844"/>
            </a:lvl6pPr>
            <a:lvl7pPr lvl="6" algn="ctr">
              <a:lnSpc>
                <a:spcPct val="100000"/>
              </a:lnSpc>
              <a:spcBef>
                <a:spcPts val="0"/>
              </a:spcBef>
              <a:spcAft>
                <a:spcPts val="0"/>
              </a:spcAft>
              <a:buSzPts val="14844"/>
              <a:buNone/>
              <a:defRPr sz="14844"/>
            </a:lvl7pPr>
            <a:lvl8pPr lvl="7" algn="ctr">
              <a:lnSpc>
                <a:spcPct val="100000"/>
              </a:lnSpc>
              <a:spcBef>
                <a:spcPts val="0"/>
              </a:spcBef>
              <a:spcAft>
                <a:spcPts val="0"/>
              </a:spcAft>
              <a:buSzPts val="14844"/>
              <a:buNone/>
              <a:defRPr sz="14844"/>
            </a:lvl8pPr>
            <a:lvl9pPr lvl="8" algn="ctr">
              <a:lnSpc>
                <a:spcPct val="100000"/>
              </a:lnSpc>
              <a:spcBef>
                <a:spcPts val="0"/>
              </a:spcBef>
              <a:spcAft>
                <a:spcPts val="0"/>
              </a:spcAft>
              <a:buSzPts val="14844"/>
              <a:buNone/>
              <a:defRPr sz="14844"/>
            </a:lvl9pPr>
          </a:lstStyle>
          <a:p>
            <a:r>
              <a:t>xx%</a:t>
            </a:r>
          </a:p>
        </p:txBody>
      </p:sp>
      <p:sp>
        <p:nvSpPr>
          <p:cNvPr id="46" name="Google Shape;46;p11"/>
          <p:cNvSpPr txBox="1"/>
          <p:nvPr>
            <p:ph idx="1" type="body"/>
          </p:nvPr>
        </p:nvSpPr>
        <p:spPr>
          <a:xfrm>
            <a:off x="342870" y="4763362"/>
            <a:ext cx="9372600" cy="1965600"/>
          </a:xfrm>
          <a:prstGeom prst="rect">
            <a:avLst/>
          </a:prstGeom>
          <a:noFill/>
          <a:ln>
            <a:noFill/>
          </a:ln>
        </p:spPr>
        <p:txBody>
          <a:bodyPr anchorCtr="0" anchor="t" bIns="113100" lIns="113100" spcFirstLastPara="1" rIns="113100" wrap="square" tIns="113100">
            <a:spAutoFit/>
          </a:bodyPr>
          <a:lstStyle>
            <a:lvl1pPr indent="-370015" lvl="0" marL="457200" algn="ctr">
              <a:lnSpc>
                <a:spcPct val="115000"/>
              </a:lnSpc>
              <a:spcBef>
                <a:spcPts val="0"/>
              </a:spcBef>
              <a:spcAft>
                <a:spcPts val="0"/>
              </a:spcAft>
              <a:buSzPts val="2227"/>
              <a:buChar char="●"/>
              <a:defRPr sz="2227"/>
            </a:lvl1pPr>
            <a:lvl2pPr indent="-338582" lvl="1" marL="914400" algn="ctr">
              <a:lnSpc>
                <a:spcPct val="115000"/>
              </a:lnSpc>
              <a:spcBef>
                <a:spcPts val="0"/>
              </a:spcBef>
              <a:spcAft>
                <a:spcPts val="0"/>
              </a:spcAft>
              <a:buSzPts val="1732"/>
              <a:buChar char="○"/>
              <a:defRPr sz="1732"/>
            </a:lvl2pPr>
            <a:lvl3pPr indent="-338582" lvl="2" marL="1371600" algn="ctr">
              <a:lnSpc>
                <a:spcPct val="115000"/>
              </a:lnSpc>
              <a:spcBef>
                <a:spcPts val="0"/>
              </a:spcBef>
              <a:spcAft>
                <a:spcPts val="0"/>
              </a:spcAft>
              <a:buSzPts val="1732"/>
              <a:buChar char="■"/>
              <a:defRPr sz="1732"/>
            </a:lvl3pPr>
            <a:lvl4pPr indent="-338582" lvl="3" marL="1828800" algn="ctr">
              <a:lnSpc>
                <a:spcPct val="115000"/>
              </a:lnSpc>
              <a:spcBef>
                <a:spcPts val="0"/>
              </a:spcBef>
              <a:spcAft>
                <a:spcPts val="0"/>
              </a:spcAft>
              <a:buSzPts val="1732"/>
              <a:buChar char="●"/>
              <a:defRPr sz="1732"/>
            </a:lvl4pPr>
            <a:lvl5pPr indent="-338582" lvl="4" marL="2286000" algn="ctr">
              <a:lnSpc>
                <a:spcPct val="115000"/>
              </a:lnSpc>
              <a:spcBef>
                <a:spcPts val="0"/>
              </a:spcBef>
              <a:spcAft>
                <a:spcPts val="0"/>
              </a:spcAft>
              <a:buSzPts val="1732"/>
              <a:buChar char="○"/>
              <a:defRPr sz="1732"/>
            </a:lvl5pPr>
            <a:lvl6pPr indent="-338582" lvl="5" marL="2743200" algn="ctr">
              <a:lnSpc>
                <a:spcPct val="115000"/>
              </a:lnSpc>
              <a:spcBef>
                <a:spcPts val="0"/>
              </a:spcBef>
              <a:spcAft>
                <a:spcPts val="0"/>
              </a:spcAft>
              <a:buSzPts val="1732"/>
              <a:buChar char="■"/>
              <a:defRPr sz="1732"/>
            </a:lvl6pPr>
            <a:lvl7pPr indent="-338582" lvl="6" marL="3200400" algn="ctr">
              <a:lnSpc>
                <a:spcPct val="115000"/>
              </a:lnSpc>
              <a:spcBef>
                <a:spcPts val="0"/>
              </a:spcBef>
              <a:spcAft>
                <a:spcPts val="0"/>
              </a:spcAft>
              <a:buSzPts val="1732"/>
              <a:buChar char="●"/>
              <a:defRPr sz="1732"/>
            </a:lvl7pPr>
            <a:lvl8pPr indent="-338582" lvl="7" marL="3657600" algn="ctr">
              <a:lnSpc>
                <a:spcPct val="115000"/>
              </a:lnSpc>
              <a:spcBef>
                <a:spcPts val="0"/>
              </a:spcBef>
              <a:spcAft>
                <a:spcPts val="0"/>
              </a:spcAft>
              <a:buSzPts val="1732"/>
              <a:buChar char="○"/>
              <a:defRPr sz="1732"/>
            </a:lvl8pPr>
            <a:lvl9pPr indent="-338582" lvl="8" marL="4114800" algn="ctr">
              <a:lnSpc>
                <a:spcPct val="115000"/>
              </a:lnSpc>
              <a:spcBef>
                <a:spcPts val="0"/>
              </a:spcBef>
              <a:spcAft>
                <a:spcPts val="0"/>
              </a:spcAft>
              <a:buSzPts val="1732"/>
              <a:buChar char="■"/>
              <a:defRPr sz="1732"/>
            </a:lvl9pPr>
          </a:lstStyle>
          <a:p/>
        </p:txBody>
      </p:sp>
      <p:sp>
        <p:nvSpPr>
          <p:cNvPr id="47" name="Google Shape;47;p11"/>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E338C"/>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spAutoFit/>
          </a:bodyPr>
          <a:lstStyle>
            <a:lvl1pPr lvl="0"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42870" y="1741518"/>
            <a:ext cx="9372600" cy="5162700"/>
          </a:xfrm>
          <a:prstGeom prst="rect">
            <a:avLst/>
          </a:prstGeom>
          <a:noFill/>
          <a:ln>
            <a:noFill/>
          </a:ln>
        </p:spPr>
        <p:txBody>
          <a:bodyPr anchorCtr="0" anchor="t" bIns="113100" lIns="113100" spcFirstLastPara="1" rIns="113100" wrap="square" tIns="113100">
            <a:spAutoFit/>
          </a:bodyPr>
          <a:lstStyle>
            <a:lvl1pPr indent="-370015" lvl="0" marL="457200" marR="0" rtl="0" algn="l">
              <a:lnSpc>
                <a:spcPct val="115000"/>
              </a:lnSpc>
              <a:spcBef>
                <a:spcPts val="0"/>
              </a:spcBef>
              <a:spcAft>
                <a:spcPts val="0"/>
              </a:spcAft>
              <a:buClr>
                <a:schemeClr val="dk2"/>
              </a:buClr>
              <a:buSzPts val="2227"/>
              <a:buFont typeface="Arial"/>
              <a:buChar char="●"/>
              <a:defRPr b="0" i="0" sz="2227" u="none" cap="none" strike="noStrike">
                <a:solidFill>
                  <a:schemeClr val="dk2"/>
                </a:solidFill>
                <a:latin typeface="Arial"/>
                <a:ea typeface="Arial"/>
                <a:cs typeface="Arial"/>
                <a:sym typeface="Arial"/>
              </a:defRPr>
            </a:lvl1pPr>
            <a:lvl2pPr indent="-338582" lvl="1" marL="9144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2pPr>
            <a:lvl3pPr indent="-338582" lvl="2" marL="13716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3pPr>
            <a:lvl4pPr indent="-338582" lvl="3" marL="18288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4pPr>
            <a:lvl5pPr indent="-338582" lvl="4" marL="22860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5pPr>
            <a:lvl6pPr indent="-338582" lvl="5" marL="27432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6pPr>
            <a:lvl7pPr indent="-338582" lvl="6" marL="32004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7pPr>
            <a:lvl8pPr indent="-338582" lvl="7" marL="36576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8pPr>
            <a:lvl9pPr indent="-338582" lvl="8" marL="41148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6260400" y="1371600"/>
            <a:ext cx="4024800" cy="4096800"/>
          </a:xfrm>
          <a:prstGeom prst="rect">
            <a:avLst/>
          </a:prstGeom>
        </p:spPr>
      </p:pic>
      <p:pic>
        <p:nvPicPr>
          <p:cNvPr id="3" name="Picture 2" descr="image2.png"/>
          <p:cNvPicPr>
            <a:picLocks noChangeAspect="1"/>
          </p:cNvPicPr>
          <p:nvPr/>
        </p:nvPicPr>
        <p:blipFill>
          <a:blip r:embed="rId3"/>
          <a:stretch>
            <a:fillRect/>
          </a:stretch>
        </p:blipFill>
        <p:spPr>
          <a:xfrm>
            <a:off x="687600" y="914400"/>
            <a:ext cx="3484800" cy="1080000"/>
          </a:xfrm>
          <a:prstGeom prst="rect">
            <a:avLst/>
          </a:prstGeom>
        </p:spPr>
      </p:pic>
      <p:sp>
        <p:nvSpPr>
          <p:cNvPr id="4" name="TextBox 3"/>
          <p:cNvSpPr txBox="1"/>
          <p:nvPr/>
        </p:nvSpPr>
        <p:spPr>
          <a:xfrm>
            <a:off x="684000" y="4575600"/>
            <a:ext cx="8802000" cy="2512800"/>
          </a:xfrm>
          <a:prstGeom prst="rect">
            <a:avLst/>
          </a:prstGeom>
          <a:noFill/>
        </p:spPr>
        <p:txBody>
          <a:bodyPr wrap="square" anchor="ctr" lIns="0" rIns="0" tIns="0" bIns="0">
            <a:noAutofit/>
          </a:bodyPr>
          <a:lstStyle/>
          <a:p>
            <a:pPr algn="l">
              <a:lnSpc>
                <a:spcPct val="100000"/>
              </a:lnSpc>
            </a:pPr>
            <a:r>
              <a:rPr sz="4400" b="0" i="0">
                <a:solidFill>
                  <a:srgbClr val="FFFFFF"/>
                </a:solidFill>
                <a:latin typeface="Bungee"/>
                <a:ea typeface="Bungee"/>
                <a:cs typeface="Bungee"/>
                <a:sym typeface="Bungee"/>
              </a:rPr>
              <a:t>Introduction to</a:t>
            </a:r>
          </a:p>
          <a:p>
            <a:pPr algn="l">
              <a:lnSpc>
                <a:spcPct val="100000"/>
              </a:lnSpc>
            </a:pPr>
            <a:r>
              <a:rPr sz="4400" b="0" i="0">
                <a:solidFill>
                  <a:srgbClr val="FFFFFF"/>
                </a:solidFill>
                <a:latin typeface="Bungee"/>
                <a:ea typeface="Bungee"/>
                <a:cs typeface="Bungee"/>
                <a:sym typeface="Bungee"/>
              </a:rPr>
              <a:t>Advanced Robotics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TextBox 1"/>
          <p:cNvSpPr txBox="1"/>
          <p:nvPr/>
        </p:nvSpPr>
        <p:spPr>
          <a:xfrm>
            <a:off x="687600" y="5547600"/>
            <a:ext cx="8686800" cy="1540800"/>
          </a:xfrm>
          <a:prstGeom prst="rect">
            <a:avLst/>
          </a:prstGeom>
          <a:noFill/>
        </p:spPr>
        <p:txBody>
          <a:bodyPr wrap="square" anchor="ctr" lIns="0" rIns="0" tIns="0" bIns="0">
            <a:noAutofit/>
          </a:bodyPr>
          <a:lstStyle/>
          <a:p>
            <a:pPr algn="l">
              <a:lnSpc>
                <a:spcPct val="100000"/>
              </a:lnSpc>
            </a:pPr>
            <a:r>
              <a:rPr sz="4400" b="0" i="0">
                <a:solidFill>
                  <a:srgbClr val="FFCF08"/>
                </a:solidFill>
                <a:latin typeface="Bungee"/>
                <a:ea typeface="Bungee"/>
                <a:cs typeface="Bungee"/>
                <a:sym typeface="Bungee"/>
              </a:rPr>
              <a:t>Project 8</a:t>
            </a:r>
          </a:p>
          <a:p>
            <a:pPr algn="l">
              <a:lnSpc>
                <a:spcPct val="100000"/>
              </a:lnSpc>
            </a:pPr>
            <a:r>
              <a:rPr sz="4400" b="0" i="0">
                <a:solidFill>
                  <a:srgbClr val="FFFFFF"/>
                </a:solidFill>
                <a:latin typeface="Bungee"/>
                <a:ea typeface="Bungee"/>
                <a:cs typeface="Bungee"/>
                <a:sym typeface="Bungee"/>
              </a:rPr>
              <a:t>The Capstone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0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What this project builds</a:t>
            </a:r>
          </a:p>
        </p:txBody>
      </p:sp>
      <p:sp>
        <p:nvSpPr>
          <p:cNvPr id="3" name="blk000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Everything from the last seven projects, in one file. The camera reads the board. A function decides the move. The arm picks a token off a supply rack, carries it across, and places it in the right cell. Then it goes back and does it again.</a:t>
            </a:r>
          </a:p>
          <a:p>
            <a:pPr algn="l">
              <a:lnSpc>
                <a:spcPct val="100000"/>
              </a:lnSpc>
            </a:pPr>
            <a:r>
              <a:rPr sz="2027" b="0" i="0">
                <a:solidFill>
                  <a:srgbClr val="FFFFFF"/>
                </a:solidFill>
                <a:latin typeface="Avenir"/>
                <a:ea typeface="Avenir"/>
                <a:cs typeface="Avenir"/>
                <a:sym typeface="Avenir"/>
              </a:rPr>
              <a:t>This is the project where the vision stops being a display and starts being an input to a machine that moves.</a:t>
            </a:r>
          </a:p>
        </p:txBody>
      </p:sp>
      <p:sp>
        <p:nvSpPr>
          <p:cNvPr id="4" name="blk0003"/>
          <p:cNvSpPr/>
          <p:nvPr/>
        </p:nvSpPr>
        <p:spPr>
          <a:xfrm>
            <a:off x="741600" y="3556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03"/>
          <p:cNvSpPr txBox="1"/>
          <p:nvPr/>
        </p:nvSpPr>
        <p:spPr>
          <a:xfrm>
            <a:off x="1252800" y="3528000"/>
            <a:ext cx="8118000" cy="792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Project 7 gave you a function</a:t>
            </a:r>
            <a:r>
              <a:rPr sz="1600" b="0" i="0">
                <a:solidFill>
                  <a:srgbClr val="FFFFFF"/>
                </a:solidFill>
                <a:latin typeface="Avenir"/>
                <a:ea typeface="Avenir"/>
                <a:cs typeface="Avenir"/>
                <a:sym typeface="Avenir"/>
              </a:rPr>
              <a:t>  — </a:t>
            </a:r>
            <a:r>
              <a:rPr sz="1376" b="0" i="0">
                <a:solidFill>
                  <a:srgbClr val="FFFFFF"/>
                </a:solidFill>
                <a:latin typeface="Courier New"/>
                <a:ea typeface="Courier New"/>
                <a:cs typeface="Courier New"/>
                <a:sym typeface="Courier New"/>
              </a:rPr>
              <a:t>parse_board_state</a:t>
            </a:r>
            <a:r>
              <a:rPr sz="1600" b="0" i="0">
                <a:solidFill>
                  <a:srgbClr val="FFFFFF"/>
                </a:solidFill>
                <a:latin typeface="Avenir"/>
                <a:ea typeface="Avenir"/>
                <a:cs typeface="Avenir"/>
                <a:sym typeface="Avenir"/>
              </a:rPr>
              <a:t> — that reads nine cells. It is in this file, nearly unchanged.</a:t>
            </a:r>
          </a:p>
        </p:txBody>
      </p:sp>
      <p:sp>
        <p:nvSpPr>
          <p:cNvPr id="6" name="blk0004"/>
          <p:cNvSpPr/>
          <p:nvPr/>
        </p:nvSpPr>
        <p:spPr>
          <a:xfrm>
            <a:off x="741600" y="4420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004"/>
          <p:cNvSpPr txBox="1"/>
          <p:nvPr/>
        </p:nvSpPr>
        <p:spPr>
          <a:xfrm>
            <a:off x="1252800" y="4392000"/>
            <a:ext cx="8118000" cy="792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This project adds a decision</a:t>
            </a:r>
            <a:r>
              <a:rPr sz="1600" b="0" i="0">
                <a:solidFill>
                  <a:srgbClr val="FFFFFF"/>
                </a:solidFill>
                <a:latin typeface="Avenir"/>
                <a:ea typeface="Avenir"/>
                <a:cs typeface="Avenir"/>
                <a:sym typeface="Avenir"/>
              </a:rPr>
              <a:t>  — which cell, and a winner test that has to be fast enough to run on every frame.</a:t>
            </a:r>
          </a:p>
        </p:txBody>
      </p:sp>
      <p:sp>
        <p:nvSpPr>
          <p:cNvPr id="8" name="blk0005"/>
          <p:cNvSpPr/>
          <p:nvPr/>
        </p:nvSpPr>
        <p:spPr>
          <a:xfrm>
            <a:off x="741600" y="5284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05"/>
          <p:cNvSpPr txBox="1"/>
          <p:nvPr/>
        </p:nvSpPr>
        <p:spPr>
          <a:xfrm>
            <a:off x="1252800" y="5256000"/>
            <a:ext cx="8118000" cy="792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And an actuator</a:t>
            </a:r>
            <a:r>
              <a:rPr sz="1600" b="0" i="0">
                <a:solidFill>
                  <a:srgbClr val="FFFFFF"/>
                </a:solidFill>
                <a:latin typeface="Avenir"/>
                <a:ea typeface="Avenir"/>
                <a:cs typeface="Avenir"/>
                <a:sym typeface="Avenir"/>
              </a:rPr>
              <a:t>  — a suction pump, because picking up a flat token off a rack needs something that can grip.</a:t>
            </a:r>
          </a:p>
        </p:txBody>
      </p:sp>
      <p:sp>
        <p:nvSpPr>
          <p:cNvPr id="10" name="blk0006"/>
          <p:cNvSpPr/>
          <p:nvPr/>
        </p:nvSpPr>
        <p:spPr>
          <a:xfrm>
            <a:off x="687600" y="6263999"/>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006"/>
          <p:cNvSpPr/>
          <p:nvPr/>
        </p:nvSpPr>
        <p:spPr>
          <a:xfrm>
            <a:off x="885600" y="6715079"/>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006"/>
          <p:cNvSpPr txBox="1"/>
          <p:nvPr/>
        </p:nvSpPr>
        <p:spPr>
          <a:xfrm>
            <a:off x="1162800" y="6407999"/>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346 lines. Thirteen TODOs. One file that has to start up, read a board, think, move, and clean up after itself — and it is the last thing you write before the module ends.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0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 loop that decides everything</a:t>
            </a:r>
          </a:p>
        </p:txBody>
      </p:sp>
      <p:sp>
        <p:nvSpPr>
          <p:cNvPr id="3" name="blk0008"/>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main loop is doing more than the previous ones, and it is worth holding all of it in your head before you start typing:</a:t>
            </a:r>
          </a:p>
        </p:txBody>
      </p:sp>
      <p:sp>
        <p:nvSpPr>
          <p:cNvPr id="4" name="blk0009"/>
          <p:cNvSpPr/>
          <p:nvPr/>
        </p:nvSpPr>
        <p:spPr>
          <a:xfrm>
            <a:off x="687600" y="266400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09"/>
          <p:cNvSpPr txBox="1"/>
          <p:nvPr/>
        </p:nvSpPr>
        <p:spPr>
          <a:xfrm>
            <a:off x="687600" y="266400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1</a:t>
            </a:r>
          </a:p>
        </p:txBody>
      </p:sp>
      <p:sp>
        <p:nvSpPr>
          <p:cNvPr id="6" name="blk0009"/>
          <p:cNvSpPr txBox="1"/>
          <p:nvPr/>
        </p:nvSpPr>
        <p:spPr>
          <a:xfrm>
            <a:off x="1252800" y="264240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Read a frame</a:t>
            </a:r>
          </a:p>
        </p:txBody>
      </p:sp>
      <p:sp>
        <p:nvSpPr>
          <p:cNvPr id="7" name="blk0009"/>
          <p:cNvSpPr txBox="1"/>
          <p:nvPr/>
        </p:nvSpPr>
        <p:spPr>
          <a:xfrm>
            <a:off x="1252800" y="2962800"/>
            <a:ext cx="8118000" cy="684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Same as Project 7. Nothing new.</a:t>
            </a:r>
          </a:p>
        </p:txBody>
      </p:sp>
      <p:sp>
        <p:nvSpPr>
          <p:cNvPr id="8" name="blk0010"/>
          <p:cNvSpPr/>
          <p:nvPr/>
        </p:nvSpPr>
        <p:spPr>
          <a:xfrm>
            <a:off x="687600" y="336672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10"/>
          <p:cNvSpPr txBox="1"/>
          <p:nvPr/>
        </p:nvSpPr>
        <p:spPr>
          <a:xfrm>
            <a:off x="687600" y="336672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2</a:t>
            </a:r>
          </a:p>
        </p:txBody>
      </p:sp>
      <p:sp>
        <p:nvSpPr>
          <p:cNvPr id="10" name="blk0010"/>
          <p:cNvSpPr txBox="1"/>
          <p:nvPr/>
        </p:nvSpPr>
        <p:spPr>
          <a:xfrm>
            <a:off x="1252800" y="334512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Read the board</a:t>
            </a:r>
          </a:p>
        </p:txBody>
      </p:sp>
      <p:sp>
        <p:nvSpPr>
          <p:cNvPr id="11" name="blk0010"/>
          <p:cNvSpPr txBox="1"/>
          <p:nvPr/>
        </p:nvSpPr>
        <p:spPr>
          <a:xfrm>
            <a:off x="1252800" y="3665520"/>
            <a:ext cx="8118000" cy="684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Nine cells into nine characters.</a:t>
            </a:r>
          </a:p>
        </p:txBody>
      </p:sp>
      <p:sp>
        <p:nvSpPr>
          <p:cNvPr id="12" name="blk0011"/>
          <p:cNvSpPr/>
          <p:nvPr/>
        </p:nvSpPr>
        <p:spPr>
          <a:xfrm>
            <a:off x="687600" y="406944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011"/>
          <p:cNvSpPr txBox="1"/>
          <p:nvPr/>
        </p:nvSpPr>
        <p:spPr>
          <a:xfrm>
            <a:off x="687600" y="406944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3</a:t>
            </a:r>
          </a:p>
        </p:txBody>
      </p:sp>
      <p:sp>
        <p:nvSpPr>
          <p:cNvPr id="14" name="blk0011"/>
          <p:cNvSpPr txBox="1"/>
          <p:nvPr/>
        </p:nvSpPr>
        <p:spPr>
          <a:xfrm>
            <a:off x="1252800" y="404784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Check for a winner</a:t>
            </a:r>
          </a:p>
        </p:txBody>
      </p:sp>
      <p:sp>
        <p:nvSpPr>
          <p:cNvPr id="15" name="blk0011"/>
          <p:cNvSpPr txBox="1"/>
          <p:nvPr/>
        </p:nvSpPr>
        <p:spPr>
          <a:xfrm>
            <a:off x="1252800" y="4368241"/>
            <a:ext cx="8118000" cy="684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Eight possible lines, tested every frame.</a:t>
            </a:r>
          </a:p>
        </p:txBody>
      </p:sp>
      <p:sp>
        <p:nvSpPr>
          <p:cNvPr id="16" name="blk0012"/>
          <p:cNvSpPr/>
          <p:nvPr/>
        </p:nvSpPr>
        <p:spPr>
          <a:xfrm>
            <a:off x="687600" y="4772161"/>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lk0012"/>
          <p:cNvSpPr txBox="1"/>
          <p:nvPr/>
        </p:nvSpPr>
        <p:spPr>
          <a:xfrm>
            <a:off x="687600" y="4772161"/>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4</a:t>
            </a:r>
          </a:p>
        </p:txBody>
      </p:sp>
      <p:sp>
        <p:nvSpPr>
          <p:cNvPr id="18" name="blk0012"/>
          <p:cNvSpPr txBox="1"/>
          <p:nvPr/>
        </p:nvSpPr>
        <p:spPr>
          <a:xfrm>
            <a:off x="1252800" y="4750561"/>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Draw and show</a:t>
            </a:r>
          </a:p>
        </p:txBody>
      </p:sp>
      <p:sp>
        <p:nvSpPr>
          <p:cNvPr id="19" name="blk0012"/>
          <p:cNvSpPr txBox="1"/>
          <p:nvPr/>
        </p:nvSpPr>
        <p:spPr>
          <a:xfrm>
            <a:off x="1252800" y="5070961"/>
            <a:ext cx="8118000" cy="684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The overlay, the status line, the window.</a:t>
            </a:r>
          </a:p>
        </p:txBody>
      </p:sp>
      <p:sp>
        <p:nvSpPr>
          <p:cNvPr id="20" name="blk0013"/>
          <p:cNvSpPr/>
          <p:nvPr/>
        </p:nvSpPr>
        <p:spPr>
          <a:xfrm>
            <a:off x="687600" y="5474881"/>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blk0013"/>
          <p:cNvSpPr txBox="1"/>
          <p:nvPr/>
        </p:nvSpPr>
        <p:spPr>
          <a:xfrm>
            <a:off x="687600" y="5474881"/>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5</a:t>
            </a:r>
          </a:p>
        </p:txBody>
      </p:sp>
      <p:sp>
        <p:nvSpPr>
          <p:cNvPr id="22" name="blk0013"/>
          <p:cNvSpPr txBox="1"/>
          <p:nvPr/>
        </p:nvSpPr>
        <p:spPr>
          <a:xfrm>
            <a:off x="1252800" y="5453281"/>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Wait for a key</a:t>
            </a:r>
          </a:p>
        </p:txBody>
      </p:sp>
      <p:sp>
        <p:nvSpPr>
          <p:cNvPr id="23" name="blk0013"/>
          <p:cNvSpPr txBox="1"/>
          <p:nvPr/>
        </p:nvSpPr>
        <p:spPr>
          <a:xfrm>
            <a:off x="1252800" y="5773681"/>
            <a:ext cx="8118000" cy="684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Space makes the robot move. q quits. Nothing happens without a keypress.</a:t>
            </a:r>
          </a:p>
        </p:txBody>
      </p:sp>
      <p:sp>
        <p:nvSpPr>
          <p:cNvPr id="24" name="blk0014"/>
          <p:cNvSpPr txBox="1"/>
          <p:nvPr/>
        </p:nvSpPr>
        <p:spPr>
          <a:xfrm>
            <a:off x="687600" y="6192000"/>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Notice what is not on that list: the robot move is not a step in the loop. It happens inside the key handler, and it stops everything else while it runs. That single fact is the shape of this project.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15"/>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Vision is already here</a:t>
            </a:r>
          </a:p>
        </p:txBody>
      </p:sp>
      <p:sp>
        <p:nvSpPr>
          <p:cNvPr id="3" name="blk0016"/>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is the part you get to keep. The calibration constants and the whole of </a:t>
            </a:r>
            <a:r>
              <a:rPr sz="1743" b="0" i="0">
                <a:solidFill>
                  <a:srgbClr val="FFFFFF"/>
                </a:solidFill>
                <a:latin typeface="Courier New"/>
                <a:ea typeface="Courier New"/>
                <a:cs typeface="Courier New"/>
                <a:sym typeface="Courier New"/>
              </a:rPr>
              <a:t>parse_board_state</a:t>
            </a:r>
            <a:r>
              <a:rPr sz="2027" b="0" i="0">
                <a:solidFill>
                  <a:srgbClr val="FFFFFF"/>
                </a:solidFill>
                <a:latin typeface="Avenir"/>
                <a:ea typeface="Avenir"/>
                <a:cs typeface="Avenir"/>
                <a:sym typeface="Avenir"/>
              </a:rPr>
              <a:t> are copied straight out of Project 7:</a:t>
            </a:r>
          </a:p>
        </p:txBody>
      </p:sp>
      <p:sp>
        <p:nvSpPr>
          <p:cNvPr id="4" name="blk0017"/>
          <p:cNvSpPr/>
          <p:nvPr/>
        </p:nvSpPr>
        <p:spPr>
          <a:xfrm>
            <a:off x="687600" y="2448000"/>
            <a:ext cx="8686800" cy="84515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17"/>
          <p:cNvSpPr txBox="1"/>
          <p:nvPr/>
        </p:nvSpPr>
        <p:spPr>
          <a:xfrm>
            <a:off x="910799" y="2610000"/>
            <a:ext cx="8240400" cy="521158"/>
          </a:xfrm>
          <a:prstGeom prst="rect">
            <a:avLst/>
          </a:prstGeom>
          <a:noFill/>
        </p:spPr>
        <p:txBody>
          <a:bodyPr wrap="square" anchor="t" lIns="0" rIns="0" tIns="0" bIns="0">
            <a:noAutofit/>
          </a:bodyPr>
          <a:lstStyle/>
          <a:p>
            <a:pPr algn="l">
              <a:lnSpc>
                <a:spcPct val="115000"/>
              </a:lnSpc>
            </a:pPr>
            <a:r>
              <a:rPr sz="1050" b="0" i="0">
                <a:solidFill>
                  <a:srgbClr val="FFFFFF"/>
                </a:solidFill>
                <a:latin typeface="Courier New"/>
                <a:ea typeface="Courier New"/>
                <a:cs typeface="Courier New"/>
                <a:sym typeface="Courier New"/>
              </a:rPr>
              <a:t>GRID_SCALE = 0.75       # Scale factor for grid size (1.0 = original)</a:t>
            </a:r>
          </a:p>
          <a:p>
            <a:pPr algn="l">
              <a:lnSpc>
                <a:spcPct val="115000"/>
              </a:lnSpc>
            </a:pPr>
            <a:r>
              <a:rPr sz="1050" b="0" i="0">
                <a:solidFill>
                  <a:srgbClr val="FFFFFF"/>
                </a:solidFill>
                <a:latin typeface="Courier New"/>
                <a:ea typeface="Courier New"/>
                <a:cs typeface="Courier New"/>
                <a:sym typeface="Courier New"/>
              </a:rPr>
              <a:t>GRID_OFFSET_X = -10     # Horizontal offset in pixels (+X = right)</a:t>
            </a:r>
          </a:p>
          <a:p>
            <a:pPr algn="l">
              <a:lnSpc>
                <a:spcPct val="115000"/>
              </a:lnSpc>
            </a:pPr>
            <a:r>
              <a:rPr sz="1050" b="0" i="0">
                <a:solidFill>
                  <a:srgbClr val="FFFFFF"/>
                </a:solidFill>
                <a:latin typeface="Courier New"/>
                <a:ea typeface="Courier New"/>
                <a:cs typeface="Courier New"/>
                <a:sym typeface="Courier New"/>
              </a:rPr>
              <a:t>GRID_OFFSET_Y = -70     # Vertical offset in pixels (+Y = down)</a:t>
            </a:r>
          </a:p>
        </p:txBody>
      </p:sp>
      <p:sp>
        <p:nvSpPr>
          <p:cNvPr id="6" name="blk0018"/>
          <p:cNvSpPr txBox="1"/>
          <p:nvPr/>
        </p:nvSpPr>
        <p:spPr>
          <a:xfrm>
            <a:off x="687600" y="3401158"/>
            <a:ext cx="7542000" cy="424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Not one digit changed. If your Project 7 grid was right, this grid is right, and the calibration work you did last week still counts.</a:t>
            </a:r>
          </a:p>
        </p:txBody>
      </p:sp>
      <p:sp>
        <p:nvSpPr>
          <p:cNvPr id="7" name="blk0019"/>
          <p:cNvSpPr/>
          <p:nvPr/>
        </p:nvSpPr>
        <p:spPr>
          <a:xfrm>
            <a:off x="687600" y="4435902"/>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19"/>
          <p:cNvSpPr/>
          <p:nvPr/>
        </p:nvSpPr>
        <p:spPr>
          <a:xfrm>
            <a:off x="885600" y="4886982"/>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19"/>
          <p:cNvSpPr txBox="1"/>
          <p:nvPr/>
        </p:nvSpPr>
        <p:spPr>
          <a:xfrm>
            <a:off x="1162800" y="4579902"/>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That reuse is the reason this project is possible. The vision half was already written, tested, and understood — which means you can spend all of this project on the parts that are new: the decision and the arm.</a:t>
            </a:r>
          </a:p>
        </p:txBody>
      </p:sp>
      <p:sp>
        <p:nvSpPr>
          <p:cNvPr id="10" name="blk0020"/>
          <p:cNvSpPr txBox="1"/>
          <p:nvPr/>
        </p:nvSpPr>
        <p:spPr>
          <a:xfrm>
            <a:off x="687600" y="5582861"/>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One difference: the two colour ranges are swapped in meaning. In Project 7 red was the human token. Here the constants say something else. Read them before you trust them.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2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 tokens changed colour</a:t>
            </a:r>
          </a:p>
        </p:txBody>
      </p:sp>
      <p:sp>
        <p:nvSpPr>
          <p:cNvPr id="3" name="blk002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Same physical game pieces, different assignment. Project 7 used blue for the robot. This project uses red:</a:t>
            </a:r>
          </a:p>
        </p:txBody>
      </p:sp>
      <p:sp>
        <p:nvSpPr>
          <p:cNvPr id="4" name="blk0023"/>
          <p:cNvSpPr/>
          <p:nvPr/>
        </p:nvSpPr>
        <p:spPr>
          <a:xfrm>
            <a:off x="687600" y="2664000"/>
            <a:ext cx="8686800" cy="1217415"/>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23"/>
          <p:cNvSpPr txBox="1"/>
          <p:nvPr/>
        </p:nvSpPr>
        <p:spPr>
          <a:xfrm>
            <a:off x="910799" y="2826000"/>
            <a:ext cx="8240400" cy="893415"/>
          </a:xfrm>
          <a:prstGeom prst="rect">
            <a:avLst/>
          </a:prstGeom>
          <a:noFill/>
        </p:spPr>
        <p:txBody>
          <a:bodyPr wrap="square" anchor="t" lIns="0" rIns="0" tIns="0" bIns="0">
            <a:noAutofit/>
          </a:bodyPr>
          <a:lstStyle/>
          <a:p>
            <a:pPr algn="l">
              <a:lnSpc>
                <a:spcPct val="115000"/>
              </a:lnSpc>
            </a:pPr>
            <a:r>
              <a:rPr sz="900" b="0" i="0">
                <a:solidFill>
                  <a:srgbClr val="FFFFFF"/>
                </a:solidFill>
                <a:latin typeface="Courier New"/>
                <a:ea typeface="Courier New"/>
                <a:cs typeface="Courier New"/>
                <a:sym typeface="Courier New"/>
              </a:rPr>
              <a:t># Red Tokens = 'O' (Robot Player) - HSV wraps at 0/180</a:t>
            </a:r>
          </a:p>
          <a:p>
            <a:pPr algn="l">
              <a:lnSpc>
                <a:spcPct val="115000"/>
              </a:lnSpc>
            </a:pPr>
            <a:r>
              <a:rPr sz="900" b="0" i="0">
                <a:solidFill>
                  <a:srgbClr val="FFFFFF"/>
                </a:solidFill>
                <a:latin typeface="Courier New"/>
                <a:ea typeface="Courier New"/>
                <a:cs typeface="Courier New"/>
                <a:sym typeface="Courier New"/>
              </a:rPr>
              <a:t>LOWER_RED1 = np.array([0, 120, 100]); UPPER_RED1 = np.array([10, 255, 255])</a:t>
            </a:r>
          </a:p>
          <a:p>
            <a:pPr algn="l">
              <a:lnSpc>
                <a:spcPct val="115000"/>
              </a:lnSpc>
            </a:pPr>
            <a:r>
              <a:rPr sz="900" b="0" i="0">
                <a:solidFill>
                  <a:srgbClr val="FFFFFF"/>
                </a:solidFill>
                <a:latin typeface="Courier New"/>
                <a:ea typeface="Courier New"/>
                <a:cs typeface="Courier New"/>
                <a:sym typeface="Courier New"/>
              </a:rPr>
              <a:t>LOWER_RED2 = np.array([170, 120, 100]); UPPER_RED2 = np.array([180, 255, 255])</a:t>
            </a:r>
          </a:p>
          <a:p>
            <a:pPr algn="l">
              <a:lnSpc>
                <a:spcPct val="115000"/>
              </a:lnSpc>
            </a:pPr>
            <a:r>
              <a:rPr sz="900" b="0" i="0">
                <a:solidFill>
                  <a:srgbClr val="FFFFFF"/>
                </a:solidFill>
                <a:latin typeface="Courier New"/>
                <a:ea typeface="Courier New"/>
                <a:cs typeface="Courier New"/>
                <a:sym typeface="Courier New"/>
              </a:rPr>
              <a:t/>
            </a:r>
          </a:p>
          <a:p>
            <a:pPr algn="l">
              <a:lnSpc>
                <a:spcPct val="115000"/>
              </a:lnSpc>
            </a:pPr>
            <a:r>
              <a:rPr sz="900" b="0" i="0">
                <a:solidFill>
                  <a:srgbClr val="FFFFFF"/>
                </a:solidFill>
                <a:latin typeface="Courier New"/>
                <a:ea typeface="Courier New"/>
                <a:cs typeface="Courier New"/>
                <a:sym typeface="Courier New"/>
              </a:rPr>
              <a:t># Green Tokens = 'X' (Human Player)</a:t>
            </a:r>
          </a:p>
          <a:p>
            <a:pPr algn="l">
              <a:lnSpc>
                <a:spcPct val="115000"/>
              </a:lnSpc>
            </a:pPr>
            <a:r>
              <a:rPr sz="900" b="0" i="0">
                <a:solidFill>
                  <a:srgbClr val="FFFFFF"/>
                </a:solidFill>
                <a:latin typeface="Courier New"/>
                <a:ea typeface="Courier New"/>
                <a:cs typeface="Courier New"/>
                <a:sym typeface="Courier New"/>
              </a:rPr>
              <a:t>LOWER_GREEN = np.array([40, 80, 80]); UPPER_GREEN = np.array([85, 255, 255])</a:t>
            </a:r>
          </a:p>
        </p:txBody>
      </p:sp>
      <p:sp>
        <p:nvSpPr>
          <p:cNvPr id="6" name="blk0024"/>
          <p:cNvSpPr txBox="1"/>
          <p:nvPr/>
        </p:nvSpPr>
        <p:spPr>
          <a:xfrm>
            <a:off x="687600" y="4104000"/>
            <a:ext cx="7542000" cy="352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red ranges are identical to Project 7. The blue ranges are gone, replaced by green. So the hue wraparound you learned last week is still load-bearing — it just now belongs to the robot instead of the human.</a:t>
            </a:r>
          </a:p>
        </p:txBody>
      </p:sp>
      <p:sp>
        <p:nvSpPr>
          <p:cNvPr id="7" name="blk0025"/>
          <p:cNvSpPr/>
          <p:nvPr/>
        </p:nvSpPr>
        <p:spPr>
          <a:xfrm>
            <a:off x="687600" y="5447659"/>
            <a:ext cx="8686800" cy="1080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25"/>
          <p:cNvSpPr/>
          <p:nvPr/>
        </p:nvSpPr>
        <p:spPr>
          <a:xfrm>
            <a:off x="885600" y="5919259"/>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25"/>
          <p:cNvSpPr txBox="1"/>
          <p:nvPr/>
        </p:nvSpPr>
        <p:spPr>
          <a:xfrm>
            <a:off x="1162800" y="5591659"/>
            <a:ext cx="7956000" cy="792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Nothing in the code tells you which colour is which player. The comments do, and the comments are the only evidence. If you swap the two lines in </a:t>
            </a:r>
            <a:r>
              <a:rPr sz="1290" b="0" i="1">
                <a:solidFill>
                  <a:srgbClr val="FFCF08"/>
                </a:solidFill>
                <a:latin typeface="Courier New"/>
                <a:ea typeface="Courier New"/>
                <a:cs typeface="Courier New"/>
                <a:sym typeface="Courier New"/>
              </a:rPr>
              <a:t>parse_board_state</a:t>
            </a:r>
            <a:r>
              <a:rPr sz="1500" b="0" i="1">
                <a:solidFill>
                  <a:srgbClr val="FFCF08"/>
                </a:solidFill>
                <a:latin typeface="Avenir"/>
                <a:ea typeface="Avenir"/>
                <a:cs typeface="Avenir"/>
                <a:sym typeface="Avenir"/>
              </a:rPr>
              <a:t> the program will happily play a game where the robot thinks it is you.</a:t>
            </a:r>
          </a:p>
        </p:txBody>
      </p:sp>
      <p:sp>
        <p:nvSpPr>
          <p:cNvPr id="10" name="blk0026"/>
          <p:cNvSpPr txBox="1"/>
          <p:nvPr/>
        </p:nvSpPr>
        <p:spPr>
          <a:xfrm>
            <a:off x="687600" y="6635659"/>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is worth noticing on purpose. Every constant in the file is a decision somebody made once, and nothing about it is self-evident from the code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2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Eight ways to win</a:t>
            </a:r>
          </a:p>
        </p:txBody>
      </p:sp>
      <p:sp>
        <p:nvSpPr>
          <p:cNvPr id="3" name="blk0028"/>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 tic-tac-toe board has exactly eight winning lines: three rows, three columns, and two diagonals. That is the whole rule set, and the function that tests for a win is four lines long:</a:t>
            </a:r>
          </a:p>
        </p:txBody>
      </p:sp>
      <p:sp>
        <p:nvSpPr>
          <p:cNvPr id="4" name="blk0029"/>
          <p:cNvSpPr/>
          <p:nvPr/>
        </p:nvSpPr>
        <p:spPr>
          <a:xfrm>
            <a:off x="687600" y="3024000"/>
            <a:ext cx="8686800" cy="1713757"/>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29"/>
          <p:cNvSpPr txBox="1"/>
          <p:nvPr/>
        </p:nvSpPr>
        <p:spPr>
          <a:xfrm>
            <a:off x="910799" y="3186000"/>
            <a:ext cx="8240400" cy="1389757"/>
          </a:xfrm>
          <a:prstGeom prst="rect">
            <a:avLst/>
          </a:prstGeom>
          <a:noFill/>
        </p:spPr>
        <p:txBody>
          <a:bodyPr wrap="square" anchor="t" lIns="0" rIns="0" tIns="0" bIns="0">
            <a:noAutofit/>
          </a:bodyPr>
          <a:lstStyle/>
          <a:p>
            <a:pPr algn="l">
              <a:lnSpc>
                <a:spcPct val="115000"/>
              </a:lnSpc>
            </a:pPr>
            <a:r>
              <a:rPr sz="1050" b="0" i="0">
                <a:solidFill>
                  <a:srgbClr val="FFFFFF"/>
                </a:solidFill>
                <a:latin typeface="Courier New"/>
                <a:ea typeface="Courier New"/>
                <a:cs typeface="Courier New"/>
                <a:sym typeface="Courier New"/>
              </a:rPr>
              <a:t>def check_winner(b):</a:t>
            </a:r>
          </a:p>
          <a:p>
            <a:pPr algn="l">
              <a:lnSpc>
                <a:spcPct val="115000"/>
              </a:lnSpc>
            </a:pPr>
            <a:r>
              <a:rPr sz="1050" b="0" i="0">
                <a:solidFill>
                  <a:srgbClr val="FFFFFF"/>
                </a:solidFill>
                <a:latin typeface="Courier New"/>
                <a:ea typeface="Courier New"/>
                <a:cs typeface="Courier New"/>
                <a:sym typeface="Courier New"/>
              </a:rPr>
              <a:t>    """Checks for 3-in-a-row winning conditions."""</a:t>
            </a:r>
          </a:p>
          <a:p>
            <a:pPr algn="l">
              <a:lnSpc>
                <a:spcPct val="115000"/>
              </a:lnSpc>
            </a:pPr>
            <a:r>
              <a:rPr sz="1050" b="0" i="0">
                <a:solidFill>
                  <a:srgbClr val="FFFFFF"/>
                </a:solidFill>
                <a:latin typeface="Courier New"/>
                <a:ea typeface="Courier New"/>
                <a:cs typeface="Courier New"/>
                <a:sym typeface="Courier New"/>
              </a:rPr>
              <a:t>    for i in range(3):</a:t>
            </a:r>
          </a:p>
          <a:p>
            <a:pPr algn="l">
              <a:lnSpc>
                <a:spcPct val="115000"/>
              </a:lnSpc>
            </a:pPr>
            <a:r>
              <a:rPr sz="1050" b="0" i="0">
                <a:solidFill>
                  <a:srgbClr val="FFFFFF"/>
                </a:solidFill>
                <a:latin typeface="Courier New"/>
                <a:ea typeface="Courier New"/>
                <a:cs typeface="Courier New"/>
                <a:sym typeface="Courier New"/>
              </a:rPr>
              <a:t>        if b[i][0] == b[i][1] == b[i][2] != ' ': return b[i][0]</a:t>
            </a:r>
          </a:p>
          <a:p>
            <a:pPr algn="l">
              <a:lnSpc>
                <a:spcPct val="115000"/>
              </a:lnSpc>
            </a:pPr>
            <a:r>
              <a:rPr sz="1050" b="0" i="0">
                <a:solidFill>
                  <a:srgbClr val="FFFFFF"/>
                </a:solidFill>
                <a:latin typeface="Courier New"/>
                <a:ea typeface="Courier New"/>
                <a:cs typeface="Courier New"/>
                <a:sym typeface="Courier New"/>
              </a:rPr>
              <a:t>        if b[0][i] == b[1][i] == b[2][i] != ' ': return b[0][i]</a:t>
            </a:r>
          </a:p>
          <a:p>
            <a:pPr algn="l">
              <a:lnSpc>
                <a:spcPct val="115000"/>
              </a:lnSpc>
            </a:pPr>
            <a:r>
              <a:rPr sz="1050" b="0" i="0">
                <a:solidFill>
                  <a:srgbClr val="FFFFFF"/>
                </a:solidFill>
                <a:latin typeface="Courier New"/>
                <a:ea typeface="Courier New"/>
                <a:cs typeface="Courier New"/>
                <a:sym typeface="Courier New"/>
              </a:rPr>
              <a:t>    if b[0][0] == b[1][1] == b[2][2] != ' ': return b[0][0]</a:t>
            </a:r>
          </a:p>
          <a:p>
            <a:pPr algn="l">
              <a:lnSpc>
                <a:spcPct val="115000"/>
              </a:lnSpc>
            </a:pPr>
            <a:r>
              <a:rPr sz="1050" b="0" i="0">
                <a:solidFill>
                  <a:srgbClr val="FFFFFF"/>
                </a:solidFill>
                <a:latin typeface="Courier New"/>
                <a:ea typeface="Courier New"/>
                <a:cs typeface="Courier New"/>
                <a:sym typeface="Courier New"/>
              </a:rPr>
              <a:t>    if b[0][2] == b[1][1] == b[2][0] != ' ': return b[0][2]</a:t>
            </a:r>
          </a:p>
          <a:p>
            <a:pPr algn="l">
              <a:lnSpc>
                <a:spcPct val="115000"/>
              </a:lnSpc>
            </a:pPr>
            <a:r>
              <a:rPr sz="1050" b="0" i="0">
                <a:solidFill>
                  <a:srgbClr val="FFFFFF"/>
                </a:solidFill>
                <a:latin typeface="Courier New"/>
                <a:ea typeface="Courier New"/>
                <a:cs typeface="Courier New"/>
                <a:sym typeface="Courier New"/>
              </a:rPr>
              <a:t>    return None</a:t>
            </a:r>
          </a:p>
        </p:txBody>
      </p:sp>
      <p:sp>
        <p:nvSpPr>
          <p:cNvPr id="6" name="blk0030"/>
          <p:cNvSpPr txBox="1"/>
          <p:nvPr/>
        </p:nvSpPr>
        <p:spPr>
          <a:xfrm>
            <a:off x="687600" y="4845757"/>
            <a:ext cx="7542000" cy="309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loop covers rows and columns together — </a:t>
            </a:r>
            <a:r>
              <a:rPr sz="1743" b="0" i="0">
                <a:solidFill>
                  <a:srgbClr val="FFFFFF"/>
                </a:solidFill>
                <a:latin typeface="Courier New"/>
                <a:ea typeface="Courier New"/>
                <a:cs typeface="Courier New"/>
                <a:sym typeface="Courier New"/>
              </a:rPr>
              <a:t>i</a:t>
            </a:r>
            <a:r>
              <a:rPr sz="2027" b="0" i="0">
                <a:solidFill>
                  <a:srgbClr val="FFFFFF"/>
                </a:solidFill>
                <a:latin typeface="Avenir"/>
                <a:ea typeface="Avenir"/>
                <a:cs typeface="Avenir"/>
                <a:sym typeface="Avenir"/>
              </a:rPr>
              <a:t> is the index, and each iteration checks one of each. Then two diagonals by hand, because they do not follow the pattern.</a:t>
            </a:r>
          </a:p>
        </p:txBody>
      </p:sp>
      <p:sp>
        <p:nvSpPr>
          <p:cNvPr id="7" name="blk0031"/>
          <p:cNvSpPr txBox="1"/>
          <p:nvPr/>
        </p:nvSpPr>
        <p:spPr>
          <a:xfrm>
            <a:off x="687600" y="5880501"/>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Returning the winning character rather than </a:t>
            </a:r>
            <a:r>
              <a:rPr sz="1419" b="0" i="0">
                <a:solidFill>
                  <a:srgbClr val="FFFFFF"/>
                </a:solidFill>
                <a:latin typeface="Courier New"/>
                <a:ea typeface="Courier New"/>
                <a:cs typeface="Courier New"/>
                <a:sym typeface="Courier New"/>
              </a:rPr>
              <a:t>True</a:t>
            </a:r>
            <a:r>
              <a:rPr sz="1650" b="0" i="0">
                <a:solidFill>
                  <a:srgbClr val="FFFFFF"/>
                </a:solidFill>
                <a:latin typeface="Avenir"/>
                <a:ea typeface="Avenir"/>
                <a:cs typeface="Avenir"/>
                <a:sym typeface="Avenir"/>
              </a:rPr>
              <a:t> is deliberate. The main loop needs to know </a:t>
            </a:r>
            <a:r>
              <a:rPr sz="1419" b="0" i="0">
                <a:solidFill>
                  <a:srgbClr val="FFFFFF"/>
                </a:solidFill>
                <a:latin typeface="Courier New"/>
                <a:ea typeface="Courier New"/>
                <a:cs typeface="Courier New"/>
                <a:sym typeface="Courier New"/>
              </a:rPr>
              <a:t>who</a:t>
            </a:r>
            <a:r>
              <a:rPr sz="1650" b="0" i="0">
                <a:solidFill>
                  <a:srgbClr val="FFFFFF"/>
                </a:solidFill>
                <a:latin typeface="Avenir"/>
                <a:ea typeface="Avenir"/>
                <a:cs typeface="Avenir"/>
                <a:sym typeface="Avenir"/>
              </a:rPr>
              <a:t> won in order to print it on screen, and the string is already sitting there in the board.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32"/>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Read the comparison carefully</a:t>
            </a:r>
          </a:p>
        </p:txBody>
      </p:sp>
      <p:sp>
        <p:nvSpPr>
          <p:cNvPr id="3" name="blk0033"/>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line looks wrong to almost everybody the first time:</a:t>
            </a:r>
          </a:p>
        </p:txBody>
      </p:sp>
      <p:sp>
        <p:nvSpPr>
          <p:cNvPr id="4" name="blk0034"/>
          <p:cNvSpPr/>
          <p:nvPr/>
        </p:nvSpPr>
        <p:spPr>
          <a:xfrm>
            <a:off x="687600" y="2232000"/>
            <a:ext cx="8686800" cy="53908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34"/>
          <p:cNvSpPr txBox="1"/>
          <p:nvPr/>
        </p:nvSpPr>
        <p:spPr>
          <a:xfrm>
            <a:off x="910799" y="2394000"/>
            <a:ext cx="8240400" cy="215081"/>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    if b[i][0] == b[i][1] == b[i][2] != ' ': return b[i][0]</a:t>
            </a:r>
          </a:p>
        </p:txBody>
      </p:sp>
      <p:sp>
        <p:nvSpPr>
          <p:cNvPr id="6" name="blk0035"/>
          <p:cNvSpPr txBox="1"/>
          <p:nvPr/>
        </p:nvSpPr>
        <p:spPr>
          <a:xfrm>
            <a:off x="687600" y="2951999"/>
            <a:ext cx="7542000" cy="4676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There is no </a:t>
            </a:r>
            <a:r>
              <a:rPr sz="1743" b="0" i="0">
                <a:solidFill>
                  <a:srgbClr val="FFFFFF"/>
                </a:solidFill>
                <a:latin typeface="Courier New"/>
                <a:ea typeface="Courier New"/>
                <a:cs typeface="Courier New"/>
                <a:sym typeface="Courier New"/>
              </a:rPr>
              <a:t>and</a:t>
            </a:r>
            <a:r>
              <a:rPr sz="2027" b="0" i="0">
                <a:solidFill>
                  <a:srgbClr val="FFFFFF"/>
                </a:solidFill>
                <a:latin typeface="Avenir"/>
                <a:ea typeface="Avenir"/>
                <a:cs typeface="Avenir"/>
                <a:sym typeface="Avenir"/>
              </a:rPr>
              <a:t> in it, so how can it possibly mean what it appears to mean? Python chained comparisons compare each element with the next and with the final one. It means exactly:</a:t>
            </a:r>
          </a:p>
        </p:txBody>
      </p:sp>
      <p:sp>
        <p:nvSpPr>
          <p:cNvPr id="7" name="blk0036"/>
          <p:cNvSpPr/>
          <p:nvPr/>
        </p:nvSpPr>
        <p:spPr>
          <a:xfrm>
            <a:off x="687600" y="4295658"/>
            <a:ext cx="8686800" cy="49771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36"/>
          <p:cNvSpPr txBox="1"/>
          <p:nvPr/>
        </p:nvSpPr>
        <p:spPr>
          <a:xfrm>
            <a:off x="910799" y="4457658"/>
            <a:ext cx="8240400" cy="173719"/>
          </a:xfrm>
          <a:prstGeom prst="rect">
            <a:avLst/>
          </a:prstGeom>
          <a:noFill/>
        </p:spPr>
        <p:txBody>
          <a:bodyPr wrap="square" anchor="t" lIns="0" rIns="0" tIns="0" bIns="0">
            <a:noAutofit/>
          </a:bodyPr>
          <a:lstStyle/>
          <a:p>
            <a:pPr algn="l">
              <a:lnSpc>
                <a:spcPct val="115000"/>
              </a:lnSpc>
            </a:pPr>
            <a:r>
              <a:rPr sz="1050" b="0" i="0">
                <a:solidFill>
                  <a:srgbClr val="FFFFFF"/>
                </a:solidFill>
                <a:latin typeface="Courier New"/>
                <a:ea typeface="Courier New"/>
                <a:cs typeface="Courier New"/>
                <a:sym typeface="Courier New"/>
              </a:rPr>
              <a:t>b[i][0] == b[i][1]   and   b[i][1] == b[i][2]   and   b[i][2] != ' '</a:t>
            </a:r>
          </a:p>
        </p:txBody>
      </p:sp>
      <p:sp>
        <p:nvSpPr>
          <p:cNvPr id="9" name="blk0037"/>
          <p:cNvSpPr/>
          <p:nvPr/>
        </p:nvSpPr>
        <p:spPr>
          <a:xfrm>
            <a:off x="687600" y="504000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037"/>
          <p:cNvSpPr/>
          <p:nvPr/>
        </p:nvSpPr>
        <p:spPr>
          <a:xfrm>
            <a:off x="885600" y="549108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037"/>
          <p:cNvSpPr txBox="1"/>
          <p:nvPr/>
        </p:nvSpPr>
        <p:spPr>
          <a:xfrm>
            <a:off x="1162800" y="5184000"/>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This is a correct piece of code. Three equal cells, and none of them blank — which is the part the </a:t>
            </a:r>
            <a:r>
              <a:rPr sz="1290" b="0" i="1">
                <a:solidFill>
                  <a:srgbClr val="FFCF08"/>
                </a:solidFill>
                <a:latin typeface="Courier New"/>
                <a:ea typeface="Courier New"/>
                <a:cs typeface="Courier New"/>
                <a:sym typeface="Courier New"/>
              </a:rPr>
              <a:t>!= ' '</a:t>
            </a:r>
            <a:r>
              <a:rPr sz="1500" b="0" i="1">
                <a:solidFill>
                  <a:srgbClr val="FFCF08"/>
                </a:solidFill>
                <a:latin typeface="Avenir"/>
                <a:ea typeface="Avenir"/>
                <a:cs typeface="Avenir"/>
                <a:sym typeface="Avenir"/>
              </a:rPr>
              <a:t> at the end is doing. Without it, three empty cells would count as a win for nobody, and the game would end on an empty board.</a:t>
            </a:r>
          </a:p>
        </p:txBody>
      </p:sp>
      <p:sp>
        <p:nvSpPr>
          <p:cNvPr id="12" name="blk0038"/>
          <p:cNvSpPr txBox="1"/>
          <p:nvPr/>
        </p:nvSpPr>
        <p:spPr>
          <a:xfrm>
            <a:off x="687600" y="6263999"/>
            <a:ext cx="7542000" cy="79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A chained comparison like this is easier to misread than to write. Nobody is required to use one, but everybody has to be able to read one correctly.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3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Try it, then undo it</a:t>
            </a:r>
          </a:p>
        </p:txBody>
      </p:sp>
      <p:sp>
        <p:nvSpPr>
          <p:cNvPr id="3" name="blk0040"/>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AI has one job: find a cell to play. It does it by pretending, checking whether the pretend wins, and putting things back. Four lines of pretending:</a:t>
            </a:r>
          </a:p>
        </p:txBody>
      </p:sp>
      <p:sp>
        <p:nvSpPr>
          <p:cNvPr id="4" name="blk0041"/>
          <p:cNvSpPr/>
          <p:nvPr/>
        </p:nvSpPr>
        <p:spPr>
          <a:xfrm>
            <a:off x="687600" y="2736000"/>
            <a:ext cx="8686800" cy="164757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41"/>
          <p:cNvSpPr txBox="1"/>
          <p:nvPr/>
        </p:nvSpPr>
        <p:spPr>
          <a:xfrm>
            <a:off x="910799" y="2897999"/>
            <a:ext cx="8240400" cy="1323578"/>
          </a:xfrm>
          <a:prstGeom prst="rect">
            <a:avLst/>
          </a:prstGeom>
          <a:noFill/>
        </p:spPr>
        <p:txBody>
          <a:bodyPr wrap="square" anchor="t" lIns="0" rIns="0" tIns="0" bIns="0">
            <a:noAutofit/>
          </a:bodyPr>
          <a:lstStyle/>
          <a:p>
            <a:pPr algn="l">
              <a:lnSpc>
                <a:spcPct val="115000"/>
              </a:lnSpc>
            </a:pPr>
            <a:r>
              <a:rPr sz="1000" b="0" i="0">
                <a:solidFill>
                  <a:srgbClr val="FFFFFF"/>
                </a:solidFill>
                <a:latin typeface="Courier New"/>
                <a:ea typeface="Courier New"/>
                <a:cs typeface="Courier New"/>
                <a:sym typeface="Courier New"/>
              </a:rPr>
              <a:t>    for player in ['O', 'X']:</a:t>
            </a:r>
          </a:p>
          <a:p>
            <a:pPr algn="l">
              <a:lnSpc>
                <a:spcPct val="115000"/>
              </a:lnSpc>
            </a:pPr>
            <a:r>
              <a:rPr sz="1000" b="0" i="0">
                <a:solidFill>
                  <a:srgbClr val="FFFFFF"/>
                </a:solidFill>
                <a:latin typeface="Courier New"/>
                <a:ea typeface="Courier New"/>
                <a:cs typeface="Courier New"/>
                <a:sym typeface="Courier New"/>
              </a:rPr>
              <a:t>        for r in range(3):</a:t>
            </a:r>
          </a:p>
          <a:p>
            <a:pPr algn="l">
              <a:lnSpc>
                <a:spcPct val="115000"/>
              </a:lnSpc>
            </a:pPr>
            <a:r>
              <a:rPr sz="1000" b="0" i="0">
                <a:solidFill>
                  <a:srgbClr val="FFFFFF"/>
                </a:solidFill>
                <a:latin typeface="Courier New"/>
                <a:ea typeface="Courier New"/>
                <a:cs typeface="Courier New"/>
                <a:sym typeface="Courier New"/>
              </a:rPr>
              <a:t>            for c in range(3):</a:t>
            </a:r>
          </a:p>
          <a:p>
            <a:pPr algn="l">
              <a:lnSpc>
                <a:spcPct val="115000"/>
              </a:lnSpc>
            </a:pPr>
            <a:r>
              <a:rPr sz="1000" b="0" i="0">
                <a:solidFill>
                  <a:srgbClr val="FFFFFF"/>
                </a:solidFill>
                <a:latin typeface="Courier New"/>
                <a:ea typeface="Courier New"/>
                <a:cs typeface="Courier New"/>
                <a:sym typeface="Courier New"/>
              </a:rPr>
              <a:t>                if board[r][c] == ' ':</a:t>
            </a:r>
          </a:p>
          <a:p>
            <a:pPr algn="l">
              <a:lnSpc>
                <a:spcPct val="115000"/>
              </a:lnSpc>
            </a:pPr>
            <a:r>
              <a:rPr sz="1000" b="0" i="0">
                <a:solidFill>
                  <a:srgbClr val="FFFFFF"/>
                </a:solidFill>
                <a:latin typeface="Courier New"/>
                <a:ea typeface="Courier New"/>
                <a:cs typeface="Courier New"/>
                <a:sym typeface="Courier New"/>
              </a:rPr>
              <a:t>                    board[r][c] = player</a:t>
            </a:r>
          </a:p>
          <a:p>
            <a:pPr algn="l">
              <a:lnSpc>
                <a:spcPct val="115000"/>
              </a:lnSpc>
            </a:pPr>
            <a:r>
              <a:rPr sz="1000" b="0" i="0">
                <a:solidFill>
                  <a:srgbClr val="FFFFFF"/>
                </a:solidFill>
                <a:latin typeface="Courier New"/>
                <a:ea typeface="Courier New"/>
                <a:cs typeface="Courier New"/>
                <a:sym typeface="Courier New"/>
              </a:rPr>
              <a:t>                    if check_winner(board) == player:</a:t>
            </a:r>
          </a:p>
          <a:p>
            <a:pPr algn="l">
              <a:lnSpc>
                <a:spcPct val="115000"/>
              </a:lnSpc>
            </a:pPr>
            <a:r>
              <a:rPr sz="1000" b="0" i="0">
                <a:solidFill>
                  <a:srgbClr val="FFFFFF"/>
                </a:solidFill>
                <a:latin typeface="Courier New"/>
                <a:ea typeface="Courier New"/>
                <a:cs typeface="Courier New"/>
                <a:sym typeface="Courier New"/>
              </a:rPr>
              <a:t>                        return (r, c)</a:t>
            </a:r>
          </a:p>
          <a:p>
            <a:pPr algn="l">
              <a:lnSpc>
                <a:spcPct val="115000"/>
              </a:lnSpc>
            </a:pPr>
            <a:r>
              <a:rPr sz="1000" b="0" i="0">
                <a:solidFill>
                  <a:srgbClr val="FFFFFF"/>
                </a:solidFill>
                <a:latin typeface="Courier New"/>
                <a:ea typeface="Courier New"/>
                <a:cs typeface="Courier New"/>
                <a:sym typeface="Courier New"/>
              </a:rPr>
              <a:t>                    board[r][c] = ' ' # Undo</a:t>
            </a:r>
          </a:p>
        </p:txBody>
      </p:sp>
      <p:sp>
        <p:nvSpPr>
          <p:cNvPr id="6" name="blk0042"/>
          <p:cNvSpPr txBox="1"/>
          <p:nvPr/>
        </p:nvSpPr>
        <p:spPr>
          <a:xfrm>
            <a:off x="687600" y="4491578"/>
            <a:ext cx="7542000" cy="3380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outer loop is the important part. It tries </a:t>
            </a:r>
            <a:r>
              <a:rPr sz="1743" b="0" i="0">
                <a:solidFill>
                  <a:srgbClr val="FFFFFF"/>
                </a:solidFill>
                <a:latin typeface="Courier New"/>
                <a:ea typeface="Courier New"/>
                <a:cs typeface="Courier New"/>
                <a:sym typeface="Courier New"/>
              </a:rPr>
              <a:t>O</a:t>
            </a:r>
            <a:r>
              <a:rPr sz="2027" b="0" i="0">
                <a:solidFill>
                  <a:srgbClr val="FFFFFF"/>
                </a:solidFill>
                <a:latin typeface="Avenir"/>
                <a:ea typeface="Avenir"/>
                <a:cs typeface="Avenir"/>
                <a:sym typeface="Avenir"/>
              </a:rPr>
              <a:t> first, so the robot checks whether it can win before it checks whether it must block. Getting that order backwards produces a robot that blocks when it should be winning.</a:t>
            </a:r>
          </a:p>
        </p:txBody>
      </p:sp>
      <p:sp>
        <p:nvSpPr>
          <p:cNvPr id="7" name="blk0043"/>
          <p:cNvSpPr/>
          <p:nvPr/>
        </p:nvSpPr>
        <p:spPr>
          <a:xfrm>
            <a:off x="687600" y="5835237"/>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43"/>
          <p:cNvSpPr/>
          <p:nvPr/>
        </p:nvSpPr>
        <p:spPr>
          <a:xfrm>
            <a:off x="885600" y="6286316"/>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43"/>
          <p:cNvSpPr txBox="1"/>
          <p:nvPr/>
        </p:nvSpPr>
        <p:spPr>
          <a:xfrm>
            <a:off x="1162800" y="5979237"/>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Those three nested loops, nine cells each, calling a winner test on every free square. Nine tries. Cheap. It runs once per keypress and there is no reason to be cleverer than this.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44"/>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Then centre, then anything</a:t>
            </a:r>
          </a:p>
        </p:txBody>
      </p:sp>
      <p:sp>
        <p:nvSpPr>
          <p:cNvPr id="3" name="blk0045"/>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If no single move wins or blocks, the AI stops trying to be clever. Centre first, because it is on more winning lines than any corner, then whatever is left:</a:t>
            </a:r>
          </a:p>
        </p:txBody>
      </p:sp>
      <p:sp>
        <p:nvSpPr>
          <p:cNvPr id="4" name="blk0046"/>
          <p:cNvSpPr/>
          <p:nvPr/>
        </p:nvSpPr>
        <p:spPr>
          <a:xfrm>
            <a:off x="687600" y="2808000"/>
            <a:ext cx="8686800" cy="2226643"/>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46"/>
          <p:cNvSpPr txBox="1"/>
          <p:nvPr/>
        </p:nvSpPr>
        <p:spPr>
          <a:xfrm>
            <a:off x="910799" y="2970000"/>
            <a:ext cx="8240400" cy="1902643"/>
          </a:xfrm>
          <a:prstGeom prst="rect">
            <a:avLst/>
          </a:prstGeom>
          <a:noFill/>
        </p:spPr>
        <p:txBody>
          <a:bodyPr wrap="square" anchor="t" lIns="0" rIns="0" tIns="0" bIns="0">
            <a:noAutofit/>
          </a:bodyPr>
          <a:lstStyle/>
          <a:p>
            <a:pPr algn="l">
              <a:lnSpc>
                <a:spcPct val="115000"/>
              </a:lnSpc>
            </a:pPr>
            <a:r>
              <a:rPr sz="1150" b="0" i="0">
                <a:solidFill>
                  <a:srgbClr val="FFFFFF"/>
                </a:solidFill>
                <a:latin typeface="Courier New"/>
                <a:ea typeface="Courier New"/>
                <a:cs typeface="Courier New"/>
                <a:sym typeface="Courier New"/>
              </a:rPr>
              <a:t>    # 2. Center priority</a:t>
            </a:r>
          </a:p>
          <a:p>
            <a:pPr algn="l">
              <a:lnSpc>
                <a:spcPct val="115000"/>
              </a:lnSpc>
            </a:pPr>
            <a:r>
              <a:rPr sz="1150" b="0" i="0">
                <a:solidFill>
                  <a:srgbClr val="FFFFFF"/>
                </a:solidFill>
                <a:latin typeface="Courier New"/>
                <a:ea typeface="Courier New"/>
                <a:cs typeface="Courier New"/>
                <a:sym typeface="Courier New"/>
              </a:rPr>
              <a:t>    if board[1][1] == ' ':</a:t>
            </a:r>
          </a:p>
          <a:p>
            <a:pPr algn="l">
              <a:lnSpc>
                <a:spcPct val="115000"/>
              </a:lnSpc>
            </a:pPr>
            <a:r>
              <a:rPr sz="1150" b="0" i="0">
                <a:solidFill>
                  <a:srgbClr val="FFFFFF"/>
                </a:solidFill>
                <a:latin typeface="Courier New"/>
                <a:ea typeface="Courier New"/>
                <a:cs typeface="Courier New"/>
                <a:sym typeface="Courier New"/>
              </a:rPr>
              <a:t>        return (1, 1)</a:t>
            </a:r>
          </a:p>
          <a:p>
            <a:pPr algn="l">
              <a:lnSpc>
                <a:spcPct val="115000"/>
              </a:lnSpc>
            </a:pPr>
            <a:r>
              <a:rPr sz="1150" b="0" i="0">
                <a:solidFill>
                  <a:srgbClr val="FFFFFF"/>
                </a:solidFill>
                <a:latin typeface="Courier New"/>
                <a:ea typeface="Courier New"/>
                <a:cs typeface="Courier New"/>
                <a:sym typeface="Courier New"/>
              </a:rPr>
              <a:t/>
            </a:r>
          </a:p>
          <a:p>
            <a:pPr algn="l">
              <a:lnSpc>
                <a:spcPct val="115000"/>
              </a:lnSpc>
            </a:pPr>
            <a:r>
              <a:rPr sz="1150" b="0" i="0">
                <a:solidFill>
                  <a:srgbClr val="FFFFFF"/>
                </a:solidFill>
                <a:latin typeface="Courier New"/>
                <a:ea typeface="Courier New"/>
                <a:cs typeface="Courier New"/>
                <a:sym typeface="Courier New"/>
              </a:rPr>
              <a:t>    # 3. Pick first open square</a:t>
            </a:r>
          </a:p>
          <a:p>
            <a:pPr algn="l">
              <a:lnSpc>
                <a:spcPct val="115000"/>
              </a:lnSpc>
            </a:pPr>
            <a:r>
              <a:rPr sz="1150" b="0" i="0">
                <a:solidFill>
                  <a:srgbClr val="FFFFFF"/>
                </a:solidFill>
                <a:latin typeface="Courier New"/>
                <a:ea typeface="Courier New"/>
                <a:cs typeface="Courier New"/>
                <a:sym typeface="Courier New"/>
              </a:rPr>
              <a:t>    for r in range(3):</a:t>
            </a:r>
          </a:p>
          <a:p>
            <a:pPr algn="l">
              <a:lnSpc>
                <a:spcPct val="115000"/>
              </a:lnSpc>
            </a:pPr>
            <a:r>
              <a:rPr sz="1150" b="0" i="0">
                <a:solidFill>
                  <a:srgbClr val="FFFFFF"/>
                </a:solidFill>
                <a:latin typeface="Courier New"/>
                <a:ea typeface="Courier New"/>
                <a:cs typeface="Courier New"/>
                <a:sym typeface="Courier New"/>
              </a:rPr>
              <a:t>        for c in range(3):</a:t>
            </a:r>
          </a:p>
          <a:p>
            <a:pPr algn="l">
              <a:lnSpc>
                <a:spcPct val="115000"/>
              </a:lnSpc>
            </a:pPr>
            <a:r>
              <a:rPr sz="1150" b="0" i="0">
                <a:solidFill>
                  <a:srgbClr val="FFFFFF"/>
                </a:solidFill>
                <a:latin typeface="Courier New"/>
                <a:ea typeface="Courier New"/>
                <a:cs typeface="Courier New"/>
                <a:sym typeface="Courier New"/>
              </a:rPr>
              <a:t>            if board[r][c] == ' ':</a:t>
            </a:r>
          </a:p>
          <a:p>
            <a:pPr algn="l">
              <a:lnSpc>
                <a:spcPct val="115000"/>
              </a:lnSpc>
            </a:pPr>
            <a:r>
              <a:rPr sz="1150" b="0" i="0">
                <a:solidFill>
                  <a:srgbClr val="FFFFFF"/>
                </a:solidFill>
                <a:latin typeface="Courier New"/>
                <a:ea typeface="Courier New"/>
                <a:cs typeface="Courier New"/>
                <a:sym typeface="Courier New"/>
              </a:rPr>
              <a:t>                return (r, c)</a:t>
            </a:r>
          </a:p>
          <a:p>
            <a:pPr algn="l">
              <a:lnSpc>
                <a:spcPct val="115000"/>
              </a:lnSpc>
            </a:pPr>
            <a:r>
              <a:rPr sz="1150" b="0" i="0">
                <a:solidFill>
                  <a:srgbClr val="FFFFFF"/>
                </a:solidFill>
                <a:latin typeface="Courier New"/>
                <a:ea typeface="Courier New"/>
                <a:cs typeface="Courier New"/>
                <a:sym typeface="Courier New"/>
              </a:rPr>
              <a:t>    return None</a:t>
            </a:r>
          </a:p>
        </p:txBody>
      </p:sp>
      <p:sp>
        <p:nvSpPr>
          <p:cNvPr id="6" name="blk0047"/>
          <p:cNvSpPr txBox="1"/>
          <p:nvPr/>
        </p:nvSpPr>
        <p:spPr>
          <a:xfrm>
            <a:off x="687600" y="5142643"/>
            <a:ext cx="7542000" cy="3236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final </a:t>
            </a:r>
            <a:r>
              <a:rPr sz="1743" b="0" i="0">
                <a:solidFill>
                  <a:srgbClr val="FFFFFF"/>
                </a:solidFill>
                <a:latin typeface="Courier New"/>
                <a:ea typeface="Courier New"/>
                <a:cs typeface="Courier New"/>
                <a:sym typeface="Courier New"/>
              </a:rPr>
              <a:t>None</a:t>
            </a:r>
            <a:r>
              <a:rPr sz="2027" b="0" i="0">
                <a:solidFill>
                  <a:srgbClr val="FFFFFF"/>
                </a:solidFill>
                <a:latin typeface="Avenir"/>
                <a:ea typeface="Avenir"/>
                <a:cs typeface="Avenir"/>
                <a:sym typeface="Avenir"/>
              </a:rPr>
              <a:t> is a draw. No cells left, no winner, and the caller turns that into a message and stops.</a:t>
            </a:r>
          </a:p>
        </p:txBody>
      </p:sp>
      <p:sp>
        <p:nvSpPr>
          <p:cNvPr id="7" name="blk0048"/>
          <p:cNvSpPr/>
          <p:nvPr/>
        </p:nvSpPr>
        <p:spPr>
          <a:xfrm>
            <a:off x="687600" y="5868472"/>
            <a:ext cx="8686800" cy="936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48"/>
          <p:cNvSpPr/>
          <p:nvPr/>
        </p:nvSpPr>
        <p:spPr>
          <a:xfrm>
            <a:off x="885600" y="6268072"/>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48"/>
          <p:cNvSpPr txBox="1"/>
          <p:nvPr/>
        </p:nvSpPr>
        <p:spPr>
          <a:xfrm>
            <a:off x="1162800" y="6012472"/>
            <a:ext cx="7956000" cy="648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This is a complete opponent in about twenty lines — not minimax, and happy to hand you a win if you play well.</a:t>
            </a:r>
          </a:p>
        </p:txBody>
      </p:sp>
      <p:sp>
        <p:nvSpPr>
          <p:cNvPr id="10" name="blk0049"/>
          <p:cNvSpPr txBox="1"/>
          <p:nvPr/>
        </p:nvSpPr>
        <p:spPr>
          <a:xfrm>
            <a:off x="687600" y="6912472"/>
            <a:ext cx="7542000" cy="57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Choosing the first open square means top-left whenever the centre is taken. Predictable, and occasionally punished.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50"/>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Nine cells, hard-coded</a:t>
            </a:r>
          </a:p>
        </p:txBody>
      </p:sp>
      <p:sp>
        <p:nvSpPr>
          <p:cNvPr id="3" name="blk0051"/>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vision half works in pixels. The arm half works in millimetres. Something has to connect them, and it is a dictionary of nine positions measured by hand:</a:t>
            </a:r>
          </a:p>
        </p:txBody>
      </p:sp>
      <p:sp>
        <p:nvSpPr>
          <p:cNvPr id="4" name="blk0052"/>
          <p:cNvSpPr/>
          <p:nvPr/>
        </p:nvSpPr>
        <p:spPr>
          <a:xfrm>
            <a:off x="687600" y="2664000"/>
            <a:ext cx="8686800" cy="101887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52"/>
          <p:cNvSpPr txBox="1"/>
          <p:nvPr/>
        </p:nvSpPr>
        <p:spPr>
          <a:xfrm>
            <a:off x="910799" y="2826000"/>
            <a:ext cx="8240400" cy="694878"/>
          </a:xfrm>
          <a:prstGeom prst="rect">
            <a:avLst/>
          </a:prstGeom>
          <a:noFill/>
        </p:spPr>
        <p:txBody>
          <a:bodyPr wrap="square" anchor="t" lIns="0" rIns="0" tIns="0" bIns="0">
            <a:noAutofit/>
          </a:bodyPr>
          <a:lstStyle/>
          <a:p>
            <a:pPr algn="l">
              <a:lnSpc>
                <a:spcPct val="115000"/>
              </a:lnSpc>
            </a:pPr>
            <a:r>
              <a:rPr sz="1050" b="0" i="0">
                <a:solidFill>
                  <a:srgbClr val="FFFFFF"/>
                </a:solidFill>
                <a:latin typeface="Courier New"/>
                <a:ea typeface="Courier New"/>
                <a:cs typeface="Courier New"/>
                <a:sym typeface="Courier New"/>
              </a:rPr>
              <a:t>CELL_COORDS = {</a:t>
            </a:r>
          </a:p>
          <a:p>
            <a:pPr algn="l">
              <a:lnSpc>
                <a:spcPct val="115000"/>
              </a:lnSpc>
            </a:pPr>
            <a:r>
              <a:rPr sz="1050" b="0" i="0">
                <a:solidFill>
                  <a:srgbClr val="FFFFFF"/>
                </a:solidFill>
                <a:latin typeface="Courier New"/>
                <a:ea typeface="Courier New"/>
                <a:cs typeface="Courier New"/>
                <a:sym typeface="Courier New"/>
              </a:rPr>
              <a:t>    (0, 0): [120.5, -61.5, 138.4, 163.03, 8.84, -61.76], ...</a:t>
            </a:r>
          </a:p>
          <a:p>
            <a:pPr algn="l">
              <a:lnSpc>
                <a:spcPct val="115000"/>
              </a:lnSpc>
            </a:pPr>
            <a:r>
              <a:rPr sz="1050" b="0" i="0">
                <a:solidFill>
                  <a:srgbClr val="FFFFFF"/>
                </a:solidFill>
                <a:latin typeface="Courier New"/>
                <a:ea typeface="Courier New"/>
                <a:cs typeface="Courier New"/>
                <a:sym typeface="Courier New"/>
              </a:rPr>
              <a:t>    (2, 2): [189.0, 46.0, 77.5, 177.55, -3.27, -84.59],</a:t>
            </a:r>
          </a:p>
          <a:p>
            <a:pPr algn="l">
              <a:lnSpc>
                <a:spcPct val="115000"/>
              </a:lnSpc>
            </a:pPr>
            <a:r>
              <a:rPr sz="1050" b="0" i="0">
                <a:solidFill>
                  <a:srgbClr val="FFFFFF"/>
                </a:solidFill>
                <a:latin typeface="Courier New"/>
                <a:ea typeface="Courier New"/>
                <a:cs typeface="Courier New"/>
                <a:sym typeface="Courier New"/>
              </a:rPr>
              <a:t>}</a:t>
            </a:r>
          </a:p>
        </p:txBody>
      </p:sp>
      <p:sp>
        <p:nvSpPr>
          <p:cNvPr id="6" name="blk0053"/>
          <p:cNvSpPr txBox="1"/>
          <p:nvPr/>
        </p:nvSpPr>
        <p:spPr>
          <a:xfrm>
            <a:off x="687600" y="3790878"/>
            <a:ext cx="7542000" cy="388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keys are </a:t>
            </a:r>
            <a:r>
              <a:rPr sz="1743" b="0" i="0">
                <a:solidFill>
                  <a:srgbClr val="FFFFFF"/>
                </a:solidFill>
                <a:latin typeface="Courier New"/>
                <a:ea typeface="Courier New"/>
                <a:cs typeface="Courier New"/>
                <a:sym typeface="Courier New"/>
              </a:rPr>
              <a:t>(row, col)</a:t>
            </a:r>
            <a:r>
              <a:rPr sz="2027" b="0" i="0">
                <a:solidFill>
                  <a:srgbClr val="FFFFFF"/>
                </a:solidFill>
                <a:latin typeface="Avenir"/>
                <a:ea typeface="Avenir"/>
                <a:cs typeface="Avenir"/>
                <a:sym typeface="Avenir"/>
              </a:rPr>
              <a:t> — the same coordinates the vision produces. The values are six numbers each: X, Y, Z, and three orientation angles.</a:t>
            </a:r>
          </a:p>
        </p:txBody>
      </p:sp>
      <p:sp>
        <p:nvSpPr>
          <p:cNvPr id="7" name="blk0054"/>
          <p:cNvSpPr txBox="1"/>
          <p:nvPr/>
        </p:nvSpPr>
        <p:spPr>
          <a:xfrm>
            <a:off x="687600" y="4825622"/>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Z values are the interesting ones. They are not level: the top row sits at Z 138, 123 and 96, and the bottom row is down near Z 78. The board is not flat, so every cell needs its own height.</a:t>
            </a:r>
          </a:p>
        </p:txBody>
      </p:sp>
      <p:sp>
        <p:nvSpPr>
          <p:cNvPr id="8" name="blk0055"/>
          <p:cNvSpPr/>
          <p:nvPr/>
        </p:nvSpPr>
        <p:spPr>
          <a:xfrm>
            <a:off x="687600" y="5903999"/>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55"/>
          <p:cNvSpPr/>
          <p:nvPr/>
        </p:nvSpPr>
        <p:spPr>
          <a:xfrm>
            <a:off x="885600" y="6355079"/>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055"/>
          <p:cNvSpPr txBox="1"/>
          <p:nvPr/>
        </p:nvSpPr>
        <p:spPr>
          <a:xfrm>
            <a:off x="1162800" y="6047999"/>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This is a lookup table, and it is not a shortcut. It is the calibration for a specific arm on a specific table. It cannot be derived — it has to be measured, one cell at a time, with a real pen.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5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Hover, then place</a:t>
            </a:r>
          </a:p>
        </p:txBody>
      </p:sp>
      <p:sp>
        <p:nvSpPr>
          <p:cNvPr id="3" name="blk005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Every point in this file that uses </a:t>
            </a:r>
            <a:r>
              <a:rPr sz="1743" b="0" i="0">
                <a:solidFill>
                  <a:srgbClr val="FFFFFF"/>
                </a:solidFill>
                <a:latin typeface="Courier New"/>
                <a:ea typeface="Courier New"/>
                <a:cs typeface="Courier New"/>
                <a:sym typeface="Courier New"/>
              </a:rPr>
              <a:t>send_coords</a:t>
            </a:r>
            <a:r>
              <a:rPr sz="2027" b="0" i="0">
                <a:solidFill>
                  <a:srgbClr val="FFFFFF"/>
                </a:solidFill>
                <a:latin typeface="Avenir"/>
                <a:ea typeface="Avenir"/>
                <a:cs typeface="Avenir"/>
                <a:sym typeface="Avenir"/>
              </a:rPr>
              <a:t> is visited twice — once above the thing, once on it. The pattern is so consistent that it is worth memorising as a shape:</a:t>
            </a:r>
          </a:p>
        </p:txBody>
      </p:sp>
      <p:sp>
        <p:nvSpPr>
          <p:cNvPr id="4" name="blk0058"/>
          <p:cNvSpPr/>
          <p:nvPr/>
        </p:nvSpPr>
        <p:spPr>
          <a:xfrm>
            <a:off x="687600" y="2808000"/>
            <a:ext cx="8686800" cy="148213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58"/>
          <p:cNvSpPr txBox="1"/>
          <p:nvPr/>
        </p:nvSpPr>
        <p:spPr>
          <a:xfrm>
            <a:off x="910799" y="2970000"/>
            <a:ext cx="8240400" cy="1158130"/>
          </a:xfrm>
          <a:prstGeom prst="rect">
            <a:avLst/>
          </a:prstGeom>
          <a:noFill/>
        </p:spPr>
        <p:txBody>
          <a:bodyPr wrap="square" anchor="t" lIns="0" rIns="0" tIns="0" bIns="0">
            <a:noAutofit/>
          </a:bodyPr>
          <a:lstStyle/>
          <a:p>
            <a:pPr algn="l">
              <a:lnSpc>
                <a:spcPct val="115000"/>
              </a:lnSpc>
            </a:pPr>
            <a:r>
              <a:rPr sz="1000" b="0" i="0">
                <a:solidFill>
                  <a:srgbClr val="FFFFFF"/>
                </a:solidFill>
                <a:latin typeface="Courier New"/>
                <a:ea typeface="Courier New"/>
                <a:cs typeface="Courier New"/>
                <a:sym typeface="Courier New"/>
              </a:rPr>
              <a:t>    # 2. Hover over target cell (higher Z, same orientation)</a:t>
            </a:r>
          </a:p>
          <a:p>
            <a:pPr algn="l">
              <a:lnSpc>
                <a:spcPct val="115000"/>
              </a:lnSpc>
            </a:pPr>
            <a:r>
              <a:rPr sz="1000" b="0" i="0">
                <a:solidFill>
                  <a:srgbClr val="FFFFFF"/>
                </a:solidFill>
                <a:latin typeface="Courier New"/>
                <a:ea typeface="Courier New"/>
                <a:cs typeface="Courier New"/>
                <a:sym typeface="Courier New"/>
              </a:rPr>
              <a:t>    target_hover = [target_x, target_y, 150, target_rx, target_ry, target_rz]</a:t>
            </a:r>
          </a:p>
          <a:p>
            <a:pPr algn="l">
              <a:lnSpc>
                <a:spcPct val="115000"/>
              </a:lnSpc>
            </a:pPr>
            <a:r>
              <a:rPr sz="1000" b="0" i="0">
                <a:solidFill>
                  <a:srgbClr val="FFFFFF"/>
                </a:solidFill>
                <a:latin typeface="Courier New"/>
                <a:ea typeface="Courier New"/>
                <a:cs typeface="Courier New"/>
                <a:sym typeface="Courier New"/>
              </a:rPr>
              <a:t>    mc.send_coords(target_hover, ARM_SPEED, 0)</a:t>
            </a:r>
          </a:p>
          <a:p>
            <a:pPr algn="l">
              <a:lnSpc>
                <a:spcPct val="115000"/>
              </a:lnSpc>
            </a:pPr>
            <a:r>
              <a:rPr sz="1000" b="0" i="0">
                <a:solidFill>
                  <a:srgbClr val="FFFFFF"/>
                </a:solidFill>
                <a:latin typeface="Courier New"/>
                <a:ea typeface="Courier New"/>
                <a:cs typeface="Courier New"/>
                <a:sym typeface="Courier New"/>
              </a:rPr>
              <a:t/>
            </a:r>
          </a:p>
          <a:p>
            <a:pPr algn="l">
              <a:lnSpc>
                <a:spcPct val="115000"/>
              </a:lnSpc>
            </a:pPr>
            <a:r>
              <a:rPr sz="1000" b="0" i="0">
                <a:solidFill>
                  <a:srgbClr val="FFFFFF"/>
                </a:solidFill>
                <a:latin typeface="Courier New"/>
                <a:ea typeface="Courier New"/>
                <a:cs typeface="Courier New"/>
                <a:sym typeface="Courier New"/>
              </a:rPr>
              <a:t>    # 3. Lower and release token (same orientation)</a:t>
            </a:r>
          </a:p>
          <a:p>
            <a:pPr algn="l">
              <a:lnSpc>
                <a:spcPct val="115000"/>
              </a:lnSpc>
            </a:pPr>
            <a:r>
              <a:rPr sz="1000" b="0" i="0">
                <a:solidFill>
                  <a:srgbClr val="FFFFFF"/>
                </a:solidFill>
                <a:latin typeface="Courier New"/>
                <a:ea typeface="Courier New"/>
                <a:cs typeface="Courier New"/>
                <a:sym typeface="Courier New"/>
              </a:rPr>
              <a:t>    target_place = [target_x, target_y, target_z, target_rx, target_ry, target_rz]</a:t>
            </a:r>
          </a:p>
          <a:p>
            <a:pPr algn="l">
              <a:lnSpc>
                <a:spcPct val="115000"/>
              </a:lnSpc>
            </a:pPr>
            <a:r>
              <a:rPr sz="1000" b="0" i="0">
                <a:solidFill>
                  <a:srgbClr val="FFFFFF"/>
                </a:solidFill>
                <a:latin typeface="Courier New"/>
                <a:ea typeface="Courier New"/>
                <a:cs typeface="Courier New"/>
                <a:sym typeface="Courier New"/>
              </a:rPr>
              <a:t>    mc.send_coords(target_place, ARM_SPEED, 0)</a:t>
            </a:r>
          </a:p>
        </p:txBody>
      </p:sp>
      <p:sp>
        <p:nvSpPr>
          <p:cNvPr id="6" name="blk0059"/>
          <p:cNvSpPr txBox="1"/>
          <p:nvPr/>
        </p:nvSpPr>
        <p:spPr>
          <a:xfrm>
            <a:off x="687600" y="4398130"/>
            <a:ext cx="7542000" cy="3308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Hover is a fixed Z of 150. Place is the measured Z from the dictionary. Same X, same Y, same orientation both times — only the height changes, and only on the way down.</a:t>
            </a:r>
          </a:p>
        </p:txBody>
      </p:sp>
      <p:sp>
        <p:nvSpPr>
          <p:cNvPr id="7" name="blk0060"/>
          <p:cNvSpPr/>
          <p:nvPr/>
        </p:nvSpPr>
        <p:spPr>
          <a:xfrm>
            <a:off x="687600" y="547200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60"/>
          <p:cNvSpPr/>
          <p:nvPr/>
        </p:nvSpPr>
        <p:spPr>
          <a:xfrm>
            <a:off x="885600" y="592308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60"/>
          <p:cNvSpPr txBox="1"/>
          <p:nvPr/>
        </p:nvSpPr>
        <p:spPr>
          <a:xfrm>
            <a:off x="1162800" y="5616000"/>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Moving sideways with a token held over the board is the expensive, slightly dangerous thing a robot arm does. Every "hover" in this file exists to make that move happen at a known, safe height.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6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 pump is active low</a:t>
            </a:r>
          </a:p>
        </p:txBody>
      </p:sp>
      <p:sp>
        <p:nvSpPr>
          <p:cNvPr id="3" name="blk006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is the one piece of hardware whose logic is inverted relative to what you would guess. The docstring says it:</a:t>
            </a:r>
          </a:p>
        </p:txBody>
      </p:sp>
      <p:sp>
        <p:nvSpPr>
          <p:cNvPr id="4" name="blk0063"/>
          <p:cNvSpPr/>
          <p:nvPr/>
        </p:nvSpPr>
        <p:spPr>
          <a:xfrm>
            <a:off x="687600" y="2376000"/>
            <a:ext cx="8686800" cy="50599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63"/>
          <p:cNvSpPr txBox="1"/>
          <p:nvPr/>
        </p:nvSpPr>
        <p:spPr>
          <a:xfrm>
            <a:off x="910799" y="2538000"/>
            <a:ext cx="8240400" cy="181991"/>
          </a:xfrm>
          <a:prstGeom prst="rect">
            <a:avLst/>
          </a:prstGeom>
          <a:noFill/>
        </p:spPr>
        <p:txBody>
          <a:bodyPr wrap="square" anchor="t" lIns="0" rIns="0" tIns="0" bIns="0">
            <a:noAutofit/>
          </a:bodyPr>
          <a:lstStyle/>
          <a:p>
            <a:pPr algn="l">
              <a:lnSpc>
                <a:spcPct val="115000"/>
              </a:lnSpc>
            </a:pPr>
            <a:r>
              <a:rPr sz="1100" b="0" i="0">
                <a:solidFill>
                  <a:srgbClr val="FFFFFF"/>
                </a:solidFill>
                <a:latin typeface="Courier New"/>
                <a:ea typeface="Courier New"/>
                <a:cs typeface="Courier New"/>
                <a:sym typeface="Courier New"/>
              </a:rPr>
              <a:t>    """Controls suction pump via GPIO (1=ON, 0=OFF). Active LOW."""</a:t>
            </a:r>
          </a:p>
        </p:txBody>
      </p:sp>
      <p:sp>
        <p:nvSpPr>
          <p:cNvPr id="6" name="blk0064"/>
          <p:cNvSpPr txBox="1"/>
          <p:nvPr/>
        </p:nvSpPr>
        <p:spPr>
          <a:xfrm>
            <a:off x="687600" y="3024000"/>
            <a:ext cx="7542000" cy="460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Read those three claims together and they appear to contradict each other. Resolve it by trusting the last two words: the pin going LOW turns the pump on.</a:t>
            </a:r>
          </a:p>
        </p:txBody>
      </p:sp>
      <p:sp>
        <p:nvSpPr>
          <p:cNvPr id="7" name="blk0065"/>
          <p:cNvSpPr/>
          <p:nvPr/>
        </p:nvSpPr>
        <p:spPr>
          <a:xfrm>
            <a:off x="687600" y="4058744"/>
            <a:ext cx="8686800" cy="161448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65"/>
          <p:cNvSpPr txBox="1"/>
          <p:nvPr/>
        </p:nvSpPr>
        <p:spPr>
          <a:xfrm>
            <a:off x="910799" y="4220743"/>
            <a:ext cx="8240400" cy="1290488"/>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    if state == 1:</a:t>
            </a:r>
          </a:p>
          <a:p>
            <a:pPr algn="l">
              <a:lnSpc>
                <a:spcPct val="115000"/>
              </a:lnSpc>
            </a:pPr>
            <a:r>
              <a:rPr sz="1300" b="0" i="0">
                <a:solidFill>
                  <a:srgbClr val="FFFFFF"/>
                </a:solidFill>
                <a:latin typeface="Courier New"/>
                <a:ea typeface="Courier New"/>
                <a:cs typeface="Courier New"/>
                <a:sym typeface="Courier New"/>
              </a:rPr>
              <a:t>        GPIO.output(20, 0)</a:t>
            </a:r>
          </a:p>
          <a:p>
            <a:pPr algn="l">
              <a:lnSpc>
                <a:spcPct val="115000"/>
              </a:lnSpc>
            </a:pPr>
            <a:r>
              <a:rPr sz="1300" b="0" i="0">
                <a:solidFill>
                  <a:srgbClr val="FFFFFF"/>
                </a:solidFill>
                <a:latin typeface="Courier New"/>
                <a:ea typeface="Courier New"/>
                <a:cs typeface="Courier New"/>
                <a:sym typeface="Courier New"/>
              </a:rPr>
              <a:t>        GPIO.output(21, 0)</a:t>
            </a:r>
          </a:p>
          <a:p>
            <a:pPr algn="l">
              <a:lnSpc>
                <a:spcPct val="115000"/>
              </a:lnSpc>
            </a:pPr>
            <a:r>
              <a:rPr sz="1300" b="0" i="0">
                <a:solidFill>
                  <a:srgbClr val="FFFFFF"/>
                </a:solidFill>
                <a:latin typeface="Courier New"/>
                <a:ea typeface="Courier New"/>
                <a:cs typeface="Courier New"/>
                <a:sym typeface="Courier New"/>
              </a:rPr>
              <a:t>    else:</a:t>
            </a:r>
          </a:p>
          <a:p>
            <a:pPr algn="l">
              <a:lnSpc>
                <a:spcPct val="115000"/>
              </a:lnSpc>
            </a:pPr>
            <a:r>
              <a:rPr sz="1300" b="0" i="0">
                <a:solidFill>
                  <a:srgbClr val="FFFFFF"/>
                </a:solidFill>
                <a:latin typeface="Courier New"/>
                <a:ea typeface="Courier New"/>
                <a:cs typeface="Courier New"/>
                <a:sym typeface="Courier New"/>
              </a:rPr>
              <a:t>        GPIO.output(20, 1)</a:t>
            </a:r>
          </a:p>
          <a:p>
            <a:pPr algn="l">
              <a:lnSpc>
                <a:spcPct val="115000"/>
              </a:lnSpc>
            </a:pPr>
            <a:r>
              <a:rPr sz="1300" b="0" i="0">
                <a:solidFill>
                  <a:srgbClr val="FFFFFF"/>
                </a:solidFill>
                <a:latin typeface="Courier New"/>
                <a:ea typeface="Courier New"/>
                <a:cs typeface="Courier New"/>
                <a:sym typeface="Courier New"/>
              </a:rPr>
              <a:t>        GPIO.output(21, 1)</a:t>
            </a:r>
          </a:p>
        </p:txBody>
      </p:sp>
      <p:sp>
        <p:nvSpPr>
          <p:cNvPr id="9" name="blk0066"/>
          <p:cNvSpPr/>
          <p:nvPr/>
        </p:nvSpPr>
        <p:spPr>
          <a:xfrm>
            <a:off x="687600" y="5781232"/>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066"/>
          <p:cNvSpPr/>
          <p:nvPr/>
        </p:nvSpPr>
        <p:spPr>
          <a:xfrm>
            <a:off x="885600" y="6232312"/>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066"/>
          <p:cNvSpPr txBox="1"/>
          <p:nvPr/>
        </p:nvSpPr>
        <p:spPr>
          <a:xfrm>
            <a:off x="1162800" y="5925232"/>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So asking for the pump to be ON writes a 0, and asking for it to be OFF writes a 1. The function keeps the human meaning ("1 means on") and absorbs the inversion in one place instead of at every call site.</a:t>
            </a:r>
          </a:p>
        </p:txBody>
      </p:sp>
      <p:sp>
        <p:nvSpPr>
          <p:cNvPr id="12" name="blk0067"/>
          <p:cNvSpPr txBox="1"/>
          <p:nvPr/>
        </p:nvSpPr>
        <p:spPr>
          <a:xfrm>
            <a:off x="687600" y="6928191"/>
            <a:ext cx="7542000" cy="648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Two pins, not one. That is a second pump or a second solenoid valve sharing the duty, and both are always driven together.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68"/>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Why it must go home</a:t>
            </a:r>
          </a:p>
        </p:txBody>
      </p:sp>
      <p:sp>
        <p:nvSpPr>
          <p:cNvPr id="3" name="blk0069"/>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move sequence ends with a return, and it is not tidiness:</a:t>
            </a:r>
          </a:p>
        </p:txBody>
      </p:sp>
      <p:sp>
        <p:nvSpPr>
          <p:cNvPr id="4" name="blk0070"/>
          <p:cNvSpPr/>
          <p:nvPr/>
        </p:nvSpPr>
        <p:spPr>
          <a:xfrm>
            <a:off x="687600" y="2304000"/>
            <a:ext cx="8686800" cy="969244"/>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70"/>
          <p:cNvSpPr txBox="1"/>
          <p:nvPr/>
        </p:nvSpPr>
        <p:spPr>
          <a:xfrm>
            <a:off x="910799" y="2466000"/>
            <a:ext cx="8240400" cy="645244"/>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    # 4. Return home to scan position</a:t>
            </a:r>
          </a:p>
          <a:p>
            <a:pPr algn="l">
              <a:lnSpc>
                <a:spcPct val="115000"/>
              </a:lnSpc>
            </a:pPr>
            <a:r>
              <a:rPr sz="1300" b="0" i="0">
                <a:solidFill>
                  <a:srgbClr val="FFFFFF"/>
                </a:solidFill>
                <a:latin typeface="Courier New"/>
                <a:ea typeface="Courier New"/>
                <a:cs typeface="Courier New"/>
                <a:sym typeface="Courier New"/>
              </a:rPr>
              <a:t>    print("  Returning home...")</a:t>
            </a:r>
          </a:p>
          <a:p>
            <a:pPr algn="l">
              <a:lnSpc>
                <a:spcPct val="115000"/>
              </a:lnSpc>
            </a:pPr>
            <a:r>
              <a:rPr sz="1300" b="0" i="0">
                <a:solidFill>
                  <a:srgbClr val="FFFFFF"/>
                </a:solidFill>
                <a:latin typeface="Courier New"/>
                <a:ea typeface="Courier New"/>
                <a:cs typeface="Courier New"/>
                <a:sym typeface="Courier New"/>
              </a:rPr>
              <a:t>    mc.send_coords(POS_HOME_CARTESIAN, ARM_SPEED, 0)</a:t>
            </a:r>
          </a:p>
        </p:txBody>
      </p:sp>
      <p:sp>
        <p:nvSpPr>
          <p:cNvPr id="6" name="blk0071"/>
          <p:cNvSpPr txBox="1"/>
          <p:nvPr/>
        </p:nvSpPr>
        <p:spPr>
          <a:xfrm>
            <a:off x="687600" y="3381244"/>
            <a:ext cx="7542000" cy="4388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camera can only see the board from the overhead home pose. If the arm stayed over cell (2, 2) after placing a token, the next frame would be of a hand and a token instead of a board.</a:t>
            </a:r>
          </a:p>
        </p:txBody>
      </p:sp>
      <p:sp>
        <p:nvSpPr>
          <p:cNvPr id="7" name="blk0072"/>
          <p:cNvSpPr/>
          <p:nvPr/>
        </p:nvSpPr>
        <p:spPr>
          <a:xfrm>
            <a:off x="687600" y="4724903"/>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72"/>
          <p:cNvSpPr/>
          <p:nvPr/>
        </p:nvSpPr>
        <p:spPr>
          <a:xfrm>
            <a:off x="885600" y="5175983"/>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72"/>
          <p:cNvSpPr txBox="1"/>
          <p:nvPr/>
        </p:nvSpPr>
        <p:spPr>
          <a:xfrm>
            <a:off x="1162800" y="4868903"/>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This is a closed loop. The robot never records that it placed a token — it returns to the only viewpoint where it can verify its own work, and believes the camera. Every failure mode that creates is a real one.</a:t>
            </a:r>
          </a:p>
        </p:txBody>
      </p:sp>
      <p:sp>
        <p:nvSpPr>
          <p:cNvPr id="10" name="blk0073"/>
          <p:cNvSpPr txBox="1"/>
          <p:nvPr/>
        </p:nvSpPr>
        <p:spPr>
          <a:xfrm>
            <a:off x="687600" y="5871862"/>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It also explains the three-second sleep on that last move. It is the slowest approach in the file and the one where a collision would put the arm through the board.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74"/>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Tokens come from a rack</a:t>
            </a:r>
          </a:p>
        </p:txBody>
      </p:sp>
      <p:sp>
        <p:nvSpPr>
          <p:cNvPr id="3" name="blk0075"/>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 tic-tac-toe game needs up to five O tokens, and they are not lying on the table — they are stacked in a rack the arm reaches into. Each pick goes one token deeper, so the height has to be computed:</a:t>
            </a:r>
          </a:p>
        </p:txBody>
      </p:sp>
      <p:sp>
        <p:nvSpPr>
          <p:cNvPr id="4" name="blk0076"/>
          <p:cNvSpPr/>
          <p:nvPr/>
        </p:nvSpPr>
        <p:spPr>
          <a:xfrm>
            <a:off x="687600" y="2880000"/>
            <a:ext cx="8686800" cy="84515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76"/>
          <p:cNvSpPr txBox="1"/>
          <p:nvPr/>
        </p:nvSpPr>
        <p:spPr>
          <a:xfrm>
            <a:off x="910799" y="3041999"/>
            <a:ext cx="8240400" cy="521158"/>
          </a:xfrm>
          <a:prstGeom prst="rect">
            <a:avLst/>
          </a:prstGeom>
          <a:noFill/>
        </p:spPr>
        <p:txBody>
          <a:bodyPr wrap="square" anchor="t" lIns="0" rIns="0" tIns="0" bIns="0">
            <a:noAutofit/>
          </a:bodyPr>
          <a:lstStyle/>
          <a:p>
            <a:pPr algn="l">
              <a:lnSpc>
                <a:spcPct val="115000"/>
              </a:lnSpc>
            </a:pPr>
            <a:r>
              <a:rPr sz="1050" b="0" i="0">
                <a:solidFill>
                  <a:srgbClr val="FFFFFF"/>
                </a:solidFill>
                <a:latin typeface="Courier New"/>
                <a:ea typeface="Courier New"/>
                <a:cs typeface="Courier New"/>
                <a:sym typeface="Courier New"/>
              </a:rPr>
              <a:t>    supply_z = POS_TOKEN_SUPPLY_BASE[2] - (tokens_picked * TOKEN_HEIGHT)</a:t>
            </a:r>
          </a:p>
          <a:p>
            <a:pPr algn="l">
              <a:lnSpc>
                <a:spcPct val="115000"/>
              </a:lnSpc>
            </a:pPr>
            <a:r>
              <a:rPr sz="1050" b="0" i="0">
                <a:solidFill>
                  <a:srgbClr val="FFFFFF"/>
                </a:solidFill>
                <a:latin typeface="Courier New"/>
                <a:ea typeface="Courier New"/>
                <a:cs typeface="Courier New"/>
                <a:sym typeface="Courier New"/>
              </a:rPr>
              <a:t>    pos_token_supply = POS_TOKEN_SUPPLY_BASE.copy()</a:t>
            </a:r>
          </a:p>
          <a:p>
            <a:pPr algn="l">
              <a:lnSpc>
                <a:spcPct val="115000"/>
              </a:lnSpc>
            </a:pPr>
            <a:r>
              <a:rPr sz="1050" b="0" i="0">
                <a:solidFill>
                  <a:srgbClr val="FFFFFF"/>
                </a:solidFill>
                <a:latin typeface="Courier New"/>
                <a:ea typeface="Courier New"/>
                <a:cs typeface="Courier New"/>
                <a:sym typeface="Courier New"/>
              </a:rPr>
              <a:t>    pos_token_supply[2] = supply_z</a:t>
            </a:r>
          </a:p>
        </p:txBody>
      </p:sp>
      <p:sp>
        <p:nvSpPr>
          <p:cNvPr id="6" name="blk0077"/>
          <p:cNvSpPr txBox="1"/>
          <p:nvPr/>
        </p:nvSpPr>
        <p:spPr>
          <a:xfrm>
            <a:off x="687600" y="3888000"/>
            <a:ext cx="7542000" cy="3740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Token zero sits at Z 117. Every pick lowers the target by </a:t>
            </a:r>
            <a:r>
              <a:rPr sz="1743" b="0" i="0">
                <a:solidFill>
                  <a:srgbClr val="FFFFFF"/>
                </a:solidFill>
                <a:latin typeface="Courier New"/>
                <a:ea typeface="Courier New"/>
                <a:cs typeface="Courier New"/>
                <a:sym typeface="Courier New"/>
              </a:rPr>
              <a:t>TOKEN_HEIGHT</a:t>
            </a:r>
            <a:r>
              <a:rPr sz="2027" b="0" i="0">
                <a:solidFill>
                  <a:srgbClr val="FFFFFF"/>
                </a:solidFill>
                <a:latin typeface="Avenir"/>
                <a:ea typeface="Avenir"/>
                <a:cs typeface="Avenir"/>
                <a:sym typeface="Avenir"/>
              </a:rPr>
              <a:t> of 5mm. After four picks the arm is reaching 20mm further down the rack.</a:t>
            </a:r>
          </a:p>
        </p:txBody>
      </p:sp>
      <p:sp>
        <p:nvSpPr>
          <p:cNvPr id="7" name="blk0078"/>
          <p:cNvSpPr/>
          <p:nvPr/>
        </p:nvSpPr>
        <p:spPr>
          <a:xfrm>
            <a:off x="687600" y="4922744"/>
            <a:ext cx="8686800" cy="131328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78"/>
          <p:cNvSpPr/>
          <p:nvPr/>
        </p:nvSpPr>
        <p:spPr>
          <a:xfrm>
            <a:off x="885600" y="5510984"/>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78"/>
          <p:cNvSpPr txBox="1"/>
          <p:nvPr/>
        </p:nvSpPr>
        <p:spPr>
          <a:xfrm>
            <a:off x="1162800" y="5066744"/>
            <a:ext cx="7956000" cy="102528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The </a:t>
            </a:r>
            <a:r>
              <a:rPr sz="1290" b="0" i="1">
                <a:solidFill>
                  <a:srgbClr val="FFCF08"/>
                </a:solidFill>
                <a:latin typeface="Courier New"/>
                <a:ea typeface="Courier New"/>
                <a:cs typeface="Courier New"/>
                <a:sym typeface="Courier New"/>
              </a:rPr>
              <a:t>.copy()</a:t>
            </a:r>
            <a:r>
              <a:rPr sz="1500" b="0" i="1">
                <a:solidFill>
                  <a:srgbClr val="FFCF08"/>
                </a:solidFill>
                <a:latin typeface="Avenir"/>
                <a:ea typeface="Avenir"/>
                <a:cs typeface="Avenir"/>
                <a:sym typeface="Avenir"/>
              </a:rPr>
              <a:t> matters. Mutating </a:t>
            </a:r>
            <a:r>
              <a:rPr sz="1290" b="0" i="1">
                <a:solidFill>
                  <a:srgbClr val="FFCF08"/>
                </a:solidFill>
                <a:latin typeface="Courier New"/>
                <a:ea typeface="Courier New"/>
                <a:cs typeface="Courier New"/>
                <a:sym typeface="Courier New"/>
              </a:rPr>
              <a:t>POS_TOKEN_SUPPLY_BASE</a:t>
            </a:r>
            <a:r>
              <a:rPr sz="1500" b="0" i="1">
                <a:solidFill>
                  <a:srgbClr val="FFCF08"/>
                </a:solidFill>
                <a:latin typeface="Avenir"/>
                <a:ea typeface="Avenir"/>
                <a:cs typeface="Avenir"/>
                <a:sym typeface="Avenir"/>
              </a:rPr>
              <a:t> in place would make the offset cumulative in the wrong direction — each pick would be measured from the last position instead of the rack base, and the arm would walk away from the tokens one pick at a time.</a:t>
            </a:r>
          </a:p>
        </p:txBody>
      </p:sp>
      <p:sp>
        <p:nvSpPr>
          <p:cNvPr id="10" name="blk0079"/>
          <p:cNvSpPr txBox="1"/>
          <p:nvPr/>
        </p:nvSpPr>
        <p:spPr>
          <a:xfrm>
            <a:off x="687600" y="6344024"/>
            <a:ext cx="7542000" cy="79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Five tokens is the most a full tic-tac-toe game needs, because the robot plays O and the human plays X. The rack does not have to be restocked mid-game.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80"/>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Eighteen seconds</a:t>
            </a:r>
          </a:p>
        </p:txBody>
      </p:sp>
      <p:sp>
        <p:nvSpPr>
          <p:cNvPr id="3" name="blk0081"/>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Add up the sleeps in the pick-and-place sequence and you get something worth planning around:</a:t>
            </a:r>
          </a:p>
        </p:txBody>
      </p:sp>
      <p:graphicFrame>
        <p:nvGraphicFramePr>
          <p:cNvPr id="4" name="blk0082"/>
          <p:cNvGraphicFramePr>
            <a:graphicFrameLocks noGrp="1"/>
          </p:cNvGraphicFramePr>
          <p:nvPr/>
        </p:nvGraphicFramePr>
        <p:xfrm>
          <a:off x="687600" y="2448000"/>
          <a:ext cx="4176000" cy="3132000"/>
        </p:xfrm>
        <a:graphic>
          <a:graphicData uri="http://schemas.openxmlformats.org/drawingml/2006/table">
            <a:tbl>
              <a:tblPr firstRow="0" bandRow="0"/>
              <a:tblGrid>
                <a:gridCol w="3024000"/>
                <a:gridCol w="1152000"/>
              </a:tblGrid>
              <a:tr h="396000">
                <a:tc>
                  <a:txBody>
                    <a:bodyPr wrap="square"/>
                    <a:lstStyle/>
                    <a:p>
                      <a:pPr algn="l">
                        <a:lnSpc>
                          <a:spcPct val="100000"/>
                        </a:lnSpc>
                      </a:pPr>
                      <a:r>
                        <a:rPr sz="1300" b="1" i="0">
                          <a:solidFill>
                            <a:srgbClr val="FFCF08"/>
                          </a:solidFill>
                          <a:latin typeface="Avenir"/>
                          <a:ea typeface="Avenir"/>
                          <a:cs typeface="Avenir"/>
                          <a:sym typeface="Avenir"/>
                        </a:rPr>
                        <a:t>Move</a:t>
                      </a:r>
                    </a:p>
                  </a:txBody>
                  <a:tcPr marL="72000" marR="72000" marT="36000" marB="36000" anchor="ctr">
                    <a:solidFill>
                      <a:srgbClr val="3B41A0"/>
                    </a:solidFill>
                  </a:tcPr>
                </a:tc>
                <a:tc>
                  <a:txBody>
                    <a:bodyPr wrap="square"/>
                    <a:lstStyle/>
                    <a:p>
                      <a:pPr algn="ctr">
                        <a:lnSpc>
                          <a:spcPct val="100000"/>
                        </a:lnSpc>
                      </a:pPr>
                      <a:r>
                        <a:rPr sz="1300" b="1" i="0">
                          <a:solidFill>
                            <a:srgbClr val="FFCF08"/>
                          </a:solidFill>
                          <a:latin typeface="Avenir"/>
                          <a:ea typeface="Avenir"/>
                          <a:cs typeface="Avenir"/>
                          <a:sym typeface="Avenir"/>
                        </a:rPr>
                        <a:t>Wait</a:t>
                      </a:r>
                    </a:p>
                  </a:txBody>
                  <a:tcPr marL="72000" marR="72000" marT="36000" marB="36000" anchor="ctr">
                    <a:solidFill>
                      <a:srgbClr val="3B41A0"/>
                    </a:solidFill>
                  </a:tcPr>
                </a:tc>
              </a:tr>
              <a:tr h="342000">
                <a:tc>
                  <a:txBody>
                    <a:bodyPr wrap="square"/>
                    <a:lstStyle/>
                    <a:p>
                      <a:pPr algn="l">
                        <a:lnSpc>
                          <a:spcPct val="100000"/>
                        </a:lnSpc>
                      </a:pPr>
                      <a:r>
                        <a:rPr sz="1300" b="0" i="0">
                          <a:solidFill>
                            <a:srgbClr val="FFFFFF"/>
                          </a:solidFill>
                          <a:latin typeface="Avenir"/>
                          <a:ea typeface="Avenir"/>
                          <a:cs typeface="Avenir"/>
                          <a:sym typeface="Avenir"/>
                        </a:rPr>
                        <a:t>To supply hover</a:t>
                      </a:r>
                    </a:p>
                  </a:txBody>
                  <a:tcPr marL="72000" marR="72000" marT="36000" marB="36000" anchor="ctr">
                    <a:solidFill>
                      <a:srgbClr val="2E338C"/>
                    </a:solidFill>
                  </a:tcPr>
                </a:tc>
                <a:tc>
                  <a:txBody>
                    <a:bodyPr wrap="square"/>
                    <a:lstStyle/>
                    <a:p>
                      <a:pPr algn="ctr">
                        <a:lnSpc>
                          <a:spcPct val="100000"/>
                        </a:lnSpc>
                      </a:pPr>
                      <a:r>
                        <a:rPr sz="1300" b="0" i="0">
                          <a:solidFill>
                            <a:srgbClr val="FFFFFF"/>
                          </a:solidFill>
                          <a:latin typeface="Avenir"/>
                          <a:ea typeface="Avenir"/>
                          <a:cs typeface="Avenir"/>
                          <a:sym typeface="Avenir"/>
                        </a:rPr>
                        <a:t>3.0s</a:t>
                      </a:r>
                    </a:p>
                  </a:txBody>
                  <a:tcPr marL="72000" marR="72000" marT="36000" marB="36000" anchor="ctr">
                    <a:solidFill>
                      <a:srgbClr val="2E338C"/>
                    </a:solidFill>
                  </a:tcPr>
                </a:tc>
              </a:tr>
              <a:tr h="342000">
                <a:tc>
                  <a:txBody>
                    <a:bodyPr wrap="square"/>
                    <a:lstStyle/>
                    <a:p>
                      <a:pPr algn="l">
                        <a:lnSpc>
                          <a:spcPct val="100000"/>
                        </a:lnSpc>
                      </a:pPr>
                      <a:r>
                        <a:rPr sz="1300" b="0" i="0">
                          <a:solidFill>
                            <a:srgbClr val="FFFFFF"/>
                          </a:solidFill>
                          <a:latin typeface="Avenir"/>
                          <a:ea typeface="Avenir"/>
                          <a:cs typeface="Avenir"/>
                          <a:sym typeface="Avenir"/>
                        </a:rPr>
                        <a:t>Down into the rack</a:t>
                      </a:r>
                    </a:p>
                  </a:txBody>
                  <a:tcPr marL="72000" marR="72000" marT="36000" marB="36000" anchor="ctr">
                    <a:solidFill>
                      <a:srgbClr val="2E338C"/>
                    </a:solidFill>
                  </a:tcPr>
                </a:tc>
                <a:tc>
                  <a:txBody>
                    <a:bodyPr wrap="square"/>
                    <a:lstStyle/>
                    <a:p>
                      <a:pPr algn="ctr">
                        <a:lnSpc>
                          <a:spcPct val="100000"/>
                        </a:lnSpc>
                      </a:pPr>
                      <a:r>
                        <a:rPr sz="1300" b="0" i="0">
                          <a:solidFill>
                            <a:srgbClr val="FFFFFF"/>
                          </a:solidFill>
                          <a:latin typeface="Avenir"/>
                          <a:ea typeface="Avenir"/>
                          <a:cs typeface="Avenir"/>
                          <a:sym typeface="Avenir"/>
                        </a:rPr>
                        <a:t>2.5s</a:t>
                      </a:r>
                    </a:p>
                  </a:txBody>
                  <a:tcPr marL="72000" marR="72000" marT="36000" marB="36000" anchor="ctr">
                    <a:solidFill>
                      <a:srgbClr val="2E338C"/>
                    </a:solidFill>
                  </a:tcPr>
                </a:tc>
              </a:tr>
              <a:tr h="342000">
                <a:tc>
                  <a:txBody>
                    <a:bodyPr wrap="square"/>
                    <a:lstStyle/>
                    <a:p>
                      <a:pPr algn="l">
                        <a:lnSpc>
                          <a:spcPct val="100000"/>
                        </a:lnSpc>
                      </a:pPr>
                      <a:r>
                        <a:rPr sz="1300" b="0" i="0">
                          <a:solidFill>
                            <a:srgbClr val="FFFFFF"/>
                          </a:solidFill>
                          <a:latin typeface="Avenir"/>
                          <a:ea typeface="Avenir"/>
                          <a:cs typeface="Avenir"/>
                          <a:sym typeface="Avenir"/>
                        </a:rPr>
                        <a:t>Pump on (settle)</a:t>
                      </a:r>
                    </a:p>
                  </a:txBody>
                  <a:tcPr marL="72000" marR="72000" marT="36000" marB="36000" anchor="ctr">
                    <a:solidFill>
                      <a:srgbClr val="2E338C"/>
                    </a:solidFill>
                  </a:tcPr>
                </a:tc>
                <a:tc>
                  <a:txBody>
                    <a:bodyPr wrap="square"/>
                    <a:lstStyle/>
                    <a:p>
                      <a:pPr algn="ctr">
                        <a:lnSpc>
                          <a:spcPct val="100000"/>
                        </a:lnSpc>
                      </a:pPr>
                      <a:r>
                        <a:rPr sz="1300" b="0" i="0">
                          <a:solidFill>
                            <a:srgbClr val="FFFFFF"/>
                          </a:solidFill>
                          <a:latin typeface="Avenir"/>
                          <a:ea typeface="Avenir"/>
                          <a:cs typeface="Avenir"/>
                          <a:sym typeface="Avenir"/>
                        </a:rPr>
                        <a:t>1.0s</a:t>
                      </a:r>
                    </a:p>
                  </a:txBody>
                  <a:tcPr marL="72000" marR="72000" marT="36000" marB="36000" anchor="ctr">
                    <a:solidFill>
                      <a:srgbClr val="2E338C"/>
                    </a:solidFill>
                  </a:tcPr>
                </a:tc>
              </a:tr>
              <a:tr h="342000">
                <a:tc>
                  <a:txBody>
                    <a:bodyPr wrap="square"/>
                    <a:lstStyle/>
                    <a:p>
                      <a:pPr algn="l">
                        <a:lnSpc>
                          <a:spcPct val="100000"/>
                        </a:lnSpc>
                      </a:pPr>
                      <a:r>
                        <a:rPr sz="1300" b="0" i="0">
                          <a:solidFill>
                            <a:srgbClr val="FFFFFF"/>
                          </a:solidFill>
                          <a:latin typeface="Avenir"/>
                          <a:ea typeface="Avenir"/>
                          <a:cs typeface="Avenir"/>
                          <a:sym typeface="Avenir"/>
                        </a:rPr>
                        <a:t>Back to hover</a:t>
                      </a:r>
                    </a:p>
                  </a:txBody>
                  <a:tcPr marL="72000" marR="72000" marT="36000" marB="36000" anchor="ctr">
                    <a:solidFill>
                      <a:srgbClr val="2E338C"/>
                    </a:solidFill>
                  </a:tcPr>
                </a:tc>
                <a:tc>
                  <a:txBody>
                    <a:bodyPr wrap="square"/>
                    <a:lstStyle/>
                    <a:p>
                      <a:pPr algn="ctr">
                        <a:lnSpc>
                          <a:spcPct val="100000"/>
                        </a:lnSpc>
                      </a:pPr>
                      <a:r>
                        <a:rPr sz="1300" b="0" i="0">
                          <a:solidFill>
                            <a:srgbClr val="FFFFFF"/>
                          </a:solidFill>
                          <a:latin typeface="Avenir"/>
                          <a:ea typeface="Avenir"/>
                          <a:cs typeface="Avenir"/>
                          <a:sym typeface="Avenir"/>
                        </a:rPr>
                        <a:t>2.5s</a:t>
                      </a:r>
                    </a:p>
                  </a:txBody>
                  <a:tcPr marL="72000" marR="72000" marT="36000" marB="36000" anchor="ctr">
                    <a:solidFill>
                      <a:srgbClr val="2E338C"/>
                    </a:solidFill>
                  </a:tcPr>
                </a:tc>
              </a:tr>
              <a:tr h="342000">
                <a:tc>
                  <a:txBody>
                    <a:bodyPr wrap="square"/>
                    <a:lstStyle/>
                    <a:p>
                      <a:pPr algn="l">
                        <a:lnSpc>
                          <a:spcPct val="100000"/>
                        </a:lnSpc>
                      </a:pPr>
                      <a:r>
                        <a:rPr sz="1300" b="0" i="0">
                          <a:solidFill>
                            <a:srgbClr val="FFFFFF"/>
                          </a:solidFill>
                          <a:latin typeface="Avenir"/>
                          <a:ea typeface="Avenir"/>
                          <a:cs typeface="Avenir"/>
                          <a:sym typeface="Avenir"/>
                        </a:rPr>
                        <a:t>Across to target hover</a:t>
                      </a:r>
                    </a:p>
                  </a:txBody>
                  <a:tcPr marL="72000" marR="72000" marT="36000" marB="36000" anchor="ctr">
                    <a:solidFill>
                      <a:srgbClr val="2E338C"/>
                    </a:solidFill>
                  </a:tcPr>
                </a:tc>
                <a:tc>
                  <a:txBody>
                    <a:bodyPr wrap="square"/>
                    <a:lstStyle/>
                    <a:p>
                      <a:pPr algn="ctr">
                        <a:lnSpc>
                          <a:spcPct val="100000"/>
                        </a:lnSpc>
                      </a:pPr>
                      <a:r>
                        <a:rPr sz="1300" b="0" i="0">
                          <a:solidFill>
                            <a:srgbClr val="FFFFFF"/>
                          </a:solidFill>
                          <a:latin typeface="Avenir"/>
                          <a:ea typeface="Avenir"/>
                          <a:cs typeface="Avenir"/>
                          <a:sym typeface="Avenir"/>
                        </a:rPr>
                        <a:t>3.0s</a:t>
                      </a:r>
                    </a:p>
                  </a:txBody>
                  <a:tcPr marL="72000" marR="72000" marT="36000" marB="36000" anchor="ctr">
                    <a:solidFill>
                      <a:srgbClr val="2E338C"/>
                    </a:solidFill>
                  </a:tcPr>
                </a:tc>
              </a:tr>
              <a:tr h="342000">
                <a:tc>
                  <a:txBody>
                    <a:bodyPr wrap="square"/>
                    <a:lstStyle/>
                    <a:p>
                      <a:pPr algn="l">
                        <a:lnSpc>
                          <a:spcPct val="100000"/>
                        </a:lnSpc>
                      </a:pPr>
                      <a:r>
                        <a:rPr sz="1300" b="0" i="0">
                          <a:solidFill>
                            <a:srgbClr val="FFFFFF"/>
                          </a:solidFill>
                          <a:latin typeface="Avenir"/>
                          <a:ea typeface="Avenir"/>
                          <a:cs typeface="Avenir"/>
                          <a:sym typeface="Avenir"/>
                        </a:rPr>
                        <a:t>Lower into the cell</a:t>
                      </a:r>
                    </a:p>
                  </a:txBody>
                  <a:tcPr marL="72000" marR="72000" marT="36000" marB="36000" anchor="ctr">
                    <a:solidFill>
                      <a:srgbClr val="2E338C"/>
                    </a:solidFill>
                  </a:tcPr>
                </a:tc>
                <a:tc>
                  <a:txBody>
                    <a:bodyPr wrap="square"/>
                    <a:lstStyle/>
                    <a:p>
                      <a:pPr algn="ctr">
                        <a:lnSpc>
                          <a:spcPct val="100000"/>
                        </a:lnSpc>
                      </a:pPr>
                      <a:r>
                        <a:rPr sz="1300" b="0" i="0">
                          <a:solidFill>
                            <a:srgbClr val="FFFFFF"/>
                          </a:solidFill>
                          <a:latin typeface="Avenir"/>
                          <a:ea typeface="Avenir"/>
                          <a:cs typeface="Avenir"/>
                          <a:sym typeface="Avenir"/>
                        </a:rPr>
                        <a:t>1.5s</a:t>
                      </a:r>
                    </a:p>
                  </a:txBody>
                  <a:tcPr marL="72000" marR="72000" marT="36000" marB="36000" anchor="ctr">
                    <a:solidFill>
                      <a:srgbClr val="2E338C"/>
                    </a:solidFill>
                  </a:tcPr>
                </a:tc>
              </a:tr>
              <a:tr h="342000">
                <a:tc>
                  <a:txBody>
                    <a:bodyPr wrap="square"/>
                    <a:lstStyle/>
                    <a:p>
                      <a:pPr algn="l">
                        <a:lnSpc>
                          <a:spcPct val="100000"/>
                        </a:lnSpc>
                      </a:pPr>
                      <a:r>
                        <a:rPr sz="1300" b="0" i="0">
                          <a:solidFill>
                            <a:srgbClr val="FFFFFF"/>
                          </a:solidFill>
                          <a:latin typeface="Avenir"/>
                          <a:ea typeface="Avenir"/>
                          <a:cs typeface="Avenir"/>
                          <a:sym typeface="Avenir"/>
                        </a:rPr>
                        <a:t>Pump off (settle)</a:t>
                      </a:r>
                    </a:p>
                  </a:txBody>
                  <a:tcPr marL="72000" marR="72000" marT="36000" marB="36000" anchor="ctr">
                    <a:solidFill>
                      <a:srgbClr val="2E338C"/>
                    </a:solidFill>
                  </a:tcPr>
                </a:tc>
                <a:tc>
                  <a:txBody>
                    <a:bodyPr wrap="square"/>
                    <a:lstStyle/>
                    <a:p>
                      <a:pPr algn="ctr">
                        <a:lnSpc>
                          <a:spcPct val="100000"/>
                        </a:lnSpc>
                      </a:pPr>
                      <a:r>
                        <a:rPr sz="1300" b="0" i="0">
                          <a:solidFill>
                            <a:srgbClr val="FFFFFF"/>
                          </a:solidFill>
                          <a:latin typeface="Avenir"/>
                          <a:ea typeface="Avenir"/>
                          <a:cs typeface="Avenir"/>
                          <a:sym typeface="Avenir"/>
                        </a:rPr>
                        <a:t>1.0s</a:t>
                      </a:r>
                    </a:p>
                  </a:txBody>
                  <a:tcPr marL="72000" marR="72000" marT="36000" marB="36000" anchor="ctr">
                    <a:solidFill>
                      <a:srgbClr val="2E338C"/>
                    </a:solidFill>
                  </a:tcPr>
                </a:tc>
              </a:tr>
              <a:tr h="342000">
                <a:tc>
                  <a:txBody>
                    <a:bodyPr wrap="square"/>
                    <a:lstStyle/>
                    <a:p>
                      <a:pPr algn="l">
                        <a:lnSpc>
                          <a:spcPct val="100000"/>
                        </a:lnSpc>
                      </a:pPr>
                      <a:r>
                        <a:rPr sz="1300" b="0" i="0">
                          <a:solidFill>
                            <a:srgbClr val="FFFFFF"/>
                          </a:solidFill>
                          <a:latin typeface="Avenir"/>
                          <a:ea typeface="Avenir"/>
                          <a:cs typeface="Avenir"/>
                          <a:sym typeface="Avenir"/>
                        </a:rPr>
                        <a:t>Back to home</a:t>
                      </a:r>
                    </a:p>
                  </a:txBody>
                  <a:tcPr marL="72000" marR="72000" marT="36000" marB="36000" anchor="ctr">
                    <a:solidFill>
                      <a:srgbClr val="2E338C"/>
                    </a:solidFill>
                  </a:tcPr>
                </a:tc>
                <a:tc>
                  <a:txBody>
                    <a:bodyPr wrap="square"/>
                    <a:lstStyle/>
                    <a:p>
                      <a:pPr algn="ctr">
                        <a:lnSpc>
                          <a:spcPct val="100000"/>
                        </a:lnSpc>
                      </a:pPr>
                      <a:r>
                        <a:rPr sz="1300" b="0" i="0">
                          <a:solidFill>
                            <a:srgbClr val="FFFFFF"/>
                          </a:solidFill>
                          <a:latin typeface="Avenir"/>
                          <a:ea typeface="Avenir"/>
                          <a:cs typeface="Avenir"/>
                          <a:sym typeface="Avenir"/>
                        </a:rPr>
                        <a:t>3.0s</a:t>
                      </a:r>
                    </a:p>
                  </a:txBody>
                  <a:tcPr marL="72000" marR="72000" marT="36000" marB="36000" anchor="ctr">
                    <a:solidFill>
                      <a:srgbClr val="2E338C"/>
                    </a:solidFill>
                  </a:tcPr>
                </a:tc>
              </a:tr>
            </a:tbl>
          </a:graphicData>
        </a:graphic>
      </p:graphicFrame>
      <p:sp>
        <p:nvSpPr>
          <p:cNvPr id="5" name="blk0083"/>
          <p:cNvSpPr txBox="1"/>
          <p:nvPr/>
        </p:nvSpPr>
        <p:spPr>
          <a:xfrm>
            <a:off x="687600" y="5688000"/>
            <a:ext cx="7542000" cy="1940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Seventeen and a half seconds of sleeping, plus the pump's own 0.3s settle each time it is called. Call it </a:t>
            </a:r>
            <a:r>
              <a:rPr sz="2027" b="1" i="0">
                <a:solidFill>
                  <a:srgbClr val="FFCF08"/>
                </a:solidFill>
                <a:latin typeface="Avenir"/>
                <a:ea typeface="Avenir"/>
                <a:cs typeface="Avenir"/>
                <a:sym typeface="Avenir"/>
              </a:rPr>
              <a:t>18.1 seconds</a:t>
            </a:r>
            <a:r>
              <a:rPr sz="2027" b="0" i="0">
                <a:solidFill>
                  <a:srgbClr val="FFFFFF"/>
                </a:solidFill>
                <a:latin typeface="Avenir"/>
                <a:ea typeface="Avenir"/>
                <a:cs typeface="Avenir"/>
                <a:sym typeface="Avenir"/>
              </a:rPr>
              <a:t> — and every one of them is a full stop in the game loop.</a:t>
            </a:r>
          </a:p>
        </p:txBody>
      </p:sp>
      <p:sp>
        <p:nvSpPr>
          <p:cNvPr id="6" name="blk0084"/>
          <p:cNvSpPr/>
          <p:nvPr/>
        </p:nvSpPr>
        <p:spPr>
          <a:xfrm>
            <a:off x="687600" y="6722744"/>
            <a:ext cx="8686800" cy="76464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084"/>
          <p:cNvSpPr/>
          <p:nvPr/>
        </p:nvSpPr>
        <p:spPr>
          <a:xfrm>
            <a:off x="885600" y="7036664"/>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84"/>
          <p:cNvSpPr txBox="1"/>
          <p:nvPr/>
        </p:nvSpPr>
        <p:spPr>
          <a:xfrm>
            <a:off x="1162800" y="6866744"/>
            <a:ext cx="7956000" cy="47664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Nothing is drawn and nothing is checked during those eighteen seconds. The window is frozen and the program is deaf.</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85"/>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What press space means</a:t>
            </a:r>
          </a:p>
        </p:txBody>
      </p:sp>
      <p:sp>
        <p:nvSpPr>
          <p:cNvPr id="3" name="blk0086"/>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robot does not move on a timer or when the board changes. It moves because a human pressed a key. That is the entire interaction model:</a:t>
            </a:r>
          </a:p>
        </p:txBody>
      </p:sp>
      <p:sp>
        <p:nvSpPr>
          <p:cNvPr id="4" name="blk0087"/>
          <p:cNvSpPr/>
          <p:nvPr/>
        </p:nvSpPr>
        <p:spPr>
          <a:xfrm>
            <a:off x="687600" y="2592000"/>
            <a:ext cx="8686800" cy="1465586"/>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87"/>
          <p:cNvSpPr txBox="1"/>
          <p:nvPr/>
        </p:nvSpPr>
        <p:spPr>
          <a:xfrm>
            <a:off x="910799" y="2754000"/>
            <a:ext cx="8240400" cy="1141586"/>
          </a:xfrm>
          <a:prstGeom prst="rect">
            <a:avLst/>
          </a:prstGeom>
          <a:noFill/>
        </p:spPr>
        <p:txBody>
          <a:bodyPr wrap="square" anchor="t" lIns="0" rIns="0" tIns="0" bIns="0">
            <a:noAutofit/>
          </a:bodyPr>
          <a:lstStyle/>
          <a:p>
            <a:pPr algn="l">
              <a:lnSpc>
                <a:spcPct val="115000"/>
              </a:lnSpc>
            </a:pPr>
            <a:r>
              <a:rPr sz="1150" b="0" i="0">
                <a:solidFill>
                  <a:srgbClr val="FFFFFF"/>
                </a:solidFill>
                <a:latin typeface="Courier New"/>
                <a:ea typeface="Courier New"/>
                <a:cs typeface="Courier New"/>
                <a:sym typeface="Courier New"/>
              </a:rPr>
              <a:t>        key = cv2.waitKey(1) &amp; 0xFF</a:t>
            </a:r>
          </a:p>
          <a:p>
            <a:pPr algn="l">
              <a:lnSpc>
                <a:spcPct val="115000"/>
              </a:lnSpc>
            </a:pPr>
            <a:r>
              <a:rPr sz="1150" b="0" i="0">
                <a:solidFill>
                  <a:srgbClr val="FFFFFF"/>
                </a:solidFill>
                <a:latin typeface="Courier New"/>
                <a:ea typeface="Courier New"/>
                <a:cs typeface="Courier New"/>
                <a:sym typeface="Courier New"/>
              </a:rPr>
              <a:t/>
            </a:r>
          </a:p>
          <a:p>
            <a:pPr algn="l">
              <a:lnSpc>
                <a:spcPct val="115000"/>
              </a:lnSpc>
            </a:pPr>
            <a:r>
              <a:rPr sz="1150" b="0" i="0">
                <a:solidFill>
                  <a:srgbClr val="FFFFFF"/>
                </a:solidFill>
                <a:latin typeface="Courier New"/>
                <a:ea typeface="Courier New"/>
                <a:cs typeface="Courier New"/>
                <a:sym typeface="Courier New"/>
              </a:rPr>
              <a:t>        if key == ord(' ') and not winner:</a:t>
            </a:r>
          </a:p>
          <a:p>
            <a:pPr algn="l">
              <a:lnSpc>
                <a:spcPct val="115000"/>
              </a:lnSpc>
            </a:pPr>
            <a:r>
              <a:rPr sz="1150" b="0" i="0">
                <a:solidFill>
                  <a:srgbClr val="FFFFFF"/>
                </a:solidFill>
                <a:latin typeface="Courier New"/>
                <a:ea typeface="Courier New"/>
                <a:cs typeface="Courier New"/>
                <a:sym typeface="Courier New"/>
              </a:rPr>
              <a:t>            move = find_best_move(board)</a:t>
            </a:r>
          </a:p>
          <a:p>
            <a:pPr algn="l">
              <a:lnSpc>
                <a:spcPct val="115000"/>
              </a:lnSpc>
            </a:pPr>
            <a:r>
              <a:rPr sz="1150" b="0" i="0">
                <a:solidFill>
                  <a:srgbClr val="FFFFFF"/>
                </a:solidFill>
                <a:latin typeface="Courier New"/>
                <a:ea typeface="Courier New"/>
                <a:cs typeface="Courier New"/>
                <a:sym typeface="Courier New"/>
              </a:rPr>
              <a:t>            if move:</a:t>
            </a:r>
          </a:p>
          <a:p>
            <a:pPr algn="l">
              <a:lnSpc>
                <a:spcPct val="115000"/>
              </a:lnSpc>
            </a:pPr>
            <a:r>
              <a:rPr sz="1150" b="0" i="0">
                <a:solidFill>
                  <a:srgbClr val="FFFFFF"/>
                </a:solidFill>
                <a:latin typeface="Courier New"/>
                <a:ea typeface="Courier New"/>
                <a:cs typeface="Courier New"/>
                <a:sym typeface="Courier New"/>
              </a:rPr>
              <a:t>                execute_robot_move(move)</a:t>
            </a:r>
          </a:p>
        </p:txBody>
      </p:sp>
      <p:sp>
        <p:nvSpPr>
          <p:cNvPr id="6" name="blk0088"/>
          <p:cNvSpPr txBox="1"/>
          <p:nvPr/>
        </p:nvSpPr>
        <p:spPr>
          <a:xfrm>
            <a:off x="687600" y="4165586"/>
            <a:ext cx="7542000" cy="352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Four decisions in five lines. Which key was it. Is the game still running. Is there a move at all. Then do the thing. The </a:t>
            </a:r>
            <a:r>
              <a:rPr sz="1743" b="0" i="0">
                <a:solidFill>
                  <a:srgbClr val="FFFFFF"/>
                </a:solidFill>
                <a:latin typeface="Courier New"/>
                <a:ea typeface="Courier New"/>
                <a:cs typeface="Courier New"/>
                <a:sym typeface="Courier New"/>
              </a:rPr>
              <a:t>and not winner</a:t>
            </a:r>
            <a:r>
              <a:rPr sz="2027" b="0" i="0">
                <a:solidFill>
                  <a:srgbClr val="FFFFFF"/>
                </a:solidFill>
                <a:latin typeface="Avenir"/>
                <a:ea typeface="Avenir"/>
                <a:cs typeface="Avenir"/>
                <a:sym typeface="Avenir"/>
              </a:rPr>
              <a:t> guard is the one that stops the robot from playing onto a finished board.</a:t>
            </a:r>
          </a:p>
        </p:txBody>
      </p:sp>
      <p:sp>
        <p:nvSpPr>
          <p:cNvPr id="7" name="blk0089"/>
          <p:cNvSpPr txBox="1"/>
          <p:nvPr/>
        </p:nvSpPr>
        <p:spPr>
          <a:xfrm>
            <a:off x="687600" y="5509245"/>
            <a:ext cx="7542000" cy="108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Because the move is triggered by a key rather than by a board change, the human is responsible for placing their X before pressing space. Press it on an unchanged board and the robot will play into whatever it sees.</a:t>
            </a:r>
          </a:p>
        </p:txBody>
      </p:sp>
      <p:sp>
        <p:nvSpPr>
          <p:cNvPr id="8" name="blk0090"/>
          <p:cNvSpPr/>
          <p:nvPr/>
        </p:nvSpPr>
        <p:spPr>
          <a:xfrm>
            <a:off x="687600" y="6522501"/>
            <a:ext cx="8686800" cy="76464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90"/>
          <p:cNvSpPr/>
          <p:nvPr/>
        </p:nvSpPr>
        <p:spPr>
          <a:xfrm>
            <a:off x="885600" y="6836421"/>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090"/>
          <p:cNvSpPr txBox="1"/>
          <p:nvPr/>
        </p:nvSpPr>
        <p:spPr>
          <a:xfrm>
            <a:off x="1162800" y="6666500"/>
            <a:ext cx="7956000" cy="47664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This is the most fragile interface in the module and it was chosen for the simplest possible reason: it is easy to explain.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9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Order of operations at startup</a:t>
            </a:r>
          </a:p>
        </p:txBody>
      </p:sp>
      <p:sp>
        <p:nvSpPr>
          <p:cNvPr id="3" name="blk009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Before the loop runs, this file does a lot in a specific order, and the order is the whole difficulty:</a:t>
            </a:r>
          </a:p>
        </p:txBody>
      </p:sp>
      <p:sp>
        <p:nvSpPr>
          <p:cNvPr id="4" name="blk0093"/>
          <p:cNvSpPr/>
          <p:nvPr/>
        </p:nvSpPr>
        <p:spPr>
          <a:xfrm>
            <a:off x="687600" y="273600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93"/>
          <p:cNvSpPr txBox="1"/>
          <p:nvPr/>
        </p:nvSpPr>
        <p:spPr>
          <a:xfrm>
            <a:off x="687600" y="273600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1</a:t>
            </a:r>
          </a:p>
        </p:txBody>
      </p:sp>
      <p:sp>
        <p:nvSpPr>
          <p:cNvPr id="6" name="blk0093"/>
          <p:cNvSpPr txBox="1"/>
          <p:nvPr/>
        </p:nvSpPr>
        <p:spPr>
          <a:xfrm>
            <a:off x="1252800" y="271440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Connect, then read back</a:t>
            </a:r>
          </a:p>
        </p:txBody>
      </p:sp>
      <p:sp>
        <p:nvSpPr>
          <p:cNvPr id="7" name="blk0093"/>
          <p:cNvSpPr txBox="1"/>
          <p:nvPr/>
        </p:nvSpPr>
        <p:spPr>
          <a:xfrm>
            <a:off x="1252800" y="3034800"/>
            <a:ext cx="8118000" cy="684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get_angles proves the arm is really there.</a:t>
            </a:r>
          </a:p>
        </p:txBody>
      </p:sp>
      <p:sp>
        <p:nvSpPr>
          <p:cNvPr id="8" name="blk0094"/>
          <p:cNvSpPr/>
          <p:nvPr/>
        </p:nvSpPr>
        <p:spPr>
          <a:xfrm>
            <a:off x="687600" y="343872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94"/>
          <p:cNvSpPr txBox="1"/>
          <p:nvPr/>
        </p:nvSpPr>
        <p:spPr>
          <a:xfrm>
            <a:off x="687600" y="343872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2</a:t>
            </a:r>
          </a:p>
        </p:txBody>
      </p:sp>
      <p:sp>
        <p:nvSpPr>
          <p:cNvPr id="10" name="blk0094"/>
          <p:cNvSpPr txBox="1"/>
          <p:nvPr/>
        </p:nvSpPr>
        <p:spPr>
          <a:xfrm>
            <a:off x="1252800" y="341712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Configure the pins</a:t>
            </a:r>
          </a:p>
        </p:txBody>
      </p:sp>
      <p:sp>
        <p:nvSpPr>
          <p:cNvPr id="11" name="blk0094"/>
          <p:cNvSpPr txBox="1"/>
          <p:nvPr/>
        </p:nvSpPr>
        <p:spPr>
          <a:xfrm>
            <a:off x="1252800" y="3737520"/>
            <a:ext cx="8118000" cy="684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BCM mode, two output pins, both written OFF.</a:t>
            </a:r>
          </a:p>
        </p:txBody>
      </p:sp>
      <p:sp>
        <p:nvSpPr>
          <p:cNvPr id="12" name="blk0095"/>
          <p:cNvSpPr/>
          <p:nvPr/>
        </p:nvSpPr>
        <p:spPr>
          <a:xfrm>
            <a:off x="687600" y="414144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095"/>
          <p:cNvSpPr txBox="1"/>
          <p:nvPr/>
        </p:nvSpPr>
        <p:spPr>
          <a:xfrm>
            <a:off x="687600" y="414144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3</a:t>
            </a:r>
          </a:p>
        </p:txBody>
      </p:sp>
      <p:sp>
        <p:nvSpPr>
          <p:cNvPr id="14" name="blk0095"/>
          <p:cNvSpPr txBox="1"/>
          <p:nvPr/>
        </p:nvSpPr>
        <p:spPr>
          <a:xfrm>
            <a:off x="1252800" y="411984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Move to home angles</a:t>
            </a:r>
          </a:p>
        </p:txBody>
      </p:sp>
      <p:sp>
        <p:nvSpPr>
          <p:cNvPr id="15" name="blk0095"/>
          <p:cNvSpPr txBox="1"/>
          <p:nvPr/>
        </p:nvSpPr>
        <p:spPr>
          <a:xfrm>
            <a:off x="1252800" y="4440240"/>
            <a:ext cx="8118000" cy="684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Then read where that turned out to be in millimetres.</a:t>
            </a:r>
          </a:p>
        </p:txBody>
      </p:sp>
      <p:sp>
        <p:nvSpPr>
          <p:cNvPr id="16" name="blk0096"/>
          <p:cNvSpPr/>
          <p:nvPr/>
        </p:nvSpPr>
        <p:spPr>
          <a:xfrm>
            <a:off x="687600" y="484416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lk0096"/>
          <p:cNvSpPr txBox="1"/>
          <p:nvPr/>
        </p:nvSpPr>
        <p:spPr>
          <a:xfrm>
            <a:off x="687600" y="484416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4</a:t>
            </a:r>
          </a:p>
        </p:txBody>
      </p:sp>
      <p:sp>
        <p:nvSpPr>
          <p:cNvPr id="18" name="blk0096"/>
          <p:cNvSpPr txBox="1"/>
          <p:nvPr/>
        </p:nvSpPr>
        <p:spPr>
          <a:xfrm>
            <a:off x="1252800" y="482256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Open the camera</a:t>
            </a:r>
          </a:p>
        </p:txBody>
      </p:sp>
      <p:sp>
        <p:nvSpPr>
          <p:cNvPr id="19" name="blk0096"/>
          <p:cNvSpPr txBox="1"/>
          <p:nvPr/>
        </p:nvSpPr>
        <p:spPr>
          <a:xfrm>
            <a:off x="1252800" y="5142960"/>
            <a:ext cx="8118000" cy="684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After the arm is out of the way.</a:t>
            </a:r>
          </a:p>
        </p:txBody>
      </p:sp>
      <p:sp>
        <p:nvSpPr>
          <p:cNvPr id="20" name="blk0097"/>
          <p:cNvSpPr/>
          <p:nvPr/>
        </p:nvSpPr>
        <p:spPr>
          <a:xfrm>
            <a:off x="687600" y="554400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blk0097"/>
          <p:cNvSpPr/>
          <p:nvPr/>
        </p:nvSpPr>
        <p:spPr>
          <a:xfrm>
            <a:off x="885600" y="5995079"/>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blk0097"/>
          <p:cNvSpPr txBox="1"/>
          <p:nvPr/>
        </p:nvSpPr>
        <p:spPr>
          <a:xfrm>
            <a:off x="1162800" y="5688000"/>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Step 3 is the subtle one. The arm is told to go to a pose using joint angles, but the rest of the file works in Cartesian millimetres — so it asks where the arm ended up, and that answer becomes the home position every move returns to.</a:t>
            </a:r>
          </a:p>
        </p:txBody>
      </p:sp>
      <p:sp>
        <p:nvSpPr>
          <p:cNvPr id="23" name="blk0098"/>
          <p:cNvSpPr txBox="1"/>
          <p:nvPr/>
        </p:nvSpPr>
        <p:spPr>
          <a:xfrm>
            <a:off x="687600" y="6696000"/>
            <a:ext cx="7542000" cy="648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If the arm cannot get there, the handler installs a hard-coded fallback and the program carries on with a position nobody measured.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9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 fallback nobody measured</a:t>
            </a:r>
          </a:p>
        </p:txBody>
      </p:sp>
      <p:sp>
        <p:nvSpPr>
          <p:cNvPr id="3" name="blk0100"/>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Every error handler in this file ends the same way — print, dump a traceback, and substitute a number:</a:t>
            </a:r>
          </a:p>
        </p:txBody>
      </p:sp>
      <p:sp>
        <p:nvSpPr>
          <p:cNvPr id="4" name="blk0101"/>
          <p:cNvSpPr/>
          <p:nvPr/>
        </p:nvSpPr>
        <p:spPr>
          <a:xfrm>
            <a:off x="687600" y="2448000"/>
            <a:ext cx="8686800" cy="1233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01"/>
          <p:cNvSpPr txBox="1"/>
          <p:nvPr/>
        </p:nvSpPr>
        <p:spPr>
          <a:xfrm>
            <a:off x="910799" y="2610000"/>
            <a:ext cx="8240400" cy="909959"/>
          </a:xfrm>
          <a:prstGeom prst="rect">
            <a:avLst/>
          </a:prstGeom>
          <a:noFill/>
        </p:spPr>
        <p:txBody>
          <a:bodyPr wrap="square" anchor="t" lIns="0" rIns="0" tIns="0" bIns="0">
            <a:noAutofit/>
          </a:bodyPr>
          <a:lstStyle/>
          <a:p>
            <a:pPr algn="l">
              <a:lnSpc>
                <a:spcPct val="115000"/>
              </a:lnSpc>
            </a:pPr>
            <a:r>
              <a:rPr sz="1100" b="0" i="0">
                <a:solidFill>
                  <a:srgbClr val="FFFFFF"/>
                </a:solidFill>
                <a:latin typeface="Courier New"/>
                <a:ea typeface="Courier New"/>
                <a:cs typeface="Courier New"/>
                <a:sym typeface="Courier New"/>
              </a:rPr>
              <a:t>except Exception as e:</a:t>
            </a:r>
          </a:p>
          <a:p>
            <a:pPr algn="l">
              <a:lnSpc>
                <a:spcPct val="115000"/>
              </a:lnSpc>
            </a:pPr>
            <a:r>
              <a:rPr sz="1100" b="0" i="0">
                <a:solidFill>
                  <a:srgbClr val="FFFFFF"/>
                </a:solidFill>
                <a:latin typeface="Courier New"/>
                <a:ea typeface="Courier New"/>
                <a:cs typeface="Courier New"/>
                <a:sym typeface="Courier New"/>
              </a:rPr>
              <a:t>    print(f"Error moving to home: {e}")</a:t>
            </a:r>
          </a:p>
          <a:p>
            <a:pPr algn="l">
              <a:lnSpc>
                <a:spcPct val="115000"/>
              </a:lnSpc>
            </a:pPr>
            <a:r>
              <a:rPr sz="1100" b="0" i="0">
                <a:solidFill>
                  <a:srgbClr val="FFFFFF"/>
                </a:solidFill>
                <a:latin typeface="Courier New"/>
                <a:ea typeface="Courier New"/>
                <a:cs typeface="Courier New"/>
                <a:sym typeface="Courier New"/>
              </a:rPr>
              <a:t>    import traceback</a:t>
            </a:r>
          </a:p>
          <a:p>
            <a:pPr algn="l">
              <a:lnSpc>
                <a:spcPct val="115000"/>
              </a:lnSpc>
            </a:pPr>
            <a:r>
              <a:rPr sz="1100" b="0" i="0">
                <a:solidFill>
                  <a:srgbClr val="FFFFFF"/>
                </a:solidFill>
                <a:latin typeface="Courier New"/>
                <a:ea typeface="Courier New"/>
                <a:cs typeface="Courier New"/>
                <a:sym typeface="Courier New"/>
              </a:rPr>
              <a:t>    traceback.print_exc()</a:t>
            </a:r>
          </a:p>
          <a:p>
            <a:pPr algn="l">
              <a:lnSpc>
                <a:spcPct val="115000"/>
              </a:lnSpc>
            </a:pPr>
            <a:r>
              <a:rPr sz="1100" b="0" i="0">
                <a:solidFill>
                  <a:srgbClr val="FFFFFF"/>
                </a:solidFill>
                <a:latin typeface="Courier New"/>
                <a:ea typeface="Courier New"/>
                <a:cs typeface="Courier New"/>
                <a:sym typeface="Courier New"/>
              </a:rPr>
              <a:t>    POS_HOME_CARTESIAN = [66, -62, 235, 180, 0, 90]  # fallback</a:t>
            </a:r>
          </a:p>
        </p:txBody>
      </p:sp>
      <p:sp>
        <p:nvSpPr>
          <p:cNvPr id="6" name="blk0102"/>
          <p:cNvSpPr txBox="1"/>
          <p:nvPr/>
        </p:nvSpPr>
        <p:spPr>
          <a:xfrm>
            <a:off x="687600" y="3789959"/>
            <a:ext cx="7542000" cy="4028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So if the arm will not move to home, the program does not stop — it remembers a guess and carries on. Every robot move will then end with a return to coordinates that were never checked against the real arm.</a:t>
            </a:r>
          </a:p>
        </p:txBody>
      </p:sp>
      <p:sp>
        <p:nvSpPr>
          <p:cNvPr id="7" name="blk0103"/>
          <p:cNvSpPr/>
          <p:nvPr/>
        </p:nvSpPr>
        <p:spPr>
          <a:xfrm>
            <a:off x="687600" y="5133618"/>
            <a:ext cx="8686800" cy="1080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03"/>
          <p:cNvSpPr/>
          <p:nvPr/>
        </p:nvSpPr>
        <p:spPr>
          <a:xfrm>
            <a:off x="885600" y="5605218"/>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03"/>
          <p:cNvSpPr txBox="1"/>
          <p:nvPr/>
        </p:nvSpPr>
        <p:spPr>
          <a:xfrm>
            <a:off x="1162800" y="5277618"/>
            <a:ext cx="7956000" cy="792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This is defensible. A capstone that refuses to start is a capstone that teaches nothing. But notice the trade: the fallback converts a loud, obvious failure into a quiet, mechanical one, and the arm will be moved to the wrong place without complaint.</a:t>
            </a:r>
          </a:p>
        </p:txBody>
      </p:sp>
      <p:sp>
        <p:nvSpPr>
          <p:cNvPr id="10" name="blk0104"/>
          <p:cNvSpPr txBox="1"/>
          <p:nvPr/>
        </p:nvSpPr>
        <p:spPr>
          <a:xfrm>
            <a:off x="687600" y="6321618"/>
            <a:ext cx="7542000" cy="79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If you see a traceback during startup, read the fallback line as the explanation for whatever goes wrong later. The two are connected.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05"/>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Before you type anything</a:t>
            </a:r>
          </a:p>
        </p:txBody>
      </p:sp>
      <p:sp>
        <p:nvSpPr>
          <p:cNvPr id="3" name="blk0106"/>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capstone starter does not run. Copy it across and start it and you get this:</a:t>
            </a:r>
          </a:p>
        </p:txBody>
      </p:sp>
      <p:sp>
        <p:nvSpPr>
          <p:cNvPr id="4" name="blk0107"/>
          <p:cNvSpPr/>
          <p:nvPr/>
        </p:nvSpPr>
        <p:spPr>
          <a:xfrm>
            <a:off x="687600" y="2304000"/>
            <a:ext cx="8686800" cy="1184325"/>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07"/>
          <p:cNvSpPr txBox="1"/>
          <p:nvPr/>
        </p:nvSpPr>
        <p:spPr>
          <a:xfrm>
            <a:off x="910799" y="2466000"/>
            <a:ext cx="8240400" cy="860325"/>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  File "M2-P8-Starter.py", line 157</a:t>
            </a:r>
          </a:p>
          <a:p>
            <a:pPr algn="l">
              <a:lnSpc>
                <a:spcPct val="115000"/>
              </a:lnSpc>
            </a:pPr>
            <a:r>
              <a:rPr sz="1300" b="0" i="0">
                <a:solidFill>
                  <a:srgbClr val="FFFFFF"/>
                </a:solidFill>
                <a:latin typeface="Courier New"/>
                <a:ea typeface="Courier New"/>
                <a:cs typeface="Courier New"/>
                <a:sym typeface="Courier New"/>
              </a:rPr>
              <a:t>    finally:</a:t>
            </a:r>
          </a:p>
          <a:p>
            <a:pPr algn="l">
              <a:lnSpc>
                <a:spcPct val="115000"/>
              </a:lnSpc>
            </a:pPr>
            <a:r>
              <a:rPr sz="1300" b="0" i="0">
                <a:solidFill>
                  <a:srgbClr val="FFFFFF"/>
                </a:solidFill>
                <a:latin typeface="Courier New"/>
                <a:ea typeface="Courier New"/>
                <a:cs typeface="Courier New"/>
                <a:sym typeface="Courier New"/>
              </a:rPr>
              <a:t>        ^^^^^^^</a:t>
            </a:r>
          </a:p>
          <a:p>
            <a:pPr algn="l">
              <a:lnSpc>
                <a:spcPct val="115000"/>
              </a:lnSpc>
            </a:pPr>
            <a:r>
              <a:rPr sz="1300" b="0" i="0">
                <a:solidFill>
                  <a:srgbClr val="FFFFFF"/>
                </a:solidFill>
                <a:latin typeface="Courier New"/>
                <a:ea typeface="Courier New"/>
                <a:cs typeface="Courier New"/>
                <a:sym typeface="Courier New"/>
              </a:rPr>
              <a:t>SyntaxError: invalid syntax</a:t>
            </a:r>
          </a:p>
        </p:txBody>
      </p:sp>
      <p:sp>
        <p:nvSpPr>
          <p:cNvPr id="6" name="blk0108"/>
          <p:cNvSpPr txBox="1"/>
          <p:nvPr/>
        </p:nvSpPr>
        <p:spPr>
          <a:xfrm>
            <a:off x="687600" y="3596325"/>
            <a:ext cx="7542000" cy="417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No output at all. Not one line printed, because the file never got as far as running anything.</a:t>
            </a:r>
          </a:p>
        </p:txBody>
      </p:sp>
      <p:sp>
        <p:nvSpPr>
          <p:cNvPr id="7" name="blk0109"/>
          <p:cNvSpPr txBox="1"/>
          <p:nvPr/>
        </p:nvSpPr>
        <p:spPr>
          <a:xfrm>
            <a:off x="687600" y="4322154"/>
            <a:ext cx="7542000" cy="345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reason is in the last few lines: the </a:t>
            </a:r>
            <a:r>
              <a:rPr sz="1743" b="0" i="0">
                <a:solidFill>
                  <a:srgbClr val="FFFFFF"/>
                </a:solidFill>
                <a:latin typeface="Courier New"/>
                <a:ea typeface="Courier New"/>
                <a:cs typeface="Courier New"/>
                <a:sym typeface="Courier New"/>
              </a:rPr>
              <a:t>finally</a:t>
            </a:r>
            <a:r>
              <a:rPr sz="2027" b="0" i="0">
                <a:solidFill>
                  <a:srgbClr val="FFFFFF"/>
                </a:solidFill>
                <a:latin typeface="Avenir"/>
                <a:ea typeface="Avenir"/>
                <a:cs typeface="Avenir"/>
                <a:sym typeface="Avenir"/>
              </a:rPr>
              <a:t> block is given to you, correct, but the </a:t>
            </a:r>
            <a:r>
              <a:rPr sz="1743" b="0" i="0">
                <a:solidFill>
                  <a:srgbClr val="FFFFFF"/>
                </a:solidFill>
                <a:latin typeface="Courier New"/>
                <a:ea typeface="Courier New"/>
                <a:cs typeface="Courier New"/>
                <a:sym typeface="Courier New"/>
              </a:rPr>
              <a:t>try</a:t>
            </a:r>
            <a:r>
              <a:rPr sz="2027" b="0" i="0">
                <a:solidFill>
                  <a:srgbClr val="FFFFFF"/>
                </a:solidFill>
                <a:latin typeface="Avenir"/>
                <a:ea typeface="Avenir"/>
                <a:cs typeface="Avenir"/>
                <a:sym typeface="Avenir"/>
              </a:rPr>
              <a:t> it belongs to is still an empty TODO, so the two keywords are not attached to anything.</a:t>
            </a:r>
          </a:p>
        </p:txBody>
      </p:sp>
      <p:sp>
        <p:nvSpPr>
          <p:cNvPr id="8" name="blk0110"/>
          <p:cNvSpPr/>
          <p:nvPr/>
        </p:nvSpPr>
        <p:spPr>
          <a:xfrm>
            <a:off x="687600" y="5400000"/>
            <a:ext cx="8686800" cy="131328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10"/>
          <p:cNvSpPr/>
          <p:nvPr/>
        </p:nvSpPr>
        <p:spPr>
          <a:xfrm>
            <a:off x="885600" y="598824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110"/>
          <p:cNvSpPr txBox="1"/>
          <p:nvPr/>
        </p:nvSpPr>
        <p:spPr>
          <a:xfrm>
            <a:off x="1162800" y="5544000"/>
            <a:ext cx="7956000" cy="102528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Every other project in this module has started with a </a:t>
            </a:r>
            <a:r>
              <a:rPr sz="1290" b="0" i="1">
                <a:solidFill>
                  <a:srgbClr val="FFCF08"/>
                </a:solidFill>
                <a:latin typeface="Courier New"/>
                <a:ea typeface="Courier New"/>
                <a:cs typeface="Courier New"/>
                <a:sym typeface="Courier New"/>
              </a:rPr>
              <a:t>NameError</a:t>
            </a:r>
            <a:r>
              <a:rPr sz="1500" b="0" i="1">
                <a:solidFill>
                  <a:srgbClr val="FFCF08"/>
                </a:solidFill>
                <a:latin typeface="Avenir"/>
                <a:ea typeface="Avenir"/>
                <a:cs typeface="Avenir"/>
                <a:sym typeface="Avenir"/>
              </a:rPr>
              <a:t> — a runtime error, raised after the file was successfully loaded. This one is a </a:t>
            </a:r>
            <a:r>
              <a:rPr sz="1290" b="0" i="1">
                <a:solidFill>
                  <a:srgbClr val="FFCF08"/>
                </a:solidFill>
                <a:latin typeface="Courier New"/>
                <a:ea typeface="Courier New"/>
                <a:cs typeface="Courier New"/>
                <a:sym typeface="Courier New"/>
              </a:rPr>
              <a:t>SyntaxError</a:t>
            </a:r>
            <a:r>
              <a:rPr sz="1500" b="0" i="1">
                <a:solidFill>
                  <a:srgbClr val="FFCF08"/>
                </a:solidFill>
                <a:latin typeface="Avenir"/>
                <a:ea typeface="Avenir"/>
                <a:cs typeface="Avenir"/>
                <a:sym typeface="Avenir"/>
              </a:rPr>
              <a:t>, which Python finds before running a single statement. It is a different category of problem, and it is the last thing this module asks you to notice on your own.</a:t>
            </a:r>
          </a:p>
        </p:txBody>
      </p:sp>
      <p:sp>
        <p:nvSpPr>
          <p:cNvPr id="11" name="blk0111"/>
          <p:cNvSpPr txBox="1"/>
          <p:nvPr/>
        </p:nvSpPr>
        <p:spPr>
          <a:xfrm>
            <a:off x="687600" y="6821280"/>
            <a:ext cx="7542000" cy="57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Read from the bottom up for this one. The error points at the last line of the file and the cause is fifty lines above 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12"/>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the four imports</a:t>
            </a:r>
          </a:p>
        </p:txBody>
      </p:sp>
      <p:sp>
        <p:nvSpPr>
          <p:cNvPr id="3" name="blk0113"/>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TODOs at the top of the file. Four imports between them:</a:t>
            </a:r>
          </a:p>
        </p:txBody>
      </p:sp>
      <p:sp>
        <p:nvSpPr>
          <p:cNvPr id="4" name="blk0114"/>
          <p:cNvSpPr/>
          <p:nvPr/>
        </p:nvSpPr>
        <p:spPr>
          <a:xfrm>
            <a:off x="687600" y="2376000"/>
            <a:ext cx="8686800" cy="1043695"/>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14"/>
          <p:cNvSpPr txBox="1"/>
          <p:nvPr/>
        </p:nvSpPr>
        <p:spPr>
          <a:xfrm>
            <a:off x="910799" y="2538000"/>
            <a:ext cx="8240400" cy="719695"/>
          </a:xfrm>
          <a:prstGeom prst="rect">
            <a:avLst/>
          </a:prstGeom>
          <a:noFill/>
        </p:spPr>
        <p:txBody>
          <a:bodyPr wrap="square" anchor="t" lIns="0" rIns="0" tIns="0" bIns="0">
            <a:noAutofit/>
          </a:bodyPr>
          <a:lstStyle/>
          <a:p>
            <a:pPr algn="l">
              <a:lnSpc>
                <a:spcPct val="115000"/>
              </a:lnSpc>
            </a:pPr>
            <a:r>
              <a:rPr sz="1450" b="0" i="0">
                <a:solidFill>
                  <a:srgbClr val="FFFFFF"/>
                </a:solidFill>
                <a:latin typeface="Courier New"/>
                <a:ea typeface="Courier New"/>
                <a:cs typeface="Courier New"/>
                <a:sym typeface="Courier New"/>
              </a:rPr>
              <a:t>import cv2</a:t>
            </a:r>
          </a:p>
          <a:p>
            <a:pPr algn="l">
              <a:lnSpc>
                <a:spcPct val="115000"/>
              </a:lnSpc>
            </a:pPr>
            <a:r>
              <a:rPr sz="1450" b="0" i="0">
                <a:solidFill>
                  <a:srgbClr val="FFFFFF"/>
                </a:solidFill>
                <a:latin typeface="Courier New"/>
                <a:ea typeface="Courier New"/>
                <a:cs typeface="Courier New"/>
                <a:sym typeface="Courier New"/>
              </a:rPr>
              <a:t>import numpy as np</a:t>
            </a:r>
          </a:p>
          <a:p>
            <a:pPr algn="l">
              <a:lnSpc>
                <a:spcPct val="115000"/>
              </a:lnSpc>
            </a:pPr>
            <a:r>
              <a:rPr sz="1450" b="0" i="0">
                <a:solidFill>
                  <a:srgbClr val="FFFFFF"/>
                </a:solidFill>
                <a:latin typeface="Courier New"/>
                <a:ea typeface="Courier New"/>
                <a:cs typeface="Courier New"/>
                <a:sym typeface="Courier New"/>
              </a:rPr>
              <a:t>import time</a:t>
            </a:r>
          </a:p>
        </p:txBody>
      </p:sp>
      <p:sp>
        <p:nvSpPr>
          <p:cNvPr id="6" name="blk0115"/>
          <p:cNvSpPr/>
          <p:nvPr/>
        </p:nvSpPr>
        <p:spPr>
          <a:xfrm>
            <a:off x="687600" y="3527695"/>
            <a:ext cx="8686800" cy="56389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115"/>
          <p:cNvSpPr txBox="1"/>
          <p:nvPr/>
        </p:nvSpPr>
        <p:spPr>
          <a:xfrm>
            <a:off x="910799" y="3689694"/>
            <a:ext cx="8240400" cy="239898"/>
          </a:xfrm>
          <a:prstGeom prst="rect">
            <a:avLst/>
          </a:prstGeom>
          <a:noFill/>
        </p:spPr>
        <p:txBody>
          <a:bodyPr wrap="square" anchor="t" lIns="0" rIns="0" tIns="0" bIns="0">
            <a:noAutofit/>
          </a:bodyPr>
          <a:lstStyle/>
          <a:p>
            <a:pPr algn="l">
              <a:lnSpc>
                <a:spcPct val="115000"/>
              </a:lnSpc>
            </a:pPr>
            <a:r>
              <a:rPr sz="1450" b="0" i="0">
                <a:solidFill>
                  <a:srgbClr val="FFFFFF"/>
                </a:solidFill>
                <a:latin typeface="Courier New"/>
                <a:ea typeface="Courier New"/>
                <a:cs typeface="Courier New"/>
                <a:sym typeface="Courier New"/>
              </a:rPr>
              <a:t>import RPi.GPIO as GPIO</a:t>
            </a:r>
          </a:p>
        </p:txBody>
      </p:sp>
      <p:sp>
        <p:nvSpPr>
          <p:cNvPr id="8" name="blk0116"/>
          <p:cNvSpPr/>
          <p:nvPr/>
        </p:nvSpPr>
        <p:spPr>
          <a:xfrm>
            <a:off x="687600" y="4199593"/>
            <a:ext cx="8686800" cy="53908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16"/>
          <p:cNvSpPr txBox="1"/>
          <p:nvPr/>
        </p:nvSpPr>
        <p:spPr>
          <a:xfrm>
            <a:off x="910799" y="4361593"/>
            <a:ext cx="8240400" cy="215081"/>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from pymycobot.mycobot280 import MyCobot280</a:t>
            </a:r>
          </a:p>
        </p:txBody>
      </p:sp>
      <p:sp>
        <p:nvSpPr>
          <p:cNvPr id="10" name="blk0117"/>
          <p:cNvSpPr/>
          <p:nvPr/>
        </p:nvSpPr>
        <p:spPr>
          <a:xfrm>
            <a:off x="741600" y="5068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117"/>
          <p:cNvSpPr txBox="1"/>
          <p:nvPr/>
        </p:nvSpPr>
        <p:spPr>
          <a:xfrm>
            <a:off x="1252800" y="5040000"/>
            <a:ext cx="8118000" cy="756000"/>
          </a:xfrm>
          <a:prstGeom prst="rect">
            <a:avLst/>
          </a:prstGeom>
          <a:noFill/>
        </p:spPr>
        <p:txBody>
          <a:bodyPr wrap="square" anchor="t" lIns="0" rIns="0" tIns="0" bIns="0">
            <a:noAutofit/>
          </a:bodyPr>
          <a:lstStyle/>
          <a:p>
            <a:pPr algn="l">
              <a:lnSpc>
                <a:spcPct val="120000"/>
              </a:lnSpc>
            </a:pPr>
            <a:r>
              <a:rPr sz="1376" b="0" i="0">
                <a:solidFill>
                  <a:srgbClr val="FFFFFF"/>
                </a:solidFill>
                <a:latin typeface="Courier New"/>
                <a:ea typeface="Courier New"/>
                <a:cs typeface="Courier New"/>
                <a:sym typeface="Courier New"/>
              </a:rPr>
              <a:t>RPi.GPIO</a:t>
            </a:r>
            <a:r>
              <a:rPr sz="1600" b="0" i="0">
                <a:solidFill>
                  <a:srgbClr val="FFFFFF"/>
                </a:solidFill>
                <a:latin typeface="Avenir"/>
                <a:ea typeface="Avenir"/>
                <a:cs typeface="Avenir"/>
                <a:sym typeface="Avenir"/>
              </a:rPr>
              <a:t>  — the pin interface. This one only exists on a Raspberry Pi, which is why this project cannot be developed on a laptop.</a:t>
            </a:r>
          </a:p>
        </p:txBody>
      </p:sp>
      <p:sp>
        <p:nvSpPr>
          <p:cNvPr id="12" name="blk0118"/>
          <p:cNvSpPr/>
          <p:nvPr/>
        </p:nvSpPr>
        <p:spPr>
          <a:xfrm>
            <a:off x="741600" y="5860799"/>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118"/>
          <p:cNvSpPr txBox="1"/>
          <p:nvPr/>
        </p:nvSpPr>
        <p:spPr>
          <a:xfrm>
            <a:off x="1252800" y="5832000"/>
            <a:ext cx="8118000" cy="756000"/>
          </a:xfrm>
          <a:prstGeom prst="rect">
            <a:avLst/>
          </a:prstGeom>
          <a:noFill/>
        </p:spPr>
        <p:txBody>
          <a:bodyPr wrap="square" anchor="t" lIns="0" rIns="0" tIns="0" bIns="0">
            <a:noAutofit/>
          </a:bodyPr>
          <a:lstStyle/>
          <a:p>
            <a:pPr algn="l">
              <a:lnSpc>
                <a:spcPct val="120000"/>
              </a:lnSpc>
            </a:pPr>
            <a:r>
              <a:rPr sz="1376" b="0" i="0">
                <a:solidFill>
                  <a:srgbClr val="FFFFFF"/>
                </a:solidFill>
                <a:latin typeface="Courier New"/>
                <a:ea typeface="Courier New"/>
                <a:cs typeface="Courier New"/>
                <a:sym typeface="Courier New"/>
              </a:rPr>
              <a:t>The other three</a:t>
            </a:r>
            <a:r>
              <a:rPr sz="1600" b="0" i="0">
                <a:solidFill>
                  <a:srgbClr val="FFFFFF"/>
                </a:solidFill>
                <a:latin typeface="Avenir"/>
                <a:ea typeface="Avenir"/>
                <a:cs typeface="Avenir"/>
                <a:sym typeface="Avenir"/>
              </a:rPr>
              <a:t>  — identical to every project since Project 1.</a:t>
            </a:r>
          </a:p>
        </p:txBody>
      </p:sp>
      <p:sp>
        <p:nvSpPr>
          <p:cNvPr id="14" name="blk0119"/>
          <p:cNvSpPr/>
          <p:nvPr/>
        </p:nvSpPr>
        <p:spPr>
          <a:xfrm>
            <a:off x="687600" y="6623999"/>
            <a:ext cx="8686800" cy="76464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blk0119"/>
          <p:cNvSpPr/>
          <p:nvPr/>
        </p:nvSpPr>
        <p:spPr>
          <a:xfrm>
            <a:off x="885600" y="6937919"/>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blk0119"/>
          <p:cNvSpPr txBox="1"/>
          <p:nvPr/>
        </p:nvSpPr>
        <p:spPr>
          <a:xfrm>
            <a:off x="1162800" y="6767999"/>
            <a:ext cx="7956000" cy="47664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Note what is absent: no import of the Project 7 functions — this file redefines </a:t>
            </a:r>
            <a:r>
              <a:rPr sz="1290" b="0" i="1">
                <a:solidFill>
                  <a:srgbClr val="FFCF08"/>
                </a:solidFill>
                <a:latin typeface="Courier New"/>
                <a:ea typeface="Courier New"/>
                <a:cs typeface="Courier New"/>
                <a:sym typeface="Courier New"/>
              </a:rPr>
              <a:t>parse_board_state</a:t>
            </a:r>
            <a:r>
              <a:rPr sz="1500" b="0" i="1">
                <a:solidFill>
                  <a:srgbClr val="FFCF08"/>
                </a:solidFill>
                <a:latin typeface="Avenir"/>
                <a:ea typeface="Avenir"/>
                <a:cs typeface="Avenir"/>
                <a:sym typeface="Avenir"/>
              </a:rPr>
              <a:t> because there is no module to import from.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20"/>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2</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connect and verify</a:t>
            </a:r>
          </a:p>
        </p:txBody>
      </p:sp>
      <p:sp>
        <p:nvSpPr>
          <p:cNvPr id="3" name="blk0121"/>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capstone has no </a:t>
            </a:r>
            <a:r>
              <a:rPr sz="1743" b="0" i="0">
                <a:solidFill>
                  <a:srgbClr val="FFFFFF"/>
                </a:solidFill>
                <a:latin typeface="Courier New"/>
                <a:ea typeface="Courier New"/>
                <a:cs typeface="Courier New"/>
                <a:sym typeface="Courier New"/>
              </a:rPr>
              <a:t>try</a:t>
            </a:r>
            <a:r>
              <a:rPr sz="2027" b="0" i="0">
                <a:solidFill>
                  <a:srgbClr val="FFFFFF"/>
                </a:solidFill>
                <a:latin typeface="Avenir"/>
                <a:ea typeface="Avenir"/>
                <a:cs typeface="Avenir"/>
                <a:sym typeface="Avenir"/>
              </a:rPr>
              <a:t> block around the connection, so this is where a missing arm stops the program. The TODO asks for a read-back, which is what makes it safe:</a:t>
            </a:r>
          </a:p>
        </p:txBody>
      </p:sp>
      <p:sp>
        <p:nvSpPr>
          <p:cNvPr id="4" name="blk0122"/>
          <p:cNvSpPr/>
          <p:nvPr/>
        </p:nvSpPr>
        <p:spPr>
          <a:xfrm>
            <a:off x="687600" y="2951999"/>
            <a:ext cx="8686800" cy="1961927"/>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22"/>
          <p:cNvSpPr txBox="1"/>
          <p:nvPr/>
        </p:nvSpPr>
        <p:spPr>
          <a:xfrm>
            <a:off x="910799" y="3113999"/>
            <a:ext cx="8240400" cy="1637927"/>
          </a:xfrm>
          <a:prstGeom prst="rect">
            <a:avLst/>
          </a:prstGeom>
          <a:noFill/>
        </p:spPr>
        <p:txBody>
          <a:bodyPr wrap="square" anchor="t" lIns="0" rIns="0" tIns="0" bIns="0">
            <a:noAutofit/>
          </a:bodyPr>
          <a:lstStyle/>
          <a:p>
            <a:pPr algn="l">
              <a:lnSpc>
                <a:spcPct val="115000"/>
              </a:lnSpc>
            </a:pPr>
            <a:r>
              <a:rPr sz="1100" b="0" i="0">
                <a:solidFill>
                  <a:srgbClr val="FFFFFF"/>
                </a:solidFill>
                <a:latin typeface="Courier New"/>
                <a:ea typeface="Courier New"/>
                <a:cs typeface="Courier New"/>
                <a:sym typeface="Courier New"/>
              </a:rPr>
              <a:t>mc = MyCobot280('/dev/ttyAMA0', 1000000)</a:t>
            </a:r>
          </a:p>
          <a:p>
            <a:pPr algn="l">
              <a:lnSpc>
                <a:spcPct val="115000"/>
              </a:lnSpc>
            </a:pPr>
            <a:r>
              <a:rPr sz="1100" b="0" i="0">
                <a:solidFill>
                  <a:srgbClr val="FFFFFF"/>
                </a:solidFill>
                <a:latin typeface="Courier New"/>
                <a:ea typeface="Courier New"/>
                <a:cs typeface="Courier New"/>
                <a:sym typeface="Courier New"/>
              </a:rPr>
              <a:t>time.sleep(0.5)</a:t>
            </a:r>
          </a:p>
          <a:p>
            <a:pPr algn="l">
              <a:lnSpc>
                <a:spcPct val="115000"/>
              </a:lnSpc>
            </a:pPr>
            <a:r>
              <a:rPr sz="1100" b="0" i="0">
                <a:solidFill>
                  <a:srgbClr val="FFFFFF"/>
                </a:solidFill>
                <a:latin typeface="Courier New"/>
                <a:ea typeface="Courier New"/>
                <a:cs typeface="Courier New"/>
                <a:sym typeface="Courier New"/>
              </a:rPr>
              <a:t/>
            </a:r>
          </a:p>
          <a:p>
            <a:pPr algn="l">
              <a:lnSpc>
                <a:spcPct val="115000"/>
              </a:lnSpc>
            </a:pPr>
            <a:r>
              <a:rPr sz="1100" b="0" i="0">
                <a:solidFill>
                  <a:srgbClr val="FFFFFF"/>
                </a:solidFill>
                <a:latin typeface="Courier New"/>
                <a:ea typeface="Courier New"/>
                <a:cs typeface="Courier New"/>
                <a:sym typeface="Courier New"/>
              </a:rPr>
              <a:t># Verify connection (M1 style - no explicit power_on)</a:t>
            </a:r>
          </a:p>
          <a:p>
            <a:pPr algn="l">
              <a:lnSpc>
                <a:spcPct val="115000"/>
              </a:lnSpc>
            </a:pPr>
            <a:r>
              <a:rPr sz="1100" b="0" i="0">
                <a:solidFill>
                  <a:srgbClr val="FFFFFF"/>
                </a:solidFill>
                <a:latin typeface="Courier New"/>
                <a:ea typeface="Courier New"/>
                <a:cs typeface="Courier New"/>
                <a:sym typeface="Courier New"/>
              </a:rPr>
              <a:t>try:</a:t>
            </a:r>
          </a:p>
          <a:p>
            <a:pPr algn="l">
              <a:lnSpc>
                <a:spcPct val="115000"/>
              </a:lnSpc>
            </a:pPr>
            <a:r>
              <a:rPr sz="1100" b="0" i="0">
                <a:solidFill>
                  <a:srgbClr val="FFFFFF"/>
                </a:solidFill>
                <a:latin typeface="Courier New"/>
                <a:ea typeface="Courier New"/>
                <a:cs typeface="Courier New"/>
                <a:sym typeface="Courier New"/>
              </a:rPr>
              <a:t>    angles = mc.get_angles()</a:t>
            </a:r>
          </a:p>
          <a:p>
            <a:pPr algn="l">
              <a:lnSpc>
                <a:spcPct val="115000"/>
              </a:lnSpc>
            </a:pPr>
            <a:r>
              <a:rPr sz="1100" b="0" i="0">
                <a:solidFill>
                  <a:srgbClr val="FFFFFF"/>
                </a:solidFill>
                <a:latin typeface="Courier New"/>
                <a:ea typeface="Courier New"/>
                <a:cs typeface="Courier New"/>
                <a:sym typeface="Courier New"/>
              </a:rPr>
              <a:t>    print(f"Connected. Current angles: {angles}")</a:t>
            </a:r>
          </a:p>
          <a:p>
            <a:pPr algn="l">
              <a:lnSpc>
                <a:spcPct val="115000"/>
              </a:lnSpc>
            </a:pPr>
            <a:r>
              <a:rPr sz="1100" b="0" i="0">
                <a:solidFill>
                  <a:srgbClr val="FFFFFF"/>
                </a:solidFill>
                <a:latin typeface="Courier New"/>
                <a:ea typeface="Courier New"/>
                <a:cs typeface="Courier New"/>
                <a:sym typeface="Courier New"/>
              </a:rPr>
              <a:t>except Exception as e:</a:t>
            </a:r>
          </a:p>
          <a:p>
            <a:pPr algn="l">
              <a:lnSpc>
                <a:spcPct val="115000"/>
              </a:lnSpc>
            </a:pPr>
            <a:r>
              <a:rPr sz="1100" b="0" i="0">
                <a:solidFill>
                  <a:srgbClr val="FFFFFF"/>
                </a:solidFill>
                <a:latin typeface="Courier New"/>
                <a:ea typeface="Courier New"/>
                <a:cs typeface="Courier New"/>
                <a:sym typeface="Courier New"/>
              </a:rPr>
              <a:t>    print(f"Warning during init: {e}")</a:t>
            </a:r>
          </a:p>
        </p:txBody>
      </p:sp>
      <p:sp>
        <p:nvSpPr>
          <p:cNvPr id="6" name="blk0123"/>
          <p:cNvSpPr txBox="1"/>
          <p:nvPr/>
        </p:nvSpPr>
        <p:spPr>
          <a:xfrm>
            <a:off x="687600" y="5021926"/>
            <a:ext cx="7542000" cy="108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half-second wait is the same one from Project 6 — the board needs time to boot before it will answer. And unlike Project 6 there is no </a:t>
            </a:r>
            <a:r>
              <a:rPr sz="1419" b="0" i="0">
                <a:solidFill>
                  <a:srgbClr val="FFFFFF"/>
                </a:solidFill>
                <a:latin typeface="Courier New"/>
                <a:ea typeface="Courier New"/>
                <a:cs typeface="Courier New"/>
                <a:sym typeface="Courier New"/>
              </a:rPr>
              <a:t>power_on</a:t>
            </a:r>
            <a:r>
              <a:rPr sz="1650" b="0" i="0">
                <a:solidFill>
                  <a:srgbClr val="FFFFFF"/>
                </a:solidFill>
                <a:latin typeface="Avenir"/>
                <a:ea typeface="Avenir"/>
                <a:cs typeface="Avenir"/>
                <a:sym typeface="Avenir"/>
              </a:rPr>
              <a:t> call: the comment says this is the Module 1 style, where the arm powers itself.</a:t>
            </a:r>
          </a:p>
        </p:txBody>
      </p:sp>
      <p:sp>
        <p:nvSpPr>
          <p:cNvPr id="7" name="blk0124"/>
          <p:cNvSpPr/>
          <p:nvPr/>
        </p:nvSpPr>
        <p:spPr>
          <a:xfrm>
            <a:off x="687600" y="6336934"/>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24"/>
          <p:cNvSpPr/>
          <p:nvPr/>
        </p:nvSpPr>
        <p:spPr>
          <a:xfrm>
            <a:off x="885600" y="6788014"/>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24"/>
          <p:cNvSpPr txBox="1"/>
          <p:nvPr/>
        </p:nvSpPr>
        <p:spPr>
          <a:xfrm>
            <a:off x="1162800" y="6480934"/>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Read the try block carefully. It catches a failure to </a:t>
            </a:r>
            <a:r>
              <a:rPr sz="1500" b="1" i="1">
                <a:solidFill>
                  <a:srgbClr val="FFCF08"/>
                </a:solidFill>
                <a:latin typeface="Google Sans"/>
                <a:ea typeface="Google Sans"/>
                <a:cs typeface="Google Sans"/>
                <a:sym typeface="Google Sans"/>
              </a:rPr>
              <a:t>read</a:t>
            </a:r>
            <a:r>
              <a:rPr sz="1500" b="0" i="1">
                <a:solidFill>
                  <a:srgbClr val="FFCF08"/>
                </a:solidFill>
                <a:latin typeface="Avenir"/>
                <a:ea typeface="Avenir"/>
                <a:cs typeface="Avenir"/>
                <a:sym typeface="Avenir"/>
              </a:rPr>
              <a:t> the arm, not a failure to </a:t>
            </a:r>
            <a:r>
              <a:rPr sz="1500" b="1" i="1">
                <a:solidFill>
                  <a:srgbClr val="FFCF08"/>
                </a:solidFill>
                <a:latin typeface="Google Sans"/>
                <a:ea typeface="Google Sans"/>
                <a:cs typeface="Google Sans"/>
                <a:sym typeface="Google Sans"/>
              </a:rPr>
              <a:t>create</a:t>
            </a:r>
            <a:r>
              <a:rPr sz="1500" b="0" i="1">
                <a:solidFill>
                  <a:srgbClr val="FFCF08"/>
                </a:solidFill>
                <a:latin typeface="Avenir"/>
                <a:ea typeface="Avenir"/>
                <a:cs typeface="Avenir"/>
                <a:sym typeface="Avenir"/>
              </a:rPr>
              <a:t> it. If the constructor raises, this file is already over — there is no handler above 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25"/>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3</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set up the pins</a:t>
            </a:r>
          </a:p>
        </p:txBody>
      </p:sp>
      <p:sp>
        <p:nvSpPr>
          <p:cNvPr id="3" name="blk0126"/>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Five lines. Three of them are configuration and two are the first thing the pins actually do:</a:t>
            </a:r>
          </a:p>
        </p:txBody>
      </p:sp>
      <p:sp>
        <p:nvSpPr>
          <p:cNvPr id="4" name="blk0127"/>
          <p:cNvSpPr/>
          <p:nvPr/>
        </p:nvSpPr>
        <p:spPr>
          <a:xfrm>
            <a:off x="687600" y="2376000"/>
            <a:ext cx="8686800" cy="161448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27"/>
          <p:cNvSpPr txBox="1"/>
          <p:nvPr/>
        </p:nvSpPr>
        <p:spPr>
          <a:xfrm>
            <a:off x="910799" y="2538000"/>
            <a:ext cx="8240400" cy="1290488"/>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GPIO.setwarnings(False)</a:t>
            </a:r>
          </a:p>
          <a:p>
            <a:pPr algn="l">
              <a:lnSpc>
                <a:spcPct val="115000"/>
              </a:lnSpc>
            </a:pPr>
            <a:r>
              <a:rPr sz="1300" b="0" i="0">
                <a:solidFill>
                  <a:srgbClr val="FFFFFF"/>
                </a:solidFill>
                <a:latin typeface="Courier New"/>
                <a:ea typeface="Courier New"/>
                <a:cs typeface="Courier New"/>
                <a:sym typeface="Courier New"/>
              </a:rPr>
              <a:t>GPIO.setmode(GPIO.BCM)</a:t>
            </a:r>
          </a:p>
          <a:p>
            <a:pPr algn="l">
              <a:lnSpc>
                <a:spcPct val="115000"/>
              </a:lnSpc>
            </a:pPr>
            <a:r>
              <a:rPr sz="1300" b="0" i="0">
                <a:solidFill>
                  <a:srgbClr val="FFFFFF"/>
                </a:solidFill>
                <a:latin typeface="Courier New"/>
                <a:ea typeface="Courier New"/>
                <a:cs typeface="Courier New"/>
                <a:sym typeface="Courier New"/>
              </a:rPr>
              <a:t>GPIO.setup(20, GPIO.OUT)</a:t>
            </a:r>
          </a:p>
          <a:p>
            <a:pPr algn="l">
              <a:lnSpc>
                <a:spcPct val="115000"/>
              </a:lnSpc>
            </a:pPr>
            <a:r>
              <a:rPr sz="1300" b="0" i="0">
                <a:solidFill>
                  <a:srgbClr val="FFFFFF"/>
                </a:solidFill>
                <a:latin typeface="Courier New"/>
                <a:ea typeface="Courier New"/>
                <a:cs typeface="Courier New"/>
                <a:sym typeface="Courier New"/>
              </a:rPr>
              <a:t>GPIO.setup(21, GPIO.OUT)</a:t>
            </a:r>
          </a:p>
          <a:p>
            <a:pPr algn="l">
              <a:lnSpc>
                <a:spcPct val="115000"/>
              </a:lnSpc>
            </a:pPr>
            <a:r>
              <a:rPr sz="1300" b="0" i="0">
                <a:solidFill>
                  <a:srgbClr val="FFFFFF"/>
                </a:solidFill>
                <a:latin typeface="Courier New"/>
                <a:ea typeface="Courier New"/>
                <a:cs typeface="Courier New"/>
                <a:sym typeface="Courier New"/>
              </a:rPr>
              <a:t>GPIO.output(20, 1)  # Off initially</a:t>
            </a:r>
          </a:p>
          <a:p>
            <a:pPr algn="l">
              <a:lnSpc>
                <a:spcPct val="115000"/>
              </a:lnSpc>
            </a:pPr>
            <a:r>
              <a:rPr sz="1300" b="0" i="0">
                <a:solidFill>
                  <a:srgbClr val="FFFFFF"/>
                </a:solidFill>
                <a:latin typeface="Courier New"/>
                <a:ea typeface="Courier New"/>
                <a:cs typeface="Courier New"/>
                <a:sym typeface="Courier New"/>
              </a:rPr>
              <a:t>GPIO.output(21, 1)</a:t>
            </a:r>
          </a:p>
        </p:txBody>
      </p:sp>
      <p:sp>
        <p:nvSpPr>
          <p:cNvPr id="6" name="blk0128"/>
          <p:cNvSpPr txBox="1"/>
          <p:nvPr/>
        </p:nvSpPr>
        <p:spPr>
          <a:xfrm>
            <a:off x="687600" y="4098488"/>
            <a:ext cx="7542000" cy="388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Read those last two lines with Step 5 in mind. Writing </a:t>
            </a:r>
            <a:r>
              <a:rPr sz="1743" b="0" i="0">
                <a:solidFill>
                  <a:srgbClr val="FFFFFF"/>
                </a:solidFill>
                <a:latin typeface="Courier New"/>
                <a:ea typeface="Courier New"/>
                <a:cs typeface="Courier New"/>
                <a:sym typeface="Courier New"/>
              </a:rPr>
              <a:t>1</a:t>
            </a:r>
            <a:r>
              <a:rPr sz="2027" b="0" i="0">
                <a:solidFill>
                  <a:srgbClr val="FFFFFF"/>
                </a:solidFill>
                <a:latin typeface="Avenir"/>
                <a:ea typeface="Avenir"/>
                <a:cs typeface="Avenir"/>
                <a:sym typeface="Avenir"/>
              </a:rPr>
              <a:t> is what turns the pump </a:t>
            </a:r>
            <a:r>
              <a:rPr sz="2027" b="1" i="0">
                <a:solidFill>
                  <a:srgbClr val="FFFFFF"/>
                </a:solidFill>
                <a:latin typeface="Google Sans"/>
                <a:ea typeface="Google Sans"/>
                <a:cs typeface="Google Sans"/>
                <a:sym typeface="Google Sans"/>
              </a:rPr>
              <a:t>off</a:t>
            </a:r>
            <a:r>
              <a:rPr sz="2027" b="0" i="0">
                <a:solidFill>
                  <a:srgbClr val="FFFFFF"/>
                </a:solidFill>
                <a:latin typeface="Avenir"/>
                <a:ea typeface="Avenir"/>
                <a:cs typeface="Avenir"/>
                <a:sym typeface="Avenir"/>
              </a:rPr>
              <a:t>, because the pump is active low. The comment is the whole explanation, and it is load-bearing.</a:t>
            </a:r>
          </a:p>
        </p:txBody>
      </p:sp>
      <p:sp>
        <p:nvSpPr>
          <p:cNvPr id="7" name="blk0129"/>
          <p:cNvSpPr/>
          <p:nvPr/>
        </p:nvSpPr>
        <p:spPr>
          <a:xfrm>
            <a:off x="687600" y="5442147"/>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29"/>
          <p:cNvSpPr/>
          <p:nvPr/>
        </p:nvSpPr>
        <p:spPr>
          <a:xfrm>
            <a:off x="885600" y="5893227"/>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29"/>
          <p:cNvSpPr txBox="1"/>
          <p:nvPr/>
        </p:nvSpPr>
        <p:spPr>
          <a:xfrm>
            <a:off x="1162800" y="5586147"/>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BCM means "use the pin's broad-com-number", not its physical position on the board. The numbers 20 and 21 are what this file expects; a different wiring would need different numbers here and nowhere else.</a:t>
            </a:r>
          </a:p>
        </p:txBody>
      </p:sp>
      <p:sp>
        <p:nvSpPr>
          <p:cNvPr id="10" name="blk0130"/>
          <p:cNvSpPr txBox="1"/>
          <p:nvPr/>
        </p:nvSpPr>
        <p:spPr>
          <a:xfrm>
            <a:off x="687600" y="6589106"/>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Pins OFF before anything else runs: if the program crashes later, the pump is already in the safe state.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3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4</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move home, then measure</a:t>
            </a:r>
          </a:p>
        </p:txBody>
      </p:sp>
      <p:sp>
        <p:nvSpPr>
          <p:cNvPr id="3" name="blk013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longest TODO in the file. Everything about the arm's coordinate system is decided here:</a:t>
            </a:r>
          </a:p>
        </p:txBody>
      </p:sp>
      <p:sp>
        <p:nvSpPr>
          <p:cNvPr id="4" name="blk0133"/>
          <p:cNvSpPr/>
          <p:nvPr/>
        </p:nvSpPr>
        <p:spPr>
          <a:xfrm>
            <a:off x="687600" y="2304000"/>
            <a:ext cx="8686800" cy="1366317"/>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33"/>
          <p:cNvSpPr txBox="1"/>
          <p:nvPr/>
        </p:nvSpPr>
        <p:spPr>
          <a:xfrm>
            <a:off x="910799" y="2466000"/>
            <a:ext cx="8240400" cy="1042317"/>
          </a:xfrm>
          <a:prstGeom prst="rect">
            <a:avLst/>
          </a:prstGeom>
          <a:noFill/>
        </p:spPr>
        <p:txBody>
          <a:bodyPr wrap="square" anchor="t" lIns="0" rIns="0" tIns="0" bIns="0">
            <a:noAutofit/>
          </a:bodyPr>
          <a:lstStyle/>
          <a:p>
            <a:pPr algn="l">
              <a:lnSpc>
                <a:spcPct val="115000"/>
              </a:lnSpc>
            </a:pPr>
            <a:r>
              <a:rPr sz="1050" b="0" i="0">
                <a:solidFill>
                  <a:srgbClr val="FFFFFF"/>
                </a:solidFill>
                <a:latin typeface="Courier New"/>
                <a:ea typeface="Courier New"/>
                <a:cs typeface="Courier New"/>
                <a:sym typeface="Courier New"/>
              </a:rPr>
              <a:t>print(f"Moving to home angles: {POS_HOME_ANGLES}")</a:t>
            </a:r>
          </a:p>
          <a:p>
            <a:pPr algn="l">
              <a:lnSpc>
                <a:spcPct val="115000"/>
              </a:lnSpc>
            </a:pPr>
            <a:r>
              <a:rPr sz="1050" b="0" i="0">
                <a:solidFill>
                  <a:srgbClr val="FFFFFF"/>
                </a:solidFill>
                <a:latin typeface="Courier New"/>
                <a:ea typeface="Courier New"/>
                <a:cs typeface="Courier New"/>
                <a:sym typeface="Courier New"/>
              </a:rPr>
              <a:t>try:</a:t>
            </a:r>
          </a:p>
          <a:p>
            <a:pPr algn="l">
              <a:lnSpc>
                <a:spcPct val="115000"/>
              </a:lnSpc>
            </a:pPr>
            <a:r>
              <a:rPr sz="1050" b="0" i="0">
                <a:solidFill>
                  <a:srgbClr val="FFFFFF"/>
                </a:solidFill>
                <a:latin typeface="Courier New"/>
                <a:ea typeface="Courier New"/>
                <a:cs typeface="Courier New"/>
                <a:sym typeface="Courier New"/>
              </a:rPr>
              <a:t>    result = mc.send_angles(POS_HOME_ANGLES, ARM_SPEED)</a:t>
            </a:r>
          </a:p>
          <a:p>
            <a:pPr algn="l">
              <a:lnSpc>
                <a:spcPct val="115000"/>
              </a:lnSpc>
            </a:pPr>
            <a:r>
              <a:rPr sz="1050" b="0" i="0">
                <a:solidFill>
                  <a:srgbClr val="FFFFFF"/>
                </a:solidFill>
                <a:latin typeface="Courier New"/>
                <a:ea typeface="Courier New"/>
                <a:cs typeface="Courier New"/>
                <a:sym typeface="Courier New"/>
              </a:rPr>
              <a:t>    time.sleep(4.0)</a:t>
            </a:r>
          </a:p>
          <a:p>
            <a:pPr algn="l">
              <a:lnSpc>
                <a:spcPct val="115000"/>
              </a:lnSpc>
            </a:pPr>
            <a:r>
              <a:rPr sz="1050" b="0" i="0">
                <a:solidFill>
                  <a:srgbClr val="FFFFFF"/>
                </a:solidFill>
                <a:latin typeface="Courier New"/>
                <a:ea typeface="Courier New"/>
                <a:cs typeface="Courier New"/>
                <a:sym typeface="Courier New"/>
              </a:rPr>
              <a:t>    POS_HOME_CARTESIAN = mc.get_coords()</a:t>
            </a:r>
          </a:p>
          <a:p>
            <a:pPr algn="l">
              <a:lnSpc>
                <a:spcPct val="115000"/>
              </a:lnSpc>
            </a:pPr>
            <a:r>
              <a:rPr sz="1050" b="0" i="0">
                <a:solidFill>
                  <a:srgbClr val="FFFFFF"/>
                </a:solidFill>
                <a:latin typeface="Courier New"/>
                <a:ea typeface="Courier New"/>
                <a:cs typeface="Courier New"/>
                <a:sym typeface="Courier New"/>
              </a:rPr>
              <a:t>    print(f"Home position (cartesian): {POS_HOME_CARTESIAN}")</a:t>
            </a:r>
          </a:p>
        </p:txBody>
      </p:sp>
      <p:sp>
        <p:nvSpPr>
          <p:cNvPr id="6" name="blk0134"/>
          <p:cNvSpPr txBox="1"/>
          <p:nvPr/>
        </p:nvSpPr>
        <p:spPr>
          <a:xfrm>
            <a:off x="687600" y="3778317"/>
            <a:ext cx="7542000" cy="3956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Three ideas in five lines. Go to a pose using </a:t>
            </a:r>
            <a:r>
              <a:rPr sz="2027" b="1" i="0">
                <a:solidFill>
                  <a:srgbClr val="FFFFFF"/>
                </a:solidFill>
                <a:latin typeface="Google Sans"/>
                <a:ea typeface="Google Sans"/>
                <a:cs typeface="Google Sans"/>
                <a:sym typeface="Google Sans"/>
              </a:rPr>
              <a:t>joint angles</a:t>
            </a:r>
            <a:r>
              <a:rPr sz="2027" b="0" i="0">
                <a:solidFill>
                  <a:srgbClr val="FFFFFF"/>
                </a:solidFill>
                <a:latin typeface="Avenir"/>
                <a:ea typeface="Avenir"/>
                <a:cs typeface="Avenir"/>
                <a:sym typeface="Avenir"/>
              </a:rPr>
              <a:t>, wait four seconds for it to get there, then ask </a:t>
            </a:r>
            <a:r>
              <a:rPr sz="2027" b="1" i="0">
                <a:solidFill>
                  <a:srgbClr val="FFFFFF"/>
                </a:solidFill>
                <a:latin typeface="Google Sans"/>
                <a:ea typeface="Google Sans"/>
                <a:cs typeface="Google Sans"/>
                <a:sym typeface="Google Sans"/>
              </a:rPr>
              <a:t>where it ended up in millimetres</a:t>
            </a:r>
            <a:r>
              <a:rPr sz="2027" b="0" i="0">
                <a:solidFill>
                  <a:srgbClr val="FFFFFF"/>
                </a:solidFill>
                <a:latin typeface="Avenir"/>
                <a:ea typeface="Avenir"/>
                <a:cs typeface="Avenir"/>
                <a:sym typeface="Avenir"/>
              </a:rPr>
              <a:t> and keep that answer.</a:t>
            </a:r>
          </a:p>
        </p:txBody>
      </p:sp>
      <p:sp>
        <p:nvSpPr>
          <p:cNvPr id="7" name="blk0135"/>
          <p:cNvSpPr txBox="1"/>
          <p:nvPr/>
        </p:nvSpPr>
        <p:spPr>
          <a:xfrm>
            <a:off x="687600" y="4824000"/>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Two different coordinate systems, because the arm is told where to go one way and is asked where it is another way. The rest of the file is written in the second one.</a:t>
            </a:r>
          </a:p>
        </p:txBody>
      </p:sp>
      <p:sp>
        <p:nvSpPr>
          <p:cNvPr id="8" name="blk0136"/>
          <p:cNvSpPr/>
          <p:nvPr/>
        </p:nvSpPr>
        <p:spPr>
          <a:xfrm>
            <a:off x="687600" y="5976000"/>
            <a:ext cx="8686800" cy="76464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36"/>
          <p:cNvSpPr/>
          <p:nvPr/>
        </p:nvSpPr>
        <p:spPr>
          <a:xfrm>
            <a:off x="885600" y="628992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136"/>
          <p:cNvSpPr txBox="1"/>
          <p:nvPr/>
        </p:nvSpPr>
        <p:spPr>
          <a:xfrm>
            <a:off x="1162800" y="6120000"/>
            <a:ext cx="7956000" cy="47664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The four-second sleep is not padding. It is the difference between reading the arm's position and reading the position it is still travelling to.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3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5</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the pump function</a:t>
            </a:r>
          </a:p>
        </p:txBody>
      </p:sp>
      <p:sp>
        <p:nvSpPr>
          <p:cNvPr id="3" name="blk0138"/>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first function you write in this project, and the shortest:</a:t>
            </a:r>
          </a:p>
        </p:txBody>
      </p:sp>
      <p:sp>
        <p:nvSpPr>
          <p:cNvPr id="4" name="blk0139"/>
          <p:cNvSpPr/>
          <p:nvPr/>
        </p:nvSpPr>
        <p:spPr>
          <a:xfrm>
            <a:off x="687600" y="2304000"/>
            <a:ext cx="8686800" cy="203637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39"/>
          <p:cNvSpPr txBox="1"/>
          <p:nvPr/>
        </p:nvSpPr>
        <p:spPr>
          <a:xfrm>
            <a:off x="910799" y="2466000"/>
            <a:ext cx="8240400" cy="1712379"/>
          </a:xfrm>
          <a:prstGeom prst="rect">
            <a:avLst/>
          </a:prstGeom>
          <a:noFill/>
        </p:spPr>
        <p:txBody>
          <a:bodyPr wrap="square" anchor="t" lIns="0" rIns="0" tIns="0" bIns="0">
            <a:noAutofit/>
          </a:bodyPr>
          <a:lstStyle/>
          <a:p>
            <a:pPr algn="l">
              <a:lnSpc>
                <a:spcPct val="115000"/>
              </a:lnSpc>
            </a:pPr>
            <a:r>
              <a:rPr sz="1150" b="0" i="0">
                <a:solidFill>
                  <a:srgbClr val="FFFFFF"/>
                </a:solidFill>
                <a:latin typeface="Courier New"/>
                <a:ea typeface="Courier New"/>
                <a:cs typeface="Courier New"/>
                <a:sym typeface="Courier New"/>
              </a:rPr>
              <a:t>def set_pump(state):</a:t>
            </a:r>
          </a:p>
          <a:p>
            <a:pPr algn="l">
              <a:lnSpc>
                <a:spcPct val="115000"/>
              </a:lnSpc>
            </a:pPr>
            <a:r>
              <a:rPr sz="1150" b="0" i="0">
                <a:solidFill>
                  <a:srgbClr val="FFFFFF"/>
                </a:solidFill>
                <a:latin typeface="Courier New"/>
                <a:ea typeface="Courier New"/>
                <a:cs typeface="Courier New"/>
                <a:sym typeface="Courier New"/>
              </a:rPr>
              <a:t>    """Controls suction pump via GPIO (1=ON, 0=OFF). Active LOW."""</a:t>
            </a:r>
          </a:p>
          <a:p>
            <a:pPr algn="l">
              <a:lnSpc>
                <a:spcPct val="115000"/>
              </a:lnSpc>
            </a:pPr>
            <a:r>
              <a:rPr sz="1150" b="0" i="0">
                <a:solidFill>
                  <a:srgbClr val="FFFFFF"/>
                </a:solidFill>
                <a:latin typeface="Courier New"/>
                <a:ea typeface="Courier New"/>
                <a:cs typeface="Courier New"/>
                <a:sym typeface="Courier New"/>
              </a:rPr>
              <a:t>    if state == 1:</a:t>
            </a:r>
          </a:p>
          <a:p>
            <a:pPr algn="l">
              <a:lnSpc>
                <a:spcPct val="115000"/>
              </a:lnSpc>
            </a:pPr>
            <a:r>
              <a:rPr sz="1150" b="0" i="0">
                <a:solidFill>
                  <a:srgbClr val="FFFFFF"/>
                </a:solidFill>
                <a:latin typeface="Courier New"/>
                <a:ea typeface="Courier New"/>
                <a:cs typeface="Courier New"/>
                <a:sym typeface="Courier New"/>
              </a:rPr>
              <a:t>        GPIO.output(20, 0)</a:t>
            </a:r>
          </a:p>
          <a:p>
            <a:pPr algn="l">
              <a:lnSpc>
                <a:spcPct val="115000"/>
              </a:lnSpc>
            </a:pPr>
            <a:r>
              <a:rPr sz="1150" b="0" i="0">
                <a:solidFill>
                  <a:srgbClr val="FFFFFF"/>
                </a:solidFill>
                <a:latin typeface="Courier New"/>
                <a:ea typeface="Courier New"/>
                <a:cs typeface="Courier New"/>
                <a:sym typeface="Courier New"/>
              </a:rPr>
              <a:t>        GPIO.output(21, 0)</a:t>
            </a:r>
          </a:p>
          <a:p>
            <a:pPr algn="l">
              <a:lnSpc>
                <a:spcPct val="115000"/>
              </a:lnSpc>
            </a:pPr>
            <a:r>
              <a:rPr sz="1150" b="0" i="0">
                <a:solidFill>
                  <a:srgbClr val="FFFFFF"/>
                </a:solidFill>
                <a:latin typeface="Courier New"/>
                <a:ea typeface="Courier New"/>
                <a:cs typeface="Courier New"/>
                <a:sym typeface="Courier New"/>
              </a:rPr>
              <a:t>    else:</a:t>
            </a:r>
          </a:p>
          <a:p>
            <a:pPr algn="l">
              <a:lnSpc>
                <a:spcPct val="115000"/>
              </a:lnSpc>
            </a:pPr>
            <a:r>
              <a:rPr sz="1150" b="0" i="0">
                <a:solidFill>
                  <a:srgbClr val="FFFFFF"/>
                </a:solidFill>
                <a:latin typeface="Courier New"/>
                <a:ea typeface="Courier New"/>
                <a:cs typeface="Courier New"/>
                <a:sym typeface="Courier New"/>
              </a:rPr>
              <a:t>        GPIO.output(20, 1)</a:t>
            </a:r>
          </a:p>
          <a:p>
            <a:pPr algn="l">
              <a:lnSpc>
                <a:spcPct val="115000"/>
              </a:lnSpc>
            </a:pPr>
            <a:r>
              <a:rPr sz="1150" b="0" i="0">
                <a:solidFill>
                  <a:srgbClr val="FFFFFF"/>
                </a:solidFill>
                <a:latin typeface="Courier New"/>
                <a:ea typeface="Courier New"/>
                <a:cs typeface="Courier New"/>
                <a:sym typeface="Courier New"/>
              </a:rPr>
              <a:t>        GPIO.output(21, 1)</a:t>
            </a:r>
          </a:p>
          <a:p>
            <a:pPr algn="l">
              <a:lnSpc>
                <a:spcPct val="115000"/>
              </a:lnSpc>
            </a:pPr>
            <a:r>
              <a:rPr sz="1150" b="0" i="0">
                <a:solidFill>
                  <a:srgbClr val="FFFFFF"/>
                </a:solidFill>
                <a:latin typeface="Courier New"/>
                <a:ea typeface="Courier New"/>
                <a:cs typeface="Courier New"/>
                <a:sym typeface="Courier New"/>
              </a:rPr>
              <a:t>    time.sleep(0.3)</a:t>
            </a:r>
          </a:p>
        </p:txBody>
      </p:sp>
      <p:sp>
        <p:nvSpPr>
          <p:cNvPr id="6" name="blk0140"/>
          <p:cNvSpPr txBox="1"/>
          <p:nvPr/>
        </p:nvSpPr>
        <p:spPr>
          <a:xfrm>
            <a:off x="687600" y="4448379"/>
            <a:ext cx="7542000" cy="381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inversion is the whole point. Callers say </a:t>
            </a:r>
            <a:r>
              <a:rPr sz="1743" b="0" i="0">
                <a:solidFill>
                  <a:srgbClr val="FFFFFF"/>
                </a:solidFill>
                <a:latin typeface="Courier New"/>
                <a:ea typeface="Courier New"/>
                <a:cs typeface="Courier New"/>
                <a:sym typeface="Courier New"/>
              </a:rPr>
              <a:t>set_pump(1)</a:t>
            </a:r>
            <a:r>
              <a:rPr sz="2027" b="0" i="0">
                <a:solidFill>
                  <a:srgbClr val="FFFFFF"/>
                </a:solidFill>
                <a:latin typeface="Avenir"/>
                <a:ea typeface="Avenir"/>
                <a:cs typeface="Avenir"/>
                <a:sym typeface="Avenir"/>
              </a:rPr>
              <a:t> to turn suction on and the function writes a </a:t>
            </a:r>
            <a:r>
              <a:rPr sz="1743" b="0" i="0">
                <a:solidFill>
                  <a:srgbClr val="FFFFFF"/>
                </a:solidFill>
                <a:latin typeface="Courier New"/>
                <a:ea typeface="Courier New"/>
                <a:cs typeface="Courier New"/>
                <a:sym typeface="Courier New"/>
              </a:rPr>
              <a:t>0</a:t>
            </a:r>
            <a:r>
              <a:rPr sz="2027" b="0" i="0">
                <a:solidFill>
                  <a:srgbClr val="FFFFFF"/>
                </a:solidFill>
                <a:latin typeface="Avenir"/>
                <a:ea typeface="Avenir"/>
                <a:cs typeface="Avenir"/>
                <a:sym typeface="Avenir"/>
              </a:rPr>
              <a:t> to the pin. Nothing above this function needs to know that.</a:t>
            </a:r>
          </a:p>
        </p:txBody>
      </p:sp>
      <p:sp>
        <p:nvSpPr>
          <p:cNvPr id="7" name="blk0141"/>
          <p:cNvSpPr/>
          <p:nvPr/>
        </p:nvSpPr>
        <p:spPr>
          <a:xfrm>
            <a:off x="687600" y="5483123"/>
            <a:ext cx="8686800" cy="864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41"/>
          <p:cNvSpPr/>
          <p:nvPr/>
        </p:nvSpPr>
        <p:spPr>
          <a:xfrm>
            <a:off x="885600" y="5846723"/>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41"/>
          <p:cNvSpPr txBox="1"/>
          <p:nvPr/>
        </p:nvSpPr>
        <p:spPr>
          <a:xfrm>
            <a:off x="1162800" y="5627123"/>
            <a:ext cx="7956000" cy="576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The trailing sleep is why the move takes 18 seconds instead of 17.5. It is a settle time — the pump needs a moment to build suction before the arm pulls away.</a:t>
            </a:r>
          </a:p>
        </p:txBody>
      </p:sp>
      <p:sp>
        <p:nvSpPr>
          <p:cNvPr id="10" name="blk0142"/>
          <p:cNvSpPr txBox="1"/>
          <p:nvPr/>
        </p:nvSpPr>
        <p:spPr>
          <a:xfrm>
            <a:off x="687600" y="6455123"/>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function is called four times per move. It is the only piece of shared state in the whole capstone, and it has to be defined before anything that calls it runs.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4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6</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the board reader</a:t>
            </a:r>
          </a:p>
        </p:txBody>
      </p:sp>
      <p:sp>
        <p:nvSpPr>
          <p:cNvPr id="3" name="blk0144"/>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You have written this before. It is here, and this is the whole of it:</a:t>
            </a:r>
          </a:p>
        </p:txBody>
      </p:sp>
      <p:sp>
        <p:nvSpPr>
          <p:cNvPr id="4" name="blk0145"/>
          <p:cNvSpPr/>
          <p:nvPr/>
        </p:nvSpPr>
        <p:spPr>
          <a:xfrm>
            <a:off x="687600" y="2304000"/>
            <a:ext cx="8686800" cy="1051967"/>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45"/>
          <p:cNvSpPr txBox="1"/>
          <p:nvPr/>
        </p:nvSpPr>
        <p:spPr>
          <a:xfrm>
            <a:off x="910799" y="2466000"/>
            <a:ext cx="8240400" cy="727967"/>
          </a:xfrm>
          <a:prstGeom prst="rect">
            <a:avLst/>
          </a:prstGeom>
          <a:noFill/>
        </p:spPr>
        <p:txBody>
          <a:bodyPr wrap="square" anchor="t" lIns="0" rIns="0" tIns="0" bIns="0">
            <a:noAutofit/>
          </a:bodyPr>
          <a:lstStyle/>
          <a:p>
            <a:pPr algn="l">
              <a:lnSpc>
                <a:spcPct val="115000"/>
              </a:lnSpc>
            </a:pPr>
            <a:r>
              <a:rPr sz="1100" b="0" i="0">
                <a:solidFill>
                  <a:srgbClr val="FFFFFF"/>
                </a:solidFill>
                <a:latin typeface="Courier New"/>
                <a:ea typeface="Courier New"/>
                <a:cs typeface="Courier New"/>
                <a:sym typeface="Courier New"/>
              </a:rPr>
              <a:t>def parse_board_state(frame):</a:t>
            </a:r>
          </a:p>
          <a:p>
            <a:pPr algn="l">
              <a:lnSpc>
                <a:spcPct val="115000"/>
              </a:lnSpc>
            </a:pPr>
            <a:r>
              <a:rPr sz="1100" b="0" i="0">
                <a:solidFill>
                  <a:srgbClr val="FFFFFF"/>
                </a:solidFill>
                <a:latin typeface="Courier New"/>
                <a:ea typeface="Courier New"/>
                <a:cs typeface="Courier New"/>
                <a:sym typeface="Courier New"/>
              </a:rPr>
              <a:t>    """Scans all 9 cells and returns 3x3 matrix."""</a:t>
            </a:r>
          </a:p>
          <a:p>
            <a:pPr algn="l">
              <a:lnSpc>
                <a:spcPct val="115000"/>
              </a:lnSpc>
            </a:pPr>
            <a:r>
              <a:rPr sz="1100" b="0" i="0">
                <a:solidFill>
                  <a:srgbClr val="FFFFFF"/>
                </a:solidFill>
                <a:latin typeface="Courier New"/>
                <a:ea typeface="Courier New"/>
                <a:cs typeface="Courier New"/>
                <a:sym typeface="Courier New"/>
              </a:rPr>
              <a:t>    board = [[' ' for _ in range(3)] for _ in range(3)]</a:t>
            </a:r>
          </a:p>
          <a:p>
            <a:pPr algn="l">
              <a:lnSpc>
                <a:spcPct val="115000"/>
              </a:lnSpc>
            </a:pPr>
            <a:r>
              <a:rPr sz="1100" b="0" i="0">
                <a:solidFill>
                  <a:srgbClr val="FFFFFF"/>
                </a:solidFill>
                <a:latin typeface="Courier New"/>
                <a:ea typeface="Courier New"/>
                <a:cs typeface="Courier New"/>
                <a:sym typeface="Courier New"/>
              </a:rPr>
              <a:t>    hsv = cv2.cvtColor(frame, cv2.COLOR_BGR2HSV)</a:t>
            </a:r>
          </a:p>
        </p:txBody>
      </p:sp>
      <p:sp>
        <p:nvSpPr>
          <p:cNvPr id="6" name="blk0146"/>
          <p:cNvSpPr txBox="1"/>
          <p:nvPr/>
        </p:nvSpPr>
        <p:spPr>
          <a:xfrm>
            <a:off x="687600" y="3528000"/>
            <a:ext cx="7542000" cy="4100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One structural difference from Project 7: the colour conversion happens once for the whole frame, before the cells are cut, so each cell is sliced from an already-converted array.</a:t>
            </a:r>
          </a:p>
        </p:txBody>
      </p:sp>
      <p:sp>
        <p:nvSpPr>
          <p:cNvPr id="7" name="blk0147"/>
          <p:cNvSpPr/>
          <p:nvPr/>
        </p:nvSpPr>
        <p:spPr>
          <a:xfrm>
            <a:off x="687600" y="4871659"/>
            <a:ext cx="8686800" cy="588715"/>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47"/>
          <p:cNvSpPr txBox="1"/>
          <p:nvPr/>
        </p:nvSpPr>
        <p:spPr>
          <a:xfrm>
            <a:off x="910799" y="5033659"/>
            <a:ext cx="8240400" cy="264715"/>
          </a:xfrm>
          <a:prstGeom prst="rect">
            <a:avLst/>
          </a:prstGeom>
          <a:noFill/>
        </p:spPr>
        <p:txBody>
          <a:bodyPr wrap="square" anchor="t" lIns="0" rIns="0" tIns="0" bIns="0">
            <a:noAutofit/>
          </a:bodyPr>
          <a:lstStyle/>
          <a:p>
            <a:pPr algn="l">
              <a:lnSpc>
                <a:spcPct val="115000"/>
              </a:lnSpc>
            </a:pPr>
            <a:r>
              <a:rPr sz="800" b="0" i="0">
                <a:solidFill>
                  <a:srgbClr val="FFFFFF"/>
                </a:solidFill>
                <a:latin typeface="Courier New"/>
                <a:ea typeface="Courier New"/>
                <a:cs typeface="Courier New"/>
                <a:sym typeface="Courier New"/>
              </a:rPr>
              <a:t>            m_red = cv2.bitwise_or(cv2.inRange(roi, LOWER_RED1, UPPER_RED1), cv2.inRange(roi, LOWER_RED2, UPPER_RED2))</a:t>
            </a:r>
          </a:p>
          <a:p>
            <a:pPr algn="l">
              <a:lnSpc>
                <a:spcPct val="115000"/>
              </a:lnSpc>
            </a:pPr>
            <a:r>
              <a:rPr sz="800" b="0" i="0">
                <a:solidFill>
                  <a:srgbClr val="FFFFFF"/>
                </a:solidFill>
                <a:latin typeface="Courier New"/>
                <a:ea typeface="Courier New"/>
                <a:cs typeface="Courier New"/>
                <a:sym typeface="Courier New"/>
              </a:rPr>
              <a:t>            m_green = cv2.inRange(roi, LOWER_GREEN, UPPER_GREEN)</a:t>
            </a:r>
          </a:p>
        </p:txBody>
      </p:sp>
      <p:sp>
        <p:nvSpPr>
          <p:cNvPr id="9" name="blk0148"/>
          <p:cNvSpPr txBox="1"/>
          <p:nvPr/>
        </p:nvSpPr>
        <p:spPr>
          <a:xfrm>
            <a:off x="687600" y="5568374"/>
            <a:ext cx="7542000" cy="244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masks, one threshold, two branches — and check the order. Green is tested first, then red, and each branch requires its colour to beat the other as well as beat 800 pixels.</a:t>
            </a:r>
          </a:p>
        </p:txBody>
      </p:sp>
      <p:sp>
        <p:nvSpPr>
          <p:cNvPr id="10" name="blk0149"/>
          <p:cNvSpPr txBox="1"/>
          <p:nvPr/>
        </p:nvSpPr>
        <p:spPr>
          <a:xfrm>
            <a:off x="687600" y="6603118"/>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Note the hard-coded 800. Project 7 named it </a:t>
            </a:r>
            <a:r>
              <a:rPr sz="1419" b="0" i="0">
                <a:solidFill>
                  <a:srgbClr val="FFFFFF"/>
                </a:solidFill>
                <a:latin typeface="Courier New"/>
                <a:ea typeface="Courier New"/>
                <a:cs typeface="Courier New"/>
                <a:sym typeface="Courier New"/>
              </a:rPr>
              <a:t>MIN_PIXELS</a:t>
            </a:r>
            <a:r>
              <a:rPr sz="1650" b="0" i="0">
                <a:solidFill>
                  <a:srgbClr val="FFFFFF"/>
                </a:solidFill>
                <a:latin typeface="Avenir"/>
                <a:ea typeface="Avenir"/>
                <a:cs typeface="Avenir"/>
                <a:sym typeface="Avenir"/>
              </a:rPr>
              <a:t>; here it is a literal in two places. Same value, same cells, same meaning — but a value you have to change in two spots.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50"/>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7</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the AI</a:t>
            </a:r>
          </a:p>
        </p:txBody>
      </p:sp>
      <p:sp>
        <p:nvSpPr>
          <p:cNvPr id="3" name="blk0151"/>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Three priorities, in order. The first is the only interesting one:</a:t>
            </a:r>
          </a:p>
        </p:txBody>
      </p:sp>
      <p:sp>
        <p:nvSpPr>
          <p:cNvPr id="4" name="blk0152"/>
          <p:cNvSpPr/>
          <p:nvPr/>
        </p:nvSpPr>
        <p:spPr>
          <a:xfrm>
            <a:off x="687600" y="2376000"/>
            <a:ext cx="8686800" cy="189574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52"/>
          <p:cNvSpPr txBox="1"/>
          <p:nvPr/>
        </p:nvSpPr>
        <p:spPr>
          <a:xfrm>
            <a:off x="910799" y="2538000"/>
            <a:ext cx="8240400" cy="1571749"/>
          </a:xfrm>
          <a:prstGeom prst="rect">
            <a:avLst/>
          </a:prstGeom>
          <a:noFill/>
        </p:spPr>
        <p:txBody>
          <a:bodyPr wrap="square" anchor="t" lIns="0" rIns="0" tIns="0" bIns="0">
            <a:noAutofit/>
          </a:bodyPr>
          <a:lstStyle/>
          <a:p>
            <a:pPr algn="l">
              <a:lnSpc>
                <a:spcPct val="115000"/>
              </a:lnSpc>
            </a:pPr>
            <a:r>
              <a:rPr sz="950" b="0" i="0">
                <a:solidFill>
                  <a:srgbClr val="FFFFFF"/>
                </a:solidFill>
                <a:latin typeface="Courier New"/>
                <a:ea typeface="Courier New"/>
                <a:cs typeface="Courier New"/>
                <a:sym typeface="Courier New"/>
              </a:rPr>
              <a:t>def find_best_move(board):</a:t>
            </a:r>
          </a:p>
          <a:p>
            <a:pPr algn="l">
              <a:lnSpc>
                <a:spcPct val="115000"/>
              </a:lnSpc>
            </a:pPr>
            <a:r>
              <a:rPr sz="950" b="0" i="0">
                <a:solidFill>
                  <a:srgbClr val="FFFFFF"/>
                </a:solidFill>
                <a:latin typeface="Courier New"/>
                <a:ea typeface="Courier New"/>
                <a:cs typeface="Courier New"/>
                <a:sym typeface="Courier New"/>
              </a:rPr>
              <a:t>    """Calculates AI move: Checks for win, block, or picks first empty space."""</a:t>
            </a:r>
          </a:p>
          <a:p>
            <a:pPr algn="l">
              <a:lnSpc>
                <a:spcPct val="115000"/>
              </a:lnSpc>
            </a:pPr>
            <a:r>
              <a:rPr sz="950" b="0" i="0">
                <a:solidFill>
                  <a:srgbClr val="FFFFFF"/>
                </a:solidFill>
                <a:latin typeface="Courier New"/>
                <a:ea typeface="Courier New"/>
                <a:cs typeface="Courier New"/>
                <a:sym typeface="Courier New"/>
              </a:rPr>
              <a:t>    for player in ['O', 'X']:</a:t>
            </a:r>
          </a:p>
          <a:p>
            <a:pPr algn="l">
              <a:lnSpc>
                <a:spcPct val="115000"/>
              </a:lnSpc>
            </a:pPr>
            <a:r>
              <a:rPr sz="950" b="0" i="0">
                <a:solidFill>
                  <a:srgbClr val="FFFFFF"/>
                </a:solidFill>
                <a:latin typeface="Courier New"/>
                <a:ea typeface="Courier New"/>
                <a:cs typeface="Courier New"/>
                <a:sym typeface="Courier New"/>
              </a:rPr>
              <a:t>        for r in range(3):</a:t>
            </a:r>
          </a:p>
          <a:p>
            <a:pPr algn="l">
              <a:lnSpc>
                <a:spcPct val="115000"/>
              </a:lnSpc>
            </a:pPr>
            <a:r>
              <a:rPr sz="950" b="0" i="0">
                <a:solidFill>
                  <a:srgbClr val="FFFFFF"/>
                </a:solidFill>
                <a:latin typeface="Courier New"/>
                <a:ea typeface="Courier New"/>
                <a:cs typeface="Courier New"/>
                <a:sym typeface="Courier New"/>
              </a:rPr>
              <a:t>            for c in range(3):</a:t>
            </a:r>
          </a:p>
          <a:p>
            <a:pPr algn="l">
              <a:lnSpc>
                <a:spcPct val="115000"/>
              </a:lnSpc>
            </a:pPr>
            <a:r>
              <a:rPr sz="950" b="0" i="0">
                <a:solidFill>
                  <a:srgbClr val="FFFFFF"/>
                </a:solidFill>
                <a:latin typeface="Courier New"/>
                <a:ea typeface="Courier New"/>
                <a:cs typeface="Courier New"/>
                <a:sym typeface="Courier New"/>
              </a:rPr>
              <a:t>                if board[r][c] == ' ':</a:t>
            </a:r>
          </a:p>
          <a:p>
            <a:pPr algn="l">
              <a:lnSpc>
                <a:spcPct val="115000"/>
              </a:lnSpc>
            </a:pPr>
            <a:r>
              <a:rPr sz="950" b="0" i="0">
                <a:solidFill>
                  <a:srgbClr val="FFFFFF"/>
                </a:solidFill>
                <a:latin typeface="Courier New"/>
                <a:ea typeface="Courier New"/>
                <a:cs typeface="Courier New"/>
                <a:sym typeface="Courier New"/>
              </a:rPr>
              <a:t>                    board[r][c] = player</a:t>
            </a:r>
          </a:p>
          <a:p>
            <a:pPr algn="l">
              <a:lnSpc>
                <a:spcPct val="115000"/>
              </a:lnSpc>
            </a:pPr>
            <a:r>
              <a:rPr sz="950" b="0" i="0">
                <a:solidFill>
                  <a:srgbClr val="FFFFFF"/>
                </a:solidFill>
                <a:latin typeface="Courier New"/>
                <a:ea typeface="Courier New"/>
                <a:cs typeface="Courier New"/>
                <a:sym typeface="Courier New"/>
              </a:rPr>
              <a:t>                    if check_winner(board) == player:</a:t>
            </a:r>
          </a:p>
          <a:p>
            <a:pPr algn="l">
              <a:lnSpc>
                <a:spcPct val="115000"/>
              </a:lnSpc>
            </a:pPr>
            <a:r>
              <a:rPr sz="950" b="0" i="0">
                <a:solidFill>
                  <a:srgbClr val="FFFFFF"/>
                </a:solidFill>
                <a:latin typeface="Courier New"/>
                <a:ea typeface="Courier New"/>
                <a:cs typeface="Courier New"/>
                <a:sym typeface="Courier New"/>
              </a:rPr>
              <a:t>                        return (r, c)</a:t>
            </a:r>
          </a:p>
          <a:p>
            <a:pPr algn="l">
              <a:lnSpc>
                <a:spcPct val="115000"/>
              </a:lnSpc>
            </a:pPr>
            <a:r>
              <a:rPr sz="950" b="0" i="0">
                <a:solidFill>
                  <a:srgbClr val="FFFFFF"/>
                </a:solidFill>
                <a:latin typeface="Courier New"/>
                <a:ea typeface="Courier New"/>
                <a:cs typeface="Courier New"/>
                <a:sym typeface="Courier New"/>
              </a:rPr>
              <a:t>                    board[r][c] = ' ' # Undo</a:t>
            </a:r>
          </a:p>
        </p:txBody>
      </p:sp>
      <p:sp>
        <p:nvSpPr>
          <p:cNvPr id="6" name="blk0153"/>
          <p:cNvSpPr txBox="1"/>
          <p:nvPr/>
        </p:nvSpPr>
        <p:spPr>
          <a:xfrm>
            <a:off x="687600" y="4379749"/>
            <a:ext cx="7542000" cy="3740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Try to win as </a:t>
            </a:r>
            <a:r>
              <a:rPr sz="1743" b="0" i="0">
                <a:solidFill>
                  <a:srgbClr val="FFFFFF"/>
                </a:solidFill>
                <a:latin typeface="Courier New"/>
                <a:ea typeface="Courier New"/>
                <a:cs typeface="Courier New"/>
                <a:sym typeface="Courier New"/>
              </a:rPr>
              <a:t>O</a:t>
            </a:r>
            <a:r>
              <a:rPr sz="2027" b="0" i="0">
                <a:solidFill>
                  <a:srgbClr val="FFFFFF"/>
                </a:solidFill>
                <a:latin typeface="Avenir"/>
                <a:ea typeface="Avenir"/>
                <a:cs typeface="Avenir"/>
                <a:sym typeface="Avenir"/>
              </a:rPr>
              <a:t> first. Then, in the same loop, try to win as </a:t>
            </a:r>
            <a:r>
              <a:rPr sz="1743" b="0" i="0">
                <a:solidFill>
                  <a:srgbClr val="FFFFFF"/>
                </a:solidFill>
                <a:latin typeface="Courier New"/>
                <a:ea typeface="Courier New"/>
                <a:cs typeface="Courier New"/>
                <a:sym typeface="Courier New"/>
              </a:rPr>
              <a:t>X</a:t>
            </a:r>
            <a:r>
              <a:rPr sz="2027" b="0" i="0">
                <a:solidFill>
                  <a:srgbClr val="FFFFFF"/>
                </a:solidFill>
                <a:latin typeface="Avenir"/>
                <a:ea typeface="Avenir"/>
                <a:cs typeface="Avenir"/>
                <a:sym typeface="Avenir"/>
              </a:rPr>
              <a:t> — and since the human winning is the robot blocking, the second pass is the block. Undo every trial that fails.</a:t>
            </a:r>
          </a:p>
        </p:txBody>
      </p:sp>
      <p:sp>
        <p:nvSpPr>
          <p:cNvPr id="7" name="blk0154"/>
          <p:cNvSpPr/>
          <p:nvPr/>
        </p:nvSpPr>
        <p:spPr>
          <a:xfrm>
            <a:off x="687600" y="5414493"/>
            <a:ext cx="8686800" cy="131328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54"/>
          <p:cNvSpPr/>
          <p:nvPr/>
        </p:nvSpPr>
        <p:spPr>
          <a:xfrm>
            <a:off x="885600" y="6002733"/>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54"/>
          <p:cNvSpPr txBox="1"/>
          <p:nvPr/>
        </p:nvSpPr>
        <p:spPr>
          <a:xfrm>
            <a:off x="1162800" y="5558493"/>
            <a:ext cx="7956000" cy="102528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It mutates the board you hand it, and undoes the trial only when the trial fails. On the move it returns, that cell keeps its value. It does not matter today because the board is re-read from the camera on the next frame — but this function is not safe to call twice on one board.</a:t>
            </a:r>
          </a:p>
        </p:txBody>
      </p:sp>
      <p:sp>
        <p:nvSpPr>
          <p:cNvPr id="10" name="blk0155"/>
          <p:cNvSpPr txBox="1"/>
          <p:nvPr/>
        </p:nvSpPr>
        <p:spPr>
          <a:xfrm>
            <a:off x="687600" y="6835773"/>
            <a:ext cx="7542000" cy="648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Nine empty cells, nine winner tests, two passes. Still under a millisecond, and it only runs when someone presses space.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5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8</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the winner test</a:t>
            </a:r>
          </a:p>
        </p:txBody>
      </p:sp>
      <p:sp>
        <p:nvSpPr>
          <p:cNvPr id="3" name="blk015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Eight lines, one loop, two diagonals. This is the function the AI calls nine times per pass:</a:t>
            </a:r>
          </a:p>
        </p:txBody>
      </p:sp>
      <p:sp>
        <p:nvSpPr>
          <p:cNvPr id="4" name="blk0158"/>
          <p:cNvSpPr/>
          <p:nvPr/>
        </p:nvSpPr>
        <p:spPr>
          <a:xfrm>
            <a:off x="687600" y="2448000"/>
            <a:ext cx="8686800" cy="1713757"/>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58"/>
          <p:cNvSpPr txBox="1"/>
          <p:nvPr/>
        </p:nvSpPr>
        <p:spPr>
          <a:xfrm>
            <a:off x="910799" y="2610000"/>
            <a:ext cx="8240400" cy="1389757"/>
          </a:xfrm>
          <a:prstGeom prst="rect">
            <a:avLst/>
          </a:prstGeom>
          <a:noFill/>
        </p:spPr>
        <p:txBody>
          <a:bodyPr wrap="square" anchor="t" lIns="0" rIns="0" tIns="0" bIns="0">
            <a:noAutofit/>
          </a:bodyPr>
          <a:lstStyle/>
          <a:p>
            <a:pPr algn="l">
              <a:lnSpc>
                <a:spcPct val="115000"/>
              </a:lnSpc>
            </a:pPr>
            <a:r>
              <a:rPr sz="1050" b="0" i="0">
                <a:solidFill>
                  <a:srgbClr val="FFFFFF"/>
                </a:solidFill>
                <a:latin typeface="Courier New"/>
                <a:ea typeface="Courier New"/>
                <a:cs typeface="Courier New"/>
                <a:sym typeface="Courier New"/>
              </a:rPr>
              <a:t>def check_winner(b):</a:t>
            </a:r>
          </a:p>
          <a:p>
            <a:pPr algn="l">
              <a:lnSpc>
                <a:spcPct val="115000"/>
              </a:lnSpc>
            </a:pPr>
            <a:r>
              <a:rPr sz="1050" b="0" i="0">
                <a:solidFill>
                  <a:srgbClr val="FFFFFF"/>
                </a:solidFill>
                <a:latin typeface="Courier New"/>
                <a:ea typeface="Courier New"/>
                <a:cs typeface="Courier New"/>
                <a:sym typeface="Courier New"/>
              </a:rPr>
              <a:t>    """Checks for 3-in-a-row winning conditions."""</a:t>
            </a:r>
          </a:p>
          <a:p>
            <a:pPr algn="l">
              <a:lnSpc>
                <a:spcPct val="115000"/>
              </a:lnSpc>
            </a:pPr>
            <a:r>
              <a:rPr sz="1050" b="0" i="0">
                <a:solidFill>
                  <a:srgbClr val="FFFFFF"/>
                </a:solidFill>
                <a:latin typeface="Courier New"/>
                <a:ea typeface="Courier New"/>
                <a:cs typeface="Courier New"/>
                <a:sym typeface="Courier New"/>
              </a:rPr>
              <a:t>    for i in range(3):</a:t>
            </a:r>
          </a:p>
          <a:p>
            <a:pPr algn="l">
              <a:lnSpc>
                <a:spcPct val="115000"/>
              </a:lnSpc>
            </a:pPr>
            <a:r>
              <a:rPr sz="1050" b="0" i="0">
                <a:solidFill>
                  <a:srgbClr val="FFFFFF"/>
                </a:solidFill>
                <a:latin typeface="Courier New"/>
                <a:ea typeface="Courier New"/>
                <a:cs typeface="Courier New"/>
                <a:sym typeface="Courier New"/>
              </a:rPr>
              <a:t>        if b[i][0] == b[i][1] == b[i][2] != ' ': return b[i][0]</a:t>
            </a:r>
          </a:p>
          <a:p>
            <a:pPr algn="l">
              <a:lnSpc>
                <a:spcPct val="115000"/>
              </a:lnSpc>
            </a:pPr>
            <a:r>
              <a:rPr sz="1050" b="0" i="0">
                <a:solidFill>
                  <a:srgbClr val="FFFFFF"/>
                </a:solidFill>
                <a:latin typeface="Courier New"/>
                <a:ea typeface="Courier New"/>
                <a:cs typeface="Courier New"/>
                <a:sym typeface="Courier New"/>
              </a:rPr>
              <a:t>        if b[0][i] == b[1][i] == b[2][i] != ' ': return b[0][i]</a:t>
            </a:r>
          </a:p>
          <a:p>
            <a:pPr algn="l">
              <a:lnSpc>
                <a:spcPct val="115000"/>
              </a:lnSpc>
            </a:pPr>
            <a:r>
              <a:rPr sz="1050" b="0" i="0">
                <a:solidFill>
                  <a:srgbClr val="FFFFFF"/>
                </a:solidFill>
                <a:latin typeface="Courier New"/>
                <a:ea typeface="Courier New"/>
                <a:cs typeface="Courier New"/>
                <a:sym typeface="Courier New"/>
              </a:rPr>
              <a:t>    if b[0][0] == b[1][1] == b[2][2] != ' ': return b[0][0]</a:t>
            </a:r>
          </a:p>
          <a:p>
            <a:pPr algn="l">
              <a:lnSpc>
                <a:spcPct val="115000"/>
              </a:lnSpc>
            </a:pPr>
            <a:r>
              <a:rPr sz="1050" b="0" i="0">
                <a:solidFill>
                  <a:srgbClr val="FFFFFF"/>
                </a:solidFill>
                <a:latin typeface="Courier New"/>
                <a:ea typeface="Courier New"/>
                <a:cs typeface="Courier New"/>
                <a:sym typeface="Courier New"/>
              </a:rPr>
              <a:t>    if b[0][2] == b[1][1] == b[2][0] != ' ': return b[0][2]</a:t>
            </a:r>
          </a:p>
          <a:p>
            <a:pPr algn="l">
              <a:lnSpc>
                <a:spcPct val="115000"/>
              </a:lnSpc>
            </a:pPr>
            <a:r>
              <a:rPr sz="1050" b="0" i="0">
                <a:solidFill>
                  <a:srgbClr val="FFFFFF"/>
                </a:solidFill>
                <a:latin typeface="Courier New"/>
                <a:ea typeface="Courier New"/>
                <a:cs typeface="Courier New"/>
                <a:sym typeface="Courier New"/>
              </a:rPr>
              <a:t>    return None</a:t>
            </a:r>
          </a:p>
        </p:txBody>
      </p:sp>
      <p:sp>
        <p:nvSpPr>
          <p:cNvPr id="6" name="blk0159"/>
          <p:cNvSpPr txBox="1"/>
          <p:nvPr/>
        </p:nvSpPr>
        <p:spPr>
          <a:xfrm>
            <a:off x="687600" y="4269757"/>
            <a:ext cx="7542000" cy="352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one is called every single frame, not just on a keypress. That is nine cells to parse and eight lines to check, at whatever rate the camera delivers — and it still has time left over.</a:t>
            </a:r>
          </a:p>
        </p:txBody>
      </p:sp>
      <p:sp>
        <p:nvSpPr>
          <p:cNvPr id="7" name="blk0160"/>
          <p:cNvSpPr/>
          <p:nvPr/>
        </p:nvSpPr>
        <p:spPr>
          <a:xfrm>
            <a:off x="687600" y="5613416"/>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60"/>
          <p:cNvSpPr/>
          <p:nvPr/>
        </p:nvSpPr>
        <p:spPr>
          <a:xfrm>
            <a:off x="885600" y="6064496"/>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60"/>
          <p:cNvSpPr txBox="1"/>
          <p:nvPr/>
        </p:nvSpPr>
        <p:spPr>
          <a:xfrm>
            <a:off x="1162800" y="5757416"/>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It is also the function that makes the game end honestly. Because it runs every frame, a win is detected the moment the ninth token lands — you never have to press anything to find out you won.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6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9</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pick and place</a:t>
            </a:r>
          </a:p>
        </p:txBody>
      </p:sp>
      <p:sp>
        <p:nvSpPr>
          <p:cNvPr id="3" name="blk016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longest function in the module, and it is almost all </a:t>
            </a:r>
            <a:r>
              <a:rPr sz="1743" b="0" i="0">
                <a:solidFill>
                  <a:srgbClr val="FFFFFF"/>
                </a:solidFill>
                <a:latin typeface="Courier New"/>
                <a:ea typeface="Courier New"/>
                <a:cs typeface="Courier New"/>
                <a:sym typeface="Courier New"/>
              </a:rPr>
              <a:t>send_coords</a:t>
            </a:r>
            <a:r>
              <a:rPr sz="2027" b="0" i="0">
                <a:solidFill>
                  <a:srgbClr val="FFFFFF"/>
                </a:solidFill>
                <a:latin typeface="Avenir"/>
                <a:ea typeface="Avenir"/>
                <a:cs typeface="Avenir"/>
                <a:sym typeface="Avenir"/>
              </a:rPr>
              <a:t> and </a:t>
            </a:r>
            <a:r>
              <a:rPr sz="1743" b="0" i="0">
                <a:solidFill>
                  <a:srgbClr val="FFFFFF"/>
                </a:solidFill>
                <a:latin typeface="Courier New"/>
                <a:ea typeface="Courier New"/>
                <a:cs typeface="Courier New"/>
                <a:sym typeface="Courier New"/>
              </a:rPr>
              <a:t>time.sleep</a:t>
            </a:r>
            <a:r>
              <a:rPr sz="2027" b="0" i="0">
                <a:solidFill>
                  <a:srgbClr val="FFFFFF"/>
                </a:solidFill>
                <a:latin typeface="Avenir"/>
                <a:ea typeface="Avenir"/>
                <a:cs typeface="Avenir"/>
                <a:sym typeface="Avenir"/>
              </a:rPr>
              <a:t>.</a:t>
            </a:r>
          </a:p>
        </p:txBody>
      </p:sp>
      <p:sp>
        <p:nvSpPr>
          <p:cNvPr id="4" name="blk0163"/>
          <p:cNvSpPr/>
          <p:nvPr/>
        </p:nvSpPr>
        <p:spPr>
          <a:xfrm>
            <a:off x="687600" y="2304000"/>
            <a:ext cx="8686800" cy="1217415"/>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63"/>
          <p:cNvSpPr txBox="1"/>
          <p:nvPr/>
        </p:nvSpPr>
        <p:spPr>
          <a:xfrm>
            <a:off x="910799" y="2466000"/>
            <a:ext cx="8240400" cy="893415"/>
          </a:xfrm>
          <a:prstGeom prst="rect">
            <a:avLst/>
          </a:prstGeom>
          <a:noFill/>
        </p:spPr>
        <p:txBody>
          <a:bodyPr wrap="square" anchor="t" lIns="0" rIns="0" tIns="0" bIns="0">
            <a:noAutofit/>
          </a:bodyPr>
          <a:lstStyle/>
          <a:p>
            <a:pPr algn="l">
              <a:lnSpc>
                <a:spcPct val="115000"/>
              </a:lnSpc>
            </a:pPr>
            <a:r>
              <a:rPr sz="900" b="0" i="0">
                <a:solidFill>
                  <a:srgbClr val="FFFFFF"/>
                </a:solidFill>
                <a:latin typeface="Courier New"/>
                <a:ea typeface="Courier New"/>
                <a:cs typeface="Courier New"/>
                <a:sym typeface="Courier New"/>
              </a:rPr>
              <a:t>def execute_robot_move(target_cell):</a:t>
            </a:r>
          </a:p>
          <a:p>
            <a:pPr algn="l">
              <a:lnSpc>
                <a:spcPct val="115000"/>
              </a:lnSpc>
            </a:pPr>
            <a:r>
              <a:rPr sz="900" b="0" i="0">
                <a:solidFill>
                  <a:srgbClr val="FFFFFF"/>
                </a:solidFill>
                <a:latin typeface="Courier New"/>
                <a:ea typeface="Courier New"/>
                <a:cs typeface="Courier New"/>
                <a:sym typeface="Courier New"/>
              </a:rPr>
              <a:t>    """Executes pick-and-place sequence to place an 'O' token at target grid cell."""</a:t>
            </a:r>
          </a:p>
          <a:p>
            <a:pPr algn="l">
              <a:lnSpc>
                <a:spcPct val="115000"/>
              </a:lnSpc>
            </a:pPr>
            <a:r>
              <a:rPr sz="900" b="0" i="0">
                <a:solidFill>
                  <a:srgbClr val="FFFFFF"/>
                </a:solidFill>
                <a:latin typeface="Courier New"/>
                <a:ea typeface="Courier New"/>
                <a:cs typeface="Courier New"/>
                <a:sym typeface="Courier New"/>
              </a:rPr>
              <a:t>    global POS_HOME_CARTESIAN, tokens_picked</a:t>
            </a:r>
          </a:p>
          <a:p>
            <a:pPr algn="l">
              <a:lnSpc>
                <a:spcPct val="115000"/>
              </a:lnSpc>
            </a:pPr>
            <a:r>
              <a:rPr sz="900" b="0" i="0">
                <a:solidFill>
                  <a:srgbClr val="FFFFFF"/>
                </a:solidFill>
                <a:latin typeface="Courier New"/>
                <a:ea typeface="Courier New"/>
                <a:cs typeface="Courier New"/>
                <a:sym typeface="Courier New"/>
              </a:rPr>
              <a:t>    row, col = target_cell</a:t>
            </a:r>
          </a:p>
          <a:p>
            <a:pPr algn="l">
              <a:lnSpc>
                <a:spcPct val="115000"/>
              </a:lnSpc>
            </a:pPr>
            <a:r>
              <a:rPr sz="900" b="0" i="0">
                <a:solidFill>
                  <a:srgbClr val="FFFFFF"/>
                </a:solidFill>
                <a:latin typeface="Courier New"/>
                <a:ea typeface="Courier New"/>
                <a:cs typeface="Courier New"/>
                <a:sym typeface="Courier New"/>
              </a:rPr>
              <a:t>    target_coords = CELL_COORDS[(row, col)]</a:t>
            </a:r>
          </a:p>
          <a:p>
            <a:pPr algn="l">
              <a:lnSpc>
                <a:spcPct val="115000"/>
              </a:lnSpc>
            </a:pPr>
            <a:r>
              <a:rPr sz="900" b="0" i="0">
                <a:solidFill>
                  <a:srgbClr val="FFFFFF"/>
                </a:solidFill>
                <a:latin typeface="Courier New"/>
                <a:ea typeface="Courier New"/>
                <a:cs typeface="Courier New"/>
                <a:sym typeface="Courier New"/>
              </a:rPr>
              <a:t>    target_x, target_y, target_z = target_coords[0], target_coords[1], target_coords[2]</a:t>
            </a:r>
          </a:p>
        </p:txBody>
      </p:sp>
      <p:sp>
        <p:nvSpPr>
          <p:cNvPr id="6" name="blk0164"/>
          <p:cNvSpPr/>
          <p:nvPr/>
        </p:nvSpPr>
        <p:spPr>
          <a:xfrm>
            <a:off x="687600" y="3629415"/>
            <a:ext cx="8686800" cy="91961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164"/>
          <p:cNvSpPr txBox="1"/>
          <p:nvPr/>
        </p:nvSpPr>
        <p:spPr>
          <a:xfrm>
            <a:off x="910799" y="3791414"/>
            <a:ext cx="8240400" cy="595610"/>
          </a:xfrm>
          <a:prstGeom prst="rect">
            <a:avLst/>
          </a:prstGeom>
          <a:noFill/>
        </p:spPr>
        <p:txBody>
          <a:bodyPr wrap="square" anchor="t" lIns="0" rIns="0" tIns="0" bIns="0">
            <a:noAutofit/>
          </a:bodyPr>
          <a:lstStyle/>
          <a:p>
            <a:pPr algn="l">
              <a:lnSpc>
                <a:spcPct val="115000"/>
              </a:lnSpc>
            </a:pPr>
            <a:r>
              <a:rPr sz="900" b="0" i="0">
                <a:solidFill>
                  <a:srgbClr val="FFFFFF"/>
                </a:solidFill>
                <a:latin typeface="Courier New"/>
                <a:ea typeface="Courier New"/>
                <a:cs typeface="Courier New"/>
                <a:sym typeface="Courier New"/>
              </a:rPr>
              <a:t>    supply_z = POS_TOKEN_SUPPLY_BASE[2] - (tokens_picked * TOKEN_HEIGHT)</a:t>
            </a:r>
          </a:p>
          <a:p>
            <a:pPr algn="l">
              <a:lnSpc>
                <a:spcPct val="115000"/>
              </a:lnSpc>
            </a:pPr>
            <a:r>
              <a:rPr sz="900" b="0" i="0">
                <a:solidFill>
                  <a:srgbClr val="FFFFFF"/>
                </a:solidFill>
                <a:latin typeface="Courier New"/>
                <a:ea typeface="Courier New"/>
                <a:cs typeface="Courier New"/>
                <a:sym typeface="Courier New"/>
              </a:rPr>
              <a:t>    pos_token_supply = POS_TOKEN_SUPPLY_BASE.copy()</a:t>
            </a:r>
          </a:p>
          <a:p>
            <a:pPr algn="l">
              <a:lnSpc>
                <a:spcPct val="115000"/>
              </a:lnSpc>
            </a:pPr>
            <a:r>
              <a:rPr sz="900" b="0" i="0">
                <a:solidFill>
                  <a:srgbClr val="FFFFFF"/>
                </a:solidFill>
                <a:latin typeface="Courier New"/>
                <a:ea typeface="Courier New"/>
                <a:cs typeface="Courier New"/>
                <a:sym typeface="Courier New"/>
              </a:rPr>
              <a:t>    pos_token_supply[2] = supply_z</a:t>
            </a:r>
          </a:p>
          <a:p>
            <a:pPr algn="l">
              <a:lnSpc>
                <a:spcPct val="115000"/>
              </a:lnSpc>
            </a:pPr>
            <a:r>
              <a:rPr sz="900" b="0" i="0">
                <a:solidFill>
                  <a:srgbClr val="FFFFFF"/>
                </a:solidFill>
                <a:latin typeface="Courier New"/>
                <a:ea typeface="Courier New"/>
                <a:cs typeface="Courier New"/>
                <a:sym typeface="Courier New"/>
              </a:rPr>
              <a:t>    mc.send_coords(POS_TOKEN_HOVER, ARM_SPEED, 0)</a:t>
            </a:r>
          </a:p>
        </p:txBody>
      </p:sp>
      <p:sp>
        <p:nvSpPr>
          <p:cNvPr id="8" name="blk0165"/>
          <p:cNvSpPr txBox="1"/>
          <p:nvPr/>
        </p:nvSpPr>
        <p:spPr>
          <a:xfrm>
            <a:off x="687600" y="4657025"/>
            <a:ext cx="7542000" cy="316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Drop into the rack, pick, carry to the cell, lower, release, go home. The </a:t>
            </a:r>
            <a:r>
              <a:rPr sz="1743" b="0" i="0">
                <a:solidFill>
                  <a:srgbClr val="FFFFFF"/>
                </a:solidFill>
                <a:latin typeface="Courier New"/>
                <a:ea typeface="Courier New"/>
                <a:cs typeface="Courier New"/>
                <a:sym typeface="Courier New"/>
              </a:rPr>
              <a:t>tokens_picked * TOKEN_HEIGHT</a:t>
            </a:r>
            <a:r>
              <a:rPr sz="2027" b="0" i="0">
                <a:solidFill>
                  <a:srgbClr val="FFFFFF"/>
                </a:solidFill>
                <a:latin typeface="Avenir"/>
                <a:ea typeface="Avenir"/>
                <a:cs typeface="Avenir"/>
                <a:sym typeface="Avenir"/>
              </a:rPr>
              <a:t> part is how the rack lowers five millimetres per token.</a:t>
            </a:r>
          </a:p>
        </p:txBody>
      </p:sp>
      <p:sp>
        <p:nvSpPr>
          <p:cNvPr id="9" name="blk0166"/>
          <p:cNvSpPr/>
          <p:nvPr/>
        </p:nvSpPr>
        <p:spPr>
          <a:xfrm>
            <a:off x="687600" y="5691769"/>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166"/>
          <p:cNvSpPr/>
          <p:nvPr/>
        </p:nvSpPr>
        <p:spPr>
          <a:xfrm>
            <a:off x="885600" y="6142849"/>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166"/>
          <p:cNvSpPr txBox="1"/>
          <p:nvPr/>
        </p:nvSpPr>
        <p:spPr>
          <a:xfrm>
            <a:off x="1162800" y="5835769"/>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This is the function that moves hardware. Everything else in the project is arithmetic and image processing. If this one is wrong, something is about to be dropped, or scraped, or both.</a:t>
            </a:r>
          </a:p>
        </p:txBody>
      </p:sp>
      <p:sp>
        <p:nvSpPr>
          <p:cNvPr id="12" name="blk0167"/>
          <p:cNvSpPr txBox="1"/>
          <p:nvPr/>
        </p:nvSpPr>
        <p:spPr>
          <a:xfrm>
            <a:off x="687600" y="6838728"/>
            <a:ext cx="7542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Two globals is not a design choice anyone would make twice. It is readable here because there are exactly two and both are declared in one line.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68"/>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10</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open the camera</a:t>
            </a:r>
          </a:p>
        </p:txBody>
      </p:sp>
      <p:sp>
        <p:nvSpPr>
          <p:cNvPr id="3" name="blk0169"/>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Identical to Project 7. This is the point in the file where the vision half and the hardware half meet:</a:t>
            </a:r>
          </a:p>
        </p:txBody>
      </p:sp>
      <p:sp>
        <p:nvSpPr>
          <p:cNvPr id="4" name="blk0170"/>
          <p:cNvSpPr/>
          <p:nvPr/>
        </p:nvSpPr>
        <p:spPr>
          <a:xfrm>
            <a:off x="687600" y="2376000"/>
            <a:ext cx="8686800" cy="99406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70"/>
          <p:cNvSpPr txBox="1"/>
          <p:nvPr/>
        </p:nvSpPr>
        <p:spPr>
          <a:xfrm>
            <a:off x="910799" y="2538000"/>
            <a:ext cx="8240400" cy="670061"/>
          </a:xfrm>
          <a:prstGeom prst="rect">
            <a:avLst/>
          </a:prstGeom>
          <a:noFill/>
        </p:spPr>
        <p:txBody>
          <a:bodyPr wrap="square" anchor="t" lIns="0" rIns="0" tIns="0" bIns="0">
            <a:noAutofit/>
          </a:bodyPr>
          <a:lstStyle/>
          <a:p>
            <a:pPr algn="l">
              <a:lnSpc>
                <a:spcPct val="115000"/>
              </a:lnSpc>
            </a:pPr>
            <a:r>
              <a:rPr sz="1350" b="0" i="0">
                <a:solidFill>
                  <a:srgbClr val="FFFFFF"/>
                </a:solidFill>
                <a:latin typeface="Courier New"/>
                <a:ea typeface="Courier New"/>
                <a:cs typeface="Courier New"/>
                <a:sym typeface="Courier New"/>
              </a:rPr>
              <a:t>cap = cv2.VideoCapture(0)</a:t>
            </a:r>
          </a:p>
          <a:p>
            <a:pPr algn="l">
              <a:lnSpc>
                <a:spcPct val="115000"/>
              </a:lnSpc>
            </a:pPr>
            <a:r>
              <a:rPr sz="1350" b="0" i="0">
                <a:solidFill>
                  <a:srgbClr val="FFFFFF"/>
                </a:solidFill>
                <a:latin typeface="Courier New"/>
                <a:ea typeface="Courier New"/>
                <a:cs typeface="Courier New"/>
                <a:sym typeface="Courier New"/>
              </a:rPr>
              <a:t>cap.set(cv2.CAP_PROP_FRAME_WIDTH, 640)</a:t>
            </a:r>
          </a:p>
          <a:p>
            <a:pPr algn="l">
              <a:lnSpc>
                <a:spcPct val="115000"/>
              </a:lnSpc>
            </a:pPr>
            <a:r>
              <a:rPr sz="1350" b="0" i="0">
                <a:solidFill>
                  <a:srgbClr val="FFFFFF"/>
                </a:solidFill>
                <a:latin typeface="Courier New"/>
                <a:ea typeface="Courier New"/>
                <a:cs typeface="Courier New"/>
                <a:sym typeface="Courier New"/>
              </a:rPr>
              <a:t>cap.set(cv2.CAP_PROP_FRAME_HEIGHT, 480)</a:t>
            </a:r>
          </a:p>
        </p:txBody>
      </p:sp>
      <p:sp>
        <p:nvSpPr>
          <p:cNvPr id="6" name="blk0171"/>
          <p:cNvSpPr txBox="1"/>
          <p:nvPr/>
        </p:nvSpPr>
        <p:spPr>
          <a:xfrm>
            <a:off x="687600" y="3600000"/>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Read the section header above it: </a:t>
            </a:r>
            <a:r>
              <a:rPr sz="1419" b="0" i="0">
                <a:solidFill>
                  <a:srgbClr val="FFFFFF"/>
                </a:solidFill>
                <a:latin typeface="Courier New"/>
                <a:ea typeface="Courier New"/>
                <a:cs typeface="Courier New"/>
                <a:sym typeface="Courier New"/>
              </a:rPr>
              <a:t>3. MAIN GAME LOOP</a:t>
            </a:r>
            <a:r>
              <a:rPr sz="1650" b="0" i="0">
                <a:solidFill>
                  <a:srgbClr val="FFFFFF"/>
                </a:solidFill>
                <a:latin typeface="Avenir"/>
                <a:ea typeface="Avenir"/>
                <a:cs typeface="Avenir"/>
                <a:sym typeface="Avenir"/>
              </a:rPr>
              <a:t>, not "calibration". Everything from here down happens while the loop is running, which is why the camera is opened second and not first.</a:t>
            </a:r>
          </a:p>
        </p:txBody>
      </p:sp>
      <p:sp>
        <p:nvSpPr>
          <p:cNvPr id="7" name="blk0172"/>
          <p:cNvSpPr/>
          <p:nvPr/>
        </p:nvSpPr>
        <p:spPr>
          <a:xfrm>
            <a:off x="687600" y="482400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72"/>
          <p:cNvSpPr/>
          <p:nvPr/>
        </p:nvSpPr>
        <p:spPr>
          <a:xfrm>
            <a:off x="885600" y="527508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72"/>
          <p:cNvSpPr txBox="1"/>
          <p:nvPr/>
        </p:nvSpPr>
        <p:spPr>
          <a:xfrm>
            <a:off x="1162800" y="4968000"/>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Between the calibration and this line sit five function definitions and the arm moving home. The camera is the last thing initialised so that the arm is already out of the way when the first frame is read.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7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Also in the loop</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what you see</a:t>
            </a:r>
          </a:p>
        </p:txBody>
      </p:sp>
      <p:sp>
        <p:nvSpPr>
          <p:cNvPr id="3" name="blk0174"/>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Given code, but it is the part that makes the output readable. A white box per cell, then a letter inside it:</a:t>
            </a:r>
          </a:p>
        </p:txBody>
      </p:sp>
      <p:sp>
        <p:nvSpPr>
          <p:cNvPr id="4" name="blk0175"/>
          <p:cNvSpPr/>
          <p:nvPr/>
        </p:nvSpPr>
        <p:spPr>
          <a:xfrm>
            <a:off x="687600" y="2376000"/>
            <a:ext cx="8686800" cy="116778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75"/>
          <p:cNvSpPr txBox="1"/>
          <p:nvPr/>
        </p:nvSpPr>
        <p:spPr>
          <a:xfrm>
            <a:off x="910799" y="2538000"/>
            <a:ext cx="8240400" cy="843781"/>
          </a:xfrm>
          <a:prstGeom prst="rect">
            <a:avLst/>
          </a:prstGeom>
          <a:noFill/>
        </p:spPr>
        <p:txBody>
          <a:bodyPr wrap="square" anchor="t" lIns="0" rIns="0" tIns="0" bIns="0">
            <a:noAutofit/>
          </a:bodyPr>
          <a:lstStyle/>
          <a:p>
            <a:pPr algn="l">
              <a:lnSpc>
                <a:spcPct val="115000"/>
              </a:lnSpc>
            </a:pPr>
            <a:r>
              <a:rPr sz="850" b="0" i="0">
                <a:solidFill>
                  <a:srgbClr val="FFFFFF"/>
                </a:solidFill>
                <a:latin typeface="Courier New"/>
                <a:ea typeface="Courier New"/>
                <a:cs typeface="Courier New"/>
                <a:sym typeface="Courier New"/>
              </a:rPr>
              <a:t>        # Draw grid overlay</a:t>
            </a:r>
          </a:p>
          <a:p>
            <a:pPr algn="l">
              <a:lnSpc>
                <a:spcPct val="115000"/>
              </a:lnSpc>
            </a:pPr>
            <a:r>
              <a:rPr sz="850" b="0" i="0">
                <a:solidFill>
                  <a:srgbClr val="FFFFFF"/>
                </a:solidFill>
                <a:latin typeface="Courier New"/>
                <a:ea typeface="Courier New"/>
                <a:cs typeface="Courier New"/>
                <a:sym typeface="Courier New"/>
              </a:rPr>
              <a:t>        for r in range(3):</a:t>
            </a:r>
          </a:p>
          <a:p>
            <a:pPr algn="l">
              <a:lnSpc>
                <a:spcPct val="115000"/>
              </a:lnSpc>
            </a:pPr>
            <a:r>
              <a:rPr sz="850" b="0" i="0">
                <a:solidFill>
                  <a:srgbClr val="FFFFFF"/>
                </a:solidFill>
                <a:latin typeface="Courier New"/>
                <a:ea typeface="Courier New"/>
                <a:cs typeface="Courier New"/>
                <a:sym typeface="Courier New"/>
              </a:rPr>
              <a:t>            for c in range(3):</a:t>
            </a:r>
          </a:p>
          <a:p>
            <a:pPr algn="l">
              <a:lnSpc>
                <a:spcPct val="115000"/>
              </a:lnSpc>
            </a:pPr>
            <a:r>
              <a:rPr sz="850" b="0" i="0">
                <a:solidFill>
                  <a:srgbClr val="FFFFFF"/>
                </a:solidFill>
                <a:latin typeface="Courier New"/>
                <a:ea typeface="Courier New"/>
                <a:cs typeface="Courier New"/>
                <a:sym typeface="Courier New"/>
              </a:rPr>
              <a:t>                x1 = GRID_X_MIN + c * CELL_W</a:t>
            </a:r>
          </a:p>
          <a:p>
            <a:pPr algn="l">
              <a:lnSpc>
                <a:spcPct val="115000"/>
              </a:lnSpc>
            </a:pPr>
            <a:r>
              <a:rPr sz="850" b="0" i="0">
                <a:solidFill>
                  <a:srgbClr val="FFFFFF"/>
                </a:solidFill>
                <a:latin typeface="Courier New"/>
                <a:ea typeface="Courier New"/>
                <a:cs typeface="Courier New"/>
                <a:sym typeface="Courier New"/>
              </a:rPr>
              <a:t>                y1 = GRID_Y_MIN + r * CELL_H</a:t>
            </a:r>
          </a:p>
          <a:p>
            <a:pPr algn="l">
              <a:lnSpc>
                <a:spcPct val="115000"/>
              </a:lnSpc>
            </a:pPr>
            <a:r>
              <a:rPr sz="850" b="0" i="0">
                <a:solidFill>
                  <a:srgbClr val="FFFFFF"/>
                </a:solidFill>
                <a:latin typeface="Courier New"/>
                <a:ea typeface="Courier New"/>
                <a:cs typeface="Courier New"/>
                <a:sym typeface="Courier New"/>
              </a:rPr>
              <a:t>                cv2.rectangle(frame, (x1, y1), (x1 + CELL_W, y1 + CELL_H), (255, 255, 255), 2)</a:t>
            </a:r>
          </a:p>
        </p:txBody>
      </p:sp>
      <p:sp>
        <p:nvSpPr>
          <p:cNvPr id="6" name="blk0176"/>
          <p:cNvSpPr txBox="1"/>
          <p:nvPr/>
        </p:nvSpPr>
        <p:spPr>
          <a:xfrm>
            <a:off x="687600" y="3816000"/>
            <a:ext cx="7542000" cy="381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same arithmetic as </a:t>
            </a:r>
            <a:r>
              <a:rPr sz="1743" b="0" i="0">
                <a:solidFill>
                  <a:srgbClr val="FFFFFF"/>
                </a:solidFill>
                <a:latin typeface="Courier New"/>
                <a:ea typeface="Courier New"/>
                <a:cs typeface="Courier New"/>
                <a:sym typeface="Courier New"/>
              </a:rPr>
              <a:t>parse_board_state</a:t>
            </a:r>
            <a:r>
              <a:rPr sz="2027" b="0" i="0">
                <a:solidFill>
                  <a:srgbClr val="FFFFFF"/>
                </a:solidFill>
                <a:latin typeface="Avenir"/>
                <a:ea typeface="Avenir"/>
                <a:cs typeface="Avenir"/>
                <a:sym typeface="Avenir"/>
              </a:rPr>
              <a:t>, reading the same constants. If the overlay and the reader ever disagree, you have your bug — and they cannot disagree, because both use </a:t>
            </a:r>
            <a:r>
              <a:rPr sz="1743" b="0" i="0">
                <a:solidFill>
                  <a:srgbClr val="FFFFFF"/>
                </a:solidFill>
                <a:latin typeface="Courier New"/>
                <a:ea typeface="Courier New"/>
                <a:cs typeface="Courier New"/>
                <a:sym typeface="Courier New"/>
              </a:rPr>
              <a:t>GRID_X_MIN</a:t>
            </a:r>
            <a:r>
              <a:rPr sz="2027" b="0" i="0">
                <a:solidFill>
                  <a:srgbClr val="FFFFFF"/>
                </a:solidFill>
                <a:latin typeface="Avenir"/>
                <a:ea typeface="Avenir"/>
                <a:cs typeface="Avenir"/>
                <a:sym typeface="Avenir"/>
              </a:rPr>
              <a:t> and </a:t>
            </a:r>
            <a:r>
              <a:rPr sz="1743" b="0" i="0">
                <a:solidFill>
                  <a:srgbClr val="FFFFFF"/>
                </a:solidFill>
                <a:latin typeface="Courier New"/>
                <a:ea typeface="Courier New"/>
                <a:cs typeface="Courier New"/>
                <a:sym typeface="Courier New"/>
              </a:rPr>
              <a:t>CELL_W</a:t>
            </a:r>
            <a:r>
              <a:rPr sz="2027" b="0" i="0">
                <a:solidFill>
                  <a:srgbClr val="FFFFFF"/>
                </a:solidFill>
                <a:latin typeface="Avenir"/>
                <a:ea typeface="Avenir"/>
                <a:cs typeface="Avenir"/>
                <a:sym typeface="Avenir"/>
              </a:rPr>
              <a:t>.</a:t>
            </a:r>
          </a:p>
        </p:txBody>
      </p:sp>
      <p:sp>
        <p:nvSpPr>
          <p:cNvPr id="7" name="blk0177"/>
          <p:cNvSpPr/>
          <p:nvPr/>
        </p:nvSpPr>
        <p:spPr>
          <a:xfrm>
            <a:off x="687600" y="5159659"/>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77"/>
          <p:cNvSpPr/>
          <p:nvPr/>
        </p:nvSpPr>
        <p:spPr>
          <a:xfrm>
            <a:off x="885600" y="5610739"/>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77"/>
          <p:cNvSpPr txBox="1"/>
          <p:nvPr/>
        </p:nvSpPr>
        <p:spPr>
          <a:xfrm>
            <a:off x="1162800" y="5303659"/>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This is the projection step from Project 7. The board a human is looking at and the board being read are the same three rows in the same order — which is what lets a person and a robot agree about a square.</a:t>
            </a:r>
          </a:p>
        </p:txBody>
      </p:sp>
      <p:sp>
        <p:nvSpPr>
          <p:cNvPr id="10" name="blk0178"/>
          <p:cNvSpPr txBox="1"/>
          <p:nvPr/>
        </p:nvSpPr>
        <p:spPr>
          <a:xfrm>
            <a:off x="687600" y="6306618"/>
            <a:ext cx="7542000" cy="79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Colour note: </a:t>
            </a:r>
            <a:r>
              <a:rPr sz="1419" b="0" i="0">
                <a:solidFill>
                  <a:srgbClr val="FFFFFF"/>
                </a:solidFill>
                <a:latin typeface="Courier New"/>
                <a:ea typeface="Courier New"/>
                <a:cs typeface="Courier New"/>
                <a:sym typeface="Courier New"/>
              </a:rPr>
              <a:t>(0, 255, 0)</a:t>
            </a:r>
            <a:r>
              <a:rPr sz="1650" b="0" i="0">
                <a:solidFill>
                  <a:srgbClr val="FFFFFF"/>
                </a:solidFill>
                <a:latin typeface="Avenir"/>
                <a:ea typeface="Avenir"/>
                <a:cs typeface="Avenir"/>
                <a:sym typeface="Avenir"/>
              </a:rPr>
              <a:t> is green in BGR and </a:t>
            </a:r>
            <a:r>
              <a:rPr sz="1419" b="0" i="0">
                <a:solidFill>
                  <a:srgbClr val="FFFFFF"/>
                </a:solidFill>
                <a:latin typeface="Courier New"/>
                <a:ea typeface="Courier New"/>
                <a:cs typeface="Courier New"/>
                <a:sym typeface="Courier New"/>
              </a:rPr>
              <a:t>(0, 0, 255)</a:t>
            </a:r>
            <a:r>
              <a:rPr sz="1650" b="0" i="0">
                <a:solidFill>
                  <a:srgbClr val="FFFFFF"/>
                </a:solidFill>
                <a:latin typeface="Avenir"/>
                <a:ea typeface="Avenir"/>
                <a:cs typeface="Avenir"/>
                <a:sym typeface="Avenir"/>
              </a:rPr>
              <a:t> is red, so the code draws X in green and O in red, matching the thresholds the reader uses.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7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11</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the game loop</a:t>
            </a:r>
          </a:p>
        </p:txBody>
      </p:sp>
      <p:sp>
        <p:nvSpPr>
          <p:cNvPr id="3" name="blk0180"/>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last and largest TODO. The parts you have already written:</a:t>
            </a:r>
          </a:p>
        </p:txBody>
      </p:sp>
      <p:sp>
        <p:nvSpPr>
          <p:cNvPr id="4" name="blk0181"/>
          <p:cNvSpPr/>
          <p:nvPr/>
        </p:nvSpPr>
        <p:spPr>
          <a:xfrm>
            <a:off x="687600" y="2376000"/>
            <a:ext cx="8686800" cy="204465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81"/>
          <p:cNvSpPr txBox="1"/>
          <p:nvPr/>
        </p:nvSpPr>
        <p:spPr>
          <a:xfrm>
            <a:off x="910799" y="2538000"/>
            <a:ext cx="8240400" cy="1720651"/>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try:</a:t>
            </a:r>
          </a:p>
          <a:p>
            <a:pPr algn="l">
              <a:lnSpc>
                <a:spcPct val="115000"/>
              </a:lnSpc>
            </a:pPr>
            <a:r>
              <a:rPr sz="1300" b="0" i="0">
                <a:solidFill>
                  <a:srgbClr val="FFFFFF"/>
                </a:solidFill>
                <a:latin typeface="Courier New"/>
                <a:ea typeface="Courier New"/>
                <a:cs typeface="Courier New"/>
                <a:sym typeface="Courier New"/>
              </a:rPr>
              <a:t>    while cap.isOpened():</a:t>
            </a:r>
          </a:p>
          <a:p>
            <a:pPr algn="l">
              <a:lnSpc>
                <a:spcPct val="115000"/>
              </a:lnSpc>
            </a:pPr>
            <a:r>
              <a:rPr sz="1300" b="0" i="0">
                <a:solidFill>
                  <a:srgbClr val="FFFFFF"/>
                </a:solidFill>
                <a:latin typeface="Courier New"/>
                <a:ea typeface="Courier New"/>
                <a:cs typeface="Courier New"/>
                <a:sym typeface="Courier New"/>
              </a:rPr>
              <a:t>        ret, frame = cap.read()</a:t>
            </a:r>
          </a:p>
          <a:p>
            <a:pPr algn="l">
              <a:lnSpc>
                <a:spcPct val="115000"/>
              </a:lnSpc>
            </a:pPr>
            <a:r>
              <a:rPr sz="1300" b="0" i="0">
                <a:solidFill>
                  <a:srgbClr val="FFFFFF"/>
                </a:solidFill>
                <a:latin typeface="Courier New"/>
                <a:ea typeface="Courier New"/>
                <a:cs typeface="Courier New"/>
                <a:sym typeface="Courier New"/>
              </a:rPr>
              <a:t>        if not ret:</a:t>
            </a:r>
          </a:p>
          <a:p>
            <a:pPr algn="l">
              <a:lnSpc>
                <a:spcPct val="115000"/>
              </a:lnSpc>
            </a:pPr>
            <a:r>
              <a:rPr sz="1300" b="0" i="0">
                <a:solidFill>
                  <a:srgbClr val="FFFFFF"/>
                </a:solidFill>
                <a:latin typeface="Courier New"/>
                <a:ea typeface="Courier New"/>
                <a:cs typeface="Courier New"/>
                <a:sym typeface="Courier New"/>
              </a:rPr>
              <a:t>            break</a:t>
            </a:r>
          </a:p>
          <a:p>
            <a:pPr algn="l">
              <a:lnSpc>
                <a:spcPct val="115000"/>
              </a:lnSpc>
            </a:pPr>
            <a:r>
              <a:rPr sz="1300" b="0" i="0">
                <a:solidFill>
                  <a:srgbClr val="FFFFFF"/>
                </a:solidFill>
                <a:latin typeface="Courier New"/>
                <a:ea typeface="Courier New"/>
                <a:cs typeface="Courier New"/>
                <a:sym typeface="Courier New"/>
              </a:rPr>
              <a:t/>
            </a:r>
          </a:p>
          <a:p>
            <a:pPr algn="l">
              <a:lnSpc>
                <a:spcPct val="115000"/>
              </a:lnSpc>
            </a:pPr>
            <a:r>
              <a:rPr sz="1300" b="0" i="0">
                <a:solidFill>
                  <a:srgbClr val="FFFFFF"/>
                </a:solidFill>
                <a:latin typeface="Courier New"/>
                <a:ea typeface="Courier New"/>
                <a:cs typeface="Courier New"/>
                <a:sym typeface="Courier New"/>
              </a:rPr>
              <a:t>        board = parse_board_state(frame)</a:t>
            </a:r>
          </a:p>
          <a:p>
            <a:pPr algn="l">
              <a:lnSpc>
                <a:spcPct val="115000"/>
              </a:lnSpc>
            </a:pPr>
            <a:r>
              <a:rPr sz="1300" b="0" i="0">
                <a:solidFill>
                  <a:srgbClr val="FFFFFF"/>
                </a:solidFill>
                <a:latin typeface="Courier New"/>
                <a:ea typeface="Courier New"/>
                <a:cs typeface="Courier New"/>
                <a:sym typeface="Courier New"/>
              </a:rPr>
              <a:t>        winner = check_winner(board)</a:t>
            </a:r>
          </a:p>
        </p:txBody>
      </p:sp>
      <p:sp>
        <p:nvSpPr>
          <p:cNvPr id="6" name="blk0182"/>
          <p:cNvSpPr txBox="1"/>
          <p:nvPr/>
        </p:nvSpPr>
        <p:spPr>
          <a:xfrm>
            <a:off x="687600" y="4528651"/>
            <a:ext cx="7542000" cy="381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functions per frame. Parse the board, then test it for a winner. The winner is checked on every single iteration, which is why the game notices its own ending without being told.</a:t>
            </a:r>
          </a:p>
        </p:txBody>
      </p:sp>
      <p:sp>
        <p:nvSpPr>
          <p:cNvPr id="7" name="blk0183"/>
          <p:cNvSpPr txBox="1"/>
          <p:nvPr/>
        </p:nvSpPr>
        <p:spPr>
          <a:xfrm>
            <a:off x="687600" y="5872310"/>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a:t>
            </a:r>
            <a:r>
              <a:rPr sz="1419" b="0" i="0">
                <a:solidFill>
                  <a:srgbClr val="FFFFFF"/>
                </a:solidFill>
                <a:latin typeface="Courier New"/>
                <a:ea typeface="Courier New"/>
                <a:cs typeface="Courier New"/>
                <a:sym typeface="Courier New"/>
              </a:rPr>
              <a:t>if not ret</a:t>
            </a:r>
            <a:r>
              <a:rPr sz="1650" b="0" i="0">
                <a:solidFill>
                  <a:srgbClr val="FFFFFF"/>
                </a:solidFill>
                <a:latin typeface="Avenir"/>
                <a:ea typeface="Avenir"/>
                <a:cs typeface="Avenir"/>
                <a:sym typeface="Avenir"/>
              </a:rPr>
              <a:t> guard is doing exactly what it did in Project 7. Two projects from the end of the module and the same three lines are still load-bearing.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84"/>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11</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show the frame</a:t>
            </a:r>
          </a:p>
        </p:txBody>
      </p:sp>
      <p:sp>
        <p:nvSpPr>
          <p:cNvPr id="3" name="blk0185"/>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two lines that end the loop body, and they are where the program becomes interactive:</a:t>
            </a:r>
          </a:p>
        </p:txBody>
      </p:sp>
      <p:sp>
        <p:nvSpPr>
          <p:cNvPr id="4" name="blk0186"/>
          <p:cNvSpPr/>
          <p:nvPr/>
        </p:nvSpPr>
        <p:spPr>
          <a:xfrm>
            <a:off x="687600" y="2304000"/>
            <a:ext cx="8686800" cy="73761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86"/>
          <p:cNvSpPr txBox="1"/>
          <p:nvPr/>
        </p:nvSpPr>
        <p:spPr>
          <a:xfrm>
            <a:off x="910799" y="2466000"/>
            <a:ext cx="8240400" cy="413618"/>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        cv2.imshow("Mission 02 Capstone - Tic-Tac-Toe AI", frame)</a:t>
            </a:r>
          </a:p>
          <a:p>
            <a:pPr algn="l">
              <a:lnSpc>
                <a:spcPct val="115000"/>
              </a:lnSpc>
            </a:pPr>
            <a:r>
              <a:rPr sz="1250" b="0" i="0">
                <a:solidFill>
                  <a:srgbClr val="FFFFFF"/>
                </a:solidFill>
                <a:latin typeface="Courier New"/>
                <a:ea typeface="Courier New"/>
                <a:cs typeface="Courier New"/>
                <a:sym typeface="Courier New"/>
              </a:rPr>
              <a:t>        key = cv2.waitKey(1) &amp; 0xFF</a:t>
            </a:r>
          </a:p>
        </p:txBody>
      </p:sp>
      <p:sp>
        <p:nvSpPr>
          <p:cNvPr id="6" name="blk0187"/>
          <p:cNvSpPr/>
          <p:nvPr/>
        </p:nvSpPr>
        <p:spPr>
          <a:xfrm>
            <a:off x="741600" y="3412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187"/>
          <p:cNvSpPr txBox="1"/>
          <p:nvPr/>
        </p:nvSpPr>
        <p:spPr>
          <a:xfrm>
            <a:off x="1252800" y="3384000"/>
            <a:ext cx="8118000" cy="864000"/>
          </a:xfrm>
          <a:prstGeom prst="rect">
            <a:avLst/>
          </a:prstGeom>
          <a:noFill/>
        </p:spPr>
        <p:txBody>
          <a:bodyPr wrap="square" anchor="t" lIns="0" rIns="0" tIns="0" bIns="0">
            <a:noAutofit/>
          </a:bodyPr>
          <a:lstStyle/>
          <a:p>
            <a:pPr algn="l">
              <a:lnSpc>
                <a:spcPct val="120000"/>
              </a:lnSpc>
            </a:pPr>
            <a:r>
              <a:rPr sz="1376" b="0" i="0">
                <a:solidFill>
                  <a:srgbClr val="FFFFFF"/>
                </a:solidFill>
                <a:latin typeface="Courier New"/>
                <a:ea typeface="Courier New"/>
                <a:cs typeface="Courier New"/>
                <a:sym typeface="Courier New"/>
              </a:rPr>
              <a:t>imshow</a:t>
            </a:r>
            <a:r>
              <a:rPr sz="1600" b="0" i="0">
                <a:solidFill>
                  <a:srgbClr val="FFFFFF"/>
                </a:solidFill>
                <a:latin typeface="Avenir"/>
                <a:ea typeface="Avenir"/>
                <a:cs typeface="Avenir"/>
                <a:sym typeface="Avenir"/>
              </a:rPr>
              <a:t>  — draws </a:t>
            </a:r>
            <a:r>
              <a:rPr sz="1376" b="0" i="0">
                <a:solidFill>
                  <a:srgbClr val="FFFFFF"/>
                </a:solidFill>
                <a:latin typeface="Courier New"/>
                <a:ea typeface="Courier New"/>
                <a:cs typeface="Courier New"/>
                <a:sym typeface="Courier New"/>
              </a:rPr>
              <a:t>frame</a:t>
            </a:r>
            <a:r>
              <a:rPr sz="1600" b="0" i="0">
                <a:solidFill>
                  <a:srgbClr val="FFFFFF"/>
                </a:solidFill>
                <a:latin typeface="Avenir"/>
                <a:ea typeface="Avenir"/>
                <a:cs typeface="Avenir"/>
                <a:sym typeface="Avenir"/>
              </a:rPr>
              <a:t> in a named window. The name is the one thing you will see on the taskbar.</a:t>
            </a:r>
          </a:p>
        </p:txBody>
      </p:sp>
      <p:sp>
        <p:nvSpPr>
          <p:cNvPr id="8" name="blk0188"/>
          <p:cNvSpPr/>
          <p:nvPr/>
        </p:nvSpPr>
        <p:spPr>
          <a:xfrm>
            <a:off x="741600" y="4276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88"/>
          <p:cNvSpPr txBox="1"/>
          <p:nvPr/>
        </p:nvSpPr>
        <p:spPr>
          <a:xfrm>
            <a:off x="1252800" y="4248000"/>
            <a:ext cx="8118000" cy="864000"/>
          </a:xfrm>
          <a:prstGeom prst="rect">
            <a:avLst/>
          </a:prstGeom>
          <a:noFill/>
        </p:spPr>
        <p:txBody>
          <a:bodyPr wrap="square" anchor="t" lIns="0" rIns="0" tIns="0" bIns="0">
            <a:noAutofit/>
          </a:bodyPr>
          <a:lstStyle/>
          <a:p>
            <a:pPr algn="l">
              <a:lnSpc>
                <a:spcPct val="120000"/>
              </a:lnSpc>
            </a:pPr>
            <a:r>
              <a:rPr sz="1376" b="0" i="0">
                <a:solidFill>
                  <a:srgbClr val="FFFFFF"/>
                </a:solidFill>
                <a:latin typeface="Courier New"/>
                <a:ea typeface="Courier New"/>
                <a:cs typeface="Courier New"/>
                <a:sym typeface="Courier New"/>
              </a:rPr>
              <a:t>waitKey(1)</a:t>
            </a:r>
            <a:r>
              <a:rPr sz="1600" b="0" i="0">
                <a:solidFill>
                  <a:srgbClr val="FFFFFF"/>
                </a:solidFill>
                <a:latin typeface="Avenir"/>
                <a:ea typeface="Avenir"/>
                <a:cs typeface="Avenir"/>
                <a:sym typeface="Avenir"/>
              </a:rPr>
              <a:t>  — waits one millisecond and returns the key code. The </a:t>
            </a:r>
            <a:r>
              <a:rPr sz="1376" b="0" i="0">
                <a:solidFill>
                  <a:srgbClr val="FFFFFF"/>
                </a:solidFill>
                <a:latin typeface="Courier New"/>
                <a:ea typeface="Courier New"/>
                <a:cs typeface="Courier New"/>
                <a:sym typeface="Courier New"/>
              </a:rPr>
              <a:t>1</a:t>
            </a:r>
            <a:r>
              <a:rPr sz="1600" b="0" i="0">
                <a:solidFill>
                  <a:srgbClr val="FFFFFF"/>
                </a:solidFill>
                <a:latin typeface="Avenir"/>
                <a:ea typeface="Avenir"/>
                <a:cs typeface="Avenir"/>
                <a:sym typeface="Avenir"/>
              </a:rPr>
              <a:t> is what makes this a loop instead of a freeze.</a:t>
            </a:r>
          </a:p>
        </p:txBody>
      </p:sp>
      <p:sp>
        <p:nvSpPr>
          <p:cNvPr id="10" name="blk0189"/>
          <p:cNvSpPr txBox="1"/>
          <p:nvPr/>
        </p:nvSpPr>
        <p:spPr>
          <a:xfrm>
            <a:off x="687600" y="5184000"/>
            <a:ext cx="7542000" cy="244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These two lines come </a:t>
            </a:r>
            <a:r>
              <a:rPr sz="2027" b="1" i="0">
                <a:solidFill>
                  <a:srgbClr val="FFFFFF"/>
                </a:solidFill>
                <a:latin typeface="Google Sans"/>
                <a:ea typeface="Google Sans"/>
                <a:cs typeface="Google Sans"/>
                <a:sym typeface="Google Sans"/>
              </a:rPr>
              <a:t>after</a:t>
            </a:r>
            <a:r>
              <a:rPr sz="2027" b="0" i="0">
                <a:solidFill>
                  <a:srgbClr val="FFFFFF"/>
                </a:solidFill>
                <a:latin typeface="Avenir"/>
                <a:ea typeface="Avenir"/>
                <a:cs typeface="Avenir"/>
                <a:sym typeface="Avenir"/>
              </a:rPr>
              <a:t> all the processing, and that order matters. Show, then wait, then go round again. Waiting first would put a stale board on screen for one frame every loop.</a:t>
            </a:r>
          </a:p>
        </p:txBody>
      </p:sp>
      <p:sp>
        <p:nvSpPr>
          <p:cNvPr id="11" name="blk0190"/>
          <p:cNvSpPr/>
          <p:nvPr/>
        </p:nvSpPr>
        <p:spPr>
          <a:xfrm>
            <a:off x="687600" y="6527659"/>
            <a:ext cx="8686800" cy="864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190"/>
          <p:cNvSpPr/>
          <p:nvPr/>
        </p:nvSpPr>
        <p:spPr>
          <a:xfrm>
            <a:off x="885600" y="6891259"/>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190"/>
          <p:cNvSpPr txBox="1"/>
          <p:nvPr/>
        </p:nvSpPr>
        <p:spPr>
          <a:xfrm>
            <a:off x="1162800" y="6671658"/>
            <a:ext cx="7956000" cy="576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The one-millisecond wait also stops this loop pinning a CPU core; without it the frame redraws as fast as it can be read and the keyboard never gets a look in.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9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12</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read the keyboard</a:t>
            </a:r>
          </a:p>
        </p:txBody>
      </p:sp>
      <p:sp>
        <p:nvSpPr>
          <p:cNvPr id="3" name="blk019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Mask the key code, then compare it. Two separate steps this time, which is the correct shape:</a:t>
            </a:r>
          </a:p>
        </p:txBody>
      </p:sp>
      <p:sp>
        <p:nvSpPr>
          <p:cNvPr id="4" name="blk0193"/>
          <p:cNvSpPr/>
          <p:nvPr/>
        </p:nvSpPr>
        <p:spPr>
          <a:xfrm>
            <a:off x="687600" y="2304000"/>
            <a:ext cx="8686800" cy="1085057"/>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93"/>
          <p:cNvSpPr txBox="1"/>
          <p:nvPr/>
        </p:nvSpPr>
        <p:spPr>
          <a:xfrm>
            <a:off x="910799" y="2466000"/>
            <a:ext cx="8240400" cy="761057"/>
          </a:xfrm>
          <a:prstGeom prst="rect">
            <a:avLst/>
          </a:prstGeom>
          <a:noFill/>
        </p:spPr>
        <p:txBody>
          <a:bodyPr wrap="square" anchor="t" lIns="0" rIns="0" tIns="0" bIns="0">
            <a:noAutofit/>
          </a:bodyPr>
          <a:lstStyle/>
          <a:p>
            <a:pPr algn="l">
              <a:lnSpc>
                <a:spcPct val="115000"/>
              </a:lnSpc>
            </a:pPr>
            <a:r>
              <a:rPr sz="1150" b="0" i="0">
                <a:solidFill>
                  <a:srgbClr val="FFFFFF"/>
                </a:solidFill>
                <a:latin typeface="Courier New"/>
                <a:ea typeface="Courier New"/>
                <a:cs typeface="Courier New"/>
                <a:sym typeface="Courier New"/>
              </a:rPr>
              <a:t>        key = cv2.waitKey(1) &amp; 0xFF</a:t>
            </a:r>
          </a:p>
          <a:p>
            <a:pPr algn="l">
              <a:lnSpc>
                <a:spcPct val="115000"/>
              </a:lnSpc>
            </a:pPr>
            <a:r>
              <a:rPr sz="1150" b="0" i="0">
                <a:solidFill>
                  <a:srgbClr val="FFFFFF"/>
                </a:solidFill>
                <a:latin typeface="Courier New"/>
                <a:ea typeface="Courier New"/>
                <a:cs typeface="Courier New"/>
                <a:sym typeface="Courier New"/>
              </a:rPr>
              <a:t/>
            </a:r>
          </a:p>
          <a:p>
            <a:pPr algn="l">
              <a:lnSpc>
                <a:spcPct val="115000"/>
              </a:lnSpc>
            </a:pPr>
            <a:r>
              <a:rPr sz="1150" b="0" i="0">
                <a:solidFill>
                  <a:srgbClr val="FFFFFF"/>
                </a:solidFill>
                <a:latin typeface="Courier New"/>
                <a:ea typeface="Courier New"/>
                <a:cs typeface="Courier New"/>
                <a:sym typeface="Courier New"/>
              </a:rPr>
              <a:t>        if key != 255:</a:t>
            </a:r>
          </a:p>
          <a:p>
            <a:pPr algn="l">
              <a:lnSpc>
                <a:spcPct val="115000"/>
              </a:lnSpc>
            </a:pPr>
            <a:r>
              <a:rPr sz="1150" b="0" i="0">
                <a:solidFill>
                  <a:srgbClr val="FFFFFF"/>
                </a:solidFill>
                <a:latin typeface="Courier New"/>
                <a:ea typeface="Courier New"/>
                <a:cs typeface="Courier New"/>
                <a:sym typeface="Courier New"/>
              </a:rPr>
              <a:t>            print(f"Key pressed: {key} ({chr(key) if key &lt; 128 else '?'})")</a:t>
            </a:r>
          </a:p>
        </p:txBody>
      </p:sp>
      <p:sp>
        <p:nvSpPr>
          <p:cNvPr id="6" name="blk0194"/>
          <p:cNvSpPr txBox="1"/>
          <p:nvPr/>
        </p:nvSpPr>
        <p:spPr>
          <a:xfrm>
            <a:off x="687600" y="3497057"/>
            <a:ext cx="7542000" cy="417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mask happens first and gets its own line, so the comparison below is a plain equality against a number. Compare that with how Project 7 needed parentheses, and you have the whole lesson in two versions.</a:t>
            </a:r>
          </a:p>
        </p:txBody>
      </p:sp>
      <p:sp>
        <p:nvSpPr>
          <p:cNvPr id="7" name="blk0195"/>
          <p:cNvSpPr/>
          <p:nvPr/>
        </p:nvSpPr>
        <p:spPr>
          <a:xfrm>
            <a:off x="687600" y="4840716"/>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95"/>
          <p:cNvSpPr/>
          <p:nvPr/>
        </p:nvSpPr>
        <p:spPr>
          <a:xfrm>
            <a:off x="885600" y="5291796"/>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95"/>
          <p:cNvSpPr txBox="1"/>
          <p:nvPr/>
        </p:nvSpPr>
        <p:spPr>
          <a:xfrm>
            <a:off x="1162800" y="4984716"/>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The debug print fires whenever a key arrives. </a:t>
            </a:r>
            <a:r>
              <a:rPr sz="1290" b="0" i="1">
                <a:solidFill>
                  <a:srgbClr val="FFCF08"/>
                </a:solidFill>
                <a:latin typeface="Courier New"/>
                <a:ea typeface="Courier New"/>
                <a:cs typeface="Courier New"/>
                <a:sym typeface="Courier New"/>
              </a:rPr>
              <a:t>255</a:t>
            </a:r>
            <a:r>
              <a:rPr sz="1500" b="0" i="1">
                <a:solidFill>
                  <a:srgbClr val="FFCF08"/>
                </a:solidFill>
                <a:latin typeface="Avenir"/>
                <a:ea typeface="Avenir"/>
                <a:cs typeface="Avenir"/>
                <a:sym typeface="Avenir"/>
              </a:rPr>
              <a:t> is what </a:t>
            </a:r>
            <a:r>
              <a:rPr sz="1290" b="0" i="1">
                <a:solidFill>
                  <a:srgbClr val="FFCF08"/>
                </a:solidFill>
                <a:latin typeface="Courier New"/>
                <a:ea typeface="Courier New"/>
                <a:cs typeface="Courier New"/>
                <a:sym typeface="Courier New"/>
              </a:rPr>
              <a:t>waitKey</a:t>
            </a:r>
            <a:r>
              <a:rPr sz="1500" b="0" i="1">
                <a:solidFill>
                  <a:srgbClr val="FFCF08"/>
                </a:solidFill>
                <a:latin typeface="Avenir"/>
                <a:ea typeface="Avenir"/>
                <a:cs typeface="Avenir"/>
                <a:sym typeface="Avenir"/>
              </a:rPr>
              <a:t> returns when nothing was pressed, so that test means "a key was pressed" rather than "a key was q".</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9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13</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act on it</a:t>
            </a:r>
          </a:p>
        </p:txBody>
      </p:sp>
      <p:sp>
        <p:nvSpPr>
          <p:cNvPr id="3" name="blk019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final TODO. Three branches, and the order of the conditions is the whole design:</a:t>
            </a:r>
          </a:p>
        </p:txBody>
      </p:sp>
      <p:sp>
        <p:nvSpPr>
          <p:cNvPr id="4" name="blk0198"/>
          <p:cNvSpPr/>
          <p:nvPr/>
        </p:nvSpPr>
        <p:spPr>
          <a:xfrm>
            <a:off x="687600" y="2376000"/>
            <a:ext cx="8686800" cy="232591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98"/>
          <p:cNvSpPr txBox="1"/>
          <p:nvPr/>
        </p:nvSpPr>
        <p:spPr>
          <a:xfrm>
            <a:off x="910799" y="2538000"/>
            <a:ext cx="8240400" cy="2001911"/>
          </a:xfrm>
          <a:prstGeom prst="rect">
            <a:avLst/>
          </a:prstGeom>
          <a:noFill/>
        </p:spPr>
        <p:txBody>
          <a:bodyPr wrap="square" anchor="t" lIns="0" rIns="0" tIns="0" bIns="0">
            <a:noAutofit/>
          </a:bodyPr>
          <a:lstStyle/>
          <a:p>
            <a:pPr algn="l">
              <a:lnSpc>
                <a:spcPct val="115000"/>
              </a:lnSpc>
            </a:pPr>
            <a:r>
              <a:rPr sz="1100" b="0" i="0">
                <a:solidFill>
                  <a:srgbClr val="FFFFFF"/>
                </a:solidFill>
                <a:latin typeface="Courier New"/>
                <a:ea typeface="Courier New"/>
                <a:cs typeface="Courier New"/>
                <a:sym typeface="Courier New"/>
              </a:rPr>
              <a:t>        if key == ord(' ') and not winner:</a:t>
            </a:r>
          </a:p>
          <a:p>
            <a:pPr algn="l">
              <a:lnSpc>
                <a:spcPct val="115000"/>
              </a:lnSpc>
            </a:pPr>
            <a:r>
              <a:rPr sz="1100" b="0" i="0">
                <a:solidFill>
                  <a:srgbClr val="FFFFFF"/>
                </a:solidFill>
                <a:latin typeface="Courier New"/>
                <a:ea typeface="Courier New"/>
                <a:cs typeface="Courier New"/>
                <a:sym typeface="Courier New"/>
              </a:rPr>
              <a:t>            print("SPACE pressed - calculating move...")</a:t>
            </a:r>
          </a:p>
          <a:p>
            <a:pPr algn="l">
              <a:lnSpc>
                <a:spcPct val="115000"/>
              </a:lnSpc>
            </a:pPr>
            <a:r>
              <a:rPr sz="1100" b="0" i="0">
                <a:solidFill>
                  <a:srgbClr val="FFFFFF"/>
                </a:solidFill>
                <a:latin typeface="Courier New"/>
                <a:ea typeface="Courier New"/>
                <a:cs typeface="Courier New"/>
                <a:sym typeface="Courier New"/>
              </a:rPr>
              <a:t>            move = find_best_move(board)</a:t>
            </a:r>
          </a:p>
          <a:p>
            <a:pPr algn="l">
              <a:lnSpc>
                <a:spcPct val="115000"/>
              </a:lnSpc>
            </a:pPr>
            <a:r>
              <a:rPr sz="1100" b="0" i="0">
                <a:solidFill>
                  <a:srgbClr val="FFFFFF"/>
                </a:solidFill>
                <a:latin typeface="Courier New"/>
                <a:ea typeface="Courier New"/>
                <a:cs typeface="Courier New"/>
                <a:sym typeface="Courier New"/>
              </a:rPr>
              <a:t>            if move:</a:t>
            </a:r>
          </a:p>
          <a:p>
            <a:pPr algn="l">
              <a:lnSpc>
                <a:spcPct val="115000"/>
              </a:lnSpc>
            </a:pPr>
            <a:r>
              <a:rPr sz="1100" b="0" i="0">
                <a:solidFill>
                  <a:srgbClr val="FFFFFF"/>
                </a:solidFill>
                <a:latin typeface="Courier New"/>
                <a:ea typeface="Courier New"/>
                <a:cs typeface="Courier New"/>
                <a:sym typeface="Courier New"/>
              </a:rPr>
              <a:t>                print(f"Best move: {move}")</a:t>
            </a:r>
          </a:p>
          <a:p>
            <a:pPr algn="l">
              <a:lnSpc>
                <a:spcPct val="115000"/>
              </a:lnSpc>
            </a:pPr>
            <a:r>
              <a:rPr sz="1100" b="0" i="0">
                <a:solidFill>
                  <a:srgbClr val="FFFFFF"/>
                </a:solidFill>
                <a:latin typeface="Courier New"/>
                <a:ea typeface="Courier New"/>
                <a:cs typeface="Courier New"/>
                <a:sym typeface="Courier New"/>
              </a:rPr>
              <a:t>                execute_robot_move(move)</a:t>
            </a:r>
          </a:p>
          <a:p>
            <a:pPr algn="l">
              <a:lnSpc>
                <a:spcPct val="115000"/>
              </a:lnSpc>
            </a:pPr>
            <a:r>
              <a:rPr sz="1100" b="0" i="0">
                <a:solidFill>
                  <a:srgbClr val="FFFFFF"/>
                </a:solidFill>
                <a:latin typeface="Courier New"/>
                <a:ea typeface="Courier New"/>
                <a:cs typeface="Courier New"/>
                <a:sym typeface="Courier New"/>
              </a:rPr>
              <a:t>            else:</a:t>
            </a:r>
          </a:p>
          <a:p>
            <a:pPr algn="l">
              <a:lnSpc>
                <a:spcPct val="115000"/>
              </a:lnSpc>
            </a:pPr>
            <a:r>
              <a:rPr sz="1100" b="0" i="0">
                <a:solidFill>
                  <a:srgbClr val="FFFFFF"/>
                </a:solidFill>
                <a:latin typeface="Courier New"/>
                <a:ea typeface="Courier New"/>
                <a:cs typeface="Courier New"/>
                <a:sym typeface="Courier New"/>
              </a:rPr>
              <a:t>                print("Game is a Draw!")</a:t>
            </a:r>
          </a:p>
          <a:p>
            <a:pPr algn="l">
              <a:lnSpc>
                <a:spcPct val="115000"/>
              </a:lnSpc>
            </a:pPr>
            <a:r>
              <a:rPr sz="1100" b="0" i="0">
                <a:solidFill>
                  <a:srgbClr val="FFFFFF"/>
                </a:solidFill>
                <a:latin typeface="Courier New"/>
                <a:ea typeface="Courier New"/>
                <a:cs typeface="Courier New"/>
                <a:sym typeface="Courier New"/>
              </a:rPr>
              <a:t/>
            </a:r>
          </a:p>
          <a:p>
            <a:pPr algn="l">
              <a:lnSpc>
                <a:spcPct val="115000"/>
              </a:lnSpc>
            </a:pPr>
            <a:r>
              <a:rPr sz="1100" b="0" i="0">
                <a:solidFill>
                  <a:srgbClr val="FFFFFF"/>
                </a:solidFill>
                <a:latin typeface="Courier New"/>
                <a:ea typeface="Courier New"/>
                <a:cs typeface="Courier New"/>
                <a:sym typeface="Courier New"/>
              </a:rPr>
              <a:t>        elif key == ord('q'):</a:t>
            </a:r>
          </a:p>
          <a:p>
            <a:pPr algn="l">
              <a:lnSpc>
                <a:spcPct val="115000"/>
              </a:lnSpc>
            </a:pPr>
            <a:r>
              <a:rPr sz="1100" b="0" i="0">
                <a:solidFill>
                  <a:srgbClr val="FFFFFF"/>
                </a:solidFill>
                <a:latin typeface="Courier New"/>
                <a:ea typeface="Courier New"/>
                <a:cs typeface="Courier New"/>
                <a:sym typeface="Courier New"/>
              </a:rPr>
              <a:t>            break</a:t>
            </a:r>
          </a:p>
        </p:txBody>
      </p:sp>
      <p:sp>
        <p:nvSpPr>
          <p:cNvPr id="6" name="blk0199"/>
          <p:cNvSpPr txBox="1"/>
          <p:nvPr/>
        </p:nvSpPr>
        <p:spPr>
          <a:xfrm>
            <a:off x="687600" y="4809911"/>
            <a:ext cx="7542000" cy="3668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winner guard is on </a:t>
            </a:r>
            <a:r>
              <a:rPr sz="1743" b="0" i="0">
                <a:solidFill>
                  <a:srgbClr val="FFFFFF"/>
                </a:solidFill>
                <a:latin typeface="Courier New"/>
                <a:ea typeface="Courier New"/>
                <a:cs typeface="Courier New"/>
                <a:sym typeface="Courier New"/>
              </a:rPr>
              <a:t>space</a:t>
            </a:r>
            <a:r>
              <a:rPr sz="2027" b="0" i="0">
                <a:solidFill>
                  <a:srgbClr val="FFFFFF"/>
                </a:solidFill>
                <a:latin typeface="Avenir"/>
                <a:ea typeface="Avenir"/>
                <a:cs typeface="Avenir"/>
                <a:sym typeface="Avenir"/>
              </a:rPr>
              <a:t>, not the whole loop, so q still works after a win. The draw case is handled explicitly rather than doing nothing.</a:t>
            </a:r>
          </a:p>
        </p:txBody>
      </p:sp>
      <p:sp>
        <p:nvSpPr>
          <p:cNvPr id="7" name="blk0200"/>
          <p:cNvSpPr/>
          <p:nvPr/>
        </p:nvSpPr>
        <p:spPr>
          <a:xfrm>
            <a:off x="687600" y="5844655"/>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200"/>
          <p:cNvSpPr/>
          <p:nvPr/>
        </p:nvSpPr>
        <p:spPr>
          <a:xfrm>
            <a:off x="885600" y="6295735"/>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200"/>
          <p:cNvSpPr txBox="1"/>
          <p:nvPr/>
        </p:nvSpPr>
        <p:spPr>
          <a:xfrm>
            <a:off x="1162800" y="5988655"/>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One line does all the work: </a:t>
            </a:r>
            <a:r>
              <a:rPr sz="1290" b="0" i="1">
                <a:solidFill>
                  <a:srgbClr val="FFCF08"/>
                </a:solidFill>
                <a:latin typeface="Courier New"/>
                <a:ea typeface="Courier New"/>
                <a:cs typeface="Courier New"/>
                <a:sym typeface="Courier New"/>
              </a:rPr>
              <a:t>execute_robot_move(move)</a:t>
            </a:r>
            <a:r>
              <a:rPr sz="1500" b="0" i="1">
                <a:solidFill>
                  <a:srgbClr val="FFCF08"/>
                </a:solidFill>
                <a:latin typeface="Avenir"/>
                <a:ea typeface="Avenir"/>
                <a:cs typeface="Avenir"/>
                <a:sym typeface="Avenir"/>
              </a:rPr>
              <a:t> freezes everything for eighteen seconds. The print statements before it are the only record of what the robot decided and why — which is the same argument for evidence that Project 6 made.</a:t>
            </a:r>
          </a:p>
        </p:txBody>
      </p:sp>
      <p:sp>
        <p:nvSpPr>
          <p:cNvPr id="10" name="blk0201"/>
          <p:cNvSpPr txBox="1"/>
          <p:nvPr/>
        </p:nvSpPr>
        <p:spPr>
          <a:xfrm>
            <a:off x="687600" y="6991614"/>
            <a:ext cx="7542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And then the loop goes straight round and re-reads the board, because the robot does not write its own move anywhere. It has to look at it.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02"/>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 last seven lines</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and why they matter</a:t>
            </a:r>
          </a:p>
        </p:txBody>
      </p:sp>
      <p:sp>
        <p:nvSpPr>
          <p:cNvPr id="3" name="blk0203"/>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Not part of any TODO and never discussed in class, but this block is what makes the program safe to run twice:</a:t>
            </a:r>
          </a:p>
        </p:txBody>
      </p:sp>
      <p:sp>
        <p:nvSpPr>
          <p:cNvPr id="4" name="blk0204"/>
          <p:cNvSpPr/>
          <p:nvPr/>
        </p:nvSpPr>
        <p:spPr>
          <a:xfrm>
            <a:off x="687600" y="2376000"/>
            <a:ext cx="8686800" cy="165585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04"/>
          <p:cNvSpPr txBox="1"/>
          <p:nvPr/>
        </p:nvSpPr>
        <p:spPr>
          <a:xfrm>
            <a:off x="910799" y="2538000"/>
            <a:ext cx="8240400" cy="1331850"/>
          </a:xfrm>
          <a:prstGeom prst="rect">
            <a:avLst/>
          </a:prstGeom>
          <a:noFill/>
        </p:spPr>
        <p:txBody>
          <a:bodyPr wrap="square" anchor="t" lIns="0" rIns="0" tIns="0" bIns="0">
            <a:noAutofit/>
          </a:bodyPr>
          <a:lstStyle/>
          <a:p>
            <a:pPr algn="l">
              <a:lnSpc>
                <a:spcPct val="115000"/>
              </a:lnSpc>
            </a:pPr>
            <a:r>
              <a:rPr sz="1150" b="0" i="0">
                <a:solidFill>
                  <a:srgbClr val="FFFFFF"/>
                </a:solidFill>
                <a:latin typeface="Courier New"/>
                <a:ea typeface="Courier New"/>
                <a:cs typeface="Courier New"/>
                <a:sym typeface="Courier New"/>
              </a:rPr>
              <a:t>finally:</a:t>
            </a:r>
          </a:p>
          <a:p>
            <a:pPr algn="l">
              <a:lnSpc>
                <a:spcPct val="115000"/>
              </a:lnSpc>
            </a:pPr>
            <a:r>
              <a:rPr sz="1150" b="0" i="0">
                <a:solidFill>
                  <a:srgbClr val="FFFFFF"/>
                </a:solidFill>
                <a:latin typeface="Courier New"/>
                <a:ea typeface="Courier New"/>
                <a:cs typeface="Courier New"/>
                <a:sym typeface="Courier New"/>
              </a:rPr>
              <a:t>    cap.release()</a:t>
            </a:r>
          </a:p>
          <a:p>
            <a:pPr algn="l">
              <a:lnSpc>
                <a:spcPct val="115000"/>
              </a:lnSpc>
            </a:pPr>
            <a:r>
              <a:rPr sz="1150" b="0" i="0">
                <a:solidFill>
                  <a:srgbClr val="FFFFFF"/>
                </a:solidFill>
                <a:latin typeface="Courier New"/>
                <a:ea typeface="Courier New"/>
                <a:cs typeface="Courier New"/>
                <a:sym typeface="Courier New"/>
              </a:rPr>
              <a:t>    cv2.destroyAllWindows()</a:t>
            </a:r>
          </a:p>
          <a:p>
            <a:pPr algn="l">
              <a:lnSpc>
                <a:spcPct val="115000"/>
              </a:lnSpc>
            </a:pPr>
            <a:r>
              <a:rPr sz="1150" b="0" i="0">
                <a:solidFill>
                  <a:srgbClr val="FFFFFF"/>
                </a:solidFill>
                <a:latin typeface="Courier New"/>
                <a:ea typeface="Courier New"/>
                <a:cs typeface="Courier New"/>
                <a:sym typeface="Courier New"/>
              </a:rPr>
              <a:t>    set_pump(0)</a:t>
            </a:r>
          </a:p>
          <a:p>
            <a:pPr algn="l">
              <a:lnSpc>
                <a:spcPct val="115000"/>
              </a:lnSpc>
            </a:pPr>
            <a:r>
              <a:rPr sz="1150" b="0" i="0">
                <a:solidFill>
                  <a:srgbClr val="FFFFFF"/>
                </a:solidFill>
                <a:latin typeface="Courier New"/>
                <a:ea typeface="Courier New"/>
                <a:cs typeface="Courier New"/>
                <a:sym typeface="Courier New"/>
              </a:rPr>
              <a:t>    GPIO.cleanup()</a:t>
            </a:r>
          </a:p>
          <a:p>
            <a:pPr algn="l">
              <a:lnSpc>
                <a:spcPct val="115000"/>
              </a:lnSpc>
            </a:pPr>
            <a:r>
              <a:rPr sz="1150" b="0" i="0">
                <a:solidFill>
                  <a:srgbClr val="FFFFFF"/>
                </a:solidFill>
                <a:latin typeface="Courier New"/>
                <a:ea typeface="Courier New"/>
                <a:cs typeface="Courier New"/>
                <a:sym typeface="Courier New"/>
              </a:rPr>
              <a:t>    # Don't release servos - keeps arm powered for next run</a:t>
            </a:r>
          </a:p>
          <a:p>
            <a:pPr algn="l">
              <a:lnSpc>
                <a:spcPct val="115000"/>
              </a:lnSpc>
            </a:pPr>
            <a:r>
              <a:rPr sz="1150" b="0" i="0">
                <a:solidFill>
                  <a:srgbClr val="FFFFFF"/>
                </a:solidFill>
                <a:latin typeface="Courier New"/>
                <a:ea typeface="Courier New"/>
                <a:cs typeface="Courier New"/>
                <a:sym typeface="Courier New"/>
              </a:rPr>
              <a:t>    # mc.release_all_servos()</a:t>
            </a:r>
          </a:p>
        </p:txBody>
      </p:sp>
      <p:sp>
        <p:nvSpPr>
          <p:cNvPr id="6" name="blk0205"/>
          <p:cNvSpPr/>
          <p:nvPr/>
        </p:nvSpPr>
        <p:spPr>
          <a:xfrm>
            <a:off x="741600" y="416865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205"/>
          <p:cNvSpPr txBox="1"/>
          <p:nvPr/>
        </p:nvSpPr>
        <p:spPr>
          <a:xfrm>
            <a:off x="1252800" y="4139850"/>
            <a:ext cx="8118000" cy="864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It belongs to the </a:t>
            </a:r>
            <a:r>
              <a:rPr sz="1376" b="0" i="0">
                <a:solidFill>
                  <a:srgbClr val="FFFFFF"/>
                </a:solidFill>
                <a:latin typeface="Courier New"/>
                <a:ea typeface="Courier New"/>
                <a:cs typeface="Courier New"/>
                <a:sym typeface="Courier New"/>
              </a:rPr>
              <a:t>try</a:t>
            </a:r>
            <a:r>
              <a:rPr sz="1600" b="0" i="0">
                <a:solidFill>
                  <a:srgbClr val="FFFFFF"/>
                </a:solidFill>
                <a:latin typeface="Avenir"/>
                <a:ea typeface="Avenir"/>
                <a:cs typeface="Avenir"/>
                <a:sym typeface="Avenir"/>
              </a:rPr>
              <a:t> from Step 11, so it runs on a clean exit and on an exception. Both of those, not one of them.</a:t>
            </a:r>
          </a:p>
        </p:txBody>
      </p:sp>
      <p:sp>
        <p:nvSpPr>
          <p:cNvPr id="8" name="blk0206"/>
          <p:cNvSpPr/>
          <p:nvPr/>
        </p:nvSpPr>
        <p:spPr>
          <a:xfrm>
            <a:off x="741600" y="4861866"/>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206"/>
          <p:cNvSpPr txBox="1"/>
          <p:nvPr/>
        </p:nvSpPr>
        <p:spPr>
          <a:xfrm>
            <a:off x="1252800" y="4833066"/>
            <a:ext cx="8118000" cy="864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The order is deliberate. </a:t>
            </a:r>
            <a:r>
              <a:rPr sz="1376" b="0" i="0">
                <a:solidFill>
                  <a:srgbClr val="FFFFFF"/>
                </a:solidFill>
                <a:latin typeface="Courier New"/>
                <a:ea typeface="Courier New"/>
                <a:cs typeface="Courier New"/>
                <a:sym typeface="Courier New"/>
              </a:rPr>
              <a:t>set_pump(0)</a:t>
            </a:r>
            <a:r>
              <a:rPr sz="1600" b="0" i="0">
                <a:solidFill>
                  <a:srgbClr val="FFFFFF"/>
                </a:solidFill>
                <a:latin typeface="Avenir"/>
                <a:ea typeface="Avenir"/>
                <a:cs typeface="Avenir"/>
                <a:sym typeface="Avenir"/>
              </a:rPr>
              <a:t> before </a:t>
            </a:r>
            <a:r>
              <a:rPr sz="1376" b="0" i="0">
                <a:solidFill>
                  <a:srgbClr val="FFFFFF"/>
                </a:solidFill>
                <a:latin typeface="Courier New"/>
                <a:ea typeface="Courier New"/>
                <a:cs typeface="Courier New"/>
                <a:sym typeface="Courier New"/>
              </a:rPr>
              <a:t>GPIO.cleanup()</a:t>
            </a:r>
            <a:r>
              <a:rPr sz="1600" b="0" i="0">
                <a:solidFill>
                  <a:srgbClr val="FFFFFF"/>
                </a:solidFill>
                <a:latin typeface="Avenir"/>
                <a:ea typeface="Avenir"/>
                <a:cs typeface="Avenir"/>
                <a:sym typeface="Avenir"/>
              </a:rPr>
              <a:t> — the pin interface is only released after the pin is in its safe state.</a:t>
            </a:r>
          </a:p>
        </p:txBody>
      </p:sp>
      <p:sp>
        <p:nvSpPr>
          <p:cNvPr id="10" name="blk0207"/>
          <p:cNvSpPr txBox="1"/>
          <p:nvPr/>
        </p:nvSpPr>
        <p:spPr>
          <a:xfrm>
            <a:off x="687600" y="5832000"/>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And the commented-out servo release is a decision, not an oversight. The arm stays powered so the next run does not have to re-home from wherever it was left.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08"/>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Run it</a:t>
            </a:r>
          </a:p>
        </p:txBody>
      </p:sp>
      <p:sp>
        <p:nvSpPr>
          <p:cNvPr id="3" name="blk0209"/>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Send it across and start it. On a Pi with the arm and camera attached:</a:t>
            </a:r>
          </a:p>
        </p:txBody>
      </p:sp>
      <p:sp>
        <p:nvSpPr>
          <p:cNvPr id="4" name="blk0210"/>
          <p:cNvSpPr txBox="1"/>
          <p:nvPr/>
        </p:nvSpPr>
        <p:spPr>
          <a:xfrm>
            <a:off x="687600" y="2304000"/>
            <a:ext cx="8686800" cy="324000"/>
          </a:xfrm>
          <a:prstGeom prst="rect">
            <a:avLst/>
          </a:prstGeom>
          <a:noFill/>
        </p:spPr>
        <p:txBody>
          <a:bodyPr wrap="square" anchor="t" lIns="0" rIns="0" tIns="0" bIns="0">
            <a:noAutofit/>
          </a:bodyPr>
          <a:lstStyle/>
          <a:p>
            <a:pPr algn="l">
              <a:lnSpc>
                <a:spcPct val="115000"/>
              </a:lnSpc>
            </a:pPr>
            <a:r>
              <a:rPr sz="2000" b="0" i="0">
                <a:solidFill>
                  <a:srgbClr val="FFFFFF"/>
                </a:solidFill>
                <a:latin typeface="Courier New"/>
                <a:ea typeface="Courier New"/>
                <a:cs typeface="Courier New"/>
                <a:sym typeface="Courier New"/>
              </a:rPr>
              <a:t>scp M2-P8-Starter.py er@192.168.1.149:Documents</a:t>
            </a:r>
          </a:p>
        </p:txBody>
      </p:sp>
      <p:sp>
        <p:nvSpPr>
          <p:cNvPr id="5" name="blk0211"/>
          <p:cNvSpPr txBox="1"/>
          <p:nvPr/>
        </p:nvSpPr>
        <p:spPr>
          <a:xfrm>
            <a:off x="687600" y="2742894"/>
            <a:ext cx="8686800" cy="324000"/>
          </a:xfrm>
          <a:prstGeom prst="rect">
            <a:avLst/>
          </a:prstGeom>
          <a:noFill/>
        </p:spPr>
        <p:txBody>
          <a:bodyPr wrap="square" anchor="t" lIns="0" rIns="0" tIns="0" bIns="0">
            <a:noAutofit/>
          </a:bodyPr>
          <a:lstStyle/>
          <a:p>
            <a:pPr algn="l">
              <a:lnSpc>
                <a:spcPct val="115000"/>
              </a:lnSpc>
            </a:pPr>
            <a:r>
              <a:rPr sz="2000" b="0" i="0">
                <a:solidFill>
                  <a:srgbClr val="FFFFFF"/>
                </a:solidFill>
                <a:latin typeface="Courier New"/>
                <a:ea typeface="Courier New"/>
                <a:cs typeface="Courier New"/>
                <a:sym typeface="Courier New"/>
              </a:rPr>
              <a:t>python M2-P8-Starter.py</a:t>
            </a:r>
          </a:p>
        </p:txBody>
      </p:sp>
      <p:sp>
        <p:nvSpPr>
          <p:cNvPr id="6" name="blk0212"/>
          <p:cNvSpPr txBox="1"/>
          <p:nvPr/>
        </p:nvSpPr>
        <p:spPr>
          <a:xfrm>
            <a:off x="687600" y="3311999"/>
            <a:ext cx="7542000" cy="4316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Startup output looks like this — twice, which we will come back to:</a:t>
            </a:r>
          </a:p>
        </p:txBody>
      </p:sp>
      <p:sp>
        <p:nvSpPr>
          <p:cNvPr id="7" name="blk0213"/>
          <p:cNvSpPr/>
          <p:nvPr/>
        </p:nvSpPr>
        <p:spPr>
          <a:xfrm>
            <a:off x="687600" y="4037828"/>
            <a:ext cx="8686800" cy="101887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213"/>
          <p:cNvSpPr txBox="1"/>
          <p:nvPr/>
        </p:nvSpPr>
        <p:spPr>
          <a:xfrm>
            <a:off x="910799" y="4199828"/>
            <a:ext cx="8240400" cy="694878"/>
          </a:xfrm>
          <a:prstGeom prst="rect">
            <a:avLst/>
          </a:prstGeom>
          <a:noFill/>
        </p:spPr>
        <p:txBody>
          <a:bodyPr wrap="square" anchor="t" lIns="0" rIns="0" tIns="0" bIns="0">
            <a:noAutofit/>
          </a:bodyPr>
          <a:lstStyle/>
          <a:p>
            <a:pPr algn="l">
              <a:lnSpc>
                <a:spcPct val="115000"/>
              </a:lnSpc>
            </a:pPr>
            <a:r>
              <a:rPr sz="1050" b="0" i="0">
                <a:solidFill>
                  <a:srgbClr val="FFFFFF"/>
                </a:solidFill>
                <a:latin typeface="Courier New"/>
                <a:ea typeface="Courier New"/>
                <a:cs typeface="Courier New"/>
                <a:sym typeface="Courier New"/>
              </a:rPr>
              <a:t>Connected. Current angles: [0.0, 45.0, -90.0, ...]</a:t>
            </a:r>
          </a:p>
          <a:p>
            <a:pPr algn="l">
              <a:lnSpc>
                <a:spcPct val="115000"/>
              </a:lnSpc>
            </a:pPr>
            <a:r>
              <a:rPr sz="1050" b="0" i="0">
                <a:solidFill>
                  <a:srgbClr val="FFFFFF"/>
                </a:solidFill>
                <a:latin typeface="Courier New"/>
                <a:ea typeface="Courier New"/>
                <a:cs typeface="Courier New"/>
                <a:sym typeface="Courier New"/>
              </a:rPr>
              <a:t>Moving to home angles: [0, 45, -90, -45, 0, 0]</a:t>
            </a:r>
          </a:p>
          <a:p>
            <a:pPr algn="l">
              <a:lnSpc>
                <a:spcPct val="115000"/>
              </a:lnSpc>
            </a:pPr>
            <a:r>
              <a:rPr sz="1050" b="0" i="0">
                <a:solidFill>
                  <a:srgbClr val="FFFFFF"/>
                </a:solidFill>
                <a:latin typeface="Courier New"/>
                <a:ea typeface="Courier New"/>
                <a:cs typeface="Courier New"/>
                <a:sym typeface="Courier New"/>
              </a:rPr>
              <a:t>  send_angles returned: 1</a:t>
            </a:r>
          </a:p>
          <a:p>
            <a:pPr algn="l">
              <a:lnSpc>
                <a:spcPct val="115000"/>
              </a:lnSpc>
            </a:pPr>
            <a:r>
              <a:rPr sz="1050" b="0" i="0">
                <a:solidFill>
                  <a:srgbClr val="FFFFFF"/>
                </a:solidFill>
                <a:latin typeface="Courier New"/>
                <a:ea typeface="Courier New"/>
                <a:cs typeface="Courier New"/>
                <a:sym typeface="Courier New"/>
              </a:rPr>
              <a:t>Home position (cartesian): [66.0, -62.0, 235.0, ...]</a:t>
            </a:r>
          </a:p>
        </p:txBody>
      </p:sp>
      <p:sp>
        <p:nvSpPr>
          <p:cNvPr id="9" name="blk0214"/>
          <p:cNvSpPr txBox="1"/>
          <p:nvPr/>
        </p:nvSpPr>
        <p:spPr>
          <a:xfrm>
            <a:off x="687600" y="5164706"/>
            <a:ext cx="7542000" cy="2588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Then a window opens with the grid overlay and the prompt to press space. Place a green X, press space, and the arm goes to work.</a:t>
            </a:r>
          </a:p>
        </p:txBody>
      </p:sp>
      <p:sp>
        <p:nvSpPr>
          <p:cNvPr id="10" name="blk0215"/>
          <p:cNvSpPr/>
          <p:nvPr/>
        </p:nvSpPr>
        <p:spPr>
          <a:xfrm>
            <a:off x="687600" y="6199451"/>
            <a:ext cx="8686800" cy="864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215"/>
          <p:cNvSpPr/>
          <p:nvPr/>
        </p:nvSpPr>
        <p:spPr>
          <a:xfrm>
            <a:off x="885600" y="6563051"/>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215"/>
          <p:cNvSpPr txBox="1"/>
          <p:nvPr/>
        </p:nvSpPr>
        <p:spPr>
          <a:xfrm>
            <a:off x="1162800" y="6343451"/>
            <a:ext cx="7956000" cy="576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Read those startup lines as a claim list. Every one of them is a statement about what the hardware did, printed before the game starts.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1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Verify the claims</a:t>
            </a:r>
          </a:p>
        </p:txBody>
      </p:sp>
      <p:sp>
        <p:nvSpPr>
          <p:cNvPr id="3" name="blk021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capstone is the largest file in the module, so it makes the most claims. Checked one at a time, without changing any code.</a:t>
            </a:r>
          </a:p>
        </p:txBody>
      </p:sp>
      <p:graphicFrame>
        <p:nvGraphicFramePr>
          <p:cNvPr id="4" name="blk0218"/>
          <p:cNvGraphicFramePr>
            <a:graphicFrameLocks noGrp="1"/>
          </p:cNvGraphicFramePr>
          <p:nvPr/>
        </p:nvGraphicFramePr>
        <p:xfrm>
          <a:off x="687600" y="2384744"/>
          <a:ext cx="5975998" cy="2519995"/>
        </p:xfrm>
        <a:graphic>
          <a:graphicData uri="http://schemas.openxmlformats.org/drawingml/2006/table">
            <a:tbl>
              <a:tblPr firstRow="0" bandRow="0"/>
              <a:tblGrid>
                <a:gridCol w="503999"/>
                <a:gridCol w="3816000"/>
                <a:gridCol w="1655999"/>
              </a:tblGrid>
              <a:tr h="450000">
                <a:tc>
                  <a:txBody>
                    <a:bodyPr wrap="square"/>
                    <a:lstStyle/>
                    <a:p>
                      <a:pPr algn="l">
                        <a:lnSpc>
                          <a:spcPct val="100000"/>
                        </a:lnSpc>
                      </a:pPr>
                      <a:r>
                        <a:rPr sz="1350" b="1" i="0">
                          <a:solidFill>
                            <a:srgbClr val="FFCF08"/>
                          </a:solidFill>
                          <a:latin typeface="Avenir"/>
                          <a:ea typeface="Avenir"/>
                          <a:cs typeface="Avenir"/>
                          <a:sym typeface="Avenir"/>
                        </a:rPr>
                        <a:t>#</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The claim</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Result</a:t>
                      </a:r>
                    </a:p>
                  </a:txBody>
                  <a:tcPr marL="72000" marR="72000" marT="36000" marB="36000" anchor="ctr">
                    <a:solidFill>
                      <a:srgbClr val="3B41A0"/>
                    </a:solidFill>
                  </a:tcPr>
                </a:tc>
              </a:tr>
              <a:tr h="413999">
                <a:tc>
                  <a:txBody>
                    <a:bodyPr wrap="square"/>
                    <a:lstStyle/>
                    <a:p>
                      <a:pPr algn="l">
                        <a:lnSpc>
                          <a:spcPct val="100000"/>
                        </a:lnSpc>
                      </a:pPr>
                      <a:r>
                        <a:rPr sz="1350" b="0" i="0">
                          <a:solidFill>
                            <a:srgbClr val="FFFFFF"/>
                          </a:solidFill>
                          <a:latin typeface="Avenir"/>
                          <a:ea typeface="Avenir"/>
                          <a:cs typeface="Avenir"/>
                          <a:sym typeface="Avenir"/>
                        </a:rPr>
                        <a:t>1</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Starts up and opens the camera</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False</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2</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Arm returns to the scan pose</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True, twice</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3</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Recognises both token colours</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True</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4</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Finds wins and blocks correctly</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True</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5</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Ends the game on a full board</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True</a:t>
                      </a:r>
                    </a:p>
                  </a:txBody>
                  <a:tcPr marL="72000" marR="72000" marT="36000" marB="36000" anchor="ctr">
                    <a:solidFill>
                      <a:srgbClr val="2E338C"/>
                    </a:solidFill>
                  </a:tcPr>
                </a:tc>
              </a:tr>
            </a:tbl>
          </a:graphicData>
        </a:graphic>
      </p:graphicFrame>
      <p:sp>
        <p:nvSpPr>
          <p:cNvPr id="5" name="blk0219"/>
          <p:cNvSpPr txBox="1"/>
          <p:nvPr/>
        </p:nvSpPr>
        <p:spPr>
          <a:xfrm>
            <a:off x="687600" y="5544000"/>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One false out of five, and it is the first one — which means nothing after it ever ran. We will look at the other four too, because they passed in a file that had never executed.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20"/>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Claim 1</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the file that never ran</a:t>
            </a:r>
          </a:p>
        </p:txBody>
      </p:sp>
      <p:sp>
        <p:nvSpPr>
          <p:cNvPr id="3" name="blk0221"/>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program has no top-level </a:t>
            </a:r>
            <a:r>
              <a:rPr sz="1743" b="0" i="0">
                <a:solidFill>
                  <a:srgbClr val="FFFFFF"/>
                </a:solidFill>
                <a:latin typeface="Courier New"/>
                <a:ea typeface="Courier New"/>
                <a:cs typeface="Courier New"/>
                <a:sym typeface="Courier New"/>
              </a:rPr>
              <a:t>try</a:t>
            </a:r>
            <a:r>
              <a:rPr sz="2027" b="0" i="0">
                <a:solidFill>
                  <a:srgbClr val="FFFFFF"/>
                </a:solidFill>
                <a:latin typeface="Avenir"/>
                <a:ea typeface="Avenir"/>
                <a:cs typeface="Avenir"/>
                <a:sym typeface="Avenir"/>
              </a:rPr>
              <a:t> around its connection, and no handler around the startup block. So when it failed, it failed immediately and visibly:</a:t>
            </a:r>
          </a:p>
        </p:txBody>
      </p:sp>
      <p:sp>
        <p:nvSpPr>
          <p:cNvPr id="4" name="blk0222"/>
          <p:cNvSpPr/>
          <p:nvPr/>
        </p:nvSpPr>
        <p:spPr>
          <a:xfrm>
            <a:off x="687600" y="2736000"/>
            <a:ext cx="8686800" cy="1316683"/>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22"/>
          <p:cNvSpPr txBox="1"/>
          <p:nvPr/>
        </p:nvSpPr>
        <p:spPr>
          <a:xfrm>
            <a:off x="910799" y="2897999"/>
            <a:ext cx="8240400" cy="992683"/>
          </a:xfrm>
          <a:prstGeom prst="rect">
            <a:avLst/>
          </a:prstGeom>
          <a:noFill/>
        </p:spPr>
        <p:txBody>
          <a:bodyPr wrap="square" anchor="t" lIns="0" rIns="0" tIns="0" bIns="0">
            <a:noAutofit/>
          </a:bodyPr>
          <a:lstStyle/>
          <a:p>
            <a:pPr algn="l">
              <a:lnSpc>
                <a:spcPct val="115000"/>
              </a:lnSpc>
            </a:pPr>
            <a:r>
              <a:rPr sz="1200" b="0" i="0">
                <a:solidFill>
                  <a:srgbClr val="FFFFFF"/>
                </a:solidFill>
                <a:latin typeface="Courier New"/>
                <a:ea typeface="Courier New"/>
                <a:cs typeface="Courier New"/>
                <a:sym typeface="Courier New"/>
              </a:rPr>
              <a:t>Traceback (most recent call last):</a:t>
            </a:r>
          </a:p>
          <a:p>
            <a:pPr algn="l">
              <a:lnSpc>
                <a:spcPct val="115000"/>
              </a:lnSpc>
            </a:pPr>
            <a:r>
              <a:rPr sz="1200" b="0" i="0">
                <a:solidFill>
                  <a:srgbClr val="FFFFFF"/>
                </a:solidFill>
                <a:latin typeface="Courier New"/>
                <a:ea typeface="Courier New"/>
                <a:cs typeface="Courier New"/>
                <a:sym typeface="Courier New"/>
              </a:rPr>
              <a:t>  File "M2-P8-Base.py", line 83, in &lt;module&gt;</a:t>
            </a:r>
          </a:p>
          <a:p>
            <a:pPr algn="l">
              <a:lnSpc>
                <a:spcPct val="115000"/>
              </a:lnSpc>
            </a:pPr>
            <a:r>
              <a:rPr sz="1200" b="0" i="0">
                <a:solidFill>
                  <a:srgbClr val="FFFFFF"/>
                </a:solidFill>
                <a:latin typeface="Courier New"/>
                <a:ea typeface="Courier New"/>
                <a:cs typeface="Courier New"/>
                <a:sym typeface="Courier New"/>
              </a:rPr>
              <a:t>    set_pump(0)</a:t>
            </a:r>
          </a:p>
          <a:p>
            <a:pPr algn="l">
              <a:lnSpc>
                <a:spcPct val="115000"/>
              </a:lnSpc>
            </a:pPr>
            <a:r>
              <a:rPr sz="1200" b="0" i="0">
                <a:solidFill>
                  <a:srgbClr val="FFFFFF"/>
                </a:solidFill>
                <a:latin typeface="Courier New"/>
                <a:ea typeface="Courier New"/>
                <a:cs typeface="Courier New"/>
                <a:sym typeface="Courier New"/>
              </a:rPr>
              <a:t>    ^^^^^^^^^^</a:t>
            </a:r>
          </a:p>
          <a:p>
            <a:pPr algn="l">
              <a:lnSpc>
                <a:spcPct val="115000"/>
              </a:lnSpc>
            </a:pPr>
            <a:r>
              <a:rPr sz="1200" b="0" i="0">
                <a:solidFill>
                  <a:srgbClr val="FFFFFF"/>
                </a:solidFill>
                <a:latin typeface="Courier New"/>
                <a:ea typeface="Courier New"/>
                <a:cs typeface="Courier New"/>
                <a:sym typeface="Courier New"/>
              </a:rPr>
              <a:t>NameError: name 'set_pump' is not defined</a:t>
            </a:r>
          </a:p>
        </p:txBody>
      </p:sp>
      <p:sp>
        <p:nvSpPr>
          <p:cNvPr id="6" name="blk0223"/>
          <p:cNvSpPr txBox="1"/>
          <p:nvPr/>
        </p:nvSpPr>
        <p:spPr>
          <a:xfrm>
            <a:off x="687600" y="4160683"/>
            <a:ext cx="7542000" cy="3668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Line 83 calls it. Line 134 defines it. Python reads a file from the top down, executing each top-level statement as it goes — so when line 83 ran, the </a:t>
            </a:r>
            <a:r>
              <a:rPr sz="1743" b="0" i="0">
                <a:solidFill>
                  <a:srgbClr val="FFFFFF"/>
                </a:solidFill>
                <a:latin typeface="Courier New"/>
                <a:ea typeface="Courier New"/>
                <a:cs typeface="Courier New"/>
                <a:sym typeface="Courier New"/>
              </a:rPr>
              <a:t>def</a:t>
            </a:r>
            <a:r>
              <a:rPr sz="2027" b="0" i="0">
                <a:solidFill>
                  <a:srgbClr val="FFFFFF"/>
                </a:solidFill>
                <a:latin typeface="Avenir"/>
                <a:ea typeface="Avenir"/>
                <a:cs typeface="Avenir"/>
                <a:sym typeface="Avenir"/>
              </a:rPr>
              <a:t> statement fifty-one lines below it had not been reached yet.</a:t>
            </a:r>
          </a:p>
        </p:txBody>
      </p:sp>
      <p:sp>
        <p:nvSpPr>
          <p:cNvPr id="7" name="blk0224"/>
          <p:cNvSpPr/>
          <p:nvPr/>
        </p:nvSpPr>
        <p:spPr>
          <a:xfrm>
            <a:off x="687600" y="5504342"/>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224"/>
          <p:cNvSpPr/>
          <p:nvPr/>
        </p:nvSpPr>
        <p:spPr>
          <a:xfrm>
            <a:off x="885600" y="5955422"/>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224"/>
          <p:cNvSpPr txBox="1"/>
          <p:nvPr/>
        </p:nvSpPr>
        <p:spPr>
          <a:xfrm>
            <a:off x="1162800" y="5648342"/>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This is a different order of bug from anything else in the module. Not a wrong value, not a missing bracket — a function that did not exist yet at the moment it was called.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25"/>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What the trace teaches</a:t>
            </a:r>
          </a:p>
        </p:txBody>
      </p:sp>
      <p:sp>
        <p:nvSpPr>
          <p:cNvPr id="3" name="blk0226"/>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functions in this file are called before they are defined, and only one of them is a bug:</a:t>
            </a:r>
          </a:p>
        </p:txBody>
      </p:sp>
      <p:sp>
        <p:nvSpPr>
          <p:cNvPr id="4" name="blk0227"/>
          <p:cNvSpPr/>
          <p:nvPr/>
        </p:nvSpPr>
        <p:spPr>
          <a:xfrm>
            <a:off x="687600" y="2448000"/>
            <a:ext cx="8686800" cy="969244"/>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27"/>
          <p:cNvSpPr txBox="1"/>
          <p:nvPr/>
        </p:nvSpPr>
        <p:spPr>
          <a:xfrm>
            <a:off x="910799" y="2610000"/>
            <a:ext cx="8240400" cy="645244"/>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    board[r][c] = player</a:t>
            </a:r>
          </a:p>
          <a:p>
            <a:pPr algn="l">
              <a:lnSpc>
                <a:spcPct val="115000"/>
              </a:lnSpc>
            </a:pPr>
            <a:r>
              <a:rPr sz="1300" b="0" i="0">
                <a:solidFill>
                  <a:srgbClr val="FFFFFF"/>
                </a:solidFill>
                <a:latin typeface="Courier New"/>
                <a:ea typeface="Courier New"/>
                <a:cs typeface="Courier New"/>
                <a:sym typeface="Courier New"/>
              </a:rPr>
              <a:t>    if check_winner(board) == player:</a:t>
            </a:r>
          </a:p>
          <a:p>
            <a:pPr algn="l">
              <a:lnSpc>
                <a:spcPct val="115000"/>
              </a:lnSpc>
            </a:pPr>
            <a:r>
              <a:rPr sz="1300" b="0" i="0">
                <a:solidFill>
                  <a:srgbClr val="FFFFFF"/>
                </a:solidFill>
                <a:latin typeface="Courier New"/>
                <a:ea typeface="Courier New"/>
                <a:cs typeface="Courier New"/>
                <a:sym typeface="Courier New"/>
              </a:rPr>
              <a:t>        return (r, c)</a:t>
            </a:r>
          </a:p>
        </p:txBody>
      </p:sp>
      <p:sp>
        <p:nvSpPr>
          <p:cNvPr id="6" name="blk0228"/>
          <p:cNvSpPr txBox="1"/>
          <p:nvPr/>
        </p:nvSpPr>
        <p:spPr>
          <a:xfrm>
            <a:off x="687600" y="3525244"/>
            <a:ext cx="7542000" cy="424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call is at line 177 and </a:t>
            </a:r>
            <a:r>
              <a:rPr sz="1743" b="0" i="0">
                <a:solidFill>
                  <a:srgbClr val="FFFFFF"/>
                </a:solidFill>
                <a:latin typeface="Courier New"/>
                <a:ea typeface="Courier New"/>
                <a:cs typeface="Courier New"/>
                <a:sym typeface="Courier New"/>
              </a:rPr>
              <a:t>check_winner</a:t>
            </a:r>
            <a:r>
              <a:rPr sz="2027" b="0" i="0">
                <a:solidFill>
                  <a:srgbClr val="FFFFFF"/>
                </a:solidFill>
                <a:latin typeface="Avenir"/>
                <a:ea typeface="Avenir"/>
                <a:cs typeface="Avenir"/>
                <a:sym typeface="Avenir"/>
              </a:rPr>
              <a:t> is defined at line 195 — the same problem, eighteen lines apart. And it has never caused a single error.</a:t>
            </a:r>
          </a:p>
        </p:txBody>
      </p:sp>
      <p:sp>
        <p:nvSpPr>
          <p:cNvPr id="7" name="blk0229"/>
          <p:cNvSpPr/>
          <p:nvPr/>
        </p:nvSpPr>
        <p:spPr>
          <a:xfrm>
            <a:off x="741600" y="4588788"/>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229"/>
          <p:cNvSpPr txBox="1"/>
          <p:nvPr/>
        </p:nvSpPr>
        <p:spPr>
          <a:xfrm>
            <a:off x="1252800" y="4559988"/>
            <a:ext cx="8118000" cy="936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It is inside a function body.</a:t>
            </a:r>
            <a:r>
              <a:rPr sz="1600" b="0" i="0">
                <a:solidFill>
                  <a:srgbClr val="FFFFFF"/>
                </a:solidFill>
                <a:latin typeface="Avenir"/>
                <a:ea typeface="Avenir"/>
                <a:cs typeface="Avenir"/>
                <a:sym typeface="Avenir"/>
              </a:rPr>
              <a:t> Those lines are not executed when the file loads. They run when </a:t>
            </a:r>
            <a:r>
              <a:rPr sz="1376" b="0" i="0">
                <a:solidFill>
                  <a:srgbClr val="FFFFFF"/>
                </a:solidFill>
                <a:latin typeface="Courier New"/>
                <a:ea typeface="Courier New"/>
                <a:cs typeface="Courier New"/>
                <a:sym typeface="Courier New"/>
              </a:rPr>
              <a:t>find_best_move</a:t>
            </a:r>
            <a:r>
              <a:rPr sz="1600" b="0" i="0">
                <a:solidFill>
                  <a:srgbClr val="FFFFFF"/>
                </a:solidFill>
                <a:latin typeface="Avenir"/>
                <a:ea typeface="Avenir"/>
                <a:cs typeface="Avenir"/>
                <a:sym typeface="Avenir"/>
              </a:rPr>
              <a:t> is called, which is long after both functions exist.</a:t>
            </a:r>
          </a:p>
        </p:txBody>
      </p:sp>
      <p:sp>
        <p:nvSpPr>
          <p:cNvPr id="9" name="blk0230"/>
          <p:cNvSpPr/>
          <p:nvPr/>
        </p:nvSpPr>
        <p:spPr>
          <a:xfrm>
            <a:off x="741600" y="5574612"/>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230"/>
          <p:cNvSpPr txBox="1"/>
          <p:nvPr/>
        </p:nvSpPr>
        <p:spPr>
          <a:xfrm>
            <a:off x="1252800" y="5545812"/>
            <a:ext cx="8118000" cy="936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set_pump(0) was at module level.</a:t>
            </a:r>
            <a:r>
              <a:rPr sz="1600" b="0" i="0">
                <a:solidFill>
                  <a:srgbClr val="FFFFFF"/>
                </a:solidFill>
                <a:latin typeface="Avenir"/>
                <a:ea typeface="Avenir"/>
                <a:cs typeface="Avenir"/>
                <a:sym typeface="Avenir"/>
              </a:rPr>
              <a:t> Not in a function. It ran during load, in document order, and the name had not been created yet.</a:t>
            </a:r>
          </a:p>
        </p:txBody>
      </p:sp>
      <p:sp>
        <p:nvSpPr>
          <p:cNvPr id="11" name="blk0231"/>
          <p:cNvSpPr/>
          <p:nvPr/>
        </p:nvSpPr>
        <p:spPr>
          <a:xfrm>
            <a:off x="687600" y="6623999"/>
            <a:ext cx="8686800" cy="76464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231"/>
          <p:cNvSpPr/>
          <p:nvPr/>
        </p:nvSpPr>
        <p:spPr>
          <a:xfrm>
            <a:off x="885600" y="6937919"/>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231"/>
          <p:cNvSpPr txBox="1"/>
          <p:nvPr/>
        </p:nvSpPr>
        <p:spPr>
          <a:xfrm>
            <a:off x="1162800" y="6767999"/>
            <a:ext cx="7956000" cy="47664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Same mistake, opposite outcome, decided entirely by indentation. That is the entire lesson.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32"/>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 fix</a:t>
            </a:r>
          </a:p>
        </p:txBody>
      </p:sp>
      <p:sp>
        <p:nvSpPr>
          <p:cNvPr id="3" name="blk0233"/>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correction is two deleted lines. Here is the block as it appeared before this project was corrected:</a:t>
            </a:r>
          </a:p>
        </p:txBody>
      </p:sp>
      <p:sp>
        <p:nvSpPr>
          <p:cNvPr id="4" name="blk0234"/>
          <p:cNvSpPr/>
          <p:nvPr/>
        </p:nvSpPr>
        <p:spPr>
          <a:xfrm>
            <a:off x="687600" y="2448000"/>
            <a:ext cx="8686800" cy="1151236"/>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34"/>
          <p:cNvSpPr txBox="1"/>
          <p:nvPr/>
        </p:nvSpPr>
        <p:spPr>
          <a:xfrm>
            <a:off x="910799" y="2610000"/>
            <a:ext cx="8240400" cy="827236"/>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    POS_HOME_CARTESIAN = [66, -62, 235, 180, 0, 90]  # fallback</a:t>
            </a:r>
          </a:p>
          <a:p>
            <a:pPr algn="l">
              <a:lnSpc>
                <a:spcPct val="115000"/>
              </a:lnSpc>
            </a:pPr>
            <a:r>
              <a:rPr sz="1250" b="0" i="0">
                <a:solidFill>
                  <a:srgbClr val="FFFFFF"/>
                </a:solidFill>
                <a:latin typeface="Courier New"/>
                <a:ea typeface="Courier New"/>
                <a:cs typeface="Courier New"/>
                <a:sym typeface="Courier New"/>
              </a:rPr>
              <a:t>    set_pump(0)</a:t>
            </a:r>
          </a:p>
          <a:p>
            <a:pPr algn="l">
              <a:lnSpc>
                <a:spcPct val="115000"/>
              </a:lnSpc>
            </a:pPr>
            <a:r>
              <a:rPr sz="1250" b="0" i="0">
                <a:solidFill>
                  <a:srgbClr val="FFFFFF"/>
                </a:solidFill>
                <a:latin typeface="Courier New"/>
                <a:ea typeface="Courier New"/>
                <a:cs typeface="Courier New"/>
                <a:sym typeface="Courier New"/>
              </a:rPr>
              <a:t>    time.sleep(1.0)</a:t>
            </a:r>
          </a:p>
          <a:p>
            <a:pPr algn="l">
              <a:lnSpc>
                <a:spcPct val="115000"/>
              </a:lnSpc>
            </a:pPr>
            <a:r>
              <a:rPr sz="1250" b="0" i="0">
                <a:solidFill>
                  <a:srgbClr val="FFFFFF"/>
                </a:solidFill>
                <a:latin typeface="Courier New"/>
                <a:ea typeface="Courier New"/>
                <a:cs typeface="Courier New"/>
                <a:sym typeface="Courier New"/>
              </a:rPr>
              <a:t># ---</a:t>
            </a:r>
          </a:p>
        </p:txBody>
      </p:sp>
      <p:sp>
        <p:nvSpPr>
          <p:cNvPr id="6" name="blk0235"/>
          <p:cNvSpPr txBox="1"/>
          <p:nvPr/>
        </p:nvSpPr>
        <p:spPr>
          <a:xfrm>
            <a:off x="687600" y="3707236"/>
            <a:ext cx="7542000" cy="424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And here it is in the file you have now — the same block with those two lines gone:</a:t>
            </a:r>
          </a:p>
        </p:txBody>
      </p:sp>
      <p:sp>
        <p:nvSpPr>
          <p:cNvPr id="7" name="blk0236"/>
          <p:cNvSpPr/>
          <p:nvPr/>
        </p:nvSpPr>
        <p:spPr>
          <a:xfrm>
            <a:off x="687600" y="4433065"/>
            <a:ext cx="8686800" cy="73761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236"/>
          <p:cNvSpPr txBox="1"/>
          <p:nvPr/>
        </p:nvSpPr>
        <p:spPr>
          <a:xfrm>
            <a:off x="910799" y="4595065"/>
            <a:ext cx="8240400" cy="413618"/>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    POS_HOME_CARTESIAN = [66, -62, 235, 180, 0, 90]  # fallback</a:t>
            </a:r>
          </a:p>
          <a:p>
            <a:pPr algn="l">
              <a:lnSpc>
                <a:spcPct val="115000"/>
              </a:lnSpc>
            </a:pPr>
            <a:r>
              <a:rPr sz="1250" b="0" i="0">
                <a:solidFill>
                  <a:srgbClr val="FFFFFF"/>
                </a:solidFill>
                <a:latin typeface="Courier New"/>
                <a:ea typeface="Courier New"/>
                <a:cs typeface="Courier New"/>
                <a:sym typeface="Courier New"/>
              </a:rPr>
              <a:t># ---</a:t>
            </a:r>
          </a:p>
        </p:txBody>
      </p:sp>
      <p:sp>
        <p:nvSpPr>
          <p:cNvPr id="9" name="blk0237"/>
          <p:cNvSpPr txBox="1"/>
          <p:nvPr/>
        </p:nvSpPr>
        <p:spPr>
          <a:xfrm>
            <a:off x="687600" y="5278683"/>
            <a:ext cx="7542000" cy="273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That is the whole fix. Nothing was moved or renamed: line 287 does the same job, after the camera opens, once it has been defined for 150 lines.</a:t>
            </a:r>
          </a:p>
        </p:txBody>
      </p:sp>
      <p:sp>
        <p:nvSpPr>
          <p:cNvPr id="10" name="blk0238"/>
          <p:cNvSpPr/>
          <p:nvPr/>
        </p:nvSpPr>
        <p:spPr>
          <a:xfrm>
            <a:off x="687600" y="6313428"/>
            <a:ext cx="8686800" cy="864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238"/>
          <p:cNvSpPr/>
          <p:nvPr/>
        </p:nvSpPr>
        <p:spPr>
          <a:xfrm>
            <a:off x="885600" y="6677028"/>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238"/>
          <p:cNvSpPr txBox="1"/>
          <p:nvPr/>
        </p:nvSpPr>
        <p:spPr>
          <a:xfrm>
            <a:off x="1162800" y="6457428"/>
            <a:ext cx="7956000" cy="576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And it was redundant even on the timing question. Step 3 already drove both pins OFF during GPIO setup, so the early call was not "too soon" — it was unnecessary.</a:t>
            </a:r>
          </a:p>
        </p:txBody>
      </p:sp>
      <p:sp>
        <p:nvSpPr>
          <p:cNvPr id="13" name="blk0239"/>
          <p:cNvSpPr txBox="1"/>
          <p:nvPr/>
        </p:nvSpPr>
        <p:spPr>
          <a:xfrm>
            <a:off x="687600" y="7285428"/>
            <a:ext cx="7542000" cy="36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Two problems in one line, which is why it survived being written.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40"/>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Claim 2</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true, but twice</a:t>
            </a:r>
          </a:p>
        </p:txBody>
      </p:sp>
      <p:sp>
        <p:nvSpPr>
          <p:cNvPr id="3" name="blk0241"/>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arm does reach the scan pose. It also does it </a:t>
            </a:r>
            <a:r>
              <a:rPr sz="2027" b="1" i="0">
                <a:solidFill>
                  <a:srgbClr val="FFFFFF"/>
                </a:solidFill>
                <a:latin typeface="Google Sans"/>
                <a:ea typeface="Google Sans"/>
                <a:cs typeface="Google Sans"/>
                <a:sym typeface="Google Sans"/>
              </a:rPr>
              <a:t>twice</a:t>
            </a:r>
            <a:r>
              <a:rPr sz="2027" b="0" i="0">
                <a:solidFill>
                  <a:srgbClr val="FFFFFF"/>
                </a:solidFill>
                <a:latin typeface="Avenir"/>
                <a:ea typeface="Avenir"/>
                <a:cs typeface="Avenir"/>
                <a:sym typeface="Avenir"/>
              </a:rPr>
              <a:t>, and the startup log shows both:</a:t>
            </a:r>
          </a:p>
        </p:txBody>
      </p:sp>
      <p:sp>
        <p:nvSpPr>
          <p:cNvPr id="4" name="blk0242"/>
          <p:cNvSpPr/>
          <p:nvPr/>
        </p:nvSpPr>
        <p:spPr>
          <a:xfrm>
            <a:off x="687600" y="2664000"/>
            <a:ext cx="8686800" cy="148213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42"/>
          <p:cNvSpPr txBox="1"/>
          <p:nvPr/>
        </p:nvSpPr>
        <p:spPr>
          <a:xfrm>
            <a:off x="910799" y="2826000"/>
            <a:ext cx="8240400" cy="1158130"/>
          </a:xfrm>
          <a:prstGeom prst="rect">
            <a:avLst/>
          </a:prstGeom>
          <a:noFill/>
        </p:spPr>
        <p:txBody>
          <a:bodyPr wrap="square" anchor="t" lIns="0" rIns="0" tIns="0" bIns="0">
            <a:noAutofit/>
          </a:bodyPr>
          <a:lstStyle/>
          <a:p>
            <a:pPr algn="l">
              <a:lnSpc>
                <a:spcPct val="115000"/>
              </a:lnSpc>
            </a:pPr>
            <a:r>
              <a:rPr sz="1000" b="0" i="0">
                <a:solidFill>
                  <a:srgbClr val="FFFFFF"/>
                </a:solidFill>
                <a:latin typeface="Courier New"/>
                <a:ea typeface="Courier New"/>
                <a:cs typeface="Courier New"/>
                <a:sym typeface="Courier New"/>
              </a:rPr>
              <a:t>Moving to home angles: [0, 45, -90, -45, 0, 0]</a:t>
            </a:r>
          </a:p>
          <a:p>
            <a:pPr algn="l">
              <a:lnSpc>
                <a:spcPct val="115000"/>
              </a:lnSpc>
            </a:pPr>
            <a:r>
              <a:rPr sz="1000" b="0" i="0">
                <a:solidFill>
                  <a:srgbClr val="FFFFFF"/>
                </a:solidFill>
                <a:latin typeface="Courier New"/>
                <a:ea typeface="Courier New"/>
                <a:cs typeface="Courier New"/>
                <a:sym typeface="Courier New"/>
              </a:rPr>
              <a:t>  Sending send_angles command...</a:t>
            </a:r>
          </a:p>
          <a:p>
            <a:pPr algn="l">
              <a:lnSpc>
                <a:spcPct val="115000"/>
              </a:lnSpc>
            </a:pPr>
            <a:r>
              <a:rPr sz="1000" b="0" i="0">
                <a:solidFill>
                  <a:srgbClr val="FFFFFF"/>
                </a:solidFill>
                <a:latin typeface="Courier New"/>
                <a:ea typeface="Courier New"/>
                <a:cs typeface="Courier New"/>
                <a:sym typeface="Courier New"/>
              </a:rPr>
              <a:t>  send_angles returned: 1</a:t>
            </a:r>
          </a:p>
          <a:p>
            <a:pPr algn="l">
              <a:lnSpc>
                <a:spcPct val="115000"/>
              </a:lnSpc>
            </a:pPr>
            <a:r>
              <a:rPr sz="1000" b="0" i="0">
                <a:solidFill>
                  <a:srgbClr val="FFFFFF"/>
                </a:solidFill>
                <a:latin typeface="Courier New"/>
                <a:ea typeface="Courier New"/>
                <a:cs typeface="Courier New"/>
                <a:sym typeface="Courier New"/>
              </a:rPr>
              <a:t>Home position (cartesian): [66.0, -62.0, 235.0, ...]</a:t>
            </a:r>
          </a:p>
          <a:p>
            <a:pPr algn="l">
              <a:lnSpc>
                <a:spcPct val="115000"/>
              </a:lnSpc>
            </a:pPr>
            <a:r>
              <a:rPr sz="1000" b="0" i="0">
                <a:solidFill>
                  <a:srgbClr val="FFFFFF"/>
                </a:solidFill>
                <a:latin typeface="Courier New"/>
                <a:ea typeface="Courier New"/>
                <a:cs typeface="Courier New"/>
                <a:sym typeface="Courier New"/>
              </a:rPr>
              <a:t>Angles after move: [0.0, 45.0, -90.0, ...]</a:t>
            </a:r>
          </a:p>
          <a:p>
            <a:pPr algn="l">
              <a:lnSpc>
                <a:spcPct val="115000"/>
              </a:lnSpc>
            </a:pPr>
            <a:r>
              <a:rPr sz="1000" b="0" i="0">
                <a:solidFill>
                  <a:srgbClr val="FFFFFF"/>
                </a:solidFill>
                <a:latin typeface="Courier New"/>
                <a:ea typeface="Courier New"/>
                <a:cs typeface="Courier New"/>
                <a:sym typeface="Courier New"/>
              </a:rPr>
              <a:t>Moving to home angles: [0, 45, -90, -45, 0, 0]</a:t>
            </a:r>
          </a:p>
          <a:p>
            <a:pPr algn="l">
              <a:lnSpc>
                <a:spcPct val="115000"/>
              </a:lnSpc>
            </a:pPr>
            <a:r>
              <a:rPr sz="1000" b="0" i="0">
                <a:solidFill>
                  <a:srgbClr val="FFFFFF"/>
                </a:solidFill>
                <a:latin typeface="Courier New"/>
                <a:ea typeface="Courier New"/>
                <a:cs typeface="Courier New"/>
                <a:sym typeface="Courier New"/>
              </a:rPr>
              <a:t>  Sending send_angles command...</a:t>
            </a:r>
          </a:p>
        </p:txBody>
      </p:sp>
      <p:sp>
        <p:nvSpPr>
          <p:cNvPr id="6" name="blk0243"/>
          <p:cNvSpPr txBox="1"/>
          <p:nvPr/>
        </p:nvSpPr>
        <p:spPr>
          <a:xfrm>
            <a:off x="687600" y="4254130"/>
            <a:ext cx="7542000" cy="345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Five seconds of arm movement, then another five. The entire home sequence appears twice in the file — once inside the Step 4 TODO block near the top, and again as given code after the camera is opened.</a:t>
            </a:r>
          </a:p>
        </p:txBody>
      </p:sp>
      <p:sp>
        <p:nvSpPr>
          <p:cNvPr id="7" name="blk0244"/>
          <p:cNvSpPr/>
          <p:nvPr/>
        </p:nvSpPr>
        <p:spPr>
          <a:xfrm>
            <a:off x="687600" y="5597789"/>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244"/>
          <p:cNvSpPr/>
          <p:nvPr/>
        </p:nvSpPr>
        <p:spPr>
          <a:xfrm>
            <a:off x="885600" y="6048869"/>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244"/>
          <p:cNvSpPr txBox="1"/>
          <p:nvPr/>
        </p:nvSpPr>
        <p:spPr>
          <a:xfrm>
            <a:off x="1162800" y="5741789"/>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Worse than slow. The second block re-reads </a:t>
            </a:r>
            <a:r>
              <a:rPr sz="1290" b="0" i="1">
                <a:solidFill>
                  <a:srgbClr val="FFCF08"/>
                </a:solidFill>
                <a:latin typeface="Courier New"/>
                <a:ea typeface="Courier New"/>
                <a:cs typeface="Courier New"/>
                <a:sym typeface="Courier New"/>
              </a:rPr>
              <a:t>get_coords</a:t>
            </a:r>
            <a:r>
              <a:rPr sz="1500" b="0" i="1">
                <a:solidFill>
                  <a:srgbClr val="FFCF08"/>
                </a:solidFill>
                <a:latin typeface="Avenir"/>
                <a:ea typeface="Avenir"/>
                <a:cs typeface="Avenir"/>
                <a:sym typeface="Avenir"/>
              </a:rPr>
              <a:t> and overwrites </a:t>
            </a:r>
            <a:r>
              <a:rPr sz="1290" b="0" i="1">
                <a:solidFill>
                  <a:srgbClr val="FFCF08"/>
                </a:solidFill>
                <a:latin typeface="Courier New"/>
                <a:ea typeface="Courier New"/>
                <a:cs typeface="Courier New"/>
                <a:sym typeface="Courier New"/>
              </a:rPr>
              <a:t>POS_HOME_CARTESIAN</a:t>
            </a:r>
            <a:r>
              <a:rPr sz="1500" b="0" i="1">
                <a:solidFill>
                  <a:srgbClr val="FFCF08"/>
                </a:solidFill>
                <a:latin typeface="Avenir"/>
                <a:ea typeface="Avenir"/>
                <a:cs typeface="Avenir"/>
                <a:sym typeface="Avenir"/>
              </a:rPr>
              <a:t> with the same answer. It works by coincidence, not by design, and the ten seconds is the visible symptom of the copy.</a:t>
            </a:r>
          </a:p>
        </p:txBody>
      </p:sp>
      <p:sp>
        <p:nvSpPr>
          <p:cNvPr id="10" name="blk0245"/>
          <p:cNvSpPr txBox="1"/>
          <p:nvPr/>
        </p:nvSpPr>
        <p:spPr>
          <a:xfrm>
            <a:off x="687600" y="6744748"/>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Left in the corrected file on purpose. Inefficient and harmless: find it, choose which copy goes, and be certain before deleting.</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4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Claims 3 to 5</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and these held</a:t>
            </a:r>
          </a:p>
        </p:txBody>
      </p:sp>
      <p:sp>
        <p:nvSpPr>
          <p:cNvPr id="3" name="blk024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Three claims about behaviour, checked directly:</a:t>
            </a:r>
          </a:p>
        </p:txBody>
      </p:sp>
      <p:sp>
        <p:nvSpPr>
          <p:cNvPr id="4" name="blk0248"/>
          <p:cNvSpPr txBox="1"/>
          <p:nvPr/>
        </p:nvSpPr>
        <p:spPr>
          <a:xfrm>
            <a:off x="687600" y="2376000"/>
            <a:ext cx="457200" cy="3276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1.</a:t>
            </a:r>
          </a:p>
        </p:txBody>
      </p:sp>
      <p:sp>
        <p:nvSpPr>
          <p:cNvPr id="5" name="blk0248"/>
          <p:cNvSpPr txBox="1"/>
          <p:nvPr/>
        </p:nvSpPr>
        <p:spPr>
          <a:xfrm>
            <a:off x="1252800" y="2376000"/>
            <a:ext cx="8118000" cy="720000"/>
          </a:xfrm>
          <a:prstGeom prst="rect">
            <a:avLst/>
          </a:prstGeom>
          <a:noFill/>
        </p:spPr>
        <p:txBody>
          <a:bodyPr wrap="square" anchor="t" lIns="0" rIns="0" tIns="0" bIns="0">
            <a:noAutofit/>
          </a:bodyPr>
          <a:lstStyle/>
          <a:p>
            <a:pPr algn="l">
              <a:lnSpc>
                <a:spcPct val="120000"/>
              </a:lnSpc>
            </a:pPr>
            <a:r>
              <a:rPr sz="1650" b="1" i="0">
                <a:solidFill>
                  <a:srgbClr val="FFFFFF"/>
                </a:solidFill>
                <a:latin typeface="Google Sans"/>
                <a:ea typeface="Google Sans"/>
                <a:cs typeface="Google Sans"/>
                <a:sym typeface="Google Sans"/>
              </a:rPr>
              <a:t>Both colours are recognised.</a:t>
            </a:r>
            <a:r>
              <a:rPr sz="1650" b="0" i="0">
                <a:solidFill>
                  <a:srgbClr val="FFFFFF"/>
                </a:solidFill>
                <a:latin typeface="Avenir"/>
                <a:ea typeface="Avenir"/>
                <a:cs typeface="Avenir"/>
                <a:sym typeface="Avenir"/>
              </a:rPr>
              <a:t>  Green above 800 pixels and above red reads as X; red above 800 and above green reads as O. The grid constants are identical to Project 7.</a:t>
            </a:r>
          </a:p>
        </p:txBody>
      </p:sp>
      <p:sp>
        <p:nvSpPr>
          <p:cNvPr id="6" name="blk0249"/>
          <p:cNvSpPr txBox="1"/>
          <p:nvPr/>
        </p:nvSpPr>
        <p:spPr>
          <a:xfrm>
            <a:off x="687600" y="3456000"/>
            <a:ext cx="457200" cy="3276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2.</a:t>
            </a:r>
          </a:p>
        </p:txBody>
      </p:sp>
      <p:sp>
        <p:nvSpPr>
          <p:cNvPr id="7" name="blk0249"/>
          <p:cNvSpPr txBox="1"/>
          <p:nvPr/>
        </p:nvSpPr>
        <p:spPr>
          <a:xfrm>
            <a:off x="1252800" y="3456000"/>
            <a:ext cx="8118000" cy="720000"/>
          </a:xfrm>
          <a:prstGeom prst="rect">
            <a:avLst/>
          </a:prstGeom>
          <a:noFill/>
        </p:spPr>
        <p:txBody>
          <a:bodyPr wrap="square" anchor="t" lIns="0" rIns="0" tIns="0" bIns="0">
            <a:noAutofit/>
          </a:bodyPr>
          <a:lstStyle/>
          <a:p>
            <a:pPr algn="l">
              <a:lnSpc>
                <a:spcPct val="120000"/>
              </a:lnSpc>
            </a:pPr>
            <a:r>
              <a:rPr sz="1650" b="1" i="0">
                <a:solidFill>
                  <a:srgbClr val="FFFFFF"/>
                </a:solidFill>
                <a:latin typeface="Google Sans"/>
                <a:ea typeface="Google Sans"/>
                <a:cs typeface="Google Sans"/>
                <a:sym typeface="Google Sans"/>
              </a:rPr>
              <a:t>Wins and blocks are correct.</a:t>
            </a:r>
            <a:r>
              <a:rPr sz="1650" b="0" i="0">
                <a:solidFill>
                  <a:srgbClr val="FFFFFF"/>
                </a:solidFill>
                <a:latin typeface="Avenir"/>
                <a:ea typeface="Avenir"/>
                <a:cs typeface="Avenir"/>
                <a:sym typeface="Avenir"/>
              </a:rPr>
              <a:t>  Eight lines tested; the chained comparison requires three equal cells and none of them blank.</a:t>
            </a:r>
          </a:p>
        </p:txBody>
      </p:sp>
      <p:sp>
        <p:nvSpPr>
          <p:cNvPr id="8" name="blk0250"/>
          <p:cNvSpPr txBox="1"/>
          <p:nvPr/>
        </p:nvSpPr>
        <p:spPr>
          <a:xfrm>
            <a:off x="687600" y="4536000"/>
            <a:ext cx="457200" cy="3276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3.</a:t>
            </a:r>
          </a:p>
        </p:txBody>
      </p:sp>
      <p:sp>
        <p:nvSpPr>
          <p:cNvPr id="9" name="blk0250"/>
          <p:cNvSpPr txBox="1"/>
          <p:nvPr/>
        </p:nvSpPr>
        <p:spPr>
          <a:xfrm>
            <a:off x="1252800" y="4536000"/>
            <a:ext cx="8118000" cy="720000"/>
          </a:xfrm>
          <a:prstGeom prst="rect">
            <a:avLst/>
          </a:prstGeom>
          <a:noFill/>
        </p:spPr>
        <p:txBody>
          <a:bodyPr wrap="square" anchor="t" lIns="0" rIns="0" tIns="0" bIns="0">
            <a:noAutofit/>
          </a:bodyPr>
          <a:lstStyle/>
          <a:p>
            <a:pPr algn="l">
              <a:lnSpc>
                <a:spcPct val="120000"/>
              </a:lnSpc>
            </a:pPr>
            <a:r>
              <a:rPr sz="1650" b="1" i="0">
                <a:solidFill>
                  <a:srgbClr val="FFFFFF"/>
                </a:solidFill>
                <a:latin typeface="Google Sans"/>
                <a:ea typeface="Google Sans"/>
                <a:cs typeface="Google Sans"/>
                <a:sym typeface="Google Sans"/>
              </a:rPr>
              <a:t>A full board ends the game.</a:t>
            </a:r>
            <a:r>
              <a:rPr sz="1650" b="0" i="0">
                <a:solidFill>
                  <a:srgbClr val="FFFFFF"/>
                </a:solidFill>
                <a:latin typeface="Avenir"/>
                <a:ea typeface="Avenir"/>
                <a:cs typeface="Avenir"/>
                <a:sym typeface="Avenir"/>
              </a:rPr>
              <a:t>  </a:t>
            </a:r>
            <a:r>
              <a:rPr sz="1419" b="0" i="0">
                <a:solidFill>
                  <a:srgbClr val="FFFFFF"/>
                </a:solidFill>
                <a:latin typeface="Courier New"/>
                <a:ea typeface="Courier New"/>
                <a:cs typeface="Courier New"/>
                <a:sym typeface="Courier New"/>
              </a:rPr>
              <a:t>find_best_move</a:t>
            </a:r>
            <a:r>
              <a:rPr sz="1650" b="0" i="0">
                <a:solidFill>
                  <a:srgbClr val="FFFFFF"/>
                </a:solidFill>
                <a:latin typeface="Avenir"/>
                <a:ea typeface="Avenir"/>
                <a:cs typeface="Avenir"/>
                <a:sym typeface="Avenir"/>
              </a:rPr>
              <a:t> returns </a:t>
            </a:r>
            <a:r>
              <a:rPr sz="1419" b="0" i="0">
                <a:solidFill>
                  <a:srgbClr val="FFFFFF"/>
                </a:solidFill>
                <a:latin typeface="Courier New"/>
                <a:ea typeface="Courier New"/>
                <a:cs typeface="Courier New"/>
                <a:sym typeface="Courier New"/>
              </a:rPr>
              <a:t>None</a:t>
            </a:r>
            <a:r>
              <a:rPr sz="1650" b="0" i="0">
                <a:solidFill>
                  <a:srgbClr val="FFFFFF"/>
                </a:solidFill>
                <a:latin typeface="Avenir"/>
                <a:ea typeface="Avenir"/>
                <a:cs typeface="Avenir"/>
                <a:sym typeface="Avenir"/>
              </a:rPr>
              <a:t>, the caller prints "Game is a Draw!" and moves on.</a:t>
            </a:r>
          </a:p>
        </p:txBody>
      </p:sp>
      <p:sp>
        <p:nvSpPr>
          <p:cNvPr id="10" name="blk0251"/>
          <p:cNvSpPr txBox="1"/>
          <p:nvPr/>
        </p:nvSpPr>
        <p:spPr>
          <a:xfrm>
            <a:off x="687600" y="5616000"/>
            <a:ext cx="7542000" cy="115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All three passed. But they passed in a file that had never executed, which is the uncomfortable part: they are correct </a:t>
            </a:r>
            <a:r>
              <a:rPr sz="1650" b="1" i="0">
                <a:solidFill>
                  <a:srgbClr val="FFFFFF"/>
                </a:solidFill>
                <a:latin typeface="Google Sans"/>
                <a:ea typeface="Google Sans"/>
                <a:cs typeface="Google Sans"/>
                <a:sym typeface="Google Sans"/>
              </a:rPr>
              <a:t>by reading</a:t>
            </a:r>
            <a:r>
              <a:rPr sz="1650" b="0" i="0">
                <a:solidFill>
                  <a:srgbClr val="FFFFFF"/>
                </a:solidFill>
                <a:latin typeface="Avenir"/>
                <a:ea typeface="Avenir"/>
                <a:cs typeface="Avenir"/>
                <a:sym typeface="Avenir"/>
              </a:rPr>
              <a:t>. Reading is how you check code. Running is how you check that the code you read is the code that executes.</a:t>
            </a:r>
          </a:p>
        </p:txBody>
      </p:sp>
      <p:sp>
        <p:nvSpPr>
          <p:cNvPr id="11" name="blk0252"/>
          <p:cNvSpPr/>
          <p:nvPr/>
        </p:nvSpPr>
        <p:spPr>
          <a:xfrm>
            <a:off x="687600" y="6931008"/>
            <a:ext cx="8686800" cy="576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252"/>
          <p:cNvSpPr/>
          <p:nvPr/>
        </p:nvSpPr>
        <p:spPr>
          <a:xfrm>
            <a:off x="885600" y="7150608"/>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252"/>
          <p:cNvSpPr txBox="1"/>
          <p:nvPr/>
        </p:nvSpPr>
        <p:spPr>
          <a:xfrm>
            <a:off x="1162800" y="7075007"/>
            <a:ext cx="7956000" cy="288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Four of five claims were true, and the program still had never run.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5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 habit</a:t>
            </a:r>
          </a:p>
        </p:txBody>
      </p:sp>
      <p:sp>
        <p:nvSpPr>
          <p:cNvPr id="3" name="blk0254"/>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capstone needed one check, and it was not any of the ones the code invited you to make.</a:t>
            </a:r>
          </a:p>
        </p:txBody>
      </p:sp>
      <p:sp>
        <p:nvSpPr>
          <p:cNvPr id="4" name="blk0255"/>
          <p:cNvSpPr/>
          <p:nvPr/>
        </p:nvSpPr>
        <p:spPr>
          <a:xfrm>
            <a:off x="741600" y="2476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55"/>
          <p:cNvSpPr txBox="1"/>
          <p:nvPr/>
        </p:nvSpPr>
        <p:spPr>
          <a:xfrm>
            <a:off x="1252800" y="2448000"/>
            <a:ext cx="8118000" cy="864000"/>
          </a:xfrm>
          <a:prstGeom prst="rect">
            <a:avLst/>
          </a:prstGeom>
          <a:noFill/>
        </p:spPr>
        <p:txBody>
          <a:bodyPr wrap="square" anchor="t" lIns="0" rIns="0" tIns="0" bIns="0">
            <a:noAutofit/>
          </a:bodyPr>
          <a:lstStyle/>
          <a:p>
            <a:pPr algn="l">
              <a:lnSpc>
                <a:spcPct val="120000"/>
              </a:lnSpc>
            </a:pPr>
            <a:r>
              <a:rPr sz="1600" b="1" i="0">
                <a:solidFill>
                  <a:srgbClr val="FFCF08"/>
                </a:solidFill>
                <a:latin typeface="Avenir"/>
                <a:ea typeface="Avenir"/>
                <a:cs typeface="Avenir"/>
                <a:sym typeface="Avenir"/>
              </a:rPr>
              <a:t>Run the file.</a:t>
            </a:r>
            <a:r>
              <a:rPr sz="1600" b="0" i="0">
                <a:solidFill>
                  <a:srgbClr val="FFFFFF"/>
                </a:solidFill>
                <a:latin typeface="Avenir"/>
                <a:ea typeface="Avenir"/>
                <a:cs typeface="Avenir"/>
                <a:sym typeface="Avenir"/>
              </a:rPr>
              <a:t>  Not the function — the file. Call order, import time, and module-level statements only exist at the top level.</a:t>
            </a:r>
          </a:p>
        </p:txBody>
      </p:sp>
      <p:sp>
        <p:nvSpPr>
          <p:cNvPr id="6" name="blk0256"/>
          <p:cNvSpPr/>
          <p:nvPr/>
        </p:nvSpPr>
        <p:spPr>
          <a:xfrm>
            <a:off x="741600" y="3412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256"/>
          <p:cNvSpPr txBox="1"/>
          <p:nvPr/>
        </p:nvSpPr>
        <p:spPr>
          <a:xfrm>
            <a:off x="1252800" y="3384000"/>
            <a:ext cx="8118000" cy="864000"/>
          </a:xfrm>
          <a:prstGeom prst="rect">
            <a:avLst/>
          </a:prstGeom>
          <a:noFill/>
        </p:spPr>
        <p:txBody>
          <a:bodyPr wrap="square" anchor="t" lIns="0" rIns="0" tIns="0" bIns="0">
            <a:noAutofit/>
          </a:bodyPr>
          <a:lstStyle/>
          <a:p>
            <a:pPr algn="l">
              <a:lnSpc>
                <a:spcPct val="120000"/>
              </a:lnSpc>
            </a:pPr>
            <a:r>
              <a:rPr sz="1600" b="1" i="0">
                <a:solidFill>
                  <a:srgbClr val="FFCF08"/>
                </a:solidFill>
                <a:latin typeface="Avenir"/>
                <a:ea typeface="Avenir"/>
                <a:cs typeface="Avenir"/>
                <a:sym typeface="Avenir"/>
              </a:rPr>
              <a:t>Ask what runs, and when.</a:t>
            </a:r>
            <a:r>
              <a:rPr sz="1600" b="0" i="0">
                <a:solidFill>
                  <a:srgbClr val="FFFFFF"/>
                </a:solidFill>
                <a:latin typeface="Avenir"/>
                <a:ea typeface="Avenir"/>
                <a:cs typeface="Avenir"/>
                <a:sym typeface="Avenir"/>
              </a:rPr>
              <a:t>  Every top-level statement executes during load, in document order, before any function is called.</a:t>
            </a:r>
          </a:p>
        </p:txBody>
      </p:sp>
      <p:sp>
        <p:nvSpPr>
          <p:cNvPr id="8" name="blk0257"/>
          <p:cNvSpPr/>
          <p:nvPr/>
        </p:nvSpPr>
        <p:spPr>
          <a:xfrm>
            <a:off x="741600" y="4348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257"/>
          <p:cNvSpPr txBox="1"/>
          <p:nvPr/>
        </p:nvSpPr>
        <p:spPr>
          <a:xfrm>
            <a:off x="1252800" y="4320000"/>
            <a:ext cx="8118000" cy="864000"/>
          </a:xfrm>
          <a:prstGeom prst="rect">
            <a:avLst/>
          </a:prstGeom>
          <a:noFill/>
        </p:spPr>
        <p:txBody>
          <a:bodyPr wrap="square" anchor="t" lIns="0" rIns="0" tIns="0" bIns="0">
            <a:noAutofit/>
          </a:bodyPr>
          <a:lstStyle/>
          <a:p>
            <a:pPr algn="l">
              <a:lnSpc>
                <a:spcPct val="120000"/>
              </a:lnSpc>
            </a:pPr>
            <a:r>
              <a:rPr sz="1600" b="1" i="0">
                <a:solidFill>
                  <a:srgbClr val="FFCF08"/>
                </a:solidFill>
                <a:latin typeface="Avenir"/>
                <a:ea typeface="Avenir"/>
                <a:cs typeface="Avenir"/>
                <a:sym typeface="Avenir"/>
              </a:rPr>
              <a:t>Indentation is the whole difference.</a:t>
            </a:r>
            <a:r>
              <a:rPr sz="1600" b="0" i="0">
                <a:solidFill>
                  <a:srgbClr val="FFFFFF"/>
                </a:solidFill>
                <a:latin typeface="Avenir"/>
                <a:ea typeface="Avenir"/>
                <a:cs typeface="Avenir"/>
                <a:sym typeface="Avenir"/>
              </a:rPr>
              <a:t>  Two calls precede their definitions. One crashed and one never could.</a:t>
            </a:r>
          </a:p>
        </p:txBody>
      </p:sp>
      <p:sp>
        <p:nvSpPr>
          <p:cNvPr id="10" name="blk0258"/>
          <p:cNvSpPr txBox="1"/>
          <p:nvPr/>
        </p:nvSpPr>
        <p:spPr>
          <a:xfrm>
            <a:off x="687600" y="5400000"/>
            <a:ext cx="7542000" cy="115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is the last bug of the module and the simplest one to catch. Not because it is subtle, but because the check is obvious once you know to do it: start the program. Every piece of hardware in this course has to be switched on before any of it can be trusted.</a:t>
            </a:r>
          </a:p>
        </p:txBody>
      </p:sp>
      <p:sp>
        <p:nvSpPr>
          <p:cNvPr id="11" name="blk0259"/>
          <p:cNvSpPr/>
          <p:nvPr/>
        </p:nvSpPr>
        <p:spPr>
          <a:xfrm>
            <a:off x="687600" y="6768000"/>
            <a:ext cx="8686800" cy="76464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259"/>
          <p:cNvSpPr/>
          <p:nvPr/>
        </p:nvSpPr>
        <p:spPr>
          <a:xfrm>
            <a:off x="885600" y="708192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259"/>
          <p:cNvSpPr txBox="1"/>
          <p:nvPr/>
        </p:nvSpPr>
        <p:spPr>
          <a:xfrm>
            <a:off x="1162800" y="6912000"/>
            <a:ext cx="7956000" cy="47664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Four hundred lines of capstone code, one missing function, and the whole thing had never been started.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60"/>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 Brief</a:t>
            </a:r>
          </a:p>
        </p:txBody>
      </p:sp>
      <p:sp>
        <p:nvSpPr>
          <p:cNvPr id="3" name="blk0261"/>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1" i="0">
                <a:solidFill>
                  <a:srgbClr val="FFCF08"/>
                </a:solidFill>
                <a:latin typeface="Avenir"/>
                <a:ea typeface="Avenir"/>
                <a:cs typeface="Avenir"/>
                <a:sym typeface="Avenir"/>
              </a:rPr>
              <a:t>The Capstone</a:t>
            </a:r>
            <a:r>
              <a:rPr sz="2027" b="0" i="0">
                <a:solidFill>
                  <a:srgbClr val="FFFFFF"/>
                </a:solidFill>
                <a:latin typeface="Avenir"/>
                <a:ea typeface="Avenir"/>
                <a:cs typeface="Avenir"/>
                <a:sym typeface="Avenir"/>
              </a:rPr>
              <a:t>
</a:t>
            </a:r>
          </a:p>
          <a:p>
            <a:pPr algn="l">
              <a:lnSpc>
                <a:spcPct val="100000"/>
              </a:lnSpc>
            </a:pPr>
            <a:r>
              <a:rPr sz="2027" b="0" i="0">
                <a:solidFill>
                  <a:srgbClr val="FFFFFF"/>
                </a:solidFill>
                <a:latin typeface="Avenir"/>
                <a:ea typeface="Avenir"/>
                <a:cs typeface="Avenir"/>
                <a:sym typeface="Avenir"/>
              </a:rPr>
              <a:t>A camera reads nine cells. A twenty-line opponent picks a square. The arm reaches into a rack, picks up a token with a vacuum pump, carries it eighteen seconds across the table, and puts it down.</a:t>
            </a:r>
          </a:p>
          <a:p>
            <a:pPr algn="l">
              <a:lnSpc>
                <a:spcPct val="100000"/>
              </a:lnSpc>
            </a:pPr>
            <a:r>
              <a:rPr sz="2027" b="0" i="0">
                <a:solidFill>
                  <a:srgbClr val="FFFFFF"/>
                </a:solidFill>
                <a:latin typeface="Avenir"/>
                <a:ea typeface="Avenir"/>
                <a:cs typeface="Avenir"/>
                <a:sym typeface="Avenir"/>
              </a:rPr>
              <a:t>Then it goes back to the only viewpoint where it can see the board, and checks with its own eyes whether it did what it meant to.</a:t>
            </a:r>
          </a:p>
          <a:p>
            <a:pPr algn="l">
              <a:lnSpc>
                <a:spcPct val="100000"/>
              </a:lnSpc>
            </a:pPr>
            <a:r>
              <a:rPr sz="2027" b="0" i="0">
                <a:solidFill>
                  <a:srgbClr val="FFFFFF"/>
                </a:solidFill>
                <a:latin typeface="Avenir"/>
                <a:ea typeface="Avenir"/>
                <a:cs typeface="Avenir"/>
                <a:sym typeface="Avenir"/>
              </a:rPr>
              <a:t>Seven projects of colour thresholds and camera calibration end here: in one function that moves hardware.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62"/>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Your Mission</a:t>
            </a:r>
          </a:p>
        </p:txBody>
      </p:sp>
      <p:sp>
        <p:nvSpPr>
          <p:cNvPr id="3" name="blk0263"/>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Three parts, in order.</a:t>
            </a:r>
          </a:p>
        </p:txBody>
      </p:sp>
      <p:sp>
        <p:nvSpPr>
          <p:cNvPr id="4" name="blk0264"/>
          <p:cNvSpPr txBox="1"/>
          <p:nvPr/>
        </p:nvSpPr>
        <p:spPr>
          <a:xfrm>
            <a:off x="687600" y="2448000"/>
            <a:ext cx="457200" cy="3276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1.</a:t>
            </a:r>
          </a:p>
        </p:txBody>
      </p:sp>
      <p:sp>
        <p:nvSpPr>
          <p:cNvPr id="5" name="blk0264"/>
          <p:cNvSpPr txBox="1"/>
          <p:nvPr/>
        </p:nvSpPr>
        <p:spPr>
          <a:xfrm>
            <a:off x="1252800" y="2448000"/>
            <a:ext cx="8118000" cy="720000"/>
          </a:xfrm>
          <a:prstGeom prst="rect">
            <a:avLst/>
          </a:prstGeom>
          <a:noFill/>
        </p:spPr>
        <p:txBody>
          <a:bodyPr wrap="square" anchor="t" lIns="0" rIns="0" tIns="0" bIns="0">
            <a:noAutofit/>
          </a:bodyPr>
          <a:lstStyle/>
          <a:p>
            <a:pPr algn="l">
              <a:lnSpc>
                <a:spcPct val="120000"/>
              </a:lnSpc>
            </a:pPr>
            <a:r>
              <a:rPr sz="1650" b="1" i="0">
                <a:solidFill>
                  <a:srgbClr val="FFFFFF"/>
                </a:solidFill>
                <a:latin typeface="Google Sans"/>
                <a:ea typeface="Google Sans"/>
                <a:cs typeface="Google Sans"/>
                <a:sym typeface="Google Sans"/>
              </a:rPr>
              <a:t>Calibrate the nine cells.</a:t>
            </a:r>
            <a:r>
              <a:rPr sz="1650" b="0" i="0">
                <a:solidFill>
                  <a:srgbClr val="FFFFFF"/>
                </a:solidFill>
                <a:latin typeface="Avenir"/>
                <a:ea typeface="Avenir"/>
                <a:cs typeface="Avenir"/>
                <a:sym typeface="Avenir"/>
              </a:rPr>
              <a:t>  Move the arm to each </a:t>
            </a:r>
            <a:r>
              <a:rPr sz="1419" b="0" i="0">
                <a:solidFill>
                  <a:srgbClr val="FFFFFF"/>
                </a:solidFill>
                <a:latin typeface="Courier New"/>
                <a:ea typeface="Courier New"/>
                <a:cs typeface="Courier New"/>
                <a:sym typeface="Courier New"/>
              </a:rPr>
              <a:t>CELL_COORDS</a:t>
            </a:r>
            <a:r>
              <a:rPr sz="1650" b="0" i="0">
                <a:solidFill>
                  <a:srgbClr val="FFFFFF"/>
                </a:solidFill>
                <a:latin typeface="Avenir"/>
                <a:ea typeface="Avenir"/>
                <a:cs typeface="Avenir"/>
                <a:sym typeface="Avenir"/>
              </a:rPr>
              <a:t> entry by hand and correct the values. Record which ones were wrong.</a:t>
            </a:r>
          </a:p>
        </p:txBody>
      </p:sp>
      <p:sp>
        <p:nvSpPr>
          <p:cNvPr id="6" name="blk0265"/>
          <p:cNvSpPr txBox="1"/>
          <p:nvPr/>
        </p:nvSpPr>
        <p:spPr>
          <a:xfrm>
            <a:off x="687600" y="3456000"/>
            <a:ext cx="457200" cy="3276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2.</a:t>
            </a:r>
          </a:p>
        </p:txBody>
      </p:sp>
      <p:sp>
        <p:nvSpPr>
          <p:cNvPr id="7" name="blk0265"/>
          <p:cNvSpPr txBox="1"/>
          <p:nvPr/>
        </p:nvSpPr>
        <p:spPr>
          <a:xfrm>
            <a:off x="1252800" y="3456000"/>
            <a:ext cx="8118000" cy="720000"/>
          </a:xfrm>
          <a:prstGeom prst="rect">
            <a:avLst/>
          </a:prstGeom>
          <a:noFill/>
        </p:spPr>
        <p:txBody>
          <a:bodyPr wrap="square" anchor="t" lIns="0" rIns="0" tIns="0" bIns="0">
            <a:noAutofit/>
          </a:bodyPr>
          <a:lstStyle/>
          <a:p>
            <a:pPr algn="l">
              <a:lnSpc>
                <a:spcPct val="120000"/>
              </a:lnSpc>
            </a:pPr>
            <a:r>
              <a:rPr sz="1650" b="1" i="0">
                <a:solidFill>
                  <a:srgbClr val="FFFFFF"/>
                </a:solidFill>
                <a:latin typeface="Google Sans"/>
                <a:ea typeface="Google Sans"/>
                <a:cs typeface="Google Sans"/>
                <a:sym typeface="Google Sans"/>
              </a:rPr>
              <a:t>Time a full move.</a:t>
            </a:r>
            <a:r>
              <a:rPr sz="1650" b="0" i="0">
                <a:solidFill>
                  <a:srgbClr val="FFFFFF"/>
                </a:solidFill>
                <a:latin typeface="Avenir"/>
                <a:ea typeface="Avenir"/>
                <a:cs typeface="Avenir"/>
                <a:sym typeface="Avenir"/>
              </a:rPr>
              <a:t>  Time one pick-and-place and add it up from the code. Then decide whether the game is still playable at that rate.</a:t>
            </a:r>
          </a:p>
        </p:txBody>
      </p:sp>
      <p:sp>
        <p:nvSpPr>
          <p:cNvPr id="8" name="blk0266"/>
          <p:cNvSpPr txBox="1"/>
          <p:nvPr/>
        </p:nvSpPr>
        <p:spPr>
          <a:xfrm>
            <a:off x="687600" y="4464000"/>
            <a:ext cx="457200" cy="3276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3.</a:t>
            </a:r>
          </a:p>
        </p:txBody>
      </p:sp>
      <p:sp>
        <p:nvSpPr>
          <p:cNvPr id="9" name="blk0266"/>
          <p:cNvSpPr txBox="1"/>
          <p:nvPr/>
        </p:nvSpPr>
        <p:spPr>
          <a:xfrm>
            <a:off x="1252800" y="4464000"/>
            <a:ext cx="8118000" cy="720000"/>
          </a:xfrm>
          <a:prstGeom prst="rect">
            <a:avLst/>
          </a:prstGeom>
          <a:noFill/>
        </p:spPr>
        <p:txBody>
          <a:bodyPr wrap="square" anchor="t" lIns="0" rIns="0" tIns="0" bIns="0">
            <a:noAutofit/>
          </a:bodyPr>
          <a:lstStyle/>
          <a:p>
            <a:pPr algn="l">
              <a:lnSpc>
                <a:spcPct val="120000"/>
              </a:lnSpc>
            </a:pPr>
            <a:r>
              <a:rPr sz="1650" b="1" i="0">
                <a:solidFill>
                  <a:srgbClr val="FFFFFF"/>
                </a:solidFill>
                <a:latin typeface="Google Sans"/>
                <a:ea typeface="Google Sans"/>
                <a:cs typeface="Google Sans"/>
                <a:sym typeface="Google Sans"/>
              </a:rPr>
              <a:t>Break the loop.</a:t>
            </a:r>
            <a:r>
              <a:rPr sz="1650" b="0" i="0">
                <a:solidFill>
                  <a:srgbClr val="FFFFFF"/>
                </a:solidFill>
                <a:latin typeface="Avenir"/>
                <a:ea typeface="Avenir"/>
                <a:cs typeface="Avenir"/>
                <a:sym typeface="Avenir"/>
              </a:rPr>
              <a:t>  Comment out the return-home at the end of </a:t>
            </a:r>
            <a:r>
              <a:rPr sz="1419" b="0" i="0">
                <a:solidFill>
                  <a:srgbClr val="FFFFFF"/>
                </a:solidFill>
                <a:latin typeface="Courier New"/>
                <a:ea typeface="Courier New"/>
                <a:cs typeface="Courier New"/>
                <a:sym typeface="Courier New"/>
              </a:rPr>
              <a:t>execute_robot_move</a:t>
            </a:r>
            <a:r>
              <a:rPr sz="1650" b="0" i="0">
                <a:solidFill>
                  <a:srgbClr val="FFFFFF"/>
                </a:solidFill>
                <a:latin typeface="Avenir"/>
                <a:ea typeface="Avenir"/>
                <a:cs typeface="Avenir"/>
                <a:sym typeface="Avenir"/>
              </a:rPr>
              <a:t>, run one move, and describe exactly what the next frame shows.</a:t>
            </a:r>
          </a:p>
        </p:txBody>
      </p:sp>
      <p:sp>
        <p:nvSpPr>
          <p:cNvPr id="10" name="blk0267"/>
          <p:cNvSpPr txBox="1"/>
          <p:nvPr/>
        </p:nvSpPr>
        <p:spPr>
          <a:xfrm>
            <a:off x="687600" y="5544000"/>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Part three is the interesting one. The robot will place a token perfectly well and then be unable to see the board it just played on.</a:t>
            </a:r>
          </a:p>
        </p:txBody>
      </p:sp>
      <p:sp>
        <p:nvSpPr>
          <p:cNvPr id="11" name="blk0268"/>
          <p:cNvSpPr/>
          <p:nvPr/>
        </p:nvSpPr>
        <p:spPr>
          <a:xfrm>
            <a:off x="687600" y="6552000"/>
            <a:ext cx="8686800" cy="76464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268"/>
          <p:cNvSpPr/>
          <p:nvPr/>
        </p:nvSpPr>
        <p:spPr>
          <a:xfrm>
            <a:off x="885600" y="686592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268"/>
          <p:cNvSpPr txBox="1"/>
          <p:nvPr/>
        </p:nvSpPr>
        <p:spPr>
          <a:xfrm>
            <a:off x="1162800" y="6695999"/>
            <a:ext cx="7956000" cy="47664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A robot that trusts its own eyes is more useful than one that trusts its own memory. That is worth knowing before you build anything that cannot look.</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6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Your Data Log</a:t>
            </a:r>
          </a:p>
        </p:txBody>
      </p:sp>
      <p:graphicFrame>
        <p:nvGraphicFramePr>
          <p:cNvPr id="3" name="blk0270"/>
          <p:cNvGraphicFramePr>
            <a:graphicFrameLocks noGrp="1"/>
          </p:cNvGraphicFramePr>
          <p:nvPr/>
        </p:nvGraphicFramePr>
        <p:xfrm>
          <a:off x="687600" y="2376000"/>
          <a:ext cx="5939999" cy="3600000"/>
        </p:xfrm>
        <a:graphic>
          <a:graphicData uri="http://schemas.openxmlformats.org/drawingml/2006/table">
            <a:tbl>
              <a:tblPr firstRow="0" bandRow="0"/>
              <a:tblGrid>
                <a:gridCol w="2015999"/>
                <a:gridCol w="1584000"/>
                <a:gridCol w="2340000"/>
              </a:tblGrid>
              <a:tr h="450000">
                <a:tc>
                  <a:txBody>
                    <a:bodyPr wrap="square"/>
                    <a:lstStyle/>
                    <a:p>
                      <a:pPr algn="l">
                        <a:lnSpc>
                          <a:spcPct val="100000"/>
                        </a:lnSpc>
                      </a:pPr>
                      <a:r>
                        <a:rPr sz="1350" b="1" i="0">
                          <a:solidFill>
                            <a:srgbClr val="FFCF08"/>
                          </a:solidFill>
                          <a:latin typeface="Avenir"/>
                          <a:ea typeface="Avenir"/>
                          <a:cs typeface="Avenir"/>
                          <a:sym typeface="Avenir"/>
                        </a:rPr>
                        <a:t>Measurement</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Your value</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Corrected?</a:t>
                      </a:r>
                    </a:p>
                  </a:txBody>
                  <a:tcPr marL="72000" marR="72000" marT="36000" marB="36000" anchor="ctr">
                    <a:solidFill>
                      <a:srgbClr val="3B41A0"/>
                    </a:solidFill>
                  </a:tcPr>
                </a:tc>
              </a:tr>
              <a:tr h="630000">
                <a:tc>
                  <a:txBody>
                    <a:bodyPr wrap="square"/>
                    <a:lstStyle/>
                    <a:p>
                      <a:pPr algn="l">
                        <a:lnSpc>
                          <a:spcPct val="100000"/>
                        </a:lnSpc>
                      </a:pPr>
                      <a:r>
                        <a:rPr sz="1350" b="0" i="0">
                          <a:solidFill>
                            <a:srgbClr val="FFFFFF"/>
                          </a:solidFill>
                          <a:latin typeface="Avenir"/>
                          <a:ea typeface="Avenir"/>
                          <a:cs typeface="Avenir"/>
                          <a:sym typeface="Avenir"/>
                        </a:rPr>
                        <a:t>Cell (0,0) Z</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r>
              <a:tr h="630000">
                <a:tc>
                  <a:txBody>
                    <a:bodyPr wrap="square"/>
                    <a:lstStyle/>
                    <a:p>
                      <a:pPr algn="l">
                        <a:lnSpc>
                          <a:spcPct val="100000"/>
                        </a:lnSpc>
                      </a:pPr>
                      <a:r>
                        <a:rPr sz="1350" b="0" i="0">
                          <a:solidFill>
                            <a:srgbClr val="FFFFFF"/>
                          </a:solidFill>
                          <a:latin typeface="Avenir"/>
                          <a:ea typeface="Avenir"/>
                          <a:cs typeface="Avenir"/>
                          <a:sym typeface="Avenir"/>
                        </a:rPr>
                        <a:t>Cell (1,1) Z</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r>
              <a:tr h="630000">
                <a:tc>
                  <a:txBody>
                    <a:bodyPr wrap="square"/>
                    <a:lstStyle/>
                    <a:p>
                      <a:pPr algn="l">
                        <a:lnSpc>
                          <a:spcPct val="100000"/>
                        </a:lnSpc>
                      </a:pPr>
                      <a:r>
                        <a:rPr sz="1350" b="0" i="0">
                          <a:solidFill>
                            <a:srgbClr val="FFFFFF"/>
                          </a:solidFill>
                          <a:latin typeface="Avenir"/>
                          <a:ea typeface="Avenir"/>
                          <a:cs typeface="Avenir"/>
                          <a:sym typeface="Avenir"/>
                        </a:rPr>
                        <a:t>Cell (2,2) Z</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r>
              <a:tr h="630000">
                <a:tc>
                  <a:txBody>
                    <a:bodyPr wrap="square"/>
                    <a:lstStyle/>
                    <a:p>
                      <a:pPr algn="l">
                        <a:lnSpc>
                          <a:spcPct val="100000"/>
                        </a:lnSpc>
                      </a:pPr>
                      <a:r>
                        <a:rPr sz="1350" b="0" i="0">
                          <a:solidFill>
                            <a:srgbClr val="FFFFFF"/>
                          </a:solidFill>
                          <a:latin typeface="Avenir"/>
                          <a:ea typeface="Avenir"/>
                          <a:cs typeface="Avenir"/>
                          <a:sym typeface="Avenir"/>
                        </a:rPr>
                        <a:t>Total move time</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r>
              <a:tr h="630000">
                <a:tc>
                  <a:txBody>
                    <a:bodyPr wrap="square"/>
                    <a:lstStyle/>
                    <a:p>
                      <a:pPr algn="l">
                        <a:lnSpc>
                          <a:spcPct val="100000"/>
                        </a:lnSpc>
                      </a:pPr>
                      <a:r>
                        <a:rPr sz="1350" b="0" i="0">
                          <a:solidFill>
                            <a:srgbClr val="FFFFFF"/>
                          </a:solidFill>
                          <a:latin typeface="Avenir"/>
                          <a:ea typeface="Avenir"/>
                          <a:cs typeface="Avenir"/>
                          <a:sym typeface="Avenir"/>
                        </a:rPr>
                        <a:t>Home pose X/Y/Z</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r>
            </a:tbl>
          </a:graphicData>
        </a:graphic>
      </p:graphicFrame>
      <p:sp>
        <p:nvSpPr>
          <p:cNvPr id="4" name="blk0271"/>
          <p:cNvSpPr txBox="1"/>
          <p:nvPr/>
        </p:nvSpPr>
        <p:spPr>
          <a:xfrm>
            <a:off x="687600" y="6192000"/>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Record whether each value needed correcting rather than only what you changed it to. A hand-tuned calibration table that has been measured once and never verified is worth much less than one you know the accuracy of.</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72"/>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Definition of Done</a:t>
            </a:r>
          </a:p>
        </p:txBody>
      </p:sp>
      <p:sp>
        <p:nvSpPr>
          <p:cNvPr id="3" name="blk0273"/>
          <p:cNvSpPr/>
          <p:nvPr/>
        </p:nvSpPr>
        <p:spPr>
          <a:xfrm>
            <a:off x="705600" y="2376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blk0273"/>
          <p:cNvSpPr txBox="1"/>
          <p:nvPr/>
        </p:nvSpPr>
        <p:spPr>
          <a:xfrm>
            <a:off x="1252800" y="2354400"/>
            <a:ext cx="8118000" cy="720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All thirteen TODOs filled in and the file runs on the Pi.</a:t>
            </a:r>
          </a:p>
        </p:txBody>
      </p:sp>
      <p:sp>
        <p:nvSpPr>
          <p:cNvPr id="5" name="blk0274"/>
          <p:cNvSpPr/>
          <p:nvPr/>
        </p:nvSpPr>
        <p:spPr>
          <a:xfrm>
            <a:off x="705600" y="3024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274"/>
          <p:cNvSpPr txBox="1"/>
          <p:nvPr/>
        </p:nvSpPr>
        <p:spPr>
          <a:xfrm>
            <a:off x="1252800" y="3002400"/>
            <a:ext cx="8118000" cy="720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No </a:t>
            </a:r>
            <a:r>
              <a:rPr sz="1376" b="0" i="0">
                <a:solidFill>
                  <a:srgbClr val="FFFFFF"/>
                </a:solidFill>
                <a:latin typeface="Courier New"/>
                <a:ea typeface="Courier New"/>
                <a:cs typeface="Courier New"/>
                <a:sym typeface="Courier New"/>
              </a:rPr>
              <a:t>TODO</a:t>
            </a:r>
            <a:r>
              <a:rPr sz="1600" b="0" i="0">
                <a:solidFill>
                  <a:srgbClr val="FFFFFF"/>
                </a:solidFill>
                <a:latin typeface="Avenir"/>
                <a:ea typeface="Avenir"/>
                <a:cs typeface="Avenir"/>
                <a:sym typeface="Avenir"/>
              </a:rPr>
              <a:t> markers left anywhere in the file.</a:t>
            </a:r>
          </a:p>
        </p:txBody>
      </p:sp>
      <p:sp>
        <p:nvSpPr>
          <p:cNvPr id="7" name="blk0275"/>
          <p:cNvSpPr/>
          <p:nvPr/>
        </p:nvSpPr>
        <p:spPr>
          <a:xfrm>
            <a:off x="705600" y="3671999"/>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275"/>
          <p:cNvSpPr txBox="1"/>
          <p:nvPr/>
        </p:nvSpPr>
        <p:spPr>
          <a:xfrm>
            <a:off x="1252800" y="3650399"/>
            <a:ext cx="8118000" cy="720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The robot wins a game it played fairly, and loses one it played badly.</a:t>
            </a:r>
          </a:p>
        </p:txBody>
      </p:sp>
      <p:sp>
        <p:nvSpPr>
          <p:cNvPr id="9" name="blk0276"/>
          <p:cNvSpPr/>
          <p:nvPr/>
        </p:nvSpPr>
        <p:spPr>
          <a:xfrm>
            <a:off x="705600" y="4320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276"/>
          <p:cNvSpPr txBox="1"/>
          <p:nvPr/>
        </p:nvSpPr>
        <p:spPr>
          <a:xfrm>
            <a:off x="1252800" y="4298400"/>
            <a:ext cx="8118000" cy="720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The robot blocks a three-in-a-row rather than letting the human take it.</a:t>
            </a:r>
          </a:p>
        </p:txBody>
      </p:sp>
      <p:sp>
        <p:nvSpPr>
          <p:cNvPr id="11" name="blk0277"/>
          <p:cNvSpPr/>
          <p:nvPr/>
        </p:nvSpPr>
        <p:spPr>
          <a:xfrm>
            <a:off x="705600" y="4968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277"/>
          <p:cNvSpPr txBox="1"/>
          <p:nvPr/>
        </p:nvSpPr>
        <p:spPr>
          <a:xfrm>
            <a:off x="1252800" y="4946400"/>
            <a:ext cx="8118000" cy="720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Every token lands inside its cell, from the rack, for all five picks.</a:t>
            </a:r>
          </a:p>
        </p:txBody>
      </p:sp>
      <p:sp>
        <p:nvSpPr>
          <p:cNvPr id="13" name="blk0278"/>
          <p:cNvSpPr/>
          <p:nvPr/>
        </p:nvSpPr>
        <p:spPr>
          <a:xfrm>
            <a:off x="705600" y="5616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blk0278"/>
          <p:cNvSpPr txBox="1"/>
          <p:nvPr/>
        </p:nvSpPr>
        <p:spPr>
          <a:xfrm>
            <a:off x="1252800" y="5594400"/>
            <a:ext cx="8118000" cy="720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The camera can still read the board after a move.</a:t>
            </a:r>
          </a:p>
        </p:txBody>
      </p:sp>
      <p:sp>
        <p:nvSpPr>
          <p:cNvPr id="15" name="blk0279"/>
          <p:cNvSpPr/>
          <p:nvPr/>
        </p:nvSpPr>
        <p:spPr>
          <a:xfrm>
            <a:off x="705600" y="6263999"/>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blk0279"/>
          <p:cNvSpPr txBox="1"/>
          <p:nvPr/>
        </p:nvSpPr>
        <p:spPr>
          <a:xfrm>
            <a:off x="1252800" y="6242400"/>
            <a:ext cx="8118000" cy="720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Pulling the power mid-move leaves the pump off when the program exits.</a:t>
            </a:r>
          </a:p>
        </p:txBody>
      </p:sp>
      <p:sp>
        <p:nvSpPr>
          <p:cNvPr id="17" name="blk0280"/>
          <p:cNvSpPr/>
          <p:nvPr/>
        </p:nvSpPr>
        <p:spPr>
          <a:xfrm>
            <a:off x="687600" y="6912000"/>
            <a:ext cx="8686800" cy="648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blk0280"/>
          <p:cNvSpPr/>
          <p:nvPr/>
        </p:nvSpPr>
        <p:spPr>
          <a:xfrm>
            <a:off x="885600" y="716760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blk0280"/>
          <p:cNvSpPr txBox="1"/>
          <p:nvPr/>
        </p:nvSpPr>
        <p:spPr>
          <a:xfrm>
            <a:off x="1162800" y="7055999"/>
            <a:ext cx="7956000" cy="360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The last two are what make it safe to run twice in a row.</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8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Go Further</a:t>
            </a:r>
          </a:p>
        </p:txBody>
      </p:sp>
      <p:sp>
        <p:nvSpPr>
          <p:cNvPr id="3" name="blk0282"/>
          <p:cNvSpPr/>
          <p:nvPr/>
        </p:nvSpPr>
        <p:spPr>
          <a:xfrm>
            <a:off x="741600" y="2404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blk0282"/>
          <p:cNvSpPr txBox="1"/>
          <p:nvPr/>
        </p:nvSpPr>
        <p:spPr>
          <a:xfrm>
            <a:off x="1252800" y="237600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A real opponent.</a:t>
            </a:r>
            <a:r>
              <a:rPr sz="1600" b="0" i="0">
                <a:solidFill>
                  <a:srgbClr val="FFFFFF"/>
                </a:solidFill>
                <a:latin typeface="Avenir"/>
                <a:ea typeface="Avenir"/>
                <a:cs typeface="Avenir"/>
                <a:sym typeface="Avenir"/>
              </a:rPr>
              <a:t>  Add two-ply lookahead to </a:t>
            </a:r>
            <a:r>
              <a:rPr sz="1376" b="0" i="0">
                <a:solidFill>
                  <a:srgbClr val="FFFFFF"/>
                </a:solidFill>
                <a:latin typeface="Courier New"/>
                <a:ea typeface="Courier New"/>
                <a:cs typeface="Courier New"/>
                <a:sym typeface="Courier New"/>
              </a:rPr>
              <a:t>find_best_move</a:t>
            </a:r>
            <a:r>
              <a:rPr sz="1600" b="0" i="0">
                <a:solidFill>
                  <a:srgbClr val="FFFFFF"/>
                </a:solidFill>
                <a:latin typeface="Avenir"/>
                <a:ea typeface="Avenir"/>
                <a:cs typeface="Avenir"/>
                <a:sym typeface="Avenir"/>
              </a:rPr>
              <a:t> and count how many games the current version gives away.</a:t>
            </a:r>
          </a:p>
        </p:txBody>
      </p:sp>
      <p:sp>
        <p:nvSpPr>
          <p:cNvPr id="5" name="blk0283"/>
          <p:cNvSpPr/>
          <p:nvPr/>
        </p:nvSpPr>
        <p:spPr>
          <a:xfrm>
            <a:off x="741600" y="3232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283"/>
          <p:cNvSpPr txBox="1"/>
          <p:nvPr/>
        </p:nvSpPr>
        <p:spPr>
          <a:xfrm>
            <a:off x="1252800" y="320400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Undo the trial properly.</a:t>
            </a:r>
            <a:r>
              <a:rPr sz="1600" b="0" i="0">
                <a:solidFill>
                  <a:srgbClr val="FFFFFF"/>
                </a:solidFill>
                <a:latin typeface="Avenir"/>
                <a:ea typeface="Avenir"/>
                <a:cs typeface="Avenir"/>
                <a:sym typeface="Avenir"/>
              </a:rPr>
              <a:t>  Make </a:t>
            </a:r>
            <a:r>
              <a:rPr sz="1376" b="0" i="0">
                <a:solidFill>
                  <a:srgbClr val="FFFFFF"/>
                </a:solidFill>
                <a:latin typeface="Courier New"/>
                <a:ea typeface="Courier New"/>
                <a:cs typeface="Courier New"/>
                <a:sym typeface="Courier New"/>
              </a:rPr>
              <a:t>find_best_move</a:t>
            </a:r>
            <a:r>
              <a:rPr sz="1600" b="0" i="0">
                <a:solidFill>
                  <a:srgbClr val="FFFFFF"/>
                </a:solidFill>
                <a:latin typeface="Avenir"/>
                <a:ea typeface="Avenir"/>
                <a:cs typeface="Avenir"/>
                <a:sym typeface="Avenir"/>
              </a:rPr>
              <a:t> leave the board untouched, then write a loop that proves it.</a:t>
            </a:r>
          </a:p>
        </p:txBody>
      </p:sp>
      <p:sp>
        <p:nvSpPr>
          <p:cNvPr id="7" name="blk0284"/>
          <p:cNvSpPr/>
          <p:nvPr/>
        </p:nvSpPr>
        <p:spPr>
          <a:xfrm>
            <a:off x="741600" y="4060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284"/>
          <p:cNvSpPr txBox="1"/>
          <p:nvPr/>
        </p:nvSpPr>
        <p:spPr>
          <a:xfrm>
            <a:off x="1252800" y="4031999"/>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Kill the duplicate.</a:t>
            </a:r>
            <a:r>
              <a:rPr sz="1600" b="0" i="0">
                <a:solidFill>
                  <a:srgbClr val="FFFFFF"/>
                </a:solidFill>
                <a:latin typeface="Avenir"/>
                <a:ea typeface="Avenir"/>
                <a:cs typeface="Avenir"/>
                <a:sym typeface="Avenir"/>
              </a:rPr>
              <a:t>  Remove the second home-move block and time the startup before and after.</a:t>
            </a:r>
          </a:p>
        </p:txBody>
      </p:sp>
      <p:sp>
        <p:nvSpPr>
          <p:cNvPr id="9" name="blk0285"/>
          <p:cNvSpPr/>
          <p:nvPr/>
        </p:nvSpPr>
        <p:spPr>
          <a:xfrm>
            <a:off x="741600" y="4888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285"/>
          <p:cNvSpPr txBox="1"/>
          <p:nvPr/>
        </p:nvSpPr>
        <p:spPr>
          <a:xfrm>
            <a:off x="1252800" y="486000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Take the blocking out.</a:t>
            </a:r>
            <a:r>
              <a:rPr sz="1600" b="0" i="0">
                <a:solidFill>
                  <a:srgbClr val="FFFFFF"/>
                </a:solidFill>
                <a:latin typeface="Avenir"/>
                <a:ea typeface="Avenir"/>
                <a:cs typeface="Avenir"/>
                <a:sym typeface="Avenir"/>
              </a:rPr>
              <a:t>  A queue or a thread so the window stays live during those eighteen seconds.</a:t>
            </a:r>
          </a:p>
        </p:txBody>
      </p:sp>
      <p:sp>
        <p:nvSpPr>
          <p:cNvPr id="11" name="blk0286"/>
          <p:cNvSpPr/>
          <p:nvPr/>
        </p:nvSpPr>
        <p:spPr>
          <a:xfrm>
            <a:off x="741600" y="5716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286"/>
          <p:cNvSpPr txBox="1"/>
          <p:nvPr/>
        </p:nvSpPr>
        <p:spPr>
          <a:xfrm>
            <a:off x="1252800" y="568800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Let the robot start.</a:t>
            </a:r>
            <a:r>
              <a:rPr sz="1600" b="0" i="0">
                <a:solidFill>
                  <a:srgbClr val="FFFFFF"/>
                </a:solidFill>
                <a:latin typeface="Avenir"/>
                <a:ea typeface="Avenir"/>
                <a:cs typeface="Avenir"/>
                <a:sym typeface="Avenir"/>
              </a:rPr>
              <a:t>  Move O to be the first player and give the human X. Then the AI has to open properly.</a:t>
            </a:r>
          </a:p>
        </p:txBody>
      </p:sp>
      <p:sp>
        <p:nvSpPr>
          <p:cNvPr id="13" name="blk0287"/>
          <p:cNvSpPr txBox="1"/>
          <p:nvPr/>
        </p:nvSpPr>
        <p:spPr>
          <a:xfrm>
            <a:off x="687600" y="6623999"/>
            <a:ext cx="7542000" cy="36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Pick one. Not all five.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88"/>
          <p:cNvSpPr txBox="1"/>
          <p:nvPr/>
        </p:nvSpPr>
        <p:spPr>
          <a:xfrm>
            <a:off x="687600" y="529200"/>
            <a:ext cx="8686800" cy="565200"/>
          </a:xfrm>
          <a:prstGeom prst="rect">
            <a:avLst/>
          </a:prstGeom>
          <a:noFill/>
        </p:spPr>
        <p:txBody>
          <a:bodyPr wrap="square" anchor="t" lIns="0" rIns="0" tIns="0" bIns="0">
            <a:noAutofit/>
          </a:bodyPr>
          <a:lstStyle/>
          <a:p>
            <a:pPr algn="l"/>
            <a:r>
              <a:rPr sz="2400" b="0" i="0">
                <a:solidFill>
                  <a:srgbClr val="FFFFFF"/>
                </a:solidFill>
                <a:latin typeface="Bungee"/>
                <a:ea typeface="Bungee"/>
                <a:cs typeface="Bungee"/>
                <a:sym typeface="Bungee"/>
              </a:rPr>
              <a:t>Debrief</a:t>
            </a:r>
          </a:p>
        </p:txBody>
      </p:sp>
      <p:sp>
        <p:nvSpPr>
          <p:cNvPr id="3" name="blk0289"/>
          <p:cNvSpPr txBox="1"/>
          <p:nvPr/>
        </p:nvSpPr>
        <p:spPr>
          <a:xfrm>
            <a:off x="687600" y="13356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Eight projects. One capstone that read a board, chose a move, and moved a real arm to make it.</a:t>
            </a:r>
          </a:p>
          <a:p>
            <a:pPr algn="l">
              <a:lnSpc>
                <a:spcPct val="100000"/>
              </a:lnSpc>
            </a:pPr>
            <a:r>
              <a:rPr sz="2027" b="0" i="0">
                <a:solidFill>
                  <a:srgbClr val="FFFFFF"/>
                </a:solidFill>
                <a:latin typeface="Avenir"/>
                <a:ea typeface="Avenir"/>
                <a:cs typeface="Avenir"/>
                <a:sym typeface="Avenir"/>
              </a:rPr>
              <a:t>Everything it used was built earlier — the hue thresholds and the grid from the board scanner, the arm sequences from the gesture game, the habit of writing down what a program claims before trusting it.</a:t>
            </a:r>
          </a:p>
          <a:p>
            <a:pPr algn="l">
              <a:lnSpc>
                <a:spcPct val="100000"/>
              </a:lnSpc>
            </a:pPr>
            <a:r>
              <a:rPr sz="2027" b="0" i="0">
                <a:solidFill>
                  <a:srgbClr val="FFFFFF"/>
                </a:solidFill>
                <a:latin typeface="Avenir"/>
                <a:ea typeface="Avenir"/>
                <a:cs typeface="Avenir"/>
                <a:sym typeface="Avenir"/>
              </a:rPr>
              <a:t>And the bug it died of was the oldest one in programming: a function called before it existed. Four hundred lines, four claims correct by reading, and it had never been started.</a:t>
            </a:r>
          </a:p>
          <a:p>
            <a:pPr algn="l">
              <a:lnSpc>
                <a:spcPct val="100000"/>
              </a:lnSpc>
            </a:pPr>
            <a:r>
              <a:rPr sz="2027" b="0" i="0">
                <a:solidFill>
                  <a:srgbClr val="FFFFFF"/>
                </a:solidFill>
                <a:latin typeface="Avenir"/>
                <a:ea typeface="Avenir"/>
                <a:cs typeface="Avenir"/>
                <a:sym typeface="Avenir"/>
              </a:rPr>
              <a:t>Run the file.</a:t>
            </a:r>
            <a:r>
              <a:rPr sz="2027" b="0" i="0">
                <a:solidFill>
                  <a:srgbClr val="FFFFFF"/>
                </a:solidFill>
                <a:latin typeface="Avenir"/>
                <a:ea typeface="Avenir"/>
                <a:cs typeface="Avenir"/>
                <a:sym typeface="Avenir"/>
              </a:rPr>
              <a:t>
</a:t>
            </a:r>
            <a:r>
              <a:rPr sz="2027" b="0" i="0">
                <a:solidFill>
                  <a:srgbClr val="FFFFFF"/>
                </a:solidFill>
                <a:latin typeface="Avenir"/>
                <a:ea typeface="Avenir"/>
                <a:cs typeface="Avenir"/>
                <a:sym typeface="Avenir"/>
              </a:rPr>
              <a:t>That is the whole lesson, and it is the one you will need on the day something does not work.</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