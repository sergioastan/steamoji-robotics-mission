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 id="296" r:id="rId53"/>
    <p:sldId id="297" r:id="rId54"/>
    <p:sldId id="298" r:id="rId55"/>
    <p:sldId id="299" r:id="rId56"/>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2</a:t>
            </a:r>
          </a:p>
          <a:p>
            <a:pPr algn="l">
              <a:lnSpc>
                <a:spcPct val="100000"/>
              </a:lnSpc>
            </a:pPr>
            <a:r>
              <a:rPr sz="4400" b="0" i="0">
                <a:solidFill>
                  <a:srgbClr val="FFFFFF"/>
                </a:solidFill>
                <a:latin typeface="Bungee"/>
                <a:ea typeface="Bungee"/>
                <a:cs typeface="Bungee"/>
                <a:sym typeface="Bungee"/>
              </a:rPr>
              <a:t>Finding the 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What’s </a:t>
            </a:r>
            <a:r>
              <a:rPr sz="2827" b="0" i="0">
                <a:solidFill>
                  <a:srgbClr val="FFFFFF"/>
                </a:solidFill>
                <a:latin typeface="Bungee"/>
                <a:ea typeface="Bungee"/>
                <a:cs typeface="Bungee"/>
                <a:sym typeface="Bungee"/>
              </a:rPr>
              <a:t>next</a:t>
            </a:r>
            <a:r>
              <a:rPr sz="2827" b="0" i="0">
                <a:solidFill>
                  <a:srgbClr val="FFFFFF"/>
                </a:solidFill>
                <a:latin typeface="Bungee"/>
                <a:ea typeface="Bungee"/>
                <a:cs typeface="Bungee"/>
                <a:sym typeface="Bungee"/>
              </a:rPr>
              <a:t>?</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In Project 1 you built something that could name a shape. It was a good program, and it had one very specific blind spot: it could tell you </a:t>
            </a:r>
            <a:r>
              <a:rPr sz="2027" b="1" i="0">
                <a:solidFill>
                  <a:srgbClr val="FFFFFF"/>
                </a:solidFill>
                <a:latin typeface="Google Sans"/>
                <a:ea typeface="Google Sans"/>
                <a:cs typeface="Google Sans"/>
                <a:sym typeface="Google Sans"/>
              </a:rPr>
              <a:t>what</a:t>
            </a:r>
            <a:r>
              <a:rPr sz="2027" b="0" i="0">
                <a:solidFill>
                  <a:srgbClr val="FFFFFF"/>
                </a:solidFill>
                <a:latin typeface="Avenir"/>
                <a:ea typeface="Avenir"/>
                <a:cs typeface="Avenir"/>
                <a:sym typeface="Avenir"/>
              </a:rPr>
              <a:t> something was, but never </a:t>
            </a:r>
            <a:r>
              <a:rPr sz="2027" b="1" i="0">
                <a:solidFill>
                  <a:srgbClr val="FFFFFF"/>
                </a:solidFill>
                <a:latin typeface="Google Sans"/>
                <a:ea typeface="Google Sans"/>
                <a:cs typeface="Google Sans"/>
                <a:sym typeface="Google Sans"/>
              </a:rPr>
              <a:t>where</a:t>
            </a:r>
            <a:r>
              <a:rPr sz="2027" b="0" i="0">
                <a:solidFill>
                  <a:srgbClr val="FFFFFF"/>
                </a:solidFill>
                <a:latin typeface="Avenir"/>
                <a:ea typeface="Avenir"/>
                <a:cs typeface="Avenir"/>
                <a:sym typeface="Avenir"/>
              </a:rPr>
              <a:t> it was.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That is enough to print a word on screen. It is not enough to move an arm. To pick something up you need to know how far away it is and which way to turn — numbers, not nouns.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So this project changes what the program looks for. Instead of hunting for shapes, it hunts for </a:t>
            </a:r>
            <a:r>
              <a:rPr sz="2027" b="1" i="0">
                <a:solidFill>
                  <a:srgbClr val="FFFFFF"/>
                </a:solidFill>
                <a:latin typeface="Google Sans"/>
                <a:ea typeface="Google Sans"/>
                <a:cs typeface="Google Sans"/>
                <a:sym typeface="Google Sans"/>
              </a:rPr>
              <a:t>markers</a:t>
            </a:r>
            <a:r>
              <a:rPr sz="2027" b="0" i="0">
                <a:solidFill>
                  <a:srgbClr val="FFFFFF"/>
                </a:solidFill>
                <a:latin typeface="Avenir"/>
                <a:ea typeface="Avenir"/>
                <a:cs typeface="Avenir"/>
                <a:sym typeface="Avenir"/>
              </a:rPr>
              <a:t> you have taped to the board, works out exactly where each one is in three dimensions, and prints the numbers in millimetres.</a:t>
            </a:r>
          </a:p>
        </p:txBody>
      </p:sp>
      <p:sp>
        <p:nvSpPr>
          <p:cNvPr id="4" name="blk0003"/>
          <p:cNvSpPr txBox="1"/>
          <p:nvPr/>
        </p:nvSpPr>
        <p:spPr>
          <a:xfrm>
            <a:off x="687600" y="5677041"/>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Everything you already know carries over. Imports, the robot startup, the camera scan and the display loop are all still here. What changes is the middle of the program, where the shape maths used to be.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Two squares, </a:t>
            </a:r>
            <a:r>
              <a:rPr sz="2827" b="0" i="0">
                <a:solidFill>
                  <a:srgbClr val="FFFFFF"/>
                </a:solidFill>
                <a:latin typeface="Bungee"/>
                <a:ea typeface="Bungee"/>
                <a:cs typeface="Bungee"/>
                <a:sym typeface="Bungee"/>
              </a:rPr>
              <a:t>one answer</a:t>
            </a:r>
          </a:p>
        </p:txBody>
      </p:sp>
      <p:sp>
        <p:nvSpPr>
          <p:cNvPr id="3" name="blk000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Put a large square on the left of the plate and a small square on the right. Both of them measure an extent of about 0.99, both score well on circularity, both have four corners. Your Project 1 decision chain would call them </a:t>
            </a:r>
            <a:r>
              <a:rPr sz="1743" b="0" i="0">
                <a:solidFill>
                  <a:srgbClr val="FFFFFF"/>
                </a:solidFill>
                <a:latin typeface="Courier New"/>
                <a:ea typeface="Courier New"/>
                <a:cs typeface="Courier New"/>
                <a:sym typeface="Courier New"/>
              </a:rPr>
              <a:t>Square</a:t>
            </a:r>
            <a:r>
              <a:rPr sz="2027" b="0" i="0">
                <a:solidFill>
                  <a:srgbClr val="FFFFFF"/>
                </a:solidFill>
                <a:latin typeface="Avenir"/>
                <a:ea typeface="Avenir"/>
                <a:cs typeface="Avenir"/>
                <a:sym typeface="Avenir"/>
              </a:rPr>
              <a:t> — the same word, for two things in different places.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decision chain was never broken. It was answering the only question it had been given. </a:t>
            </a:r>
            <a:r>
              <a:rPr sz="2027" b="1" i="0">
                <a:solidFill>
                  <a:srgbClr val="FFFFFF"/>
                </a:solidFill>
                <a:latin typeface="Google Sans"/>
                <a:ea typeface="Google Sans"/>
                <a:cs typeface="Google Sans"/>
                <a:sym typeface="Google Sans"/>
              </a:rPr>
              <a:t>Shape answers what. A machine that moves things needs where.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project supplies the missing half. You already know what the things on your board look like, because you put them there. So the computer has something it can measure against.</a:t>
            </a:r>
          </a:p>
        </p:txBody>
      </p:sp>
      <p:sp>
        <p:nvSpPr>
          <p:cNvPr id="4" name="blk0006"/>
          <p:cNvSpPr/>
          <p:nvPr/>
        </p:nvSpPr>
        <p:spPr>
          <a:xfrm>
            <a:off x="687600" y="5677041"/>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6"/>
          <p:cNvSpPr/>
          <p:nvPr/>
        </p:nvSpPr>
        <p:spPr>
          <a:xfrm>
            <a:off x="885600" y="6047841"/>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06"/>
          <p:cNvSpPr txBox="1"/>
          <p:nvPr/>
        </p:nvSpPr>
        <p:spPr>
          <a:xfrm>
            <a:off x="1162800" y="5821041"/>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measurement you can repeat is worth more than a clever guess. You already know what the things on your board look like, because you put them there.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type </a:t>
            </a:r>
            <a:r>
              <a:rPr sz="2827" b="0" i="0">
                <a:solidFill>
                  <a:srgbClr val="FFFFFF"/>
                </a:solidFill>
                <a:latin typeface="Bungee"/>
                <a:ea typeface="Bungee"/>
                <a:cs typeface="Bungee"/>
                <a:sym typeface="Bungee"/>
              </a:rPr>
              <a:t>anything</a:t>
            </a:r>
          </a:p>
        </p:txBody>
      </p:sp>
      <p:sp>
        <p:nvSpPr>
          <p:cNvPr id="3" name="blk000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very first line of the starter file is not Python. It is an instruction to a human:</a:t>
            </a:r>
          </a:p>
        </p:txBody>
      </p:sp>
      <p:sp>
        <p:nvSpPr>
          <p:cNvPr id="4" name="blk0009"/>
          <p:cNvSpPr/>
          <p:nvPr/>
        </p:nvSpPr>
        <p:spPr>
          <a:xfrm>
            <a:off x="687600" y="207582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9"/>
          <p:cNvSpPr txBox="1"/>
          <p:nvPr/>
        </p:nvSpPr>
        <p:spPr>
          <a:xfrm>
            <a:off x="910799" y="223783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Remember to cover the two markers on the board for this project!</a:t>
            </a:r>
          </a:p>
        </p:txBody>
      </p:sp>
      <p:sp>
        <p:nvSpPr>
          <p:cNvPr id="6" name="blk0010"/>
          <p:cNvSpPr txBox="1"/>
          <p:nvPr/>
        </p:nvSpPr>
        <p:spPr>
          <a:xfrm>
            <a:off x="687600" y="2755999"/>
            <a:ext cx="7542000" cy="49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printed ArUco markers are taped to the board, and the camera looks down at them from above. Cover them when you are not using them.</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reason is simple. A marker the camera can see is a marker the program will measure, and a marker left on the board is a marker your arm may try to reach. You will be sending this arm to real coordinates later in the module.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Check three things before you start: the markers are flat and not curled, the camera can see both of them at once, and you have measured one marker edge with a ruler. That measurement becomes a number in the program, and every distance it prints depends on it.</a:t>
            </a:r>
          </a:p>
        </p:txBody>
      </p:sp>
      <p:sp>
        <p:nvSpPr>
          <p:cNvPr id="7" name="blk0011"/>
          <p:cNvSpPr txBox="1"/>
          <p:nvPr/>
        </p:nvSpPr>
        <p:spPr>
          <a:xfrm>
            <a:off x="687600" y="7083041"/>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damaged or half-hidden marker is read wrongly, or ignored.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is an </a:t>
            </a:r>
            <a:r>
              <a:rPr sz="2827" b="0" i="0">
                <a:solidFill>
                  <a:srgbClr val="FFFFFF"/>
                </a:solidFill>
                <a:latin typeface="Bungee"/>
                <a:ea typeface="Bungee"/>
                <a:cs typeface="Bungee"/>
                <a:sym typeface="Bungee"/>
              </a:rPr>
              <a:t>ArUco marker</a:t>
            </a:r>
            <a:r>
              <a:rPr sz="2827" b="0" i="0">
                <a:solidFill>
                  <a:srgbClr val="FFFFFF"/>
                </a:solidFill>
                <a:latin typeface="Bungee"/>
                <a:ea typeface="Bungee"/>
                <a:cs typeface="Bungee"/>
                <a:sym typeface="Bungee"/>
              </a:rPr>
              <a:t>?</a:t>
            </a:r>
          </a:p>
        </p:txBody>
      </p:sp>
      <p:sp>
        <p:nvSpPr>
          <p:cNvPr id="3" name="blk001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square of pure black and pure white: a thick black border all the way round, and a grid of black and white squares inside it.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border is identical on every marker ever made. The grid inside is the part that carries the identity. The program already knows what all 250 valid grids look like, so when it sees one it can say which marker it is just by looking.</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is what computer people call a </a:t>
            </a:r>
            <a:r>
              <a:rPr sz="2027" b="1" i="0">
                <a:solidFill>
                  <a:srgbClr val="FFFFFF"/>
                </a:solidFill>
                <a:latin typeface="Google Sans"/>
                <a:ea typeface="Google Sans"/>
                <a:cs typeface="Google Sans"/>
                <a:sym typeface="Google Sans"/>
              </a:rPr>
              <a:t>fiducial</a:t>
            </a:r>
            <a:r>
              <a:rPr sz="2027" b="0" i="0">
                <a:solidFill>
                  <a:srgbClr val="FFFFFF"/>
                </a:solidFill>
                <a:latin typeface="Avenir"/>
                <a:ea typeface="Avenir"/>
                <a:cs typeface="Avenir"/>
                <a:sym typeface="Avenir"/>
              </a:rPr>
              <a:t> — an ordinary object placed in the scene purely so the computer has something known to measure against. The marker is not the subject of the picture. It is the ruler.</a:t>
            </a:r>
          </a:p>
        </p:txBody>
      </p:sp>
      <p:sp>
        <p:nvSpPr>
          <p:cNvPr id="4" name="blk0014"/>
          <p:cNvSpPr txBox="1"/>
          <p:nvPr/>
        </p:nvSpPr>
        <p:spPr>
          <a:xfrm>
            <a:off x="687600" y="5368126"/>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properties make this work in a real classroom. Markers are cheap to print and they are designed so the black border cannot be confused with the grid inside it, which is what lets the detector find a marker at an angle instead of only face-on.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DICT_6X6_</a:t>
            </a:r>
            <a:r>
              <a:rPr sz="2827" b="0" i="0">
                <a:solidFill>
                  <a:srgbClr val="FFFFFF"/>
                </a:solidFill>
                <a:latin typeface="Bungee"/>
                <a:ea typeface="Bungee"/>
                <a:cs typeface="Bungee"/>
                <a:sym typeface="Bungee"/>
              </a:rPr>
              <a:t>250</a:t>
            </a:r>
          </a:p>
        </p:txBody>
      </p:sp>
      <p:sp>
        <p:nvSpPr>
          <p:cNvPr id="3" name="blk0016"/>
          <p:cNvSpPr/>
          <p:nvPr/>
        </p:nvSpPr>
        <p:spPr>
          <a:xfrm>
            <a:off x="687600" y="1655999"/>
            <a:ext cx="8686800" cy="53080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16"/>
          <p:cNvSpPr txBox="1"/>
          <p:nvPr/>
        </p:nvSpPr>
        <p:spPr>
          <a:xfrm>
            <a:off x="910799" y="1818000"/>
            <a:ext cx="8240400" cy="206809"/>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self.aruco_dict = cv2.aruco.getPredefinedDictionary(cv2.aruco.DICT_6X6_250)</a:t>
            </a:r>
          </a:p>
        </p:txBody>
      </p:sp>
      <p:sp>
        <p:nvSpPr>
          <p:cNvPr id="5" name="blk0017"/>
          <p:cNvSpPr txBox="1"/>
          <p:nvPr/>
        </p:nvSpPr>
        <p:spPr>
          <a:xfrm>
            <a:off x="687600" y="2520000"/>
            <a:ext cx="7542000" cy="50400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6X6</a:t>
            </a:r>
            <a:r>
              <a:rPr sz="2027" b="0" i="0">
                <a:solidFill>
                  <a:srgbClr val="FFFFFF"/>
                </a:solidFill>
                <a:latin typeface="Avenir"/>
                <a:ea typeface="Avenir"/>
                <a:cs typeface="Avenir"/>
                <a:sym typeface="Avenir"/>
              </a:rPr>
              <a:t> means the inner grid is six squares across and six down. </a:t>
            </a:r>
            <a:r>
              <a:rPr sz="1743" b="0" i="0">
                <a:solidFill>
                  <a:srgbClr val="FFFFFF"/>
                </a:solidFill>
                <a:latin typeface="Courier New"/>
                <a:ea typeface="Courier New"/>
                <a:cs typeface="Courier New"/>
                <a:sym typeface="Courier New"/>
              </a:rPr>
              <a:t>250</a:t>
            </a:r>
            <a:r>
              <a:rPr sz="2027" b="0" i="0">
                <a:solidFill>
                  <a:srgbClr val="FFFFFF"/>
                </a:solidFill>
                <a:latin typeface="Avenir"/>
                <a:ea typeface="Avenir"/>
                <a:cs typeface="Avenir"/>
                <a:sym typeface="Avenir"/>
              </a:rPr>
              <a:t> means there are 250 different valid patterns in this dictionary.</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Why a dictionary at all? Because the marker has to be unambiguous. The detector must never mistake a row of payload squares for the border, and no two markers in the dictionary may look alike from any angle.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Changing the dictionary is therefore a decision with consequences: it decides which physical markers your program is willing to recognise. Change it without changing the markers on the board and the program will report nothing at all — with no error message to explain why.</a:t>
            </a:r>
          </a:p>
        </p:txBody>
      </p:sp>
      <p:sp>
        <p:nvSpPr>
          <p:cNvPr id="6" name="blk0018"/>
          <p:cNvSpPr txBox="1"/>
          <p:nvPr/>
        </p:nvSpPr>
        <p:spPr>
          <a:xfrm>
            <a:off x="687600" y="6847041"/>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detector also needs the marker’s known size in millimetres, from your earlier ruler measurement.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camera is not </a:t>
            </a:r>
            <a:r>
              <a:rPr sz="2827" b="0" i="0">
                <a:solidFill>
                  <a:srgbClr val="FFFFFF"/>
                </a:solidFill>
                <a:latin typeface="Bungee"/>
                <a:ea typeface="Bungee"/>
                <a:cs typeface="Bungee"/>
                <a:sym typeface="Bungee"/>
              </a:rPr>
              <a:t>perfect</a:t>
            </a:r>
          </a:p>
        </p:txBody>
      </p:sp>
      <p:sp>
        <p:nvSpPr>
          <p:cNvPr id="3" name="blk0020"/>
          <p:cNvSpPr/>
          <p:nvPr/>
        </p:nvSpPr>
        <p:spPr>
          <a:xfrm>
            <a:off x="687600" y="1655999"/>
            <a:ext cx="8686800" cy="156485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20"/>
          <p:cNvSpPr txBox="1"/>
          <p:nvPr/>
        </p:nvSpPr>
        <p:spPr>
          <a:xfrm>
            <a:off x="910799" y="1818000"/>
            <a:ext cx="8240400" cy="1240854"/>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self.camera_matrix = np.array([</a:t>
            </a:r>
          </a:p>
          <a:p>
            <a:pPr algn="l">
              <a:lnSpc>
                <a:spcPct val="115000"/>
              </a:lnSpc>
            </a:pPr>
            <a:r>
              <a:rPr sz="1500" b="0" i="0">
                <a:solidFill>
                  <a:srgbClr val="FFFFFF"/>
                </a:solidFill>
                <a:latin typeface="Courier New"/>
                <a:ea typeface="Courier New"/>
                <a:cs typeface="Courier New"/>
                <a:sym typeface="Courier New"/>
              </a:rPr>
              <a:t>    [781.33379113, 0.0, 347.53500524],</a:t>
            </a:r>
          </a:p>
          <a:p>
            <a:pPr algn="l">
              <a:lnSpc>
                <a:spcPct val="115000"/>
              </a:lnSpc>
            </a:pPr>
            <a:r>
              <a:rPr sz="1500" b="0" i="0">
                <a:solidFill>
                  <a:srgbClr val="FFFFFF"/>
                </a:solidFill>
                <a:latin typeface="Courier New"/>
                <a:ea typeface="Courier New"/>
                <a:cs typeface="Courier New"/>
                <a:sym typeface="Courier New"/>
              </a:rPr>
              <a:t>    [0.0, 783.79074192, 246.67627253],</a:t>
            </a:r>
          </a:p>
          <a:p>
            <a:pPr algn="l">
              <a:lnSpc>
                <a:spcPct val="115000"/>
              </a:lnSpc>
            </a:pPr>
            <a:r>
              <a:rPr sz="1500" b="0" i="0">
                <a:solidFill>
                  <a:srgbClr val="FFFFFF"/>
                </a:solidFill>
                <a:latin typeface="Courier New"/>
                <a:ea typeface="Courier New"/>
                <a:cs typeface="Courier New"/>
                <a:sym typeface="Courier New"/>
              </a:rPr>
              <a:t>    [0.0, 0.0, 1.0]</a:t>
            </a:r>
          </a:p>
          <a:p>
            <a:pPr algn="l">
              <a:lnSpc>
                <a:spcPct val="115000"/>
              </a:lnSpc>
            </a:pPr>
            <a:r>
              <a:rPr sz="1500" b="0" i="0">
                <a:solidFill>
                  <a:srgbClr val="FFFFFF"/>
                </a:solidFill>
                <a:latin typeface="Courier New"/>
                <a:ea typeface="Courier New"/>
                <a:cs typeface="Courier New"/>
                <a:sym typeface="Courier New"/>
              </a:rPr>
              <a:t>], dtype=np.float32)</a:t>
            </a:r>
          </a:p>
        </p:txBody>
      </p:sp>
      <p:sp>
        <p:nvSpPr>
          <p:cNvPr id="5" name="blk0021"/>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781.33 and 783.79 are </a:t>
            </a:r>
            <a:r>
              <a:rPr sz="2027" b="1" i="0">
                <a:solidFill>
                  <a:srgbClr val="FFFFFF"/>
                </a:solidFill>
                <a:latin typeface="Google Sans"/>
                <a:ea typeface="Google Sans"/>
                <a:cs typeface="Google Sans"/>
                <a:sym typeface="Google Sans"/>
              </a:rPr>
              <a:t>focal lengths</a:t>
            </a:r>
            <a:r>
              <a:rPr sz="2027" b="0" i="0">
                <a:solidFill>
                  <a:srgbClr val="FFFFFF"/>
                </a:solidFill>
                <a:latin typeface="Avenir"/>
                <a:ea typeface="Avenir"/>
                <a:cs typeface="Avenir"/>
                <a:sym typeface="Avenir"/>
              </a:rPr>
              <a:t>, measured in pixels. They say how far the lens "sees", in the same units as the picture itself.</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347.53 and 246.67 are the </a:t>
            </a:r>
            <a:r>
              <a:rPr sz="2027" b="1" i="0">
                <a:solidFill>
                  <a:srgbClr val="FFFFFF"/>
                </a:solidFill>
                <a:latin typeface="Google Sans"/>
                <a:ea typeface="Google Sans"/>
                <a:cs typeface="Google Sans"/>
                <a:sym typeface="Google Sans"/>
              </a:rPr>
              <a:t>principal point</a:t>
            </a:r>
            <a:r>
              <a:rPr sz="2027" b="0" i="0">
                <a:solidFill>
                  <a:srgbClr val="FFFFFF"/>
                </a:solidFill>
                <a:latin typeface="Avenir"/>
                <a:ea typeface="Avenir"/>
                <a:cs typeface="Avenir"/>
                <a:sym typeface="Avenir"/>
              </a:rPr>
              <a:t> — the pixel where the camera’s own line of sight lands on the sensor. Usually near the middle of the picture, but not exactly.</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bottom row of zeros and a one is bookkeeping, not a measurement. It is there because matrix maths expects this shape.</a:t>
            </a:r>
          </a:p>
        </p:txBody>
      </p:sp>
      <p:sp>
        <p:nvSpPr>
          <p:cNvPr id="6" name="blk0022"/>
          <p:cNvSpPr txBox="1"/>
          <p:nvPr/>
        </p:nvSpPr>
        <p:spPr>
          <a:xfrm>
            <a:off x="687600" y="6784297"/>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Produced from a checkerboard photo, they belong to this exact camera and lens. Copy them exactly.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And the lens is not </a:t>
            </a:r>
            <a:r>
              <a:rPr sz="2827" b="0" i="0">
                <a:solidFill>
                  <a:srgbClr val="FFFFFF"/>
                </a:solidFill>
                <a:latin typeface="Bungee"/>
                <a:ea typeface="Bungee"/>
                <a:cs typeface="Bungee"/>
                <a:sym typeface="Bungee"/>
              </a:rPr>
              <a:t>flat</a:t>
            </a:r>
          </a:p>
        </p:txBody>
      </p:sp>
      <p:sp>
        <p:nvSpPr>
          <p:cNvPr id="3" name="blk0024"/>
          <p:cNvSpPr/>
          <p:nvPr/>
        </p:nvSpPr>
        <p:spPr>
          <a:xfrm>
            <a:off x="687600" y="1655999"/>
            <a:ext cx="8686800" cy="93177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24"/>
          <p:cNvSpPr txBox="1"/>
          <p:nvPr/>
        </p:nvSpPr>
        <p:spPr>
          <a:xfrm>
            <a:off x="910799" y="1818000"/>
            <a:ext cx="8240400" cy="607771"/>
          </a:xfrm>
          <a:prstGeom prst="rect">
            <a:avLst/>
          </a:prstGeom>
          <a:noFill/>
        </p:spPr>
        <p:txBody>
          <a:bodyPr wrap="square" anchor="t" lIns="0" rIns="0" tIns="0" bIns="0">
            <a:noAutofit/>
          </a:bodyPr>
          <a:lstStyle/>
          <a:p>
            <a:pPr algn="l">
              <a:lnSpc>
                <a:spcPct val="115000"/>
              </a:lnSpc>
            </a:pPr>
            <a:r>
              <a:rPr sz="1224" b="0" i="0">
                <a:solidFill>
                  <a:srgbClr val="FFFFFF"/>
                </a:solidFill>
                <a:latin typeface="Courier New"/>
                <a:ea typeface="Courier New"/>
                <a:cs typeface="Courier New"/>
                <a:sym typeface="Courier New"/>
              </a:rPr>
              <a:t>self.dist_coeffs = np.array([</a:t>
            </a:r>
          </a:p>
          <a:p>
            <a:pPr algn="l">
              <a:lnSpc>
                <a:spcPct val="115000"/>
              </a:lnSpc>
            </a:pPr>
            <a:r>
              <a:rPr sz="1224" b="0" i="0">
                <a:solidFill>
                  <a:srgbClr val="FFFFFF"/>
                </a:solidFill>
                <a:latin typeface="Courier New"/>
                <a:ea typeface="Courier New"/>
                <a:cs typeface="Courier New"/>
                <a:sym typeface="Courier New"/>
              </a:rPr>
              <a:t>    [3.41360787e-01, -2.52114260e+00, -1.28012469e-03, 6.70503562e-03, 2.57018000e+00]</a:t>
            </a:r>
          </a:p>
          <a:p>
            <a:pPr algn="l">
              <a:lnSpc>
                <a:spcPct val="115000"/>
              </a:lnSpc>
            </a:pPr>
            <a:r>
              <a:rPr sz="1224" b="0" i="0">
                <a:solidFill>
                  <a:srgbClr val="FFFFFF"/>
                </a:solidFill>
                <a:latin typeface="Courier New"/>
                <a:ea typeface="Courier New"/>
                <a:cs typeface="Courier New"/>
                <a:sym typeface="Courier New"/>
              </a:rPr>
              <a:t>], dtype=np.float32)</a:t>
            </a:r>
          </a:p>
        </p:txBody>
      </p:sp>
      <p:sp>
        <p:nvSpPr>
          <p:cNvPr id="5" name="blk0025"/>
          <p:cNvSpPr txBox="1"/>
          <p:nvPr/>
        </p:nvSpPr>
        <p:spPr>
          <a:xfrm>
            <a:off x="687600" y="2736000"/>
            <a:ext cx="7542000" cy="48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numbers describing how badly this particular lens bends light. Cheap lenses bend more towards the edges than in the middle, so a square photographed near the corner of the picture comes out slightly rounded.</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They are written in scientific notation, which is just a compact way of saying a very small or very large number. </a:t>
            </a:r>
            <a:r>
              <a:rPr sz="1743" b="0" i="0">
                <a:solidFill>
                  <a:srgbClr val="FFFFFF"/>
                </a:solidFill>
                <a:latin typeface="Courier New"/>
                <a:ea typeface="Courier New"/>
                <a:cs typeface="Courier New"/>
                <a:sym typeface="Courier New"/>
              </a:rPr>
              <a:t>3.41e-01</a:t>
            </a:r>
            <a:r>
              <a:rPr sz="2027" b="0" i="0">
                <a:solidFill>
                  <a:srgbClr val="FFFFFF"/>
                </a:solidFill>
                <a:latin typeface="Avenir"/>
                <a:ea typeface="Avenir"/>
                <a:cs typeface="Avenir"/>
                <a:sym typeface="Avenir"/>
              </a:rPr>
              <a:t> is </a:t>
            </a:r>
            <a:r>
              <a:rPr sz="1743" b="0" i="0">
                <a:solidFill>
                  <a:srgbClr val="FFFFFF"/>
                </a:solidFill>
                <a:latin typeface="Courier New"/>
                <a:ea typeface="Courier New"/>
                <a:cs typeface="Courier New"/>
                <a:sym typeface="Courier New"/>
              </a:rPr>
              <a:t>0.341</a:t>
            </a:r>
            <a:r>
              <a:rPr sz="2027" b="0" i="0">
                <a:solidFill>
                  <a:srgbClr val="FFFFFF"/>
                </a:solidFill>
                <a:latin typeface="Avenir"/>
                <a:ea typeface="Avenir"/>
                <a:cs typeface="Avenir"/>
                <a:sym typeface="Avenir"/>
              </a:rPr>
              <a:t>. </a:t>
            </a:r>
            <a:r>
              <a:rPr sz="1743" b="0" i="0">
                <a:solidFill>
                  <a:srgbClr val="FFFFFF"/>
                </a:solidFill>
                <a:latin typeface="Courier New"/>
                <a:ea typeface="Courier New"/>
                <a:cs typeface="Courier New"/>
                <a:sym typeface="Courier New"/>
              </a:rPr>
              <a:t>-2.52e+00</a:t>
            </a:r>
            <a:r>
              <a:rPr sz="2027" b="0" i="0">
                <a:solidFill>
                  <a:srgbClr val="FFFFFF"/>
                </a:solidFill>
                <a:latin typeface="Avenir"/>
                <a:ea typeface="Avenir"/>
                <a:cs typeface="Avenir"/>
                <a:sym typeface="Avenir"/>
              </a:rPr>
              <a:t> is </a:t>
            </a:r>
            <a:r>
              <a:rPr sz="1743" b="0" i="0">
                <a:solidFill>
                  <a:srgbClr val="FFFFFF"/>
                </a:solidFill>
                <a:latin typeface="Courier New"/>
                <a:ea typeface="Courier New"/>
                <a:cs typeface="Courier New"/>
                <a:sym typeface="Courier New"/>
              </a:rPr>
              <a:t>-2.52</a:t>
            </a:r>
            <a:r>
              <a:rPr sz="2027" b="0" i="0">
                <a:solidFill>
                  <a:srgbClr val="FFFFFF"/>
                </a:solidFill>
                <a:latin typeface="Avenir"/>
                <a:ea typeface="Avenir"/>
                <a:cs typeface="Avenir"/>
                <a:sym typeface="Avenir"/>
              </a:rPr>
              <a: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Without these five numbers every distance would be slightly wrong — and wrong by a </a:t>
            </a:r>
            <a:r>
              <a:rPr sz="2027" b="1" i="0">
                <a:solidFill>
                  <a:srgbClr val="FFFFFF"/>
                </a:solidFill>
                <a:latin typeface="Google Sans"/>
                <a:ea typeface="Google Sans"/>
                <a:cs typeface="Google Sans"/>
                <a:sym typeface="Google Sans"/>
              </a:rPr>
              <a:t>different amount</a:t>
            </a:r>
            <a:r>
              <a:rPr sz="2027" b="0" i="0">
                <a:solidFill>
                  <a:srgbClr val="FFFFFF"/>
                </a:solidFill>
                <a:latin typeface="Avenir"/>
                <a:ea typeface="Avenir"/>
                <a:cs typeface="Avenir"/>
                <a:sym typeface="Avenir"/>
              </a:rPr>
              <a:t> depending on where in the picture the marker happened to be sitting. A marker in the centre and the same marker in the corner would give two different answers.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Pixels are not a </a:t>
            </a:r>
            <a:r>
              <a:rPr sz="2827" b="0" i="0">
                <a:solidFill>
                  <a:srgbClr val="FFFFFF"/>
                </a:solidFill>
                <a:latin typeface="Bungee"/>
                <a:ea typeface="Bungee"/>
                <a:cs typeface="Bungee"/>
                <a:sym typeface="Bungee"/>
              </a:rPr>
              <a:t>distance</a:t>
            </a:r>
          </a:p>
        </p:txBody>
      </p:sp>
      <p:sp>
        <p:nvSpPr>
          <p:cNvPr id="3" name="blk0027"/>
          <p:cNvSpPr/>
          <p:nvPr/>
        </p:nvSpPr>
        <p:spPr>
          <a:xfrm>
            <a:off x="687600" y="1655999"/>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27"/>
          <p:cNvSpPr txBox="1"/>
          <p:nvPr/>
        </p:nvSpPr>
        <p:spPr>
          <a:xfrm>
            <a:off x="910799" y="1818000"/>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ArUco marker size in meters (30mm)</a:t>
            </a:r>
          </a:p>
          <a:p>
            <a:pPr algn="l">
              <a:lnSpc>
                <a:spcPct val="115000"/>
              </a:lnSpc>
            </a:pPr>
            <a:r>
              <a:rPr sz="1500" b="0" i="0">
                <a:solidFill>
                  <a:srgbClr val="FFFFFF"/>
                </a:solidFill>
                <a:latin typeface="Courier New"/>
                <a:ea typeface="Courier New"/>
                <a:cs typeface="Courier New"/>
                <a:sym typeface="Courier New"/>
              </a:rPr>
              <a:t>self.marker_size_m = 0.03</a:t>
            </a:r>
          </a:p>
        </p:txBody>
      </p:sp>
      <p:sp>
        <p:nvSpPr>
          <p:cNvPr id="5" name="blk0028"/>
          <p:cNvSpPr txBox="1"/>
          <p:nvPr/>
        </p:nvSpPr>
        <p:spPr>
          <a:xfrm>
            <a:off x="687600" y="2664000"/>
            <a:ext cx="7542000" cy="49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Here is the whole trick. The camera hands you a marker as </a:t>
            </a:r>
            <a:r>
              <a:rPr sz="2027" b="1" i="0">
                <a:solidFill>
                  <a:srgbClr val="FFFFFF"/>
                </a:solidFill>
                <a:latin typeface="Google Sans"/>
                <a:ea typeface="Google Sans"/>
                <a:cs typeface="Google Sans"/>
                <a:sym typeface="Google Sans"/>
              </a:rPr>
              <a:t>pixels</a:t>
            </a:r>
            <a:r>
              <a:rPr sz="2027" b="0" i="0">
                <a:solidFill>
                  <a:srgbClr val="FFFFFF"/>
                </a:solidFill>
                <a:latin typeface="Avenir"/>
                <a:ea typeface="Avenir"/>
                <a:cs typeface="Avenir"/>
                <a:sym typeface="Avenir"/>
              </a:rPr>
              <a:t>, and pixels have no units. You cannot move an arm by an amount of pixels.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So you give the program one real measurement — how wide the marker actually is — and it works backwards from the marker’s size on screen to how far away it must be.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Measure it once, with a ruler, carefully. </a:t>
            </a:r>
            <a:r>
              <a:rPr sz="1743" b="0" i="0">
                <a:solidFill>
                  <a:srgbClr val="FFFFFF"/>
                </a:solidFill>
                <a:latin typeface="Courier New"/>
                <a:ea typeface="Courier New"/>
                <a:cs typeface="Courier New"/>
                <a:sym typeface="Courier New"/>
              </a:rPr>
              <a:t>0.03</a:t>
            </a:r>
            <a:r>
              <a:rPr sz="2027" b="0" i="0">
                <a:solidFill>
                  <a:srgbClr val="FFFFFF"/>
                </a:solidFill>
                <a:latin typeface="Avenir"/>
                <a:ea typeface="Avenir"/>
                <a:cs typeface="Avenir"/>
                <a:sym typeface="Avenir"/>
              </a:rPr>
              <a:t> metres is 30 millimetres, which is why the comment spells it out: a bare </a:t>
            </a:r>
            <a:r>
              <a:rPr sz="1743" b="0" i="0">
                <a:solidFill>
                  <a:srgbClr val="FFFFFF"/>
                </a:solidFill>
                <a:latin typeface="Courier New"/>
                <a:ea typeface="Courier New"/>
                <a:cs typeface="Courier New"/>
                <a:sym typeface="Courier New"/>
              </a:rPr>
              <a:t>3</a:t>
            </a:r>
            <a:r>
              <a:rPr sz="2027" b="0" i="0">
                <a:solidFill>
                  <a:srgbClr val="FFFFFF"/>
                </a:solidFill>
                <a:latin typeface="Avenir"/>
                <a:ea typeface="Avenir"/>
                <a:cs typeface="Avenir"/>
                <a:sym typeface="Avenir"/>
              </a:rPr>
              <a:t> would mean three kilometres.</a:t>
            </a:r>
          </a:p>
        </p:txBody>
      </p:sp>
      <p:sp>
        <p:nvSpPr>
          <p:cNvPr id="6" name="blk0029"/>
          <p:cNvSpPr txBox="1"/>
          <p:nvPr/>
        </p:nvSpPr>
        <p:spPr>
          <a:xfrm>
            <a:off x="687600" y="6064297"/>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single measurement your program trusts. If it is wrong, nothing downstream can detect it — the program has no way to know that the marker was printed at 29mm instead of 30mm, and it will report confident, tidy, incorrect distances forever.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Asking where it </a:t>
            </a:r>
            <a:r>
              <a:rPr sz="2827" b="0" i="0">
                <a:solidFill>
                  <a:srgbClr val="FFFFFF"/>
                </a:solidFill>
                <a:latin typeface="Bungee"/>
                <a:ea typeface="Bungee"/>
                <a:cs typeface="Bungee"/>
                <a:sym typeface="Bungee"/>
              </a:rPr>
              <a:t>is</a:t>
            </a:r>
          </a:p>
        </p:txBody>
      </p:sp>
      <p:sp>
        <p:nvSpPr>
          <p:cNvPr id="3" name="blk0031"/>
          <p:cNvSpPr/>
          <p:nvPr/>
        </p:nvSpPr>
        <p:spPr>
          <a:xfrm>
            <a:off x="687600" y="1655999"/>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31"/>
          <p:cNvSpPr txBox="1"/>
          <p:nvPr/>
        </p:nvSpPr>
        <p:spPr>
          <a:xfrm>
            <a:off x="910799" y="1818000"/>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rvecs, tvecs, _ = cv2.aruco.estimatePoseSingleMarkers(</a:t>
            </a:r>
          </a:p>
          <a:p>
            <a:pPr algn="l">
              <a:lnSpc>
                <a:spcPct val="115000"/>
              </a:lnSpc>
            </a:pPr>
            <a:r>
              <a:rPr sz="1400" b="0" i="0">
                <a:solidFill>
                  <a:srgbClr val="FFFFFF"/>
                </a:solidFill>
                <a:latin typeface="Courier New"/>
                <a:ea typeface="Courier New"/>
                <a:cs typeface="Courier New"/>
                <a:sym typeface="Courier New"/>
              </a:rPr>
              <a:t>    corners, self.marker_size_m, self.camera_matrix, self.dist_coeffs</a:t>
            </a:r>
          </a:p>
          <a:p>
            <a:pPr algn="l">
              <a:lnSpc>
                <a:spcPct val="115000"/>
              </a:lnSpc>
            </a:pPr>
            <a:r>
              <a:rPr sz="1400" b="0" i="0">
                <a:solidFill>
                  <a:srgbClr val="FFFFFF"/>
                </a:solidFill>
                <a:latin typeface="Courier New"/>
                <a:ea typeface="Courier New"/>
                <a:cs typeface="Courier New"/>
                <a:sym typeface="Courier New"/>
              </a:rPr>
              <a:t>)</a:t>
            </a:r>
          </a:p>
        </p:txBody>
      </p:sp>
      <p:sp>
        <p:nvSpPr>
          <p:cNvPr id="5" name="blk0032"/>
          <p:cNvSpPr txBox="1"/>
          <p:nvPr/>
        </p:nvSpPr>
        <p:spPr>
          <a:xfrm>
            <a:off x="687600" y="302400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three inputs, two answers. Corners in pixels, the marker’s real size, and the two calibration arrays go in; a rotation and a position come out — for every marker in the picture at once.</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rvecs</a:t>
            </a:r>
            <a:r>
              <a:rPr sz="2027" b="0" i="0">
                <a:solidFill>
                  <a:srgbClr val="FFFFFF"/>
                </a:solidFill>
                <a:latin typeface="Avenir"/>
                <a:ea typeface="Avenir"/>
                <a:cs typeface="Avenir"/>
                <a:sym typeface="Avenir"/>
              </a:rPr>
              <a:t> is rotation. </a:t>
            </a:r>
            <a:r>
              <a:rPr sz="1743" b="0" i="0">
                <a:solidFill>
                  <a:srgbClr val="FFFFFF"/>
                </a:solidFill>
                <a:latin typeface="Courier New"/>
                <a:ea typeface="Courier New"/>
                <a:cs typeface="Courier New"/>
                <a:sym typeface="Courier New"/>
              </a:rPr>
              <a:t>tvecs</a:t>
            </a:r>
            <a:r>
              <a:rPr sz="2027" b="0" i="0">
                <a:solidFill>
                  <a:srgbClr val="FFFFFF"/>
                </a:solidFill>
                <a:latin typeface="Avenir"/>
                <a:ea typeface="Avenir"/>
                <a:cs typeface="Avenir"/>
                <a:sym typeface="Avenir"/>
              </a:rPr>
              <a:t> is translation. The third return value is thrown away here, which is what the underscore is for.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word </a:t>
            </a:r>
            <a:r>
              <a:rPr sz="2027" b="1" i="0">
                <a:solidFill>
                  <a:srgbClr val="FFFFFF"/>
                </a:solidFill>
                <a:latin typeface="Google Sans"/>
                <a:ea typeface="Google Sans"/>
                <a:cs typeface="Google Sans"/>
                <a:sym typeface="Google Sans"/>
              </a:rPr>
              <a:t>pose</a:t>
            </a:r>
            <a:r>
              <a:rPr sz="2027" b="0" i="0">
                <a:solidFill>
                  <a:srgbClr val="FFFFFF"/>
                </a:solidFill>
                <a:latin typeface="Avenir"/>
                <a:ea typeface="Avenir"/>
                <a:cs typeface="Avenir"/>
                <a:sym typeface="Avenir"/>
              </a:rPr>
              <a:t> means both halves at once: where the marker is </a:t>
            </a:r>
            <a:r>
              <a:rPr sz="2027" b="0" i="1">
                <a:solidFill>
                  <a:srgbClr val="FFCF08"/>
                </a:solidFill>
                <a:latin typeface="Avenir"/>
                <a:ea typeface="Avenir"/>
                <a:cs typeface="Avenir"/>
                <a:sym typeface="Avenir"/>
              </a:rPr>
              <a:t>and</a:t>
            </a:r>
            <a:r>
              <a:rPr sz="2027" b="0" i="0">
                <a:solidFill>
                  <a:srgbClr val="FFFFFF"/>
                </a:solidFill>
                <a:latin typeface="Avenir"/>
                <a:ea typeface="Avenir"/>
                <a:cs typeface="Avenir"/>
                <a:sym typeface="Avenir"/>
              </a:rPr>
              <a:t> which way it is facing. For sorting shapes you could ignore the second half. For a robot that has to line up a gripper, you cannot.</a:t>
            </a:r>
          </a:p>
        </p:txBody>
      </p:sp>
      <p:sp>
        <p:nvSpPr>
          <p:cNvPr id="6" name="blk0033"/>
          <p:cNvSpPr txBox="1"/>
          <p:nvPr/>
        </p:nvSpPr>
        <p:spPr>
          <a:xfrm>
            <a:off x="687600" y="6733212"/>
            <a:ext cx="7542000" cy="792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SingleMarkers</a:t>
            </a:r>
            <a:r>
              <a:rPr sz="1650" b="0" i="0">
                <a:solidFill>
                  <a:srgbClr val="FFFFFF"/>
                </a:solidFill>
                <a:latin typeface="Avenir"/>
                <a:ea typeface="Avenir"/>
                <a:cs typeface="Avenir"/>
                <a:sym typeface="Avenir"/>
              </a:rPr>
              <a:t> treats each marker on its own — the right choice when markers move independently.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numbers: </a:t>
            </a:r>
            <a:r>
              <a:rPr sz="2827" b="0" i="0">
                <a:solidFill>
                  <a:srgbClr val="FFFFFF"/>
                </a:solidFill>
                <a:latin typeface="Bungee"/>
                <a:ea typeface="Bungee"/>
                <a:cs typeface="Bungee"/>
                <a:sym typeface="Bungee"/>
              </a:rPr>
              <a:t>X, Y, Z</a:t>
            </a:r>
          </a:p>
        </p:txBody>
      </p:sp>
      <p:sp>
        <p:nvSpPr>
          <p:cNvPr id="3" name="blk0035"/>
          <p:cNvSpPr/>
          <p:nvPr/>
        </p:nvSpPr>
        <p:spPr>
          <a:xfrm>
            <a:off x="687600" y="165599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35"/>
          <p:cNvSpPr txBox="1"/>
          <p:nvPr/>
        </p:nvSpPr>
        <p:spPr>
          <a:xfrm>
            <a:off x="910799" y="181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tvec = tvecs[i][0]  # [X, Y, Z] in meters</a:t>
            </a:r>
          </a:p>
        </p:txBody>
      </p:sp>
      <p:sp>
        <p:nvSpPr>
          <p:cNvPr id="5" name="blk0036"/>
          <p:cNvSpPr txBox="1"/>
          <p:nvPr/>
        </p:nvSpPr>
        <p:spPr>
          <a:xfrm>
            <a:off x="687600" y="2664000"/>
            <a:ext cx="7542000" cy="4964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tvecs[i]</a:t>
            </a:r>
            <a:r>
              <a:rPr sz="2027" b="0" i="0">
                <a:solidFill>
                  <a:srgbClr val="FFFFFF"/>
                </a:solidFill>
                <a:latin typeface="Avenir"/>
                <a:ea typeface="Avenir"/>
                <a:cs typeface="Avenir"/>
                <a:sym typeface="Avenir"/>
              </a:rPr>
              <a:t> is the translation of marker number </a:t>
            </a:r>
            <a:r>
              <a:rPr sz="1743" b="0" i="0">
                <a:solidFill>
                  <a:srgbClr val="FFFFFF"/>
                </a:solidFill>
                <a:latin typeface="Courier New"/>
                <a:ea typeface="Courier New"/>
                <a:cs typeface="Courier New"/>
                <a:sym typeface="Courier New"/>
              </a:rPr>
              <a:t>i</a:t>
            </a:r>
            <a:r>
              <a:rPr sz="2027" b="0" i="0">
                <a:solidFill>
                  <a:srgbClr val="FFFFFF"/>
                </a:solidFill>
                <a:latin typeface="Avenir"/>
                <a:ea typeface="Avenir"/>
                <a:cs typeface="Avenir"/>
                <a:sym typeface="Avenir"/>
              </a:rPr>
              <a:t>. The </a:t>
            </a:r>
            <a:r>
              <a:rPr sz="1743" b="0" i="0">
                <a:solidFill>
                  <a:srgbClr val="FFFFFF"/>
                </a:solidFill>
                <a:latin typeface="Courier New"/>
                <a:ea typeface="Courier New"/>
                <a:cs typeface="Courier New"/>
                <a:sym typeface="Courier New"/>
              </a:rPr>
              <a:t>[0]</a:t>
            </a:r>
            <a:r>
              <a:rPr sz="2027" b="0" i="0">
                <a:solidFill>
                  <a:srgbClr val="FFFFFF"/>
                </a:solidFill>
                <a:latin typeface="Avenir"/>
                <a:ea typeface="Avenir"/>
                <a:cs typeface="Avenir"/>
                <a:sym typeface="Avenir"/>
              </a:rPr>
              <a:t> unwraps it down to a plain array of three numbers, which is much easier to work with.</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Two of the three describe sideways movement and the third is </a:t>
            </a:r>
            <a:r>
              <a:rPr sz="2027" b="1" i="0">
                <a:solidFill>
                  <a:srgbClr val="FFFFFF"/>
                </a:solidFill>
                <a:latin typeface="Google Sans"/>
                <a:ea typeface="Google Sans"/>
                <a:cs typeface="Google Sans"/>
                <a:sym typeface="Google Sans"/>
              </a:rPr>
              <a:t>depth</a:t>
            </a:r>
            <a:r>
              <a:rPr sz="2027" b="0" i="0">
                <a:solidFill>
                  <a:srgbClr val="FFFFFF"/>
                </a:solidFill>
                <a:latin typeface="Avenir"/>
                <a:ea typeface="Avenir"/>
                <a:cs typeface="Avenir"/>
                <a:sym typeface="Avenir"/>
              </a:rPr>
              <a:t> — how far away the marker is. All three are in metres, and all three are measured from the camera, not from the robot.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A negative number is not an error. It simply means the marker is to the left, or below the camera’s own origin, or nearer than the camera itself. The signs carry real information about where things are.</a:t>
            </a:r>
          </a:p>
        </p:txBody>
      </p:sp>
      <p:sp>
        <p:nvSpPr>
          <p:cNvPr id="6" name="blk0037"/>
          <p:cNvSpPr txBox="1"/>
          <p:nvPr/>
        </p:nvSpPr>
        <p:spPr>
          <a:xfrm>
            <a:off x="687600" y="6682126"/>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loop that follows goes round </a:t>
            </a:r>
            <a:r>
              <a:rPr sz="1419" b="0" i="0">
                <a:solidFill>
                  <a:srgbClr val="FFFFFF"/>
                </a:solidFill>
                <a:latin typeface="Courier New"/>
                <a:ea typeface="Courier New"/>
                <a:cs typeface="Courier New"/>
                <a:sym typeface="Courier New"/>
              </a:rPr>
              <a:t>for i in range(len(ids))</a:t>
            </a:r>
            <a:r>
              <a:rPr sz="1650" b="0" i="0">
                <a:solidFill>
                  <a:srgbClr val="FFFFFF"/>
                </a:solidFill>
                <a:latin typeface="Avenir"/>
                <a:ea typeface="Avenir"/>
                <a:cs typeface="Avenir"/>
                <a:sym typeface="Avenir"/>
              </a:rPr>
              <a:t> — one pass per marker found. Everything inside that loop is about marker number </a:t>
            </a:r>
            <a:r>
              <a:rPr sz="1419" b="0" i="0">
                <a:solidFill>
                  <a:srgbClr val="FFFFFF"/>
                </a:solidFill>
                <a:latin typeface="Courier New"/>
                <a:ea typeface="Courier New"/>
                <a:cs typeface="Courier New"/>
                <a:sym typeface="Courier New"/>
              </a:rPr>
              <a:t>i</a:t>
            </a:r>
            <a:r>
              <a:rPr sz="1650" b="0" i="0">
                <a:solidFill>
                  <a:srgbClr val="FFFFFF"/>
                </a:solidFill>
                <a:latin typeface="Avenir"/>
                <a:ea typeface="Avenir"/>
                <a:cs typeface="Avenir"/>
                <a:sym typeface="Avenir"/>
              </a:rPr>
              <a:t>, and nothing inside it should assume there is more than one marker.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rotation you </a:t>
            </a:r>
            <a:r>
              <a:rPr sz="2827" b="0" i="0">
                <a:solidFill>
                  <a:srgbClr val="FFFFFF"/>
                </a:solidFill>
                <a:latin typeface="Bungee"/>
                <a:ea typeface="Bungee"/>
                <a:cs typeface="Bungee"/>
                <a:sym typeface="Bungee"/>
              </a:rPr>
              <a:t>cannot read</a:t>
            </a:r>
          </a:p>
        </p:txBody>
      </p:sp>
      <p:sp>
        <p:nvSpPr>
          <p:cNvPr id="3" name="blk003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rvecs[i]</a:t>
            </a:r>
            <a:r>
              <a:rPr sz="2027" b="0" i="0">
                <a:solidFill>
                  <a:srgbClr val="FFFFFF"/>
                </a:solidFill>
                <a:latin typeface="Avenir"/>
                <a:ea typeface="Avenir"/>
                <a:cs typeface="Avenir"/>
                <a:sym typeface="Avenir"/>
              </a:rPr>
              <a:t> is also three numbers, and unlike </a:t>
            </a:r>
            <a:r>
              <a:rPr sz="1743" b="0" i="0">
                <a:solidFill>
                  <a:srgbClr val="FFFFFF"/>
                </a:solidFill>
                <a:latin typeface="Courier New"/>
                <a:ea typeface="Courier New"/>
                <a:cs typeface="Courier New"/>
                <a:sym typeface="Courier New"/>
              </a:rPr>
              <a:t>tvecs[i]</a:t>
            </a:r>
            <a:r>
              <a:rPr sz="2027" b="0" i="0">
                <a:solidFill>
                  <a:srgbClr val="FFFFFF"/>
                </a:solidFill>
                <a:latin typeface="Avenir"/>
                <a:ea typeface="Avenir"/>
                <a:cs typeface="Avenir"/>
                <a:sym typeface="Avenir"/>
              </a:rPr>
              <a:t> they are not coordinates. A rotation vector packs two separate ideas into three values.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Its </a:t>
            </a:r>
            <a:r>
              <a:rPr sz="2027" b="1" i="0">
                <a:solidFill>
                  <a:srgbClr val="FFFFFF"/>
                </a:solidFill>
                <a:latin typeface="Google Sans"/>
                <a:ea typeface="Google Sans"/>
                <a:cs typeface="Google Sans"/>
                <a:sym typeface="Google Sans"/>
              </a:rPr>
              <a:t>length</a:t>
            </a:r>
            <a:r>
              <a:rPr sz="2027" b="0" i="0">
                <a:solidFill>
                  <a:srgbClr val="FFFFFF"/>
                </a:solidFill>
                <a:latin typeface="Avenir"/>
                <a:ea typeface="Avenir"/>
                <a:cs typeface="Avenir"/>
                <a:sym typeface="Avenir"/>
              </a:rPr>
              <a:t> is the angle turned, in radians. Its </a:t>
            </a:r>
            <a:r>
              <a:rPr sz="2027" b="1" i="0">
                <a:solidFill>
                  <a:srgbClr val="FFFFFF"/>
                </a:solidFill>
                <a:latin typeface="Google Sans"/>
                <a:ea typeface="Google Sans"/>
                <a:cs typeface="Google Sans"/>
                <a:sym typeface="Google Sans"/>
              </a:rPr>
              <a:t>direction</a:t>
            </a:r>
            <a:r>
              <a:rPr sz="2027" b="0" i="0">
                <a:solidFill>
                  <a:srgbClr val="FFFFFF"/>
                </a:solidFill>
                <a:latin typeface="Avenir"/>
                <a:ea typeface="Avenir"/>
                <a:cs typeface="Avenir"/>
                <a:sym typeface="Avenir"/>
              </a:rPr>
              <a:t> is the axis you turned about. Together they say "tip this far, around this line".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OpenCV represents it this way because it composes cleanly: add two rotation vectors and you get another valid rotation. Three separate Euler angles do not behave that way, and roll over.</a:t>
            </a:r>
          </a:p>
        </p:txBody>
      </p:sp>
      <p:sp>
        <p:nvSpPr>
          <p:cNvPr id="4" name="blk0040"/>
          <p:cNvSpPr/>
          <p:nvPr/>
        </p:nvSpPr>
        <p:spPr>
          <a:xfrm>
            <a:off x="687600" y="5059212"/>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0"/>
          <p:cNvSpPr/>
          <p:nvPr/>
        </p:nvSpPr>
        <p:spPr>
          <a:xfrm>
            <a:off x="885600" y="551029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40"/>
          <p:cNvSpPr txBox="1"/>
          <p:nvPr/>
        </p:nvSpPr>
        <p:spPr>
          <a:xfrm>
            <a:off x="1162800" y="5203212"/>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Notice what the program does with it: nothing. </a:t>
            </a:r>
            <a:r>
              <a:rPr sz="1290" b="0" i="1">
                <a:solidFill>
                  <a:srgbClr val="FFCF08"/>
                </a:solidFill>
                <a:latin typeface="Courier New"/>
                <a:ea typeface="Courier New"/>
                <a:cs typeface="Courier New"/>
                <a:sym typeface="Courier New"/>
              </a:rPr>
              <a:t>rvecs[i]</a:t>
            </a:r>
            <a:r>
              <a:rPr sz="1500" b="0" i="1">
                <a:solidFill>
                  <a:srgbClr val="FFCF08"/>
                </a:solidFill>
                <a:latin typeface="Avenir"/>
                <a:ea typeface="Avenir"/>
                <a:cs typeface="Avenir"/>
                <a:sym typeface="Avenir"/>
              </a:rPr>
              <a:t> is handed straight to the drawing function, which does the trigonometry and draws the answer. A library doing the hard arithmetic is the whole point of using a library.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Whose </a:t>
            </a:r>
            <a:r>
              <a:rPr sz="2827" b="0" i="0">
                <a:solidFill>
                  <a:srgbClr val="FFFFFF"/>
                </a:solidFill>
                <a:latin typeface="Bungee"/>
                <a:ea typeface="Bungee"/>
                <a:cs typeface="Bungee"/>
                <a:sym typeface="Bungee"/>
              </a:rPr>
              <a:t>coordinates</a:t>
            </a:r>
            <a:r>
              <a:rPr sz="2827" b="0" i="0">
                <a:solidFill>
                  <a:srgbClr val="FFFFFF"/>
                </a:solidFill>
                <a:latin typeface="Bungee"/>
                <a:ea typeface="Bungee"/>
                <a:cs typeface="Bungee"/>
                <a:sym typeface="Bungee"/>
              </a:rPr>
              <a:t>?</a:t>
            </a:r>
          </a:p>
        </p:txBody>
      </p:sp>
      <p:sp>
        <p:nvSpPr>
          <p:cNvPr id="3" name="blk004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Everything so far is measured </a:t>
            </a:r>
            <a:r>
              <a:rPr sz="2027" b="1" i="0">
                <a:solidFill>
                  <a:srgbClr val="FFFFFF"/>
                </a:solidFill>
                <a:latin typeface="Google Sans"/>
                <a:ea typeface="Google Sans"/>
                <a:cs typeface="Google Sans"/>
                <a:sym typeface="Google Sans"/>
              </a:rPr>
              <a:t>from the camera</a:t>
            </a:r>
            <a:r>
              <a:rPr sz="2027" b="0" i="0">
                <a:solidFill>
                  <a:srgbClr val="FFFFFF"/>
                </a:solidFill>
                <a:latin typeface="Avenir"/>
                <a:ea typeface="Avenir"/>
                <a:cs typeface="Avenir"/>
                <a:sym typeface="Avenir"/>
              </a:rPr>
              <a:t>. But the arm does not live inside the camera. The robot has no idea where the lens is, and moving to a camera-relative coordinate would put the gripper in completely the wrong place.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So there are two frames in this program, and one conversion between them. This is the single most important idea on the next few slides.</a:t>
            </a:r>
          </a:p>
        </p:txBody>
      </p:sp>
      <p:graphicFrame>
        <p:nvGraphicFramePr>
          <p:cNvPr id="4" name="blk0043"/>
          <p:cNvGraphicFramePr>
            <a:graphicFrameLocks noGrp="1"/>
          </p:cNvGraphicFramePr>
          <p:nvPr/>
        </p:nvGraphicFramePr>
        <p:xfrm>
          <a:off x="687600" y="3876435"/>
          <a:ext cx="8675999" cy="2519995"/>
        </p:xfrm>
        <a:graphic>
          <a:graphicData uri="http://schemas.openxmlformats.org/drawingml/2006/table">
            <a:tbl>
              <a:tblPr firstRow="0" bandRow="0"/>
              <a:tblGrid>
                <a:gridCol w="2015999"/>
                <a:gridCol w="3096000"/>
                <a:gridCol w="3564000"/>
              </a:tblGrid>
              <a:tr h="450000">
                <a:tc>
                  <a:txBody>
                    <a:bodyPr wrap="square"/>
                    <a:lstStyle/>
                    <a:p>
                      <a:pPr algn="l">
                        <a:lnSpc>
                          <a:spcPct val="100000"/>
                        </a:lnSpc>
                      </a:pPr>
                      <a:r>
                        <a:rPr sz="1350" b="1" i="0">
                          <a:solidFill>
                            <a:srgbClr val="FFCF08"/>
                          </a:solidFill>
                          <a:latin typeface="Avenir"/>
                          <a:ea typeface="Avenir"/>
                          <a:cs typeface="Avenir"/>
                          <a:sym typeface="Avenir"/>
                        </a:rPr>
                        <a:t>What</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Camera frame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End-effector frame</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Measured from</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lens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pump on the wrist</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Unit</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metres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millimetres</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X and Y mean</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sideways on screen</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sideways from the wrist</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Z means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depth from the lens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depth from the wrist</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Used by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maths library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the arm</a:t>
                      </a:r>
                    </a:p>
                  </a:txBody>
                  <a:tcPr marL="72000" marR="72000" marT="36000" marB="36000" anchor="ctr">
                    <a:solidFill>
                      <a:srgbClr val="2E338C"/>
                    </a:solidFill>
                  </a:tcPr>
                </a:tc>
              </a:tr>
            </a:tbl>
          </a:graphicData>
        </a:graphic>
      </p:graphicFrame>
      <p:sp>
        <p:nvSpPr>
          <p:cNvPr id="5" name="blk0044"/>
          <p:cNvSpPr txBox="1"/>
          <p:nvPr/>
        </p:nvSpPr>
        <p:spPr>
          <a:xfrm>
            <a:off x="687600" y="6504430"/>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coordinate is only ever meaningful once you have said </a:t>
            </a:r>
            <a:r>
              <a:rPr sz="1650" b="1" i="0">
                <a:solidFill>
                  <a:srgbClr val="FFFFFF"/>
                </a:solidFill>
                <a:latin typeface="Google Sans"/>
                <a:ea typeface="Google Sans"/>
                <a:cs typeface="Google Sans"/>
                <a:sym typeface="Google Sans"/>
              </a:rPr>
              <a:t>relative to what</a:t>
            </a:r>
            <a:r>
              <a:rPr sz="1650" b="0" i="0">
                <a:solidFill>
                  <a:srgbClr val="FFFFFF"/>
                </a:solidFill>
                <a:latin typeface="Avenir"/>
                <a:ea typeface="Avenir"/>
                <a:cs typeface="Avenir"/>
                <a:sym typeface="Avenir"/>
              </a:rPr>
              <a:t>. Two systems using the same three numbers and different origins will send an arm to two completely different places.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Moving from one frame </a:t>
            </a:r>
            <a:r>
              <a:rPr sz="2827" b="0" i="0">
                <a:solidFill>
                  <a:srgbClr val="FFFFFF"/>
                </a:solidFill>
                <a:latin typeface="Bungee"/>
                <a:ea typeface="Bungee"/>
                <a:cs typeface="Bungee"/>
                <a:sym typeface="Bungee"/>
              </a:rPr>
              <a:t>to the other</a:t>
            </a:r>
          </a:p>
        </p:txBody>
      </p:sp>
      <p:sp>
        <p:nvSpPr>
          <p:cNvPr id="3" name="blk0046"/>
          <p:cNvSpPr/>
          <p:nvPr/>
        </p:nvSpPr>
        <p:spPr>
          <a:xfrm>
            <a:off x="687600" y="1584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46"/>
          <p:cNvSpPr txBox="1"/>
          <p:nvPr/>
        </p:nvSpPr>
        <p:spPr>
          <a:xfrm>
            <a:off x="910799" y="1746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Pump / End-effector spatial offsets (mm)</a:t>
            </a:r>
          </a:p>
          <a:p>
            <a:pPr algn="l">
              <a:lnSpc>
                <a:spcPct val="115000"/>
              </a:lnSpc>
            </a:pPr>
            <a:r>
              <a:rPr sz="1500" b="0" i="0">
                <a:solidFill>
                  <a:srgbClr val="FFFFFF"/>
                </a:solidFill>
                <a:latin typeface="Courier New"/>
                <a:ea typeface="Courier New"/>
                <a:cs typeface="Courier New"/>
                <a:sym typeface="Courier New"/>
              </a:rPr>
              <a:t>self.pump_x = 15</a:t>
            </a:r>
          </a:p>
          <a:p>
            <a:pPr algn="l">
              <a:lnSpc>
                <a:spcPct val="115000"/>
              </a:lnSpc>
            </a:pPr>
            <a:r>
              <a:rPr sz="1500" b="0" i="0">
                <a:solidFill>
                  <a:srgbClr val="FFFFFF"/>
                </a:solidFill>
                <a:latin typeface="Courier New"/>
                <a:ea typeface="Courier New"/>
                <a:cs typeface="Courier New"/>
                <a:sym typeface="Courier New"/>
              </a:rPr>
              <a:t>self.pump_y = -55</a:t>
            </a:r>
          </a:p>
        </p:txBody>
      </p:sp>
      <p:sp>
        <p:nvSpPr>
          <p:cNvPr id="5" name="blk0047"/>
          <p:cNvSpPr/>
          <p:nvPr/>
        </p:nvSpPr>
        <p:spPr>
          <a:xfrm>
            <a:off x="687600" y="2760512"/>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47"/>
          <p:cNvSpPr txBox="1"/>
          <p:nvPr/>
        </p:nvSpPr>
        <p:spPr>
          <a:xfrm>
            <a:off x="910799" y="2922511"/>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rel_x = round(tvec[0] * 1000 + self.pump_y, 2)</a:t>
            </a:r>
          </a:p>
          <a:p>
            <a:pPr algn="l">
              <a:lnSpc>
                <a:spcPct val="115000"/>
              </a:lnSpc>
            </a:pPr>
            <a:r>
              <a:rPr sz="1500" b="0" i="0">
                <a:solidFill>
                  <a:srgbClr val="FFFFFF"/>
                </a:solidFill>
                <a:latin typeface="Courier New"/>
                <a:ea typeface="Courier New"/>
                <a:cs typeface="Courier New"/>
                <a:sym typeface="Courier New"/>
              </a:rPr>
              <a:t>rel_y = round(tvec[1] * 1000 + self.pump_x, 2)</a:t>
            </a:r>
          </a:p>
          <a:p>
            <a:pPr algn="l">
              <a:lnSpc>
                <a:spcPct val="115000"/>
              </a:lnSpc>
            </a:pPr>
            <a:r>
              <a:rPr sz="1500" b="0" i="0">
                <a:solidFill>
                  <a:srgbClr val="FFFFFF"/>
                </a:solidFill>
                <a:latin typeface="Courier New"/>
                <a:ea typeface="Courier New"/>
                <a:cs typeface="Courier New"/>
                <a:sym typeface="Courier New"/>
              </a:rPr>
              <a:t>rel_z = round(tvec[2] * 1000, 2)</a:t>
            </a:r>
          </a:p>
        </p:txBody>
      </p:sp>
      <p:sp>
        <p:nvSpPr>
          <p:cNvPr id="7" name="blk0048"/>
          <p:cNvSpPr txBox="1"/>
          <p:nvPr/>
        </p:nvSpPr>
        <p:spPr>
          <a:xfrm>
            <a:off x="687600" y="3937024"/>
            <a:ext cx="7542000" cy="374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 1000</a:t>
            </a:r>
            <a:r>
              <a:rPr sz="2027" b="0" i="0">
                <a:solidFill>
                  <a:srgbClr val="FFFFFF"/>
                </a:solidFill>
                <a:latin typeface="Avenir"/>
                <a:ea typeface="Avenir"/>
                <a:cs typeface="Avenir"/>
                <a:sym typeface="Avenir"/>
              </a:rPr>
              <a:t> is the unit change — metres become millimetres. The two offsets are the measured gap between where the camera thinks it is and where the pump really is, and they are added in to correct for it.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Now read those two lines carefully, because they will catch you out. The value named </a:t>
            </a:r>
            <a:r>
              <a:rPr sz="1743" b="0" i="0">
                <a:solidFill>
                  <a:srgbClr val="FFFFFF"/>
                </a:solidFill>
                <a:latin typeface="Courier New"/>
                <a:ea typeface="Courier New"/>
                <a:cs typeface="Courier New"/>
                <a:sym typeface="Courier New"/>
              </a:rPr>
              <a:t>pump_y</a:t>
            </a:r>
            <a:r>
              <a:rPr sz="2027" b="0" i="0">
                <a:solidFill>
                  <a:srgbClr val="FFFFFF"/>
                </a:solidFill>
                <a:latin typeface="Avenir"/>
                <a:ea typeface="Avenir"/>
                <a:cs typeface="Avenir"/>
                <a:sym typeface="Avenir"/>
              </a:rPr>
              <a:t> is added to </a:t>
            </a: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pump_x</a:t>
            </a:r>
            <a:r>
              <a:rPr sz="2027" b="0" i="0">
                <a:solidFill>
                  <a:srgbClr val="FFFFFF"/>
                </a:solidFill>
                <a:latin typeface="Avenir"/>
                <a:ea typeface="Avenir"/>
                <a:cs typeface="Avenir"/>
                <a:sym typeface="Avenir"/>
              </a:rPr>
              <a:t> is added to </a:t>
            </a:r>
            <a:r>
              <a:rPr sz="1743" b="0" i="0">
                <a:solidFill>
                  <a:srgbClr val="FFFFFF"/>
                </a:solidFill>
                <a:latin typeface="Courier New"/>
                <a:ea typeface="Courier New"/>
                <a:cs typeface="Courier New"/>
                <a:sym typeface="Courier New"/>
              </a:rPr>
              <a:t>Y</a:t>
            </a:r>
            <a:r>
              <a:rPr sz="2027" b="0" i="0">
                <a:solidFill>
                  <a:srgbClr val="FFFFFF"/>
                </a:solidFill>
                <a:latin typeface="Avenir"/>
                <a:ea typeface="Avenir"/>
                <a:cs typeface="Avenir"/>
                <a:sym typeface="Avenir"/>
              </a:rPr>
              <a:t>. The names are crossed over.</a:t>
            </a:r>
          </a:p>
        </p:txBody>
      </p:sp>
      <p:sp>
        <p:nvSpPr>
          <p:cNvPr id="8" name="blk0049"/>
          <p:cNvSpPr/>
          <p:nvPr/>
        </p:nvSpPr>
        <p:spPr>
          <a:xfrm>
            <a:off x="687600" y="6463459"/>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49"/>
          <p:cNvSpPr/>
          <p:nvPr/>
        </p:nvSpPr>
        <p:spPr>
          <a:xfrm>
            <a:off x="885600" y="683425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049"/>
          <p:cNvSpPr txBox="1"/>
          <p:nvPr/>
        </p:nvSpPr>
        <p:spPr>
          <a:xfrm>
            <a:off x="1162800" y="6607459"/>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Do not "fix" it — the crossing is deliberate: the camera axes run the other way. Check one known marker if you change these.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Three overlays, three </a:t>
            </a:r>
            <a:r>
              <a:rPr sz="2827" b="0" i="0">
                <a:solidFill>
                  <a:srgbClr val="FFFFFF"/>
                </a:solidFill>
                <a:latin typeface="Bungee"/>
                <a:ea typeface="Bungee"/>
                <a:cs typeface="Bungee"/>
                <a:sym typeface="Bungee"/>
              </a:rPr>
              <a:t>jobs</a:t>
            </a:r>
          </a:p>
        </p:txBody>
      </p:sp>
      <p:sp>
        <p:nvSpPr>
          <p:cNvPr id="3" name="blk0051"/>
          <p:cNvSpPr/>
          <p:nvPr/>
        </p:nvSpPr>
        <p:spPr>
          <a:xfrm>
            <a:off x="687600" y="158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51"/>
          <p:cNvSpPr txBox="1"/>
          <p:nvPr/>
        </p:nvSpPr>
        <p:spPr>
          <a:xfrm>
            <a:off x="910799" y="174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cv2.aruco.drawDetectedMarkers(frame, corners, ids)</a:t>
            </a:r>
          </a:p>
        </p:txBody>
      </p:sp>
      <p:sp>
        <p:nvSpPr>
          <p:cNvPr id="5" name="blk0052"/>
          <p:cNvSpPr/>
          <p:nvPr/>
        </p:nvSpPr>
        <p:spPr>
          <a:xfrm>
            <a:off x="687600" y="2264170"/>
            <a:ext cx="8686800" cy="125050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52"/>
          <p:cNvSpPr txBox="1"/>
          <p:nvPr/>
        </p:nvSpPr>
        <p:spPr>
          <a:xfrm>
            <a:off x="910799" y="2426170"/>
            <a:ext cx="8240400" cy="926504"/>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cv2.drawFrameAxes(</a:t>
            </a:r>
          </a:p>
          <a:p>
            <a:pPr algn="l">
              <a:lnSpc>
                <a:spcPct val="115000"/>
              </a:lnSpc>
            </a:pPr>
            <a:r>
              <a:rPr sz="1400" b="0" i="0">
                <a:solidFill>
                  <a:srgbClr val="FFFFFF"/>
                </a:solidFill>
                <a:latin typeface="Courier New"/>
                <a:ea typeface="Courier New"/>
                <a:cs typeface="Courier New"/>
                <a:sym typeface="Courier New"/>
              </a:rPr>
              <a:t>    frame, self.camera_matrix, self.dist_coeffs,</a:t>
            </a:r>
          </a:p>
          <a:p>
            <a:pPr algn="l">
              <a:lnSpc>
                <a:spcPct val="115000"/>
              </a:lnSpc>
            </a:pPr>
            <a:r>
              <a:rPr sz="1400" b="0" i="0">
                <a:solidFill>
                  <a:srgbClr val="FFFFFF"/>
                </a:solidFill>
                <a:latin typeface="Courier New"/>
                <a:ea typeface="Courier New"/>
                <a:cs typeface="Courier New"/>
                <a:sym typeface="Courier New"/>
              </a:rPr>
              <a:t>    rvecs[i], tvecs[i], self.marker_size_m * 0.5</a:t>
            </a:r>
          </a:p>
          <a:p>
            <a:pPr algn="l">
              <a:lnSpc>
                <a:spcPct val="115000"/>
              </a:lnSpc>
            </a:pPr>
            <a:r>
              <a:rPr sz="1400" b="0" i="0">
                <a:solidFill>
                  <a:srgbClr val="FFFFFF"/>
                </a:solidFill>
                <a:latin typeface="Courier New"/>
                <a:ea typeface="Courier New"/>
                <a:cs typeface="Courier New"/>
                <a:sym typeface="Courier New"/>
              </a:rPr>
              <a:t>)</a:t>
            </a:r>
          </a:p>
        </p:txBody>
      </p:sp>
      <p:sp>
        <p:nvSpPr>
          <p:cNvPr id="7" name="blk0053"/>
          <p:cNvSpPr/>
          <p:nvPr/>
        </p:nvSpPr>
        <p:spPr>
          <a:xfrm>
            <a:off x="687600" y="3622674"/>
            <a:ext cx="8686800" cy="118432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53"/>
          <p:cNvSpPr txBox="1"/>
          <p:nvPr/>
        </p:nvSpPr>
        <p:spPr>
          <a:xfrm>
            <a:off x="910799" y="3784674"/>
            <a:ext cx="8240400" cy="860325"/>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cv2.putText(</a:t>
            </a:r>
          </a:p>
          <a:p>
            <a:pPr algn="l">
              <a:lnSpc>
                <a:spcPct val="115000"/>
              </a:lnSpc>
            </a:pPr>
            <a:r>
              <a:rPr sz="1300" b="0" i="0">
                <a:solidFill>
                  <a:srgbClr val="FFFFFF"/>
                </a:solidFill>
                <a:latin typeface="Courier New"/>
                <a:ea typeface="Courier New"/>
                <a:cs typeface="Courier New"/>
                <a:sym typeface="Courier New"/>
              </a:rPr>
              <a:t>    frame, label_text, (corner_center[0] - 80, corner_center[1] - 15),</a:t>
            </a:r>
          </a:p>
          <a:p>
            <a:pPr algn="l">
              <a:lnSpc>
                <a:spcPct val="115000"/>
              </a:lnSpc>
            </a:pPr>
            <a:r>
              <a:rPr sz="1300" b="0" i="0">
                <a:solidFill>
                  <a:srgbClr val="FFFFFF"/>
                </a:solidFill>
                <a:latin typeface="Courier New"/>
                <a:ea typeface="Courier New"/>
                <a:cs typeface="Courier New"/>
                <a:sym typeface="Courier New"/>
              </a:rPr>
              <a:t>    cv2.FONT_HERSHEY_SIMPLEX, 0.5, (0, 255, 0), 2</a:t>
            </a:r>
          </a:p>
          <a:p>
            <a:pPr algn="l">
              <a:lnSpc>
                <a:spcPct val="115000"/>
              </a:lnSpc>
            </a:pPr>
            <a:r>
              <a:rPr sz="1300" b="0" i="0">
                <a:solidFill>
                  <a:srgbClr val="FFFFFF"/>
                </a:solidFill>
                <a:latin typeface="Courier New"/>
                <a:ea typeface="Courier New"/>
                <a:cs typeface="Courier New"/>
                <a:sym typeface="Courier New"/>
              </a:rPr>
              <a:t>)</a:t>
            </a:r>
          </a:p>
        </p:txBody>
      </p:sp>
      <p:sp>
        <p:nvSpPr>
          <p:cNvPr id="9" name="blk0054"/>
          <p:cNvSpPr txBox="1"/>
          <p:nvPr/>
        </p:nvSpPr>
        <p:spPr>
          <a:xfrm>
            <a:off x="687600" y="4914999"/>
            <a:ext cx="7542000" cy="2732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drawDetectedMarkers</a:t>
            </a:r>
            <a:r>
              <a:rPr sz="2027" b="0" i="0">
                <a:solidFill>
                  <a:srgbClr val="FFFFFF"/>
                </a:solidFill>
                <a:latin typeface="Avenir"/>
                <a:ea typeface="Avenir"/>
                <a:cs typeface="Avenir"/>
                <a:sym typeface="Avenir"/>
              </a:rPr>
              <a:t> draws the outline and the ID number.</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drawFrameAxes</a:t>
            </a:r>
            <a:r>
              <a:rPr sz="2027" b="0" i="0">
                <a:solidFill>
                  <a:srgbClr val="FFFFFF"/>
                </a:solidFill>
                <a:latin typeface="Avenir"/>
                <a:ea typeface="Avenir"/>
                <a:cs typeface="Avenir"/>
                <a:sym typeface="Avenir"/>
              </a:rPr>
              <a:t> stands a small RGB tripod on the marker showing which way it faces. </a:t>
            </a:r>
            <a:r>
              <a:rPr sz="1743" b="0" i="0">
                <a:solidFill>
                  <a:srgbClr val="FFFFFF"/>
                </a:solidFill>
                <a:latin typeface="Courier New"/>
                <a:ea typeface="Courier New"/>
                <a:cs typeface="Courier New"/>
                <a:sym typeface="Courier New"/>
              </a:rPr>
              <a:t>marker_size_m * 0.5</a:t>
            </a:r>
            <a:r>
              <a:rPr sz="2027" b="0" i="0">
                <a:solidFill>
                  <a:srgbClr val="FFFFFF"/>
                </a:solidFill>
                <a:latin typeface="Avenir"/>
                <a:ea typeface="Avenir"/>
                <a:cs typeface="Avenir"/>
                <a:sym typeface="Avenir"/>
              </a:rPr>
              <a:t> keeps it in proportion at any range.</a:t>
            </a:r>
          </a:p>
          <a:p>
            <a:pPr algn="l"/>
            <a:r>
              <a:rPr sz="2027" b="0" i="0">
                <a:solidFill>
                  <a:srgbClr val="FFFFFF"/>
                </a:solidFill>
                <a:latin typeface="Avenir"/>
                <a:ea typeface="Avenir"/>
                <a:cs typeface="Avenir"/>
                <a:sym typeface="Avenir"/>
              </a:rPr>
              <a:t/>
            </a:r>
          </a:p>
          <a:p>
            <a:pPr algn="l">
              <a:lnSpc>
                <a:spcPct val="100000"/>
              </a:lnSpc>
            </a:pPr>
            <a:r>
              <a:rPr sz="1743" b="0" i="0">
                <a:solidFill>
                  <a:srgbClr val="FFFFFF"/>
                </a:solidFill>
                <a:latin typeface="Courier New"/>
                <a:ea typeface="Courier New"/>
                <a:cs typeface="Courier New"/>
                <a:sym typeface="Courier New"/>
              </a:rPr>
              <a:t>putText</a:t>
            </a:r>
            <a:r>
              <a:rPr sz="2027" b="0" i="0">
                <a:solidFill>
                  <a:srgbClr val="FFFFFF"/>
                </a:solidFill>
                <a:latin typeface="Avenir"/>
                <a:ea typeface="Avenir"/>
                <a:cs typeface="Avenir"/>
                <a:sym typeface="Avenir"/>
              </a:rPr>
              <a:t> writes your numbers on the picture. </a:t>
            </a:r>
            <a:r>
              <a:rPr sz="1743" b="0" i="0">
                <a:solidFill>
                  <a:srgbClr val="FFFFFF"/>
                </a:solidFill>
                <a:latin typeface="Courier New"/>
                <a:ea typeface="Courier New"/>
                <a:cs typeface="Courier New"/>
                <a:sym typeface="Courier New"/>
              </a:rPr>
              <a:t>(0, 255, 0)</a:t>
            </a:r>
            <a:r>
              <a:rPr sz="2027" b="0" i="0">
                <a:solidFill>
                  <a:srgbClr val="FFFFFF"/>
                </a:solidFill>
                <a:latin typeface="Avenir"/>
                <a:ea typeface="Avenir"/>
                <a:cs typeface="Avenir"/>
                <a:sym typeface="Avenir"/>
              </a:rPr>
              <a:t> is green — OpenCV lists colour channels blue, green, 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Two versions of the </a:t>
            </a:r>
            <a:r>
              <a:rPr sz="2827" b="0" i="0">
                <a:solidFill>
                  <a:srgbClr val="FFFFFF"/>
                </a:solidFill>
                <a:latin typeface="Bungee"/>
                <a:ea typeface="Bungee"/>
                <a:cs typeface="Bungee"/>
                <a:sym typeface="Bungee"/>
              </a:rPr>
              <a:t>same library</a:t>
            </a:r>
          </a:p>
        </p:txBody>
      </p:sp>
      <p:sp>
        <p:nvSpPr>
          <p:cNvPr id="3" name="blk0056"/>
          <p:cNvSpPr/>
          <p:nvPr/>
        </p:nvSpPr>
        <p:spPr>
          <a:xfrm>
            <a:off x="687600" y="1584000"/>
            <a:ext cx="8686800" cy="203637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56"/>
          <p:cNvSpPr txBox="1"/>
          <p:nvPr/>
        </p:nvSpPr>
        <p:spPr>
          <a:xfrm>
            <a:off x="910799" y="1746000"/>
            <a:ext cx="8240400" cy="1712379"/>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try:</a:t>
            </a:r>
          </a:p>
          <a:p>
            <a:pPr algn="l">
              <a:lnSpc>
                <a:spcPct val="115000"/>
              </a:lnSpc>
            </a:pPr>
            <a:r>
              <a:rPr sz="1150" b="0" i="0">
                <a:solidFill>
                  <a:srgbClr val="FFFFFF"/>
                </a:solidFill>
                <a:latin typeface="Courier New"/>
                <a:ea typeface="Courier New"/>
                <a:cs typeface="Courier New"/>
                <a:sym typeface="Courier New"/>
              </a:rPr>
              <a:t>    self.aruco_dict = cv2.aruco.getPredefinedDictionary(cv2.aruco.DICT_6X6_250)</a:t>
            </a:r>
          </a:p>
          <a:p>
            <a:pPr algn="l">
              <a:lnSpc>
                <a:spcPct val="115000"/>
              </a:lnSpc>
            </a:pPr>
            <a:r>
              <a:rPr sz="1150" b="0" i="0">
                <a:solidFill>
                  <a:srgbClr val="FFFFFF"/>
                </a:solidFill>
                <a:latin typeface="Courier New"/>
                <a:ea typeface="Courier New"/>
                <a:cs typeface="Courier New"/>
                <a:sym typeface="Courier New"/>
              </a:rPr>
              <a:t>    self.aruco_params = cv2.aruco.DetectorParameters()</a:t>
            </a:r>
          </a:p>
          <a:p>
            <a:pPr algn="l">
              <a:lnSpc>
                <a:spcPct val="115000"/>
              </a:lnSpc>
            </a:pPr>
            <a:r>
              <a:rPr sz="1150" b="0" i="0">
                <a:solidFill>
                  <a:srgbClr val="FFFFFF"/>
                </a:solidFill>
                <a:latin typeface="Courier New"/>
                <a:ea typeface="Courier New"/>
                <a:cs typeface="Courier New"/>
                <a:sym typeface="Courier New"/>
              </a:rPr>
              <a:t>    self.detector = cv2.aruco.ArucoDetector(self.aruco_dict, self.aruco_params)</a:t>
            </a:r>
          </a:p>
          <a:p>
            <a:pPr algn="l">
              <a:lnSpc>
                <a:spcPct val="115000"/>
              </a:lnSpc>
            </a:pPr>
            <a:r>
              <a:rPr sz="1150" b="0" i="0">
                <a:solidFill>
                  <a:srgbClr val="FFFFFF"/>
                </a:solidFill>
                <a:latin typeface="Courier New"/>
                <a:ea typeface="Courier New"/>
                <a:cs typeface="Courier New"/>
                <a:sym typeface="Courier New"/>
              </a:rPr>
              <a:t>    self.use_new_aruco = True</a:t>
            </a:r>
          </a:p>
          <a:p>
            <a:pPr algn="l">
              <a:lnSpc>
                <a:spcPct val="115000"/>
              </a:lnSpc>
            </a:pPr>
            <a:r>
              <a:rPr sz="1150" b="0" i="0">
                <a:solidFill>
                  <a:srgbClr val="FFFFFF"/>
                </a:solidFill>
                <a:latin typeface="Courier New"/>
                <a:ea typeface="Courier New"/>
                <a:cs typeface="Courier New"/>
                <a:sym typeface="Courier New"/>
              </a:rPr>
              <a:t>except AttributeError:</a:t>
            </a:r>
          </a:p>
          <a:p>
            <a:pPr algn="l">
              <a:lnSpc>
                <a:spcPct val="115000"/>
              </a:lnSpc>
            </a:pPr>
            <a:r>
              <a:rPr sz="1150" b="0" i="0">
                <a:solidFill>
                  <a:srgbClr val="FFFFFF"/>
                </a:solidFill>
                <a:latin typeface="Courier New"/>
                <a:ea typeface="Courier New"/>
                <a:cs typeface="Courier New"/>
                <a:sym typeface="Courier New"/>
              </a:rPr>
              <a:t>    self.aruco_dict = cv2.aruco.Dictionary_get(cv2.aruco.DICT_6X6_250)</a:t>
            </a:r>
          </a:p>
          <a:p>
            <a:pPr algn="l">
              <a:lnSpc>
                <a:spcPct val="115000"/>
              </a:lnSpc>
            </a:pPr>
            <a:r>
              <a:rPr sz="1150" b="0" i="0">
                <a:solidFill>
                  <a:srgbClr val="FFFFFF"/>
                </a:solidFill>
                <a:latin typeface="Courier New"/>
                <a:ea typeface="Courier New"/>
                <a:cs typeface="Courier New"/>
                <a:sym typeface="Courier New"/>
              </a:rPr>
              <a:t>    self.aruco_params = cv2.aruco.DetectorParameters_create()</a:t>
            </a:r>
          </a:p>
          <a:p>
            <a:pPr algn="l">
              <a:lnSpc>
                <a:spcPct val="115000"/>
              </a:lnSpc>
            </a:pPr>
            <a:r>
              <a:rPr sz="1150" b="0" i="0">
                <a:solidFill>
                  <a:srgbClr val="FFFFFF"/>
                </a:solidFill>
                <a:latin typeface="Courier New"/>
                <a:ea typeface="Courier New"/>
                <a:cs typeface="Courier New"/>
                <a:sym typeface="Courier New"/>
              </a:rPr>
              <a:t>    self.use_new_aruco = False</a:t>
            </a:r>
          </a:p>
        </p:txBody>
      </p:sp>
      <p:sp>
        <p:nvSpPr>
          <p:cNvPr id="5" name="blk0057"/>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1800" b="0" i="0">
                <a:solidFill>
                  <a:srgbClr val="FFFFFF"/>
                </a:solidFill>
                <a:latin typeface="Avenir"/>
                <a:ea typeface="Avenir"/>
                <a:cs typeface="Avenir"/>
                <a:sym typeface="Avenir"/>
              </a:rPr>
              <a:t>OpenCV moved the ArUco API: newer builds give you a detector object to keep; older builds pass a dictionary each call.</a:t>
            </a:r>
          </a:p>
          <a:p>
            <a:pPr algn="l"/>
            <a:r>
              <a:rPr sz="1800" b="0" i="0">
                <a:solidFill>
                  <a:srgbClr val="FFFFFF"/>
                </a:solidFill>
                <a:latin typeface="Avenir"/>
                <a:ea typeface="Avenir"/>
                <a:cs typeface="Avenir"/>
                <a:sym typeface="Avenir"/>
              </a:rPr>
              <a:t/>
            </a:r>
          </a:p>
          <a:p>
            <a:pPr algn="l">
              <a:lnSpc>
                <a:spcPct val="100000"/>
              </a:lnSpc>
            </a:pPr>
            <a:r>
              <a:rPr sz="1800" b="0" i="0">
                <a:solidFill>
                  <a:srgbClr val="FFFFFF"/>
                </a:solidFill>
                <a:latin typeface="Avenir"/>
                <a:ea typeface="Avenir"/>
                <a:cs typeface="Avenir"/>
                <a:sym typeface="Avenir"/>
              </a:rPr>
              <a:t>The </a:t>
            </a:r>
            <a:r>
              <a:rPr sz="1548" b="0" i="0">
                <a:solidFill>
                  <a:srgbClr val="FFFFFF"/>
                </a:solidFill>
                <a:latin typeface="Courier New"/>
                <a:ea typeface="Courier New"/>
                <a:cs typeface="Courier New"/>
                <a:sym typeface="Courier New"/>
              </a:rPr>
              <a:t>except AttributeError</a:t>
            </a:r>
            <a:r>
              <a:rPr sz="1800" b="0" i="0">
                <a:solidFill>
                  <a:srgbClr val="FFFFFF"/>
                </a:solidFill>
                <a:latin typeface="Avenir"/>
                <a:ea typeface="Avenir"/>
                <a:cs typeface="Avenir"/>
                <a:sym typeface="Avenir"/>
              </a:rPr>
              <a:t> catches one situation: this version has no such name — a missing attribute, not a crash.</a:t>
            </a:r>
          </a:p>
          <a:p>
            <a:pPr algn="l"/>
            <a:r>
              <a:rPr sz="1800" b="0" i="0">
                <a:solidFill>
                  <a:srgbClr val="FFFFFF"/>
                </a:solidFill>
                <a:latin typeface="Avenir"/>
                <a:ea typeface="Avenir"/>
                <a:cs typeface="Avenir"/>
                <a:sym typeface="Avenir"/>
              </a:rPr>
              <a:t/>
            </a:r>
          </a:p>
          <a:p>
            <a:pPr algn="l">
              <a:lnSpc>
                <a:spcPct val="100000"/>
              </a:lnSpc>
            </a:pPr>
            <a:r>
              <a:rPr sz="1548" b="0" i="0">
                <a:solidFill>
                  <a:srgbClr val="FFFFFF"/>
                </a:solidFill>
                <a:latin typeface="Courier New"/>
                <a:ea typeface="Courier New"/>
                <a:cs typeface="Courier New"/>
                <a:sym typeface="Courier New"/>
              </a:rPr>
              <a:t>self.use_new_aruco</a:t>
            </a:r>
            <a:r>
              <a:rPr sz="1800" b="0" i="0">
                <a:solidFill>
                  <a:srgbClr val="FFFFFF"/>
                </a:solidFill>
                <a:latin typeface="Avenir"/>
                <a:ea typeface="Avenir"/>
                <a:cs typeface="Avenir"/>
                <a:sym typeface="Avenir"/>
              </a:rPr>
              <a:t> is set once here and read each frame to pick which call style to use. Detect the version once, then branch cheaply in the loop.</a:t>
            </a:r>
          </a:p>
        </p:txBody>
      </p:sp>
      <p:sp>
        <p:nvSpPr>
          <p:cNvPr id="6" name="blk0058"/>
          <p:cNvSpPr txBox="1"/>
          <p:nvPr/>
        </p:nvSpPr>
        <p:spPr>
          <a:xfrm>
            <a:off x="687600" y="7004303"/>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pattern worth copying: four lines and the same file runs on the classroom laptop and the arm, even with different OpenCV versions.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whole pipeline on </a:t>
            </a:r>
            <a:r>
              <a:rPr sz="2827" b="0" i="0">
                <a:solidFill>
                  <a:srgbClr val="FFFFFF"/>
                </a:solidFill>
                <a:latin typeface="Bungee"/>
                <a:ea typeface="Bungee"/>
                <a:cs typeface="Bungee"/>
                <a:sym typeface="Bungee"/>
              </a:rPr>
              <a:t>one line</a:t>
            </a:r>
          </a:p>
        </p:txBody>
      </p:sp>
      <p:sp>
        <p:nvSpPr>
          <p:cNvPr id="3" name="blk0060"/>
          <p:cNvSpPr/>
          <p:nvPr/>
        </p:nvSpPr>
        <p:spPr>
          <a:xfrm>
            <a:off x="687600" y="165599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060"/>
          <p:cNvSpPr txBox="1"/>
          <p:nvPr/>
        </p:nvSpPr>
        <p:spPr>
          <a:xfrm>
            <a:off x="910799" y="181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display_frame, log_info = vision.process_frame(frame)</a:t>
            </a:r>
          </a:p>
        </p:txBody>
      </p:sp>
      <p:sp>
        <p:nvSpPr>
          <p:cNvPr id="5" name="blk0061"/>
          <p:cNvSpPr txBox="1"/>
          <p:nvPr/>
        </p:nvSpPr>
        <p:spPr>
          <a:xfrm>
            <a:off x="687600" y="2336168"/>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That single call, once per frame, does all of this:</a:t>
            </a:r>
          </a:p>
        </p:txBody>
      </p:sp>
      <p:sp>
        <p:nvSpPr>
          <p:cNvPr id="6" name="blk0062"/>
          <p:cNvSpPr/>
          <p:nvPr/>
        </p:nvSpPr>
        <p:spPr>
          <a:xfrm>
            <a:off x="687600" y="2774683"/>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062"/>
          <p:cNvSpPr txBox="1"/>
          <p:nvPr/>
        </p:nvSpPr>
        <p:spPr>
          <a:xfrm>
            <a:off x="687600" y="2774683"/>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8" name="blk0062"/>
          <p:cNvSpPr txBox="1"/>
          <p:nvPr/>
        </p:nvSpPr>
        <p:spPr>
          <a:xfrm>
            <a:off x="1252800" y="2753083"/>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Grey the picture</a:t>
            </a:r>
          </a:p>
        </p:txBody>
      </p:sp>
      <p:sp>
        <p:nvSpPr>
          <p:cNvPr id="9" name="blk0062"/>
          <p:cNvSpPr txBox="1"/>
          <p:nvPr/>
        </p:nvSpPr>
        <p:spPr>
          <a:xfrm>
            <a:off x="1252800" y="3073483"/>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ArUco detection works on greyscale, not colour.</a:t>
            </a:r>
          </a:p>
        </p:txBody>
      </p:sp>
      <p:sp>
        <p:nvSpPr>
          <p:cNvPr id="10" name="blk0063"/>
          <p:cNvSpPr/>
          <p:nvPr/>
        </p:nvSpPr>
        <p:spPr>
          <a:xfrm>
            <a:off x="687600" y="3477403"/>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063"/>
          <p:cNvSpPr txBox="1"/>
          <p:nvPr/>
        </p:nvSpPr>
        <p:spPr>
          <a:xfrm>
            <a:off x="687600" y="3477403"/>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2" name="blk0063"/>
          <p:cNvSpPr txBox="1"/>
          <p:nvPr/>
        </p:nvSpPr>
        <p:spPr>
          <a:xfrm>
            <a:off x="1252800" y="3455803"/>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Detect the markers</a:t>
            </a:r>
          </a:p>
        </p:txBody>
      </p:sp>
      <p:sp>
        <p:nvSpPr>
          <p:cNvPr id="13" name="blk0063"/>
          <p:cNvSpPr txBox="1"/>
          <p:nvPr/>
        </p:nvSpPr>
        <p:spPr>
          <a:xfrm>
            <a:off x="1252800" y="3776203"/>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Find every corner of every marker in view.</a:t>
            </a:r>
          </a:p>
        </p:txBody>
      </p:sp>
      <p:sp>
        <p:nvSpPr>
          <p:cNvPr id="14" name="blk0064"/>
          <p:cNvSpPr/>
          <p:nvPr/>
        </p:nvSpPr>
        <p:spPr>
          <a:xfrm>
            <a:off x="687600" y="4180124"/>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064"/>
          <p:cNvSpPr txBox="1"/>
          <p:nvPr/>
        </p:nvSpPr>
        <p:spPr>
          <a:xfrm>
            <a:off x="687600" y="4180124"/>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6" name="blk0064"/>
          <p:cNvSpPr txBox="1"/>
          <p:nvPr/>
        </p:nvSpPr>
        <p:spPr>
          <a:xfrm>
            <a:off x="1252800" y="4158523"/>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Draw the outlines</a:t>
            </a:r>
          </a:p>
        </p:txBody>
      </p:sp>
      <p:sp>
        <p:nvSpPr>
          <p:cNvPr id="17" name="blk0064"/>
          <p:cNvSpPr txBox="1"/>
          <p:nvPr/>
        </p:nvSpPr>
        <p:spPr>
          <a:xfrm>
            <a:off x="1252800" y="4478924"/>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So you can see what it found.</a:t>
            </a:r>
          </a:p>
        </p:txBody>
      </p:sp>
      <p:sp>
        <p:nvSpPr>
          <p:cNvPr id="18" name="blk0065"/>
          <p:cNvSpPr/>
          <p:nvPr/>
        </p:nvSpPr>
        <p:spPr>
          <a:xfrm>
            <a:off x="687600" y="4882844"/>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blk0065"/>
          <p:cNvSpPr txBox="1"/>
          <p:nvPr/>
        </p:nvSpPr>
        <p:spPr>
          <a:xfrm>
            <a:off x="687600" y="4882844"/>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20" name="blk0065"/>
          <p:cNvSpPr txBox="1"/>
          <p:nvPr/>
        </p:nvSpPr>
        <p:spPr>
          <a:xfrm>
            <a:off x="1252800" y="4861244"/>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Estimate the pose</a:t>
            </a:r>
          </a:p>
        </p:txBody>
      </p:sp>
      <p:sp>
        <p:nvSpPr>
          <p:cNvPr id="21" name="blk0065"/>
          <p:cNvSpPr txBox="1"/>
          <p:nvPr/>
        </p:nvSpPr>
        <p:spPr>
          <a:xfrm>
            <a:off x="1252800" y="5181644"/>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Pixels plus marker size become metres and radians.</a:t>
            </a:r>
          </a:p>
        </p:txBody>
      </p:sp>
      <p:sp>
        <p:nvSpPr>
          <p:cNvPr id="22" name="blk0066"/>
          <p:cNvSpPr/>
          <p:nvPr/>
        </p:nvSpPr>
        <p:spPr>
          <a:xfrm>
            <a:off x="687600" y="5585564"/>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lk0066"/>
          <p:cNvSpPr txBox="1"/>
          <p:nvPr/>
        </p:nvSpPr>
        <p:spPr>
          <a:xfrm>
            <a:off x="687600" y="5585564"/>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5</a:t>
            </a:r>
          </a:p>
        </p:txBody>
      </p:sp>
      <p:sp>
        <p:nvSpPr>
          <p:cNvPr id="24" name="blk0066"/>
          <p:cNvSpPr txBox="1"/>
          <p:nvPr/>
        </p:nvSpPr>
        <p:spPr>
          <a:xfrm>
            <a:off x="1252800" y="5563964"/>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Convert frames</a:t>
            </a:r>
          </a:p>
        </p:txBody>
      </p:sp>
      <p:sp>
        <p:nvSpPr>
          <p:cNvPr id="25" name="blk0066"/>
          <p:cNvSpPr txBox="1"/>
          <p:nvPr/>
        </p:nvSpPr>
        <p:spPr>
          <a:xfrm>
            <a:off x="1252800" y="5884363"/>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Camera metres to wrist millimetres.</a:t>
            </a:r>
          </a:p>
        </p:txBody>
      </p:sp>
      <p:sp>
        <p:nvSpPr>
          <p:cNvPr id="26" name="blk0067"/>
          <p:cNvSpPr/>
          <p:nvPr/>
        </p:nvSpPr>
        <p:spPr>
          <a:xfrm>
            <a:off x="687600" y="6999787"/>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blk0067"/>
          <p:cNvSpPr txBox="1"/>
          <p:nvPr/>
        </p:nvSpPr>
        <p:spPr>
          <a:xfrm>
            <a:off x="687600" y="6999787"/>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6</a:t>
            </a:r>
          </a:p>
        </p:txBody>
      </p:sp>
      <p:sp>
        <p:nvSpPr>
          <p:cNvPr id="28" name="blk0067"/>
          <p:cNvSpPr txBox="1"/>
          <p:nvPr/>
        </p:nvSpPr>
        <p:spPr>
          <a:xfrm>
            <a:off x="1252800" y="6978187"/>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Draw axes and text</a:t>
            </a:r>
          </a:p>
        </p:txBody>
      </p:sp>
      <p:sp>
        <p:nvSpPr>
          <p:cNvPr id="29" name="blk0067"/>
          <p:cNvSpPr txBox="1"/>
          <p:nvPr/>
        </p:nvSpPr>
        <p:spPr>
          <a:xfrm>
            <a:off x="1252800" y="7298586"/>
            <a:ext cx="8118000" cy="503999"/>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Put the answer on the picture.</a:t>
            </a:r>
          </a:p>
        </p:txBody>
      </p:sp>
      <p:sp>
        <p:nvSpPr>
          <p:cNvPr id="30" name="blk0068"/>
          <p:cNvSpPr txBox="1"/>
          <p:nvPr/>
        </p:nvSpPr>
        <p:spPr>
          <a:xfrm>
            <a:off x="687600" y="6266683"/>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It returns two things: the picture with the overlays drawn on it, and a line of text for the terminal. One for your eyes, one for your log.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p>
        </p:txBody>
      </p:sp>
      <p:sp>
        <p:nvSpPr>
          <p:cNvPr id="3" name="blk007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TODO sits at the very top of the file, before anything else can possibly work. Three packages, in this order:</a:t>
            </a:r>
          </a:p>
        </p:txBody>
      </p:sp>
      <p:sp>
        <p:nvSpPr>
          <p:cNvPr id="4" name="blk0071"/>
          <p:cNvSpPr/>
          <p:nvPr/>
        </p:nvSpPr>
        <p:spPr>
          <a:xfrm>
            <a:off x="687600" y="2160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1"/>
          <p:cNvSpPr txBox="1"/>
          <p:nvPr/>
        </p:nvSpPr>
        <p:spPr>
          <a:xfrm>
            <a:off x="910799" y="2322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import time</a:t>
            </a:r>
          </a:p>
          <a:p>
            <a:pPr algn="l">
              <a:lnSpc>
                <a:spcPct val="115000"/>
              </a:lnSpc>
            </a:pPr>
            <a:r>
              <a:rPr sz="1500" b="0" i="0">
                <a:solidFill>
                  <a:srgbClr val="FFFFFF"/>
                </a:solidFill>
                <a:latin typeface="Courier New"/>
                <a:ea typeface="Courier New"/>
                <a:cs typeface="Courier New"/>
                <a:sym typeface="Courier New"/>
              </a:rPr>
              <a:t>import cv2</a:t>
            </a:r>
          </a:p>
          <a:p>
            <a:pPr algn="l">
              <a:lnSpc>
                <a:spcPct val="115000"/>
              </a:lnSpc>
            </a:pPr>
            <a:r>
              <a:rPr sz="1500" b="0" i="0">
                <a:solidFill>
                  <a:srgbClr val="FFFFFF"/>
                </a:solidFill>
                <a:latin typeface="Courier New"/>
                <a:ea typeface="Courier New"/>
                <a:cs typeface="Courier New"/>
                <a:sym typeface="Courier New"/>
              </a:rPr>
              <a:t>import numpy as np</a:t>
            </a:r>
          </a:p>
        </p:txBody>
      </p:sp>
      <p:sp>
        <p:nvSpPr>
          <p:cNvPr id="6" name="blk0072"/>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Order does not matter here, but do not leave one out. </a:t>
            </a:r>
            <a:r>
              <a:rPr sz="1743" b="0" i="0">
                <a:solidFill>
                  <a:srgbClr val="FFFFFF"/>
                </a:solidFill>
                <a:latin typeface="Courier New"/>
                <a:ea typeface="Courier New"/>
                <a:cs typeface="Courier New"/>
                <a:sym typeface="Courier New"/>
              </a:rPr>
              <a:t>time</a:t>
            </a:r>
            <a:r>
              <a:rPr sz="2027" b="0" i="0">
                <a:solidFill>
                  <a:srgbClr val="FFFFFF"/>
                </a:solidFill>
                <a:latin typeface="Avenir"/>
                <a:ea typeface="Avenir"/>
                <a:cs typeface="Avenir"/>
                <a:sym typeface="Avenir"/>
              </a:rPr>
              <a:t> gives you the pauses that let the arm finish a movement, </a:t>
            </a:r>
            <a:r>
              <a:rPr sz="1743" b="0" i="0">
                <a:solidFill>
                  <a:srgbClr val="FFFFFF"/>
                </a:solidFill>
                <a:latin typeface="Courier New"/>
                <a:ea typeface="Courier New"/>
                <a:cs typeface="Courier New"/>
                <a:sym typeface="Courier New"/>
              </a:rPr>
              <a:t>cv2</a:t>
            </a:r>
            <a:r>
              <a:rPr sz="2027" b="0" i="0">
                <a:solidFill>
                  <a:srgbClr val="FFFFFF"/>
                </a:solidFill>
                <a:latin typeface="Avenir"/>
                <a:ea typeface="Avenir"/>
                <a:cs typeface="Avenir"/>
                <a:sym typeface="Avenir"/>
              </a:rPr>
              <a:t> is OpenCV, and </a:t>
            </a:r>
            <a:r>
              <a:rPr sz="1743" b="0" i="0">
                <a:solidFill>
                  <a:srgbClr val="FFFFFF"/>
                </a:solidFill>
                <a:latin typeface="Courier New"/>
                <a:ea typeface="Courier New"/>
                <a:cs typeface="Courier New"/>
                <a:sym typeface="Courier New"/>
              </a:rPr>
              <a:t>numpy</a:t>
            </a:r>
            <a:r>
              <a:rPr sz="2027" b="0" i="0">
                <a:solidFill>
                  <a:srgbClr val="FFFFFF"/>
                </a:solidFill>
                <a:latin typeface="Avenir"/>
                <a:ea typeface="Avenir"/>
                <a:cs typeface="Avenir"/>
                <a:sym typeface="Avenir"/>
              </a:rPr>
              <a:t> holds the calibration arrays.</a:t>
            </a:r>
          </a:p>
        </p:txBody>
      </p:sp>
      <p:sp>
        <p:nvSpPr>
          <p:cNvPr id="7" name="blk0073"/>
          <p:cNvSpPr txBox="1"/>
          <p:nvPr/>
        </p:nvSpPr>
        <p:spPr>
          <a:xfrm>
            <a:off x="687600" y="4536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next TODO imports </a:t>
            </a:r>
            <a:r>
              <a:rPr sz="1419" b="0" i="0">
                <a:solidFill>
                  <a:srgbClr val="FFFFFF"/>
                </a:solidFill>
                <a:latin typeface="Courier New"/>
                <a:ea typeface="Courier New"/>
                <a:cs typeface="Courier New"/>
                <a:sym typeface="Courier New"/>
              </a:rPr>
              <a:t>MyCobot280</a:t>
            </a:r>
            <a:r>
              <a:rPr sz="1650" b="0" i="0">
                <a:solidFill>
                  <a:srgbClr val="FFFFFF"/>
                </a:solidFill>
                <a:latin typeface="Avenir"/>
                <a:ea typeface="Avenir"/>
                <a:cs typeface="Avenir"/>
                <a:sym typeface="Avenir"/>
              </a:rPr>
              <a:t> from </a:t>
            </a:r>
            <a:r>
              <a:rPr sz="1419" b="0" i="0">
                <a:solidFill>
                  <a:srgbClr val="FFFFFF"/>
                </a:solidFill>
                <a:latin typeface="Courier New"/>
                <a:ea typeface="Courier New"/>
                <a:cs typeface="Courier New"/>
                <a:sym typeface="Courier New"/>
              </a:rPr>
              <a:t>pymycobot</a:t>
            </a:r>
            <a:r>
              <a:rPr sz="1650" b="0" i="0">
                <a:solidFill>
                  <a:srgbClr val="FFFFFF"/>
                </a:solidFill>
                <a:latin typeface="Avenir"/>
                <a:ea typeface="Avenir"/>
                <a:cs typeface="Avenir"/>
                <a:sym typeface="Avenir"/>
              </a:rPr>
              <a:t>. That one is not in any standard library, so it is the import most likely to fail on a machine that has never run the arm before.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p>
        </p:txBody>
      </p:sp>
      <p:sp>
        <p:nvSpPr>
          <p:cNvPr id="3" name="blk007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robot import lives on its own line:</a:t>
            </a:r>
          </a:p>
        </p:txBody>
      </p:sp>
      <p:sp>
        <p:nvSpPr>
          <p:cNvPr id="4" name="blk0076"/>
          <p:cNvSpPr/>
          <p:nvPr/>
        </p:nvSpPr>
        <p:spPr>
          <a:xfrm>
            <a:off x="687600" y="2015999"/>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6"/>
          <p:cNvSpPr txBox="1"/>
          <p:nvPr/>
        </p:nvSpPr>
        <p:spPr>
          <a:xfrm>
            <a:off x="910799" y="2178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from pymycobot.mycobot280 import MyCobot280</a:t>
            </a:r>
          </a:p>
        </p:txBody>
      </p:sp>
      <p:sp>
        <p:nvSpPr>
          <p:cNvPr id="6" name="blk0077"/>
          <p:cNvSpPr txBox="1"/>
          <p:nvPr/>
        </p:nvSpPr>
        <p:spPr>
          <a:xfrm>
            <a:off x="687600" y="2880000"/>
            <a:ext cx="7542000" cy="474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reads as: from the </a:t>
            </a:r>
            <a:r>
              <a:rPr sz="1743" b="0" i="0">
                <a:solidFill>
                  <a:srgbClr val="FFFFFF"/>
                </a:solidFill>
                <a:latin typeface="Courier New"/>
                <a:ea typeface="Courier New"/>
                <a:cs typeface="Courier New"/>
                <a:sym typeface="Courier New"/>
              </a:rPr>
              <a:t>mycobot280</a:t>
            </a:r>
            <a:r>
              <a:rPr sz="2027" b="0" i="0">
                <a:solidFill>
                  <a:srgbClr val="FFFFFF"/>
                </a:solidFill>
                <a:latin typeface="Avenir"/>
                <a:ea typeface="Avenir"/>
                <a:cs typeface="Avenir"/>
                <a:sym typeface="Avenir"/>
              </a:rPr>
              <a:t> part of the </a:t>
            </a:r>
            <a:r>
              <a:rPr sz="1743" b="0" i="0">
                <a:solidFill>
                  <a:srgbClr val="FFFFFF"/>
                </a:solidFill>
                <a:latin typeface="Courier New"/>
                <a:ea typeface="Courier New"/>
                <a:cs typeface="Courier New"/>
                <a:sym typeface="Courier New"/>
              </a:rPr>
              <a:t>pymycobot</a:t>
            </a:r>
            <a:r>
              <a:rPr sz="2027" b="0" i="0">
                <a:solidFill>
                  <a:srgbClr val="FFFFFF"/>
                </a:solidFill>
                <a:latin typeface="Avenir"/>
                <a:ea typeface="Avenir"/>
                <a:cs typeface="Avenir"/>
                <a:sym typeface="Avenir"/>
              </a:rPr>
              <a:t> package, bring in the </a:t>
            </a:r>
            <a:r>
              <a:rPr sz="1743" b="0" i="0">
                <a:solidFill>
                  <a:srgbClr val="FFFFFF"/>
                </a:solidFill>
                <a:latin typeface="Courier New"/>
                <a:ea typeface="Courier New"/>
                <a:cs typeface="Courier New"/>
                <a:sym typeface="Courier New"/>
              </a:rPr>
              <a:t>MyCobot280</a:t>
            </a:r>
            <a:r>
              <a:rPr sz="2027" b="0" i="0">
                <a:solidFill>
                  <a:srgbClr val="FFFFFF"/>
                </a:solidFill>
                <a:latin typeface="Avenir"/>
                <a:ea typeface="Avenir"/>
                <a:cs typeface="Avenir"/>
                <a:sym typeface="Avenir"/>
              </a:rPr>
              <a:t> class. Importing a class rather than a whole module means you can type the shorter name afterwards.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If this line fails, the package is not installed on that machine. That is a different problem from a missing import, and the error message will tell you which one you have.</a:t>
            </a:r>
          </a:p>
        </p:txBody>
      </p:sp>
      <p:sp>
        <p:nvSpPr>
          <p:cNvPr id="7" name="blk0078"/>
          <p:cNvSpPr txBox="1"/>
          <p:nvPr/>
        </p:nvSpPr>
        <p:spPr>
          <a:xfrm>
            <a:off x="687600" y="5406435"/>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rest of the deck assumes this import works. On a laptop that has never had the arm connected, expect to see it fail and be told to skip to Step 5 — the vision pipeline does not need the robot at 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p>
        </p:txBody>
      </p:sp>
      <p:sp>
        <p:nvSpPr>
          <p:cNvPr id="3" name="blk008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whole section sits inside a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which is deliberate. Watch what each line does:</a:t>
            </a:r>
          </a:p>
        </p:txBody>
      </p:sp>
      <p:sp>
        <p:nvSpPr>
          <p:cNvPr id="4" name="blk0081"/>
          <p:cNvSpPr/>
          <p:nvPr/>
        </p:nvSpPr>
        <p:spPr>
          <a:xfrm>
            <a:off x="687600" y="2304000"/>
            <a:ext cx="8686800" cy="156485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1"/>
          <p:cNvSpPr txBox="1"/>
          <p:nvPr/>
        </p:nvSpPr>
        <p:spPr>
          <a:xfrm>
            <a:off x="910799" y="2466000"/>
            <a:ext cx="8240400" cy="1240854"/>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print("Connecting to myCobot280...")</a:t>
            </a:r>
          </a:p>
          <a:p>
            <a:pPr algn="l">
              <a:lnSpc>
                <a:spcPct val="115000"/>
              </a:lnSpc>
            </a:pPr>
            <a:r>
              <a:rPr sz="1500" b="0" i="0">
                <a:solidFill>
                  <a:srgbClr val="FFFFFF"/>
                </a:solidFill>
                <a:latin typeface="Courier New"/>
                <a:ea typeface="Courier New"/>
                <a:cs typeface="Courier New"/>
                <a:sym typeface="Courier New"/>
              </a:rPr>
              <a:t>mc = MyCobot280('/dev/ttyAMA0', 1000000)</a:t>
            </a:r>
          </a:p>
          <a:p>
            <a:pPr algn="l">
              <a:lnSpc>
                <a:spcPct val="115000"/>
              </a:lnSpc>
            </a:pPr>
            <a:r>
              <a:rPr sz="1500" b="0" i="0">
                <a:solidFill>
                  <a:srgbClr val="FFFFFF"/>
                </a:solidFill>
                <a:latin typeface="Courier New"/>
                <a:ea typeface="Courier New"/>
                <a:cs typeface="Courier New"/>
                <a:sym typeface="Courier New"/>
              </a:rPr>
              <a:t>time.sleep(0.5)</a:t>
            </a:r>
          </a:p>
          <a:p>
            <a:pPr algn="l">
              <a:lnSpc>
                <a:spcPct val="115000"/>
              </a:lnSpc>
            </a:pPr>
            <a:r>
              <a:rPr sz="1500" b="0" i="0">
                <a:solidFill>
                  <a:srgbClr val="FFFFFF"/>
                </a:solidFill>
                <a:latin typeface="Courier New"/>
                <a:ea typeface="Courier New"/>
                <a:cs typeface="Courier New"/>
                <a:sym typeface="Courier New"/>
              </a:rPr>
              <a:t>mc.power_on()</a:t>
            </a:r>
          </a:p>
          <a:p>
            <a:pPr algn="l">
              <a:lnSpc>
                <a:spcPct val="115000"/>
              </a:lnSpc>
            </a:pPr>
            <a:r>
              <a:rPr sz="1500" b="0" i="0">
                <a:solidFill>
                  <a:srgbClr val="FFFFFF"/>
                </a:solidFill>
                <a:latin typeface="Courier New"/>
                <a:ea typeface="Courier New"/>
                <a:cs typeface="Courier New"/>
                <a:sym typeface="Courier New"/>
              </a:rPr>
              <a:t>time.sleep(0.5)</a:t>
            </a:r>
          </a:p>
        </p:txBody>
      </p:sp>
      <p:sp>
        <p:nvSpPr>
          <p:cNvPr id="6" name="blk0082"/>
          <p:cNvSpPr txBox="1"/>
          <p:nvPr/>
        </p:nvSpPr>
        <p:spPr>
          <a:xfrm>
            <a:off x="687600" y="3976854"/>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port </a:t>
            </a:r>
            <a:r>
              <a:rPr sz="1743" b="0" i="0">
                <a:solidFill>
                  <a:srgbClr val="FFFFFF"/>
                </a:solidFill>
                <a:latin typeface="Courier New"/>
                <a:ea typeface="Courier New"/>
                <a:cs typeface="Courier New"/>
                <a:sym typeface="Courier New"/>
              </a:rPr>
              <a:t>/dev/ttyAMA0</a:t>
            </a:r>
            <a:r>
              <a:rPr sz="2027" b="0" i="0">
                <a:solidFill>
                  <a:srgbClr val="FFFFFF"/>
                </a:solidFill>
                <a:latin typeface="Avenir"/>
                <a:ea typeface="Avenir"/>
                <a:cs typeface="Avenir"/>
                <a:sym typeface="Avenir"/>
              </a:rPr>
              <a:t> is which serial socket the arm is plugged into, and </a:t>
            </a:r>
            <a:r>
              <a:rPr sz="1743" b="0" i="0">
                <a:solidFill>
                  <a:srgbClr val="FFFFFF"/>
                </a:solidFill>
                <a:latin typeface="Courier New"/>
                <a:ea typeface="Courier New"/>
                <a:cs typeface="Courier New"/>
                <a:sym typeface="Courier New"/>
              </a:rPr>
              <a:t>1000000</a:t>
            </a:r>
            <a:r>
              <a:rPr sz="2027" b="0" i="0">
                <a:solidFill>
                  <a:srgbClr val="FFFFFF"/>
                </a:solidFill>
                <a:latin typeface="Avenir"/>
                <a:ea typeface="Avenir"/>
                <a:cs typeface="Avenir"/>
                <a:sym typeface="Avenir"/>
              </a:rPr>
              <a:t> is the speed both ends agree to talk at. On another machine this may be </a:t>
            </a:r>
            <a:r>
              <a:rPr sz="1743" b="0" i="0">
                <a:solidFill>
                  <a:srgbClr val="FFFFFF"/>
                </a:solidFill>
                <a:latin typeface="Courier New"/>
                <a:ea typeface="Courier New"/>
                <a:cs typeface="Courier New"/>
                <a:sym typeface="Courier New"/>
              </a:rPr>
              <a:t>ttyUSB0</a:t>
            </a:r>
            <a:r>
              <a:rPr sz="2027" b="0" i="0">
                <a:solidFill>
                  <a:srgbClr val="FFFFFF"/>
                </a:solidFill>
                <a:latin typeface="Avenir"/>
                <a:ea typeface="Avenir"/>
                <a:cs typeface="Avenir"/>
                <a:sym typeface="Avenir"/>
              </a:rPr>
              <a:t>, so if this line throws, check the port before you suspect the arm.</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Each </a:t>
            </a:r>
            <a:r>
              <a:rPr sz="1743" b="0" i="0">
                <a:solidFill>
                  <a:srgbClr val="FFFFFF"/>
                </a:solidFill>
                <a:latin typeface="Courier New"/>
                <a:ea typeface="Courier New"/>
                <a:cs typeface="Courier New"/>
                <a:sym typeface="Courier New"/>
              </a:rPr>
              <a:t>sleep</a:t>
            </a:r>
            <a:r>
              <a:rPr sz="2027" b="0" i="0">
                <a:solidFill>
                  <a:srgbClr val="FFFFFF"/>
                </a:solidFill>
                <a:latin typeface="Avenir"/>
                <a:ea typeface="Avenir"/>
                <a:cs typeface="Avenir"/>
                <a:sym typeface="Avenir"/>
              </a:rPr>
              <a:t> gives the command before it time to finish. Delete them and the arm misses instructions, which looks exactly like a broken arm.</a:t>
            </a:r>
          </a:p>
        </p:txBody>
      </p:sp>
      <p:sp>
        <p:nvSpPr>
          <p:cNvPr id="7" name="blk0083"/>
          <p:cNvSpPr txBox="1"/>
          <p:nvPr/>
        </p:nvSpPr>
        <p:spPr>
          <a:xfrm>
            <a:off x="687600" y="6503289"/>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the arm is not connected, this block prints </a:t>
            </a:r>
            <a:r>
              <a:rPr sz="1419" b="0" i="0">
                <a:solidFill>
                  <a:srgbClr val="FFFFFF"/>
                </a:solidFill>
                <a:latin typeface="Courier New"/>
                <a:ea typeface="Courier New"/>
                <a:cs typeface="Courier New"/>
                <a:sym typeface="Courier New"/>
              </a:rPr>
              <a:t>Robot hardware warning:</a:t>
            </a:r>
            <a:r>
              <a:rPr sz="1650" b="0" i="0">
                <a:solidFill>
                  <a:srgbClr val="FFFFFF"/>
                </a:solidFill>
                <a:latin typeface="Avenir"/>
                <a:ea typeface="Avenir"/>
                <a:cs typeface="Avenir"/>
                <a:sym typeface="Avenir"/>
              </a:rPr>
              <a:t> and carries on. That is the design working, not a failure you need to fix — the vision pipeline runs perfectly well without hardware.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p>
        </p:txBody>
      </p:sp>
      <p:sp>
        <p:nvSpPr>
          <p:cNvPr id="3" name="blk008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Park the arm somewhere safe before the camera work starts:</a:t>
            </a:r>
          </a:p>
        </p:txBody>
      </p:sp>
      <p:sp>
        <p:nvSpPr>
          <p:cNvPr id="4" name="blk0086"/>
          <p:cNvSpPr/>
          <p:nvPr/>
        </p:nvSpPr>
        <p:spPr>
          <a:xfrm>
            <a:off x="687600" y="2088000"/>
            <a:ext cx="8686800" cy="131668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6"/>
          <p:cNvSpPr txBox="1"/>
          <p:nvPr/>
        </p:nvSpPr>
        <p:spPr>
          <a:xfrm>
            <a:off x="910799" y="2250000"/>
            <a:ext cx="8240400" cy="992683"/>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folded_angles = [0, 45, -90, -45, 0, 0]</a:t>
            </a:r>
          </a:p>
          <a:p>
            <a:pPr algn="l">
              <a:lnSpc>
                <a:spcPct val="115000"/>
              </a:lnSpc>
            </a:pPr>
            <a:r>
              <a:rPr sz="1500" b="0" i="0">
                <a:solidFill>
                  <a:srgbClr val="FFFFFF"/>
                </a:solidFill>
                <a:latin typeface="Courier New"/>
                <a:ea typeface="Courier New"/>
                <a:cs typeface="Courier New"/>
                <a:sym typeface="Courier New"/>
              </a:rPr>
              <a:t>print("Moving arm to initial folded position...")</a:t>
            </a:r>
          </a:p>
          <a:p>
            <a:pPr algn="l">
              <a:lnSpc>
                <a:spcPct val="115000"/>
              </a:lnSpc>
            </a:pPr>
            <a:r>
              <a:rPr sz="1500" b="0" i="0">
                <a:solidFill>
                  <a:srgbClr val="FFFFFF"/>
                </a:solidFill>
                <a:latin typeface="Courier New"/>
                <a:ea typeface="Courier New"/>
                <a:cs typeface="Courier New"/>
                <a:sym typeface="Courier New"/>
              </a:rPr>
              <a:t>mc.send_angles(folded_angles, 20)</a:t>
            </a:r>
          </a:p>
          <a:p>
            <a:pPr algn="l">
              <a:lnSpc>
                <a:spcPct val="115000"/>
              </a:lnSpc>
            </a:pPr>
            <a:r>
              <a:rPr sz="1500" b="0" i="0">
                <a:solidFill>
                  <a:srgbClr val="FFFFFF"/>
                </a:solidFill>
                <a:latin typeface="Courier New"/>
                <a:ea typeface="Courier New"/>
                <a:cs typeface="Courier New"/>
                <a:sym typeface="Courier New"/>
              </a:rPr>
              <a:t>time.sleep(2.0)</a:t>
            </a:r>
          </a:p>
        </p:txBody>
      </p:sp>
      <p:sp>
        <p:nvSpPr>
          <p:cNvPr id="6" name="blk0087"/>
          <p:cNvSpPr txBox="1"/>
          <p:nvPr/>
        </p:nvSpPr>
        <p:spPr>
          <a:xfrm>
            <a:off x="687600" y="3512683"/>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Six numbers, one per joint, in degrees. Zero means </a:t>
            </a:r>
            <a:r>
              <a:rPr sz="1743" b="0" i="0">
                <a:solidFill>
                  <a:srgbClr val="FFFFFF"/>
                </a:solidFill>
                <a:latin typeface="Courier New"/>
                <a:ea typeface="Courier New"/>
                <a:cs typeface="Courier New"/>
                <a:sym typeface="Courier New"/>
              </a:rPr>
              <a:t>no bend</a:t>
            </a:r>
            <a:r>
              <a:rPr sz="2027" b="0" i="0">
                <a:solidFill>
                  <a:srgbClr val="FFFFFF"/>
                </a:solidFill>
                <a:latin typeface="Avenir"/>
                <a:ea typeface="Avenir"/>
                <a:cs typeface="Avenir"/>
                <a:sym typeface="Avenir"/>
              </a:rPr>
              <a:t>, and the signs say which way. Folding the arm up and out of shot is deliberate: a metal arm parked in view of the camera is a large shiny object that will confuse everything you measure.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20</a:t>
            </a:r>
            <a:r>
              <a:rPr sz="2027" b="0" i="0">
                <a:solidFill>
                  <a:srgbClr val="FFFFFF"/>
                </a:solidFill>
                <a:latin typeface="Avenir"/>
                <a:ea typeface="Avenir"/>
                <a:cs typeface="Avenir"/>
                <a:sym typeface="Avenir"/>
              </a:rPr>
              <a:t> is how fast to travel there, and the </a:t>
            </a:r>
            <a:r>
              <a:rPr sz="1743" b="0" i="0">
                <a:solidFill>
                  <a:srgbClr val="FFFFFF"/>
                </a:solidFill>
                <a:latin typeface="Courier New"/>
                <a:ea typeface="Courier New"/>
                <a:cs typeface="Courier New"/>
                <a:sym typeface="Courier New"/>
              </a:rPr>
              <a:t>2.0</a:t>
            </a:r>
            <a:r>
              <a:rPr sz="2027" b="0" i="0">
                <a:solidFill>
                  <a:srgbClr val="FFFFFF"/>
                </a:solidFill>
                <a:latin typeface="Avenir"/>
                <a:ea typeface="Avenir"/>
                <a:cs typeface="Avenir"/>
                <a:sym typeface="Avenir"/>
              </a:rPr>
              <a:t> second sleep gives it time to arrive before the camera starts.</a:t>
            </a:r>
          </a:p>
        </p:txBody>
      </p:sp>
      <p:sp>
        <p:nvSpPr>
          <p:cNvPr id="7" name="blk0088"/>
          <p:cNvSpPr txBox="1"/>
          <p:nvPr/>
        </p:nvSpPr>
        <p:spPr>
          <a:xfrm>
            <a:off x="687600" y="6039118"/>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this is a </a:t>
            </a:r>
            <a:r>
              <a:rPr sz="1419" b="0" i="0">
                <a:solidFill>
                  <a:srgbClr val="FFFFFF"/>
                </a:solidFill>
                <a:latin typeface="Courier New"/>
                <a:ea typeface="Courier New"/>
                <a:cs typeface="Courier New"/>
                <a:sym typeface="Courier New"/>
              </a:rPr>
              <a:t>list</a:t>
            </a:r>
            <a:r>
              <a:rPr sz="1650" b="0" i="0">
                <a:solidFill>
                  <a:srgbClr val="FFFFFF"/>
                </a:solidFill>
                <a:latin typeface="Avenir"/>
                <a:ea typeface="Avenir"/>
                <a:cs typeface="Avenir"/>
                <a:sym typeface="Avenir"/>
              </a:rPr>
              <a:t>, not a tuple. Later in the module you will want to change these values while the program runs, and the </a:t>
            </a:r>
            <a:r>
              <a:rPr sz="1419" b="0" i="0">
                <a:solidFill>
                  <a:srgbClr val="FFFFFF"/>
                </a:solidFill>
                <a:latin typeface="Courier New"/>
                <a:ea typeface="Courier New"/>
                <a:cs typeface="Courier New"/>
                <a:sym typeface="Courier New"/>
              </a:rPr>
              <a:t>[ ]</a:t>
            </a:r>
            <a:r>
              <a:rPr sz="1650" b="0" i="0">
                <a:solidFill>
                  <a:srgbClr val="FFFFFF"/>
                </a:solidFill>
                <a:latin typeface="Avenir"/>
                <a:ea typeface="Avenir"/>
                <a:cs typeface="Avenir"/>
                <a:sym typeface="Avenir"/>
              </a:rPr>
              <a:t> brackets are what allow that.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Run it before you fix </a:t>
            </a:r>
            <a:r>
              <a:rPr sz="2827" b="0" i="0">
                <a:solidFill>
                  <a:srgbClr val="FFFFFF"/>
                </a:solidFill>
                <a:latin typeface="Bungee"/>
                <a:ea typeface="Bungee"/>
                <a:cs typeface="Bungee"/>
                <a:sym typeface="Bungee"/>
              </a:rPr>
              <a:t>anything</a:t>
            </a:r>
          </a:p>
        </p:txBody>
      </p:sp>
      <p:sp>
        <p:nvSpPr>
          <p:cNvPr id="3" name="blk009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Send the starter across and run it with the four vision TODOs still empty. Seeing the failures first is worth the two minutes.</a:t>
            </a:r>
          </a:p>
        </p:txBody>
      </p:sp>
      <p:sp>
        <p:nvSpPr>
          <p:cNvPr id="4" name="blk0091"/>
          <p:cNvSpPr txBox="1"/>
          <p:nvPr/>
        </p:nvSpPr>
        <p:spPr>
          <a:xfrm>
            <a:off x="687600" y="2384744"/>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M2-P2-Starter.py er@192.168.1.149:Documents</a:t>
            </a:r>
          </a:p>
        </p:txBody>
      </p:sp>
      <p:sp>
        <p:nvSpPr>
          <p:cNvPr id="5" name="blk0092"/>
          <p:cNvSpPr txBox="1"/>
          <p:nvPr/>
        </p:nvSpPr>
        <p:spPr>
          <a:xfrm>
            <a:off x="687600" y="2951999"/>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M2-P2-Starter.py</a:t>
            </a:r>
          </a:p>
        </p:txBody>
      </p:sp>
      <p:sp>
        <p:nvSpPr>
          <p:cNvPr id="6" name="blk0093"/>
          <p:cNvSpPr txBox="1"/>
          <p:nvPr/>
        </p:nvSpPr>
        <p:spPr>
          <a:xfrm>
            <a:off x="687600" y="3671999"/>
            <a:ext cx="7542000" cy="395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robot block will warn and continue. Then the camera opens, a frame arrives, and </a:t>
            </a:r>
            <a:r>
              <a:rPr sz="1743" b="0" i="0">
                <a:solidFill>
                  <a:srgbClr val="FFFFFF"/>
                </a:solidFill>
                <a:latin typeface="Courier New"/>
                <a:ea typeface="Courier New"/>
                <a:cs typeface="Courier New"/>
                <a:sym typeface="Courier New"/>
              </a:rPr>
              <a:t>process_frame</a:t>
            </a:r>
            <a:r>
              <a:rPr sz="2027" b="0" i="0">
                <a:solidFill>
                  <a:srgbClr val="FFFFFF"/>
                </a:solidFill>
                <a:latin typeface="Avenir"/>
                <a:ea typeface="Avenir"/>
                <a:cs typeface="Avenir"/>
                <a:sym typeface="Avenir"/>
              </a:rPr>
              <a:t> runs with the detection code missing. Expect:</a:t>
            </a:r>
          </a:p>
        </p:txBody>
      </p:sp>
      <p:sp>
        <p:nvSpPr>
          <p:cNvPr id="7" name="blk0094"/>
          <p:cNvSpPr/>
          <p:nvPr/>
        </p:nvSpPr>
        <p:spPr>
          <a:xfrm>
            <a:off x="687600" y="4706743"/>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94"/>
          <p:cNvSpPr txBox="1"/>
          <p:nvPr/>
        </p:nvSpPr>
        <p:spPr>
          <a:xfrm>
            <a:off x="910799" y="4868743"/>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NameError: name 'ids' is not defined</a:t>
            </a:r>
          </a:p>
        </p:txBody>
      </p:sp>
      <p:sp>
        <p:nvSpPr>
          <p:cNvPr id="9" name="blk0095"/>
          <p:cNvSpPr txBox="1"/>
          <p:nvPr/>
        </p:nvSpPr>
        <p:spPr>
          <a:xfrm>
            <a:off x="687600" y="5400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that message properly. It is not a camera fault and it is not a marker fault — it says a variable the program expected to have been created was never created. That is Step 6, and nothing after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p>
        </p:txBody>
      </p:sp>
      <p:sp>
        <p:nvSpPr>
          <p:cNvPr id="3" name="blk009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we move into the class. This TODO asks for the dictionary and the detector — the version-tolerant block from the concepts section:</a:t>
            </a:r>
          </a:p>
        </p:txBody>
      </p:sp>
      <p:sp>
        <p:nvSpPr>
          <p:cNvPr id="4" name="blk0098"/>
          <p:cNvSpPr/>
          <p:nvPr/>
        </p:nvSpPr>
        <p:spPr>
          <a:xfrm>
            <a:off x="687600" y="2384744"/>
            <a:ext cx="8686800" cy="203637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8"/>
          <p:cNvSpPr txBox="1"/>
          <p:nvPr/>
        </p:nvSpPr>
        <p:spPr>
          <a:xfrm>
            <a:off x="910799" y="2546744"/>
            <a:ext cx="8240400" cy="1712379"/>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try:</a:t>
            </a:r>
          </a:p>
          <a:p>
            <a:pPr algn="l">
              <a:lnSpc>
                <a:spcPct val="115000"/>
              </a:lnSpc>
            </a:pPr>
            <a:r>
              <a:rPr sz="1150" b="0" i="0">
                <a:solidFill>
                  <a:srgbClr val="FFFFFF"/>
                </a:solidFill>
                <a:latin typeface="Courier New"/>
                <a:ea typeface="Courier New"/>
                <a:cs typeface="Courier New"/>
                <a:sym typeface="Courier New"/>
              </a:rPr>
              <a:t>    self.aruco_dict = cv2.aruco.getPredefinedDictionary(cv2.aruco.DICT_6X6_250)</a:t>
            </a:r>
          </a:p>
          <a:p>
            <a:pPr algn="l">
              <a:lnSpc>
                <a:spcPct val="115000"/>
              </a:lnSpc>
            </a:pPr>
            <a:r>
              <a:rPr sz="1150" b="0" i="0">
                <a:solidFill>
                  <a:srgbClr val="FFFFFF"/>
                </a:solidFill>
                <a:latin typeface="Courier New"/>
                <a:ea typeface="Courier New"/>
                <a:cs typeface="Courier New"/>
                <a:sym typeface="Courier New"/>
              </a:rPr>
              <a:t>    self.aruco_params = cv2.aruco.DetectorParameters()</a:t>
            </a:r>
          </a:p>
          <a:p>
            <a:pPr algn="l">
              <a:lnSpc>
                <a:spcPct val="115000"/>
              </a:lnSpc>
            </a:pPr>
            <a:r>
              <a:rPr sz="1150" b="0" i="0">
                <a:solidFill>
                  <a:srgbClr val="FFFFFF"/>
                </a:solidFill>
                <a:latin typeface="Courier New"/>
                <a:ea typeface="Courier New"/>
                <a:cs typeface="Courier New"/>
                <a:sym typeface="Courier New"/>
              </a:rPr>
              <a:t>    self.detector = cv2.aruco.ArucoDetector(self.aruco_dict, self.aruco_params)</a:t>
            </a:r>
          </a:p>
          <a:p>
            <a:pPr algn="l">
              <a:lnSpc>
                <a:spcPct val="115000"/>
              </a:lnSpc>
            </a:pPr>
            <a:r>
              <a:rPr sz="1150" b="0" i="0">
                <a:solidFill>
                  <a:srgbClr val="FFFFFF"/>
                </a:solidFill>
                <a:latin typeface="Courier New"/>
                <a:ea typeface="Courier New"/>
                <a:cs typeface="Courier New"/>
                <a:sym typeface="Courier New"/>
              </a:rPr>
              <a:t>    self.use_new_aruco = True</a:t>
            </a:r>
          </a:p>
          <a:p>
            <a:pPr algn="l">
              <a:lnSpc>
                <a:spcPct val="115000"/>
              </a:lnSpc>
            </a:pPr>
            <a:r>
              <a:rPr sz="1150" b="0" i="0">
                <a:solidFill>
                  <a:srgbClr val="FFFFFF"/>
                </a:solidFill>
                <a:latin typeface="Courier New"/>
                <a:ea typeface="Courier New"/>
                <a:cs typeface="Courier New"/>
                <a:sym typeface="Courier New"/>
              </a:rPr>
              <a:t>except AttributeError:</a:t>
            </a:r>
          </a:p>
          <a:p>
            <a:pPr algn="l">
              <a:lnSpc>
                <a:spcPct val="115000"/>
              </a:lnSpc>
            </a:pPr>
            <a:r>
              <a:rPr sz="1150" b="0" i="0">
                <a:solidFill>
                  <a:srgbClr val="FFFFFF"/>
                </a:solidFill>
                <a:latin typeface="Courier New"/>
                <a:ea typeface="Courier New"/>
                <a:cs typeface="Courier New"/>
                <a:sym typeface="Courier New"/>
              </a:rPr>
              <a:t>    self.aruco_dict = cv2.aruco.Dictionary_get(cv2.aruco.DICT_6X6_250)</a:t>
            </a:r>
          </a:p>
          <a:p>
            <a:pPr algn="l">
              <a:lnSpc>
                <a:spcPct val="115000"/>
              </a:lnSpc>
            </a:pPr>
            <a:r>
              <a:rPr sz="1150" b="0" i="0">
                <a:solidFill>
                  <a:srgbClr val="FFFFFF"/>
                </a:solidFill>
                <a:latin typeface="Courier New"/>
                <a:ea typeface="Courier New"/>
                <a:cs typeface="Courier New"/>
                <a:sym typeface="Courier New"/>
              </a:rPr>
              <a:t>    self.aruco_params = cv2.aruco.DetectorParameters_create()</a:t>
            </a:r>
          </a:p>
          <a:p>
            <a:pPr algn="l">
              <a:lnSpc>
                <a:spcPct val="115000"/>
              </a:lnSpc>
            </a:pPr>
            <a:r>
              <a:rPr sz="1150" b="0" i="0">
                <a:solidFill>
                  <a:srgbClr val="FFFFFF"/>
                </a:solidFill>
                <a:latin typeface="Courier New"/>
                <a:ea typeface="Courier New"/>
                <a:cs typeface="Courier New"/>
                <a:sym typeface="Courier New"/>
              </a:rPr>
              <a:t>    self.use_new_aruco = False</a:t>
            </a:r>
          </a:p>
        </p:txBody>
      </p:sp>
      <p:sp>
        <p:nvSpPr>
          <p:cNvPr id="6" name="blk0099"/>
          <p:cNvSpPr txBox="1"/>
          <p:nvPr/>
        </p:nvSpPr>
        <p:spPr>
          <a:xfrm>
            <a:off x="687600" y="4680000"/>
            <a:ext cx="7542000" cy="503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runs once, when the object is created — not once per frame. Read it as setup, not as part of the loop.</a:t>
            </a:r>
          </a:p>
        </p:txBody>
      </p:sp>
      <p:sp>
        <p:nvSpPr>
          <p:cNvPr id="7" name="blk0100"/>
          <p:cNvSpPr txBox="1"/>
          <p:nvPr/>
        </p:nvSpPr>
        <p:spPr>
          <a:xfrm>
            <a:off x="687600" y="5391504"/>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you want proof it worked, print </a:t>
            </a:r>
            <a:r>
              <a:rPr sz="1419" b="0" i="0">
                <a:solidFill>
                  <a:srgbClr val="FFFFFF"/>
                </a:solidFill>
                <a:latin typeface="Courier New"/>
                <a:ea typeface="Courier New"/>
                <a:cs typeface="Courier New"/>
                <a:sym typeface="Courier New"/>
              </a:rPr>
              <a:t>self.use_new_aruco</a:t>
            </a:r>
            <a:r>
              <a:rPr sz="1650" b="0" i="0">
                <a:solidFill>
                  <a:srgbClr val="FFFFFF"/>
                </a:solidFill>
                <a:latin typeface="Avenir"/>
                <a:ea typeface="Avenir"/>
                <a:cs typeface="Avenir"/>
                <a:sym typeface="Avenir"/>
              </a:rPr>
              <a:t> after the block. It tells you which half of the </a:t>
            </a:r>
            <a:r>
              <a:rPr sz="1419" b="0" i="0">
                <a:solidFill>
                  <a:srgbClr val="FFFFFF"/>
                </a:solidFill>
                <a:latin typeface="Courier New"/>
                <a:ea typeface="Courier New"/>
                <a:cs typeface="Courier New"/>
                <a:sym typeface="Courier New"/>
              </a:rPr>
              <a:t>try</a:t>
            </a:r>
            <a:r>
              <a:rPr sz="1650" b="0" i="0">
                <a:solidFill>
                  <a:srgbClr val="FFFFFF"/>
                </a:solidFill>
                <a:latin typeface="Avenir"/>
                <a:ea typeface="Avenir"/>
                <a:cs typeface="Avenir"/>
                <a:sym typeface="Avenir"/>
              </a:rPr>
              <a:t> your machine took, and that is genuinely useful to know when something downstream misbehaves.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p>
        </p:txBody>
      </p:sp>
      <p:sp>
        <p:nvSpPr>
          <p:cNvPr id="3" name="blk01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TODO the error message was pointing at. Detect the markers, choosing the call style the flag decided on:</a:t>
            </a:r>
          </a:p>
        </p:txBody>
      </p:sp>
      <p:sp>
        <p:nvSpPr>
          <p:cNvPr id="4" name="blk0103"/>
          <p:cNvSpPr/>
          <p:nvPr/>
        </p:nvSpPr>
        <p:spPr>
          <a:xfrm>
            <a:off x="687600" y="2376000"/>
            <a:ext cx="8686800" cy="171375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3"/>
          <p:cNvSpPr txBox="1"/>
          <p:nvPr/>
        </p:nvSpPr>
        <p:spPr>
          <a:xfrm>
            <a:off x="910799" y="2538000"/>
            <a:ext cx="8240400" cy="1389757"/>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if self.use_new_aruco:</a:t>
            </a:r>
          </a:p>
          <a:p>
            <a:pPr algn="l">
              <a:lnSpc>
                <a:spcPct val="115000"/>
              </a:lnSpc>
            </a:pPr>
            <a:r>
              <a:rPr sz="1400" b="0" i="0">
                <a:solidFill>
                  <a:srgbClr val="FFFFFF"/>
                </a:solidFill>
                <a:latin typeface="Courier New"/>
                <a:ea typeface="Courier New"/>
                <a:cs typeface="Courier New"/>
                <a:sym typeface="Courier New"/>
              </a:rPr>
              <a:t>    corners, ids, _ = self.detector.detectMarkers(gray)</a:t>
            </a:r>
          </a:p>
          <a:p>
            <a:pPr algn="l">
              <a:lnSpc>
                <a:spcPct val="115000"/>
              </a:lnSpc>
            </a:pPr>
            <a:r>
              <a:rPr sz="1400" b="0" i="0">
                <a:solidFill>
                  <a:srgbClr val="FFFFFF"/>
                </a:solidFill>
                <a:latin typeface="Courier New"/>
                <a:ea typeface="Courier New"/>
                <a:cs typeface="Courier New"/>
                <a:sym typeface="Courier New"/>
              </a:rPr>
              <a:t>else:</a:t>
            </a:r>
          </a:p>
          <a:p>
            <a:pPr algn="l">
              <a:lnSpc>
                <a:spcPct val="115000"/>
              </a:lnSpc>
            </a:pPr>
            <a:r>
              <a:rPr sz="1400" b="0" i="0">
                <a:solidFill>
                  <a:srgbClr val="FFFFFF"/>
                </a:solidFill>
                <a:latin typeface="Courier New"/>
                <a:ea typeface="Courier New"/>
                <a:cs typeface="Courier New"/>
                <a:sym typeface="Courier New"/>
              </a:rPr>
              <a:t>    corners, ids, _ = cv2.aruco.detectMarkers(</a:t>
            </a:r>
          </a:p>
          <a:p>
            <a:pPr algn="l">
              <a:lnSpc>
                <a:spcPct val="115000"/>
              </a:lnSpc>
            </a:pPr>
            <a:r>
              <a:rPr sz="1400" b="0" i="0">
                <a:solidFill>
                  <a:srgbClr val="FFFFFF"/>
                </a:solidFill>
                <a:latin typeface="Courier New"/>
                <a:ea typeface="Courier New"/>
                <a:cs typeface="Courier New"/>
                <a:sym typeface="Courier New"/>
              </a:rPr>
              <a:t>        gray, self.aruco_dict, parameters=self.aruco_params</a:t>
            </a:r>
          </a:p>
          <a:p>
            <a:pPr algn="l">
              <a:lnSpc>
                <a:spcPct val="115000"/>
              </a:lnSpc>
            </a:pPr>
            <a:r>
              <a:rPr sz="1400" b="0" i="0">
                <a:solidFill>
                  <a:srgbClr val="FFFFFF"/>
                </a:solidFill>
                <a:latin typeface="Courier New"/>
                <a:ea typeface="Courier New"/>
                <a:cs typeface="Courier New"/>
                <a:sym typeface="Courier New"/>
              </a:rPr>
              <a:t>    )</a:t>
            </a:r>
          </a:p>
        </p:txBody>
      </p:sp>
      <p:sp>
        <p:nvSpPr>
          <p:cNvPr id="6" name="blk0104"/>
          <p:cNvSpPr txBox="1"/>
          <p:nvPr/>
        </p:nvSpPr>
        <p:spPr>
          <a:xfrm>
            <a:off x="687600" y="4197757"/>
            <a:ext cx="7542000" cy="366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greyscale conversion happens just above this block, on its own line. ArUco detection works on brightness, not colour.</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Three things come back. </a:t>
            </a:r>
            <a:r>
              <a:rPr sz="1743" b="0" i="0">
                <a:solidFill>
                  <a:srgbClr val="FFFFFF"/>
                </a:solidFill>
                <a:latin typeface="Courier New"/>
                <a:ea typeface="Courier New"/>
                <a:cs typeface="Courier New"/>
                <a:sym typeface="Courier New"/>
              </a:rPr>
              <a:t>corners</a:t>
            </a:r>
            <a:r>
              <a:rPr sz="2027" b="0" i="0">
                <a:solidFill>
                  <a:srgbClr val="FFFFFF"/>
                </a:solidFill>
                <a:latin typeface="Avenir"/>
                <a:ea typeface="Avenir"/>
                <a:cs typeface="Avenir"/>
                <a:sym typeface="Avenir"/>
              </a:rPr>
              <a:t> holds four points per marker, </a:t>
            </a:r>
            <a:r>
              <a:rPr sz="1743" b="0" i="0">
                <a:solidFill>
                  <a:srgbClr val="FFFFFF"/>
                </a:solidFill>
                <a:latin typeface="Courier New"/>
                <a:ea typeface="Courier New"/>
                <a:cs typeface="Courier New"/>
                <a:sym typeface="Courier New"/>
              </a:rPr>
              <a:t>ids</a:t>
            </a:r>
            <a:r>
              <a:rPr sz="2027" b="0" i="0">
                <a:solidFill>
                  <a:srgbClr val="FFFFFF"/>
                </a:solidFill>
                <a:latin typeface="Avenir"/>
                <a:ea typeface="Avenir"/>
                <a:cs typeface="Avenir"/>
                <a:sym typeface="Avenir"/>
              </a:rPr>
              <a:t> which marker each one was, and the third is rejected. When nothing is found, </a:t>
            </a:r>
            <a:r>
              <a:rPr sz="1743" b="0" i="0">
                <a:solidFill>
                  <a:srgbClr val="FFFFFF"/>
                </a:solidFill>
                <a:latin typeface="Courier New"/>
                <a:ea typeface="Courier New"/>
                <a:cs typeface="Courier New"/>
                <a:sym typeface="Courier New"/>
              </a:rPr>
              <a:t>ids</a:t>
            </a:r>
            <a:r>
              <a:rPr sz="2027" b="0" i="0">
                <a:solidFill>
                  <a:srgbClr val="FFFFFF"/>
                </a:solidFill>
                <a:latin typeface="Avenir"/>
                <a:ea typeface="Avenir"/>
                <a:cs typeface="Avenir"/>
                <a:sym typeface="Avenir"/>
              </a:rPr>
              <a:t> is </a:t>
            </a:r>
            <a:r>
              <a:rPr sz="1743" b="0" i="0">
                <a:solidFill>
                  <a:srgbClr val="FFFFFF"/>
                </a:solidFill>
                <a:latin typeface="Courier New"/>
                <a:ea typeface="Courier New"/>
                <a:cs typeface="Courier New"/>
                <a:sym typeface="Courier New"/>
              </a:rPr>
              <a:t>None</a:t>
            </a:r>
            <a:r>
              <a:rPr sz="2027" b="0" i="0">
                <a:solidFill>
                  <a:srgbClr val="FFFFFF"/>
                </a:solidFill>
                <a:latin typeface="Avenir"/>
                <a:ea typeface="Avenir"/>
                <a:cs typeface="Avenir"/>
                <a:sym typeface="Avenir"/>
              </a:rPr>
              <a:t>, not an empty list — which is why the next line tests both.</a:t>
            </a:r>
          </a:p>
        </p:txBody>
      </p:sp>
      <p:sp>
        <p:nvSpPr>
          <p:cNvPr id="7" name="blk0105"/>
          <p:cNvSpPr txBox="1"/>
          <p:nvPr/>
        </p:nvSpPr>
        <p:spPr>
          <a:xfrm>
            <a:off x="687600" y="6724192"/>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Once this works, the terminal stops shouting and the window appears — still blank, since nothing is drawn yet. Correct progress.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p>
        </p:txBody>
      </p:sp>
      <p:sp>
        <p:nvSpPr>
          <p:cNvPr id="3" name="blk010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Detection found something. Now put it on the screen:</a:t>
            </a:r>
          </a:p>
        </p:txBody>
      </p:sp>
      <p:sp>
        <p:nvSpPr>
          <p:cNvPr id="4" name="blk0108"/>
          <p:cNvSpPr/>
          <p:nvPr/>
        </p:nvSpPr>
        <p:spPr>
          <a:xfrm>
            <a:off x="687600" y="2088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8"/>
          <p:cNvSpPr txBox="1"/>
          <p:nvPr/>
        </p:nvSpPr>
        <p:spPr>
          <a:xfrm>
            <a:off x="910799" y="2250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cv2.aruco.drawDetectedMarkers(frame, corners, ids)</a:t>
            </a:r>
          </a:p>
        </p:txBody>
      </p:sp>
      <p:sp>
        <p:nvSpPr>
          <p:cNvPr id="6" name="blk0109"/>
          <p:cNvSpPr txBox="1"/>
          <p:nvPr/>
        </p:nvSpPr>
        <p:spPr>
          <a:xfrm>
            <a:off x="687600" y="2951999"/>
            <a:ext cx="7542000" cy="467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no configuration, no return value. It draws an outline around each marker and stamps its ID number beside it.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Look closely at what it did </a:t>
            </a:r>
            <a:r>
              <a:rPr sz="2027" b="0" i="1">
                <a:solidFill>
                  <a:srgbClr val="FFCF08"/>
                </a:solidFill>
                <a:latin typeface="Avenir"/>
                <a:ea typeface="Avenir"/>
                <a:cs typeface="Avenir"/>
                <a:sym typeface="Avenir"/>
              </a:rPr>
              <a:t>not</a:t>
            </a:r>
            <a:r>
              <a:rPr sz="2027" b="0" i="0">
                <a:solidFill>
                  <a:srgbClr val="FFFFFF"/>
                </a:solidFill>
                <a:latin typeface="Avenir"/>
                <a:ea typeface="Avenir"/>
                <a:cs typeface="Avenir"/>
                <a:sym typeface="Avenir"/>
              </a:rPr>
              <a:t> do: the outlines have no depth. Nothing on screen yet tells you whether the marker is 200mm away or 800mm — this is still a flat picture.</a:t>
            </a:r>
          </a:p>
        </p:txBody>
      </p:sp>
      <p:sp>
        <p:nvSpPr>
          <p:cNvPr id="7" name="blk0110"/>
          <p:cNvSpPr txBox="1"/>
          <p:nvPr/>
        </p:nvSpPr>
        <p:spPr>
          <a:xfrm>
            <a:off x="687600" y="516951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Run the program now. A coloured rectangle with a number on it is the single best checkpoint in this project: it proves the camera, the dictionary, the lighting and your marker printing are all fine, and it narrows every later fault to the maths that remains.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p>
        </p:txBody>
      </p:sp>
      <p:sp>
        <p:nvSpPr>
          <p:cNvPr id="3" name="blk011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the hard part. One call turns corners into a position and a tilt:</a:t>
            </a:r>
          </a:p>
        </p:txBody>
      </p:sp>
      <p:sp>
        <p:nvSpPr>
          <p:cNvPr id="4" name="blk0113"/>
          <p:cNvSpPr/>
          <p:nvPr/>
        </p:nvSpPr>
        <p:spPr>
          <a:xfrm>
            <a:off x="687600" y="2088000"/>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3"/>
          <p:cNvSpPr txBox="1"/>
          <p:nvPr/>
        </p:nvSpPr>
        <p:spPr>
          <a:xfrm>
            <a:off x="910799" y="2250000"/>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rvecs, tvecs, _ = cv2.aruco.estimatePoseSingleMarkers(</a:t>
            </a:r>
          </a:p>
          <a:p>
            <a:pPr algn="l">
              <a:lnSpc>
                <a:spcPct val="115000"/>
              </a:lnSpc>
            </a:pPr>
            <a:r>
              <a:rPr sz="1400" b="0" i="0">
                <a:solidFill>
                  <a:srgbClr val="FFFFFF"/>
                </a:solidFill>
                <a:latin typeface="Courier New"/>
                <a:ea typeface="Courier New"/>
                <a:cs typeface="Courier New"/>
                <a:sym typeface="Courier New"/>
              </a:rPr>
              <a:t>    corners, self.marker_size_m, self.camera_matrix, self.dist_coeffs</a:t>
            </a:r>
          </a:p>
          <a:p>
            <a:pPr algn="l">
              <a:lnSpc>
                <a:spcPct val="115000"/>
              </a:lnSpc>
            </a:pPr>
            <a:r>
              <a:rPr sz="1400" b="0" i="0">
                <a:solidFill>
                  <a:srgbClr val="FFFFFF"/>
                </a:solidFill>
                <a:latin typeface="Courier New"/>
                <a:ea typeface="Courier New"/>
                <a:cs typeface="Courier New"/>
                <a:sym typeface="Courier New"/>
              </a:rPr>
              <a:t>)</a:t>
            </a:r>
          </a:p>
        </p:txBody>
      </p:sp>
      <p:sp>
        <p:nvSpPr>
          <p:cNvPr id="6" name="blk0114"/>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input here was prepared earlier in the file: </a:t>
            </a:r>
            <a:r>
              <a:rPr sz="1743" b="0" i="0">
                <a:solidFill>
                  <a:srgbClr val="FFFFFF"/>
                </a:solidFill>
                <a:latin typeface="Courier New"/>
                <a:ea typeface="Courier New"/>
                <a:cs typeface="Courier New"/>
                <a:sym typeface="Courier New"/>
              </a:rPr>
              <a:t>corners</a:t>
            </a:r>
            <a:r>
              <a:rPr sz="2027" b="0" i="0">
                <a:solidFill>
                  <a:srgbClr val="FFFFFF"/>
                </a:solidFill>
                <a:latin typeface="Avenir"/>
                <a:ea typeface="Avenir"/>
                <a:cs typeface="Avenir"/>
                <a:sym typeface="Avenir"/>
              </a:rPr>
              <a:t> from Step 6, </a:t>
            </a:r>
            <a:r>
              <a:rPr sz="1743" b="0" i="0">
                <a:solidFill>
                  <a:srgbClr val="FFFFFF"/>
                </a:solidFill>
                <a:latin typeface="Courier New"/>
                <a:ea typeface="Courier New"/>
                <a:cs typeface="Courier New"/>
                <a:sym typeface="Courier New"/>
              </a:rPr>
              <a:t>marker_size_m</a:t>
            </a:r>
            <a:r>
              <a:rPr sz="2027" b="0" i="0">
                <a:solidFill>
                  <a:srgbClr val="FFFFFF"/>
                </a:solidFill>
                <a:latin typeface="Avenir"/>
                <a:ea typeface="Avenir"/>
                <a:cs typeface="Avenir"/>
                <a:sym typeface="Avenir"/>
              </a:rPr>
              <a:t> from your ruler, and the two calibration arrays that were already written in for you.</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call is where the mathematics actually happens. It undoes the lens distortion, works out how far away a marker of that known size must be, and works out which way it is tilted — all from four corners.</a:t>
            </a:r>
          </a:p>
        </p:txBody>
      </p:sp>
      <p:sp>
        <p:nvSpPr>
          <p:cNvPr id="7" name="blk0115"/>
          <p:cNvSpPr txBox="1"/>
          <p:nvPr/>
        </p:nvSpPr>
        <p:spPr>
          <a:xfrm>
            <a:off x="687600" y="5838434"/>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Four numbers in, two sets of three numbers out, for every marker at once. Nothing here is approximate and nothing is random: the same four corners always give the same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p>
        </p:txBody>
      </p:sp>
      <p:sp>
        <p:nvSpPr>
          <p:cNvPr id="3" name="blk011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conversion from the camera’s world to the robot’s:</a:t>
            </a:r>
          </a:p>
        </p:txBody>
      </p:sp>
      <p:sp>
        <p:nvSpPr>
          <p:cNvPr id="4" name="blk0118"/>
          <p:cNvSpPr/>
          <p:nvPr/>
        </p:nvSpPr>
        <p:spPr>
          <a:xfrm>
            <a:off x="687600" y="2088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8"/>
          <p:cNvSpPr txBox="1"/>
          <p:nvPr/>
        </p:nvSpPr>
        <p:spPr>
          <a:xfrm>
            <a:off x="910799" y="2250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rel_x = round(tvec[0] * 1000 + self.pump_y, 2)</a:t>
            </a:r>
          </a:p>
          <a:p>
            <a:pPr algn="l">
              <a:lnSpc>
                <a:spcPct val="115000"/>
              </a:lnSpc>
            </a:pPr>
            <a:r>
              <a:rPr sz="1500" b="0" i="0">
                <a:solidFill>
                  <a:srgbClr val="FFFFFF"/>
                </a:solidFill>
                <a:latin typeface="Courier New"/>
                <a:ea typeface="Courier New"/>
                <a:cs typeface="Courier New"/>
                <a:sym typeface="Courier New"/>
              </a:rPr>
              <a:t>rel_y = round(tvec[1] * 1000 + self.pump_x, 2)</a:t>
            </a:r>
          </a:p>
          <a:p>
            <a:pPr algn="l">
              <a:lnSpc>
                <a:spcPct val="115000"/>
              </a:lnSpc>
            </a:pPr>
            <a:r>
              <a:rPr sz="1500" b="0" i="0">
                <a:solidFill>
                  <a:srgbClr val="FFFFFF"/>
                </a:solidFill>
                <a:latin typeface="Courier New"/>
                <a:ea typeface="Courier New"/>
                <a:cs typeface="Courier New"/>
                <a:sym typeface="Courier New"/>
              </a:rPr>
              <a:t>rel_z = round(tvec[2] * 1000, 2)</a:t>
            </a:r>
          </a:p>
        </p:txBody>
      </p:sp>
      <p:sp>
        <p:nvSpPr>
          <p:cNvPr id="6" name="blk0119"/>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operations per axis. Unwrap the array, convert metres to millimetres, add the offset that accounts for the pump not being exactly where the camera is, then round to two decimal places.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These are the first numbers in the whole program that the </a:t>
            </a:r>
            <a:r>
              <a:rPr sz="2027" b="1" i="0">
                <a:solidFill>
                  <a:srgbClr val="FFFFFF"/>
                </a:solidFill>
                <a:latin typeface="Google Sans"/>
                <a:ea typeface="Google Sans"/>
                <a:cs typeface="Google Sans"/>
                <a:sym typeface="Google Sans"/>
              </a:rPr>
              <a:t>arm</a:t>
            </a:r>
            <a:r>
              <a:rPr sz="2027" b="0" i="0">
                <a:solidFill>
                  <a:srgbClr val="FFFFFF"/>
                </a:solidFill>
                <a:latin typeface="Avenir"/>
                <a:ea typeface="Avenir"/>
                <a:cs typeface="Avenir"/>
                <a:sym typeface="Avenir"/>
              </a:rPr>
              <a:t> could act on. Everything before this point was maths for the sake of maths; from here on, a wrong number means the gripper goes somewhere real.</a:t>
            </a:r>
          </a:p>
        </p:txBody>
      </p:sp>
      <p:sp>
        <p:nvSpPr>
          <p:cNvPr id="7" name="blk0120"/>
          <p:cNvSpPr txBox="1"/>
          <p:nvPr/>
        </p:nvSpPr>
        <p:spPr>
          <a:xfrm>
            <a:off x="687600" y="614734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Cross-check before you trust them: cover one marker and watch the other’s numbers. Then move a marker a known distance — 100mm further away — and confirm Z changes by about 100. A unit error shows up immediately at this scale.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p>
        </p:txBody>
      </p:sp>
      <p:sp>
        <p:nvSpPr>
          <p:cNvPr id="3" name="blk012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numbers are correct but invisible. This draws them:</a:t>
            </a:r>
          </a:p>
        </p:txBody>
      </p:sp>
      <p:sp>
        <p:nvSpPr>
          <p:cNvPr id="4" name="blk0123"/>
          <p:cNvSpPr/>
          <p:nvPr/>
        </p:nvSpPr>
        <p:spPr>
          <a:xfrm>
            <a:off x="687600" y="2088000"/>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3"/>
          <p:cNvSpPr txBox="1"/>
          <p:nvPr/>
        </p:nvSpPr>
        <p:spPr>
          <a:xfrm>
            <a:off x="910799" y="2250000"/>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cv2.drawFrameAxes(</a:t>
            </a:r>
          </a:p>
          <a:p>
            <a:pPr algn="l">
              <a:lnSpc>
                <a:spcPct val="115000"/>
              </a:lnSpc>
            </a:pPr>
            <a:r>
              <a:rPr sz="1400" b="0" i="0">
                <a:solidFill>
                  <a:srgbClr val="FFFFFF"/>
                </a:solidFill>
                <a:latin typeface="Courier New"/>
                <a:ea typeface="Courier New"/>
                <a:cs typeface="Courier New"/>
                <a:sym typeface="Courier New"/>
              </a:rPr>
              <a:t>    frame, self.camera_matrix, self.dist_coeffs,</a:t>
            </a:r>
          </a:p>
          <a:p>
            <a:pPr algn="l">
              <a:lnSpc>
                <a:spcPct val="115000"/>
              </a:lnSpc>
            </a:pPr>
            <a:r>
              <a:rPr sz="1400" b="0" i="0">
                <a:solidFill>
                  <a:srgbClr val="FFFFFF"/>
                </a:solidFill>
                <a:latin typeface="Courier New"/>
                <a:ea typeface="Courier New"/>
                <a:cs typeface="Courier New"/>
                <a:sym typeface="Courier New"/>
              </a:rPr>
              <a:t>    rvecs[i], tvecs[i], self.marker_size_m * 0.5</a:t>
            </a:r>
          </a:p>
        </p:txBody>
      </p:sp>
      <p:sp>
        <p:nvSpPr>
          <p:cNvPr id="6" name="blk0124"/>
          <p:cNvSpPr txBox="1"/>
          <p:nvPr/>
        </p:nvSpPr>
        <p:spPr>
          <a:xfrm>
            <a:off x="687600" y="3311999"/>
            <a:ext cx="7542000" cy="431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small tripod of coloured lines standing on the marker: red for one axis, green for another, blue for the third. Where the lines point is which way the marker is facing.</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This is the </a:t>
            </a:r>
            <a:r>
              <a:rPr sz="1743" b="0" i="0">
                <a:solidFill>
                  <a:srgbClr val="FFFFFF"/>
                </a:solidFill>
                <a:latin typeface="Courier New"/>
                <a:ea typeface="Courier New"/>
                <a:cs typeface="Courier New"/>
                <a:sym typeface="Courier New"/>
              </a:rPr>
              <a:t>rvecs[i]</a:t>
            </a:r>
            <a:r>
              <a:rPr sz="2027" b="0" i="0">
                <a:solidFill>
                  <a:srgbClr val="FFFFFF"/>
                </a:solidFill>
                <a:latin typeface="Avenir"/>
                <a:ea typeface="Avenir"/>
                <a:cs typeface="Avenir"/>
                <a:sym typeface="Avenir"/>
              </a:rPr>
              <a:t> you never had to understand, made visible. Half the marker size keeps the tripod in proportion whether the marker is near or far.</a:t>
            </a:r>
          </a:p>
        </p:txBody>
      </p:sp>
      <p:sp>
        <p:nvSpPr>
          <p:cNvPr id="7" name="blk0125"/>
          <p:cNvSpPr txBox="1"/>
          <p:nvPr/>
        </p:nvSpPr>
        <p:spPr>
          <a:xfrm>
            <a:off x="687600" y="552951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axes are also a sanity check. If they point sideways while the marker is clearly lying flat on the board, your rotation is being interpreted in a different order than you assumed — check the axes before trusting any number printed beside them.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p>
        </p:txBody>
      </p:sp>
      <p:sp>
        <p:nvSpPr>
          <p:cNvPr id="3" name="blk012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Last of the drawing. Work out where to put the text, build the label, and write it:</a:t>
            </a:r>
          </a:p>
        </p:txBody>
      </p:sp>
      <p:sp>
        <p:nvSpPr>
          <p:cNvPr id="4" name="blk0128"/>
          <p:cNvSpPr/>
          <p:nvPr/>
        </p:nvSpPr>
        <p:spPr>
          <a:xfrm>
            <a:off x="687600" y="2160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8"/>
          <p:cNvSpPr txBox="1"/>
          <p:nvPr/>
        </p:nvSpPr>
        <p:spPr>
          <a:xfrm>
            <a:off x="910799" y="2322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corner_center = np.mean(corners[i][0], axis=0).astype(int)</a:t>
            </a:r>
          </a:p>
          <a:p>
            <a:pPr algn="l">
              <a:lnSpc>
                <a:spcPct val="115000"/>
              </a:lnSpc>
            </a:pPr>
            <a:r>
              <a:rPr sz="1400" b="0" i="0">
                <a:solidFill>
                  <a:srgbClr val="FFFFFF"/>
                </a:solidFill>
                <a:latin typeface="Courier New"/>
                <a:ea typeface="Courier New"/>
                <a:cs typeface="Courier New"/>
                <a:sym typeface="Courier New"/>
              </a:rPr>
              <a:t>label_text = f"ID:{marker_id} X:{rel_x} Y:{rel_y} Z:{rel_z}mm"</a:t>
            </a:r>
          </a:p>
        </p:txBody>
      </p:sp>
      <p:sp>
        <p:nvSpPr>
          <p:cNvPr id="6" name="blk0129"/>
          <p:cNvSpPr/>
          <p:nvPr/>
        </p:nvSpPr>
        <p:spPr>
          <a:xfrm>
            <a:off x="687600" y="3168000"/>
            <a:ext cx="8686800" cy="118432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29"/>
          <p:cNvSpPr txBox="1"/>
          <p:nvPr/>
        </p:nvSpPr>
        <p:spPr>
          <a:xfrm>
            <a:off x="910799" y="3330000"/>
            <a:ext cx="8240400" cy="860325"/>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cv2.putText(</a:t>
            </a:r>
          </a:p>
          <a:p>
            <a:pPr algn="l">
              <a:lnSpc>
                <a:spcPct val="115000"/>
              </a:lnSpc>
            </a:pPr>
            <a:r>
              <a:rPr sz="1300" b="0" i="0">
                <a:solidFill>
                  <a:srgbClr val="FFFFFF"/>
                </a:solidFill>
                <a:latin typeface="Courier New"/>
                <a:ea typeface="Courier New"/>
                <a:cs typeface="Courier New"/>
                <a:sym typeface="Courier New"/>
              </a:rPr>
              <a:t>    frame, label_text, (corner_center[0] - 80, corner_center[1] - 15),</a:t>
            </a:r>
          </a:p>
          <a:p>
            <a:pPr algn="l">
              <a:lnSpc>
                <a:spcPct val="115000"/>
              </a:lnSpc>
            </a:pPr>
            <a:r>
              <a:rPr sz="1300" b="0" i="0">
                <a:solidFill>
                  <a:srgbClr val="FFFFFF"/>
                </a:solidFill>
                <a:latin typeface="Courier New"/>
                <a:ea typeface="Courier New"/>
                <a:cs typeface="Courier New"/>
                <a:sym typeface="Courier New"/>
              </a:rPr>
              <a:t>    cv2.FONT_HERSHEY_SIMPLEX, 0.5, (0, 255, 0), 2</a:t>
            </a:r>
          </a:p>
          <a:p>
            <a:pPr algn="l">
              <a:lnSpc>
                <a:spcPct val="115000"/>
              </a:lnSpc>
            </a:pPr>
            <a:r>
              <a:rPr sz="1300" b="0" i="0">
                <a:solidFill>
                  <a:srgbClr val="FFFFFF"/>
                </a:solidFill>
                <a:latin typeface="Courier New"/>
                <a:ea typeface="Courier New"/>
                <a:cs typeface="Courier New"/>
                <a:sym typeface="Courier New"/>
              </a:rPr>
              <a:t>)</a:t>
            </a:r>
          </a:p>
        </p:txBody>
      </p:sp>
      <p:sp>
        <p:nvSpPr>
          <p:cNvPr id="8" name="blk0130"/>
          <p:cNvSpPr txBox="1"/>
          <p:nvPr/>
        </p:nvSpPr>
        <p:spPr>
          <a:xfrm>
            <a:off x="687600" y="4752000"/>
            <a:ext cx="7542000" cy="2876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np.mean</a:t>
            </a:r>
            <a:r>
              <a:rPr sz="2027" b="0" i="0">
                <a:solidFill>
                  <a:srgbClr val="FFFFFF"/>
                </a:solidFill>
                <a:latin typeface="Avenir"/>
                <a:ea typeface="Avenir"/>
                <a:cs typeface="Avenir"/>
                <a:sym typeface="Avenir"/>
              </a:rPr>
              <a:t> averages the four corners into the middle of the marker, and </a:t>
            </a:r>
            <a:r>
              <a:rPr sz="1743" b="0" i="0">
                <a:solidFill>
                  <a:srgbClr val="FFFFFF"/>
                </a:solidFill>
                <a:latin typeface="Courier New"/>
                <a:ea typeface="Courier New"/>
                <a:cs typeface="Courier New"/>
                <a:sym typeface="Courier New"/>
              </a:rPr>
              <a:t>astype(int)</a:t>
            </a:r>
            <a:r>
              <a:rPr sz="2027" b="0" i="0">
                <a:solidFill>
                  <a:srgbClr val="FFFFFF"/>
                </a:solidFill>
                <a:latin typeface="Avenir"/>
                <a:ea typeface="Avenir"/>
                <a:cs typeface="Avenir"/>
                <a:sym typeface="Avenir"/>
              </a:rPr>
              <a:t> turns the result into whole numbers, because OpenCV will not draw text at a fractional pixel position.</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f"..."</a:t>
            </a:r>
            <a:r>
              <a:rPr sz="2027" b="0" i="0">
                <a:solidFill>
                  <a:srgbClr val="FFFFFF"/>
                </a:solidFill>
                <a:latin typeface="Avenir"/>
                <a:ea typeface="Avenir"/>
                <a:cs typeface="Avenir"/>
                <a:sym typeface="Avenir"/>
              </a:rPr>
              <a:t> is an f-string: the letters stay as they are and each </a:t>
            </a:r>
            <a:r>
              <a:rPr sz="1743" b="0" i="0">
                <a:solidFill>
                  <a:srgbClr val="FFFFFF"/>
                </a:solidFill>
                <a:latin typeface="Courier New"/>
                <a:ea typeface="Courier New"/>
                <a:cs typeface="Courier New"/>
                <a:sym typeface="Courier New"/>
              </a:rPr>
              <a:t>{...}</a:t>
            </a:r>
            <a:r>
              <a:rPr sz="2027" b="0" i="0">
                <a:solidFill>
                  <a:srgbClr val="FFFFFF"/>
                </a:solidFill>
                <a:latin typeface="Avenir"/>
                <a:ea typeface="Avenir"/>
                <a:cs typeface="Avenir"/>
                <a:sym typeface="Avenir"/>
              </a:rPr>
              <a:t> is replaced by the value of the variable inside it. Notice </a:t>
            </a:r>
            <a:r>
              <a:rPr sz="1743" b="0" i="0">
                <a:solidFill>
                  <a:srgbClr val="FFFFFF"/>
                </a:solidFill>
                <a:latin typeface="Courier New"/>
                <a:ea typeface="Courier New"/>
                <a:cs typeface="Courier New"/>
                <a:sym typeface="Courier New"/>
              </a:rPr>
              <a:t>mm</a:t>
            </a:r>
            <a:r>
              <a:rPr sz="2027" b="0" i="0">
                <a:solidFill>
                  <a:srgbClr val="FFFFFF"/>
                </a:solidFill>
                <a:latin typeface="Avenir"/>
                <a:ea typeface="Avenir"/>
                <a:cs typeface="Avenir"/>
                <a:sym typeface="Avenir"/>
              </a:rPr>
              <a:t> sits outside the braces — that is literal text, not a variable.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p>
        </p:txBody>
      </p:sp>
      <p:sp>
        <p:nvSpPr>
          <p:cNvPr id="3" name="blk013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Down near the bottom of the file, outside the class. This one finds a camera that actually works:</a:t>
            </a:r>
          </a:p>
        </p:txBody>
      </p:sp>
      <p:sp>
        <p:nvSpPr>
          <p:cNvPr id="4" name="blk0133"/>
          <p:cNvSpPr/>
          <p:nvPr/>
        </p:nvSpPr>
        <p:spPr>
          <a:xfrm>
            <a:off x="687600" y="2160000"/>
            <a:ext cx="8686800" cy="250790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3"/>
          <p:cNvSpPr txBox="1"/>
          <p:nvPr/>
        </p:nvSpPr>
        <p:spPr>
          <a:xfrm>
            <a:off x="910799" y="2322000"/>
            <a:ext cx="8240400" cy="218390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def find_working_camera(max_tests=5):</a:t>
            </a:r>
          </a:p>
          <a:p>
            <a:pPr algn="l">
              <a:lnSpc>
                <a:spcPct val="115000"/>
              </a:lnSpc>
            </a:pPr>
            <a:r>
              <a:rPr sz="1200" b="0" i="0">
                <a:solidFill>
                  <a:srgbClr val="FFFFFF"/>
                </a:solidFill>
                <a:latin typeface="Courier New"/>
                <a:ea typeface="Courier New"/>
                <a:cs typeface="Courier New"/>
                <a:sym typeface="Courier New"/>
              </a:rPr>
              <a:t>    """Scans video indices and returns the first camera that produces frames."""</a:t>
            </a:r>
          </a:p>
          <a:p>
            <a:pPr algn="l">
              <a:lnSpc>
                <a:spcPct val="115000"/>
              </a:lnSpc>
            </a:pPr>
            <a:r>
              <a:rPr sz="1200" b="0" i="0">
                <a:solidFill>
                  <a:srgbClr val="FFFFFF"/>
                </a:solidFill>
                <a:latin typeface="Courier New"/>
                <a:ea typeface="Courier New"/>
                <a:cs typeface="Courier New"/>
                <a:sym typeface="Courier New"/>
              </a:rPr>
              <a:t>    for idx in range(max_tests):</a:t>
            </a:r>
          </a:p>
          <a:p>
            <a:pPr algn="l">
              <a:lnSpc>
                <a:spcPct val="115000"/>
              </a:lnSpc>
            </a:pPr>
            <a:r>
              <a:rPr sz="1200" b="0" i="0">
                <a:solidFill>
                  <a:srgbClr val="FFFFFF"/>
                </a:solidFill>
                <a:latin typeface="Courier New"/>
                <a:ea typeface="Courier New"/>
                <a:cs typeface="Courier New"/>
                <a:sym typeface="Courier New"/>
              </a:rPr>
              <a:t>        cap = cv2.VideoCapture(idx, cv2.CAP_V4L2)</a:t>
            </a:r>
          </a:p>
          <a:p>
            <a:pPr algn="l">
              <a:lnSpc>
                <a:spcPct val="115000"/>
              </a:lnSpc>
            </a:pPr>
            <a:r>
              <a:rPr sz="1200" b="0" i="0">
                <a:solidFill>
                  <a:srgbClr val="FFFFFF"/>
                </a:solidFill>
                <a:latin typeface="Courier New"/>
                <a:ea typeface="Courier New"/>
                <a:cs typeface="Courier New"/>
                <a:sym typeface="Courier New"/>
              </a:rPr>
              <a:t>        if cap.isOpened():</a:t>
            </a:r>
          </a:p>
          <a:p>
            <a:pPr algn="l">
              <a:lnSpc>
                <a:spcPct val="115000"/>
              </a:lnSpc>
            </a:pPr>
            <a:r>
              <a:rPr sz="1200" b="0" i="0">
                <a:solidFill>
                  <a:srgbClr val="FFFFFF"/>
                </a:solidFill>
                <a:latin typeface="Courier New"/>
                <a:ea typeface="Courier New"/>
                <a:cs typeface="Courier New"/>
                <a:sym typeface="Courier New"/>
              </a:rPr>
              <a:t>            ret, frame = cap.read()</a:t>
            </a:r>
          </a:p>
          <a:p>
            <a:pPr algn="l">
              <a:lnSpc>
                <a:spcPct val="115000"/>
              </a:lnSpc>
            </a:pPr>
            <a:r>
              <a:rPr sz="1200" b="0" i="0">
                <a:solidFill>
                  <a:srgbClr val="FFFFFF"/>
                </a:solidFill>
                <a:latin typeface="Courier New"/>
                <a:ea typeface="Courier New"/>
                <a:cs typeface="Courier New"/>
                <a:sym typeface="Courier New"/>
              </a:rPr>
              <a:t>            cap.release()</a:t>
            </a:r>
          </a:p>
          <a:p>
            <a:pPr algn="l">
              <a:lnSpc>
                <a:spcPct val="115000"/>
              </a:lnSpc>
            </a:pPr>
            <a:r>
              <a:rPr sz="1200" b="0" i="0">
                <a:solidFill>
                  <a:srgbClr val="FFFFFF"/>
                </a:solidFill>
                <a:latin typeface="Courier New"/>
                <a:ea typeface="Courier New"/>
                <a:cs typeface="Courier New"/>
                <a:sym typeface="Courier New"/>
              </a:rPr>
              <a:t>            if ret and frame is not None and frame.size &gt; 0:</a:t>
            </a:r>
          </a:p>
          <a:p>
            <a:pPr algn="l">
              <a:lnSpc>
                <a:spcPct val="115000"/>
              </a:lnSpc>
            </a:pPr>
            <a:r>
              <a:rPr sz="1200" b="0" i="0">
                <a:solidFill>
                  <a:srgbClr val="FFFFFF"/>
                </a:solidFill>
                <a:latin typeface="Courier New"/>
                <a:ea typeface="Courier New"/>
                <a:cs typeface="Courier New"/>
                <a:sym typeface="Courier New"/>
              </a:rPr>
              <a:t>                print(f"Found active camera at index {idx}")</a:t>
            </a:r>
          </a:p>
          <a:p>
            <a:pPr algn="l">
              <a:lnSpc>
                <a:spcPct val="115000"/>
              </a:lnSpc>
            </a:pPr>
            <a:r>
              <a:rPr sz="1200" b="0" i="0">
                <a:solidFill>
                  <a:srgbClr val="FFFFFF"/>
                </a:solidFill>
                <a:latin typeface="Courier New"/>
                <a:ea typeface="Courier New"/>
                <a:cs typeface="Courier New"/>
                <a:sym typeface="Courier New"/>
              </a:rPr>
              <a:t>                return idx</a:t>
            </a:r>
          </a:p>
          <a:p>
            <a:pPr algn="l">
              <a:lnSpc>
                <a:spcPct val="115000"/>
              </a:lnSpc>
            </a:pPr>
            <a:r>
              <a:rPr sz="1200" b="0" i="0">
                <a:solidFill>
                  <a:srgbClr val="FFFFFF"/>
                </a:solidFill>
                <a:latin typeface="Courier New"/>
                <a:ea typeface="Courier New"/>
                <a:cs typeface="Courier New"/>
                <a:sym typeface="Courier New"/>
              </a:rPr>
              <a:t>    return None</a:t>
            </a:r>
          </a:p>
        </p:txBody>
      </p:sp>
      <p:sp>
        <p:nvSpPr>
          <p:cNvPr id="6" name="blk0134"/>
          <p:cNvSpPr txBox="1"/>
          <p:nvPr/>
        </p:nvSpPr>
        <p:spPr>
          <a:xfrm>
            <a:off x="687600" y="4896000"/>
            <a:ext cx="7542000" cy="27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Opening a camera successfully does not mean it works. </a:t>
            </a:r>
            <a:r>
              <a:rPr sz="1743" b="0" i="0">
                <a:solidFill>
                  <a:srgbClr val="FFFFFF"/>
                </a:solidFill>
                <a:latin typeface="Courier New"/>
                <a:ea typeface="Courier New"/>
                <a:cs typeface="Courier New"/>
                <a:sym typeface="Courier New"/>
              </a:rPr>
              <a:t>isOpened</a:t>
            </a:r>
            <a:r>
              <a:rPr sz="2027" b="0" i="0">
                <a:solidFill>
                  <a:srgbClr val="FFFFFF"/>
                </a:solidFill>
                <a:latin typeface="Avenir"/>
                <a:ea typeface="Avenir"/>
                <a:cs typeface="Avenir"/>
                <a:sym typeface="Avenir"/>
              </a:rPr>
              <a:t> only reports that the handle was created, so the code goes one step further and tries to read an actual frame from it.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Note the </a:t>
            </a:r>
            <a:r>
              <a:rPr sz="1743" b="0" i="0">
                <a:solidFill>
                  <a:srgbClr val="FFFFFF"/>
                </a:solidFill>
                <a:latin typeface="Courier New"/>
                <a:ea typeface="Courier New"/>
                <a:cs typeface="Courier New"/>
                <a:sym typeface="Courier New"/>
              </a:rPr>
              <a:t>cap.release()</a:t>
            </a:r>
            <a:r>
              <a:rPr sz="2027" b="0" i="0">
                <a:solidFill>
                  <a:srgbClr val="FFFFFF"/>
                </a:solidFill>
                <a:latin typeface="Avenir"/>
                <a:ea typeface="Avenir"/>
                <a:cs typeface="Avenir"/>
                <a:sym typeface="Avenir"/>
              </a:rPr>
              <a:t> before the frame check. Every failed attempt is closed as it is rejected — otherwise a five-camera scan leaves four cameras held open and the good one unable to start.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p>
        </p:txBody>
      </p:sp>
      <p:sp>
        <p:nvSpPr>
          <p:cNvPr id="3" name="blk013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big TODO wraps the whole camera loop. Most of it is already written; three lines are yours.</a:t>
            </a:r>
          </a:p>
        </p:txBody>
      </p:sp>
      <p:sp>
        <p:nvSpPr>
          <p:cNvPr id="4" name="blk0137"/>
          <p:cNvSpPr/>
          <p:nvPr/>
        </p:nvSpPr>
        <p:spPr>
          <a:xfrm>
            <a:off x="687600" y="2232000"/>
            <a:ext cx="8686800" cy="125050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7"/>
          <p:cNvSpPr txBox="1"/>
          <p:nvPr/>
        </p:nvSpPr>
        <p:spPr>
          <a:xfrm>
            <a:off x="910799" y="2394000"/>
            <a:ext cx="8240400" cy="926504"/>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cap_num = find_working_camera()</a:t>
            </a:r>
          </a:p>
          <a:p>
            <a:pPr algn="l">
              <a:lnSpc>
                <a:spcPct val="115000"/>
              </a:lnSpc>
            </a:pPr>
            <a:r>
              <a:rPr sz="1400" b="0" i="0">
                <a:solidFill>
                  <a:srgbClr val="FFFFFF"/>
                </a:solidFill>
                <a:latin typeface="Courier New"/>
                <a:ea typeface="Courier New"/>
                <a:cs typeface="Courier New"/>
                <a:sym typeface="Courier New"/>
              </a:rPr>
              <a:t>if cap_num is None:</a:t>
            </a:r>
          </a:p>
          <a:p>
            <a:pPr algn="l">
              <a:lnSpc>
                <a:spcPct val="115000"/>
              </a:lnSpc>
            </a:pPr>
            <a:r>
              <a:rPr sz="1400" b="0" i="0">
                <a:solidFill>
                  <a:srgbClr val="FFFFFF"/>
                </a:solidFill>
                <a:latin typeface="Courier New"/>
                <a:ea typeface="Courier New"/>
                <a:cs typeface="Courier New"/>
                <a:sym typeface="Courier New"/>
              </a:rPr>
              <a:t>    print("Error: No working camera stream found.")</a:t>
            </a:r>
          </a:p>
          <a:p>
            <a:pPr algn="l">
              <a:lnSpc>
                <a:spcPct val="115000"/>
              </a:lnSpc>
            </a:pPr>
            <a:r>
              <a:rPr sz="1400" b="0" i="0">
                <a:solidFill>
                  <a:srgbClr val="FFFFFF"/>
                </a:solidFill>
                <a:latin typeface="Courier New"/>
                <a:ea typeface="Courier New"/>
                <a:cs typeface="Courier New"/>
                <a:sym typeface="Courier New"/>
              </a:rPr>
              <a:t>    return</a:t>
            </a:r>
          </a:p>
        </p:txBody>
      </p:sp>
      <p:sp>
        <p:nvSpPr>
          <p:cNvPr id="6" name="blk0138"/>
          <p:cNvSpPr/>
          <p:nvPr/>
        </p:nvSpPr>
        <p:spPr>
          <a:xfrm>
            <a:off x="687600" y="3590504"/>
            <a:ext cx="8686800" cy="101887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38"/>
          <p:cNvSpPr txBox="1"/>
          <p:nvPr/>
        </p:nvSpPr>
        <p:spPr>
          <a:xfrm>
            <a:off x="910799" y="3752504"/>
            <a:ext cx="8240400" cy="694878"/>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cap = cv2.VideoCapture(cap_num, cv2.CAP_V4L2)</a:t>
            </a:r>
          </a:p>
          <a:p>
            <a:pPr algn="l">
              <a:lnSpc>
                <a:spcPct val="115000"/>
              </a:lnSpc>
            </a:pPr>
            <a:r>
              <a:rPr sz="1400" b="0" i="0">
                <a:solidFill>
                  <a:srgbClr val="FFFFFF"/>
                </a:solidFill>
                <a:latin typeface="Courier New"/>
                <a:ea typeface="Courier New"/>
                <a:cs typeface="Courier New"/>
                <a:sym typeface="Courier New"/>
              </a:rPr>
              <a:t>cap.set(cv2.CAP_PROP_FRAME_WIDTH, 640)</a:t>
            </a:r>
          </a:p>
          <a:p>
            <a:pPr algn="l">
              <a:lnSpc>
                <a:spcPct val="115000"/>
              </a:lnSpc>
            </a:pPr>
            <a:r>
              <a:rPr sz="1400" b="0" i="0">
                <a:solidFill>
                  <a:srgbClr val="FFFFFF"/>
                </a:solidFill>
                <a:latin typeface="Courier New"/>
                <a:ea typeface="Courier New"/>
                <a:cs typeface="Courier New"/>
                <a:sym typeface="Courier New"/>
              </a:rPr>
              <a:t>cap.set(cv2.CAP_PROP_FRAME_HEIGHT, 480)</a:t>
            </a:r>
          </a:p>
        </p:txBody>
      </p:sp>
      <p:sp>
        <p:nvSpPr>
          <p:cNvPr id="8" name="blk0139"/>
          <p:cNvSpPr txBox="1"/>
          <p:nvPr/>
        </p:nvSpPr>
        <p:spPr>
          <a:xfrm>
            <a:off x="687600" y="4717382"/>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is None</a:t>
            </a:r>
            <a:r>
              <a:rPr sz="2027" b="0" i="0">
                <a:solidFill>
                  <a:srgbClr val="FFFFFF"/>
                </a:solidFill>
                <a:latin typeface="Avenir"/>
                <a:ea typeface="Avenir"/>
                <a:cs typeface="Avenir"/>
                <a:sym typeface="Avenir"/>
              </a:rPr>
              <a:t> test asks whether the scan found anything at all, and </a:t>
            </a:r>
            <a:r>
              <a:rPr sz="1743" b="0" i="0">
                <a:solidFill>
                  <a:srgbClr val="FFFFFF"/>
                </a:solidFill>
                <a:latin typeface="Courier New"/>
                <a:ea typeface="Courier New"/>
                <a:cs typeface="Courier New"/>
                <a:sym typeface="Courier New"/>
              </a:rPr>
              <a:t>return</a:t>
            </a:r>
            <a:r>
              <a:rPr sz="2027" b="0" i="0">
                <a:solidFill>
                  <a:srgbClr val="FFFFFF"/>
                </a:solidFill>
                <a:latin typeface="Avenir"/>
                <a:ea typeface="Avenir"/>
                <a:cs typeface="Avenir"/>
                <a:sym typeface="Avenir"/>
              </a:rPr>
              <a:t> leaves the whole function immediately rather than carrying on with a camera that does not exist.</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Note the wording of the two </a:t>
            </a:r>
            <a:r>
              <a:rPr sz="1743" b="0" i="0">
                <a:solidFill>
                  <a:srgbClr val="FFFFFF"/>
                </a:solidFill>
                <a:latin typeface="Courier New"/>
                <a:ea typeface="Courier New"/>
                <a:cs typeface="Courier New"/>
                <a:sym typeface="Courier New"/>
              </a:rPr>
              <a:t>cap.set</a:t>
            </a:r>
            <a:r>
              <a:rPr sz="2027" b="0" i="0">
                <a:solidFill>
                  <a:srgbClr val="FFFFFF"/>
                </a:solidFill>
                <a:latin typeface="Avenir"/>
                <a:ea typeface="Avenir"/>
                <a:cs typeface="Avenir"/>
                <a:sym typeface="Avenir"/>
              </a:rPr>
              <a:t> lines: you are asking, not telling. Some cameras ignore the request, so print </a:t>
            </a:r>
            <a:r>
              <a:rPr sz="1743" b="0" i="0">
                <a:solidFill>
                  <a:srgbClr val="FFFFFF"/>
                </a:solidFill>
                <a:latin typeface="Courier New"/>
                <a:ea typeface="Courier New"/>
                <a:cs typeface="Courier New"/>
                <a:sym typeface="Courier New"/>
              </a:rPr>
              <a:t>cap.get(cv2.CAP_PROP_FRAME_WIDTH)</a:t>
            </a:r>
            <a:r>
              <a:rPr sz="2027" b="0" i="0">
                <a:solidFill>
                  <a:srgbClr val="FFFFFF"/>
                </a:solidFill>
                <a:latin typeface="Avenir"/>
                <a:ea typeface="Avenir"/>
                <a:cs typeface="Avenir"/>
                <a:sym typeface="Avenir"/>
              </a:rPr>
              <a:t> if the window looks wrong.</a:t>
            </a:r>
          </a:p>
        </p:txBody>
      </p:sp>
      <p:sp>
        <p:nvSpPr>
          <p:cNvPr id="9" name="blk0140"/>
          <p:cNvSpPr txBox="1"/>
          <p:nvPr/>
        </p:nvSpPr>
        <p:spPr>
          <a:xfrm>
            <a:off x="687600" y="6934902"/>
            <a:ext cx="7542000" cy="68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function runs once, and </a:t>
            </a:r>
            <a:r>
              <a:rPr sz="1419" b="0" i="0">
                <a:solidFill>
                  <a:srgbClr val="FFFFFF"/>
                </a:solidFill>
                <a:latin typeface="Courier New"/>
                <a:ea typeface="Courier New"/>
                <a:cs typeface="Courier New"/>
                <a:sym typeface="Courier New"/>
              </a:rPr>
              <a:t>while True</a:t>
            </a:r>
            <a:r>
              <a:rPr sz="1650" b="0" i="0">
                <a:solidFill>
                  <a:srgbClr val="FFFFFF"/>
                </a:solidFill>
                <a:latin typeface="Avenir"/>
                <a:ea typeface="Avenir"/>
                <a:cs typeface="Avenir"/>
                <a:sym typeface="Avenir"/>
              </a:rPr>
              <a:t> below it runs forever. Anything inside the loop happens thirty times a second, so keep it cheap.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a:t>
            </a:r>
          </a:p>
        </p:txBody>
      </p:sp>
      <p:sp>
        <p:nvSpPr>
          <p:cNvPr id="3" name="blk014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Inside the loop, the call that ties the whole class together:</a:t>
            </a:r>
          </a:p>
        </p:txBody>
      </p:sp>
      <p:sp>
        <p:nvSpPr>
          <p:cNvPr id="4" name="blk0143"/>
          <p:cNvSpPr/>
          <p:nvPr/>
        </p:nvSpPr>
        <p:spPr>
          <a:xfrm>
            <a:off x="687600" y="2088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3"/>
          <p:cNvSpPr txBox="1"/>
          <p:nvPr/>
        </p:nvSpPr>
        <p:spPr>
          <a:xfrm>
            <a:off x="910799" y="2250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display_frame, log_info = vision.process_frame(frame)</a:t>
            </a:r>
          </a:p>
        </p:txBody>
      </p:sp>
      <p:sp>
        <p:nvSpPr>
          <p:cNvPr id="6" name="blk0144"/>
          <p:cNvSpPr txBox="1"/>
          <p:nvPr/>
        </p:nvSpPr>
        <p:spPr>
          <a:xfrm>
            <a:off x="687600" y="2951999"/>
            <a:ext cx="7542000" cy="467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return values, unpacked into two names. </a:t>
            </a:r>
            <a:r>
              <a:rPr sz="1743" b="0" i="0">
                <a:solidFill>
                  <a:srgbClr val="FFFFFF"/>
                </a:solidFill>
                <a:latin typeface="Courier New"/>
                <a:ea typeface="Courier New"/>
                <a:cs typeface="Courier New"/>
                <a:sym typeface="Courier New"/>
              </a:rPr>
              <a:t>display_frame</a:t>
            </a:r>
            <a:r>
              <a:rPr sz="2027" b="0" i="0">
                <a:solidFill>
                  <a:srgbClr val="FFFFFF"/>
                </a:solidFill>
                <a:latin typeface="Avenir"/>
                <a:ea typeface="Avenir"/>
                <a:cs typeface="Avenir"/>
                <a:sym typeface="Avenir"/>
              </a:rPr>
              <a:t> is the picture with everything drawn on it; </a:t>
            </a:r>
            <a:r>
              <a:rPr sz="1743" b="0" i="0">
                <a:solidFill>
                  <a:srgbClr val="FFFFFF"/>
                </a:solidFill>
                <a:latin typeface="Courier New"/>
                <a:ea typeface="Courier New"/>
                <a:cs typeface="Courier New"/>
                <a:sym typeface="Courier New"/>
              </a:rPr>
              <a:t>log_info</a:t>
            </a:r>
            <a:r>
              <a:rPr sz="2027" b="0" i="0">
                <a:solidFill>
                  <a:srgbClr val="FFFFFF"/>
                </a:solidFill>
                <a:latin typeface="Avenir"/>
                <a:ea typeface="Avenir"/>
                <a:cs typeface="Avenir"/>
                <a:sym typeface="Avenir"/>
              </a:rPr>
              <a:t> is the line of text for the terminal.</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Both names are worth keeping. The picture is for your eyes and the text is for your log — and the text is far easier to copy into a spreadsheet than anything you could read off a screenshot.</a:t>
            </a:r>
          </a:p>
        </p:txBody>
      </p:sp>
      <p:sp>
        <p:nvSpPr>
          <p:cNvPr id="7" name="blk0145"/>
          <p:cNvSpPr/>
          <p:nvPr/>
        </p:nvSpPr>
        <p:spPr>
          <a:xfrm>
            <a:off x="687600" y="5478434"/>
            <a:ext cx="8686800" cy="77070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45"/>
          <p:cNvSpPr txBox="1"/>
          <p:nvPr/>
        </p:nvSpPr>
        <p:spPr>
          <a:xfrm>
            <a:off x="910799" y="5640434"/>
            <a:ext cx="8240400" cy="446707"/>
          </a:xfrm>
          <a:prstGeom prst="rect">
            <a:avLst/>
          </a:prstGeom>
          <a:noFill/>
        </p:spPr>
        <p:txBody>
          <a:bodyPr wrap="square" anchor="t" lIns="0" rIns="0" tIns="0" bIns="0">
            <a:noAutofit/>
          </a:bodyPr>
          <a:lstStyle/>
          <a:p>
            <a:pPr algn="l">
              <a:lnSpc>
                <a:spcPct val="115000"/>
              </a:lnSpc>
            </a:pPr>
            <a:r>
              <a:rPr sz="1350" b="0" i="0">
                <a:solidFill>
                  <a:srgbClr val="FFFFFF"/>
                </a:solidFill>
                <a:latin typeface="Courier New"/>
                <a:ea typeface="Courier New"/>
                <a:cs typeface="Courier New"/>
                <a:sym typeface="Courier New"/>
              </a:rPr>
              <a:t>if "Searching" not in log_info and "No Frame" not in log_info:</a:t>
            </a:r>
          </a:p>
          <a:p>
            <a:pPr algn="l">
              <a:lnSpc>
                <a:spcPct val="115000"/>
              </a:lnSpc>
            </a:pPr>
            <a:r>
              <a:rPr sz="1350" b="0" i="0">
                <a:solidFill>
                  <a:srgbClr val="FFFFFF"/>
                </a:solidFill>
                <a:latin typeface="Courier New"/>
                <a:ea typeface="Courier New"/>
                <a:cs typeface="Courier New"/>
                <a:sym typeface="Courier New"/>
              </a:rPr>
              <a:t>    print(f"\r[Detected] {log_info}", end="")</a:t>
            </a:r>
          </a:p>
        </p:txBody>
      </p:sp>
      <p:sp>
        <p:nvSpPr>
          <p:cNvPr id="9" name="blk0146"/>
          <p:cNvSpPr txBox="1"/>
          <p:nvPr/>
        </p:nvSpPr>
        <p:spPr>
          <a:xfrm>
            <a:off x="687600" y="6357141"/>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next block is already written, and it is the first thing that reads </a:t>
            </a:r>
            <a:r>
              <a:rPr sz="1419" b="0" i="0">
                <a:solidFill>
                  <a:srgbClr val="FFFFFF"/>
                </a:solidFill>
                <a:latin typeface="Courier New"/>
                <a:ea typeface="Courier New"/>
                <a:cs typeface="Courier New"/>
                <a:sym typeface="Courier New"/>
              </a:rPr>
              <a:t>log_info</a:t>
            </a:r>
            <a:r>
              <a:rPr sz="1650" b="0" i="0">
                <a:solidFill>
                  <a:srgbClr val="FFFFFF"/>
                </a:solidFill>
                <a:latin typeface="Avenir"/>
                <a:ea typeface="Avenir"/>
                <a:cs typeface="Avenir"/>
                <a:sym typeface="Avenir"/>
              </a:rPr>
              <a:t>. It deliberately stays quiet while the program is still searching, so the terminal is not flooded with a new line per frame. The </a:t>
            </a:r>
            <a:r>
              <a:rPr sz="1419" b="0" i="0">
                <a:solidFill>
                  <a:srgbClr val="FFFFFF"/>
                </a:solidFill>
                <a:latin typeface="Courier New"/>
                <a:ea typeface="Courier New"/>
                <a:cs typeface="Courier New"/>
                <a:sym typeface="Courier New"/>
              </a:rPr>
              <a:t>\r</a:t>
            </a:r>
            <a:r>
              <a:rPr sz="1650" b="0" i="0">
                <a:solidFill>
                  <a:srgbClr val="FFFFFF"/>
                </a:solidFill>
                <a:latin typeface="Avenir"/>
                <a:ea typeface="Avenir"/>
                <a:cs typeface="Avenir"/>
                <a:sym typeface="Avenir"/>
              </a:rPr>
              <a:t> and </a:t>
            </a:r>
            <a:r>
              <a:rPr sz="1419" b="0" i="0">
                <a:solidFill>
                  <a:srgbClr val="FFFFFF"/>
                </a:solidFill>
                <a:latin typeface="Courier New"/>
                <a:ea typeface="Courier New"/>
                <a:cs typeface="Courier New"/>
                <a:sym typeface="Courier New"/>
              </a:rPr>
              <a:t>end=""</a:t>
            </a:r>
            <a:r>
              <a:rPr sz="1650" b="0" i="0">
                <a:solidFill>
                  <a:srgbClr val="FFFFFF"/>
                </a:solidFill>
                <a:latin typeface="Avenir"/>
                <a:ea typeface="Avenir"/>
                <a:cs typeface="Avenir"/>
                <a:sym typeface="Avenir"/>
              </a:rPr>
              <a:t> are what turn sixty prints a second into one updating line.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15</a:t>
            </a:r>
          </a:p>
        </p:txBody>
      </p:sp>
      <p:sp>
        <p:nvSpPr>
          <p:cNvPr id="3" name="blk014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TODO. Without it the program runs perfectly and shows you nothing at all:</a:t>
            </a:r>
          </a:p>
        </p:txBody>
      </p:sp>
      <p:sp>
        <p:nvSpPr>
          <p:cNvPr id="4" name="blk0149"/>
          <p:cNvSpPr/>
          <p:nvPr/>
        </p:nvSpPr>
        <p:spPr>
          <a:xfrm>
            <a:off x="687600" y="216000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9"/>
          <p:cNvSpPr txBox="1"/>
          <p:nvPr/>
        </p:nvSpPr>
        <p:spPr>
          <a:xfrm>
            <a:off x="910799" y="232200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if display_frame is not None and display_frame.size &gt; 0:</a:t>
            </a:r>
          </a:p>
          <a:p>
            <a:pPr algn="l">
              <a:lnSpc>
                <a:spcPct val="115000"/>
              </a:lnSpc>
            </a:pPr>
            <a:r>
              <a:rPr sz="1400" b="0" i="0">
                <a:solidFill>
                  <a:srgbClr val="FFFFFF"/>
                </a:solidFill>
                <a:latin typeface="Courier New"/>
                <a:ea typeface="Courier New"/>
                <a:cs typeface="Courier New"/>
                <a:sym typeface="Courier New"/>
              </a:rPr>
              <a:t>    cv2.imshow("ArUco Marker Pose Detection", display_frame)</a:t>
            </a:r>
          </a:p>
        </p:txBody>
      </p:sp>
      <p:sp>
        <p:nvSpPr>
          <p:cNvPr id="6" name="blk0150"/>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window title is the first thing a beginner searches for when the program appears to do nothing, so give it a name that says what is inside.</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The guard above it is not decoration. A camera that has just been unplugged can hand back an empty frame, and </a:t>
            </a:r>
            <a:r>
              <a:rPr sz="1743" b="0" i="0">
                <a:solidFill>
                  <a:srgbClr val="FFFFFF"/>
                </a:solidFill>
                <a:latin typeface="Courier New"/>
                <a:ea typeface="Courier New"/>
                <a:cs typeface="Courier New"/>
                <a:sym typeface="Courier New"/>
              </a:rPr>
              <a:t>imshow</a:t>
            </a:r>
            <a:r>
              <a:rPr sz="2027" b="0" i="0">
                <a:solidFill>
                  <a:srgbClr val="FFFFFF"/>
                </a:solidFill>
                <a:latin typeface="Avenir"/>
                <a:ea typeface="Avenir"/>
                <a:cs typeface="Avenir"/>
                <a:sym typeface="Avenir"/>
              </a:rPr>
              <a:t> on an empty frame throws on some systems.</a:t>
            </a:r>
          </a:p>
        </p:txBody>
      </p:sp>
      <p:sp>
        <p:nvSpPr>
          <p:cNvPr id="7" name="blk0151"/>
          <p:cNvSpPr/>
          <p:nvPr/>
        </p:nvSpPr>
        <p:spPr>
          <a:xfrm>
            <a:off x="687600" y="5601520"/>
            <a:ext cx="8686800" cy="78725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51"/>
          <p:cNvSpPr txBox="1"/>
          <p:nvPr/>
        </p:nvSpPr>
        <p:spPr>
          <a:xfrm>
            <a:off x="910799" y="5763520"/>
            <a:ext cx="8240400" cy="463252"/>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if cv2.waitKey(1) &amp; 0xFF == ord('q'):</a:t>
            </a:r>
          </a:p>
          <a:p>
            <a:pPr algn="l">
              <a:lnSpc>
                <a:spcPct val="115000"/>
              </a:lnSpc>
            </a:pPr>
            <a:r>
              <a:rPr sz="1400" b="0" i="0">
                <a:solidFill>
                  <a:srgbClr val="FFFFFF"/>
                </a:solidFill>
                <a:latin typeface="Courier New"/>
                <a:ea typeface="Courier New"/>
                <a:cs typeface="Courier New"/>
                <a:sym typeface="Courier New"/>
              </a:rPr>
              <a:t>    break</a:t>
            </a:r>
          </a:p>
        </p:txBody>
      </p:sp>
      <p:sp>
        <p:nvSpPr>
          <p:cNvPr id="9" name="blk0152"/>
          <p:cNvSpPr txBox="1"/>
          <p:nvPr/>
        </p:nvSpPr>
        <p:spPr>
          <a:xfrm>
            <a:off x="687600" y="6496772"/>
            <a:ext cx="7542000" cy="864000"/>
          </a:xfrm>
          <a:prstGeom prst="rect">
            <a:avLst/>
          </a:prstGeom>
          <a:noFill/>
        </p:spPr>
        <p:txBody>
          <a:bodyPr wrap="square" anchor="t" lIns="0" rIns="0" tIns="0" bIns="0">
            <a:noAutofit/>
          </a:bodyPr>
          <a:lstStyle/>
          <a:p>
            <a:pPr algn="l">
              <a:lnSpc>
                <a:spcPct val="120000"/>
              </a:lnSpc>
            </a:pPr>
            <a:r>
              <a:rPr sz="1419" b="0" i="0">
                <a:solidFill>
                  <a:srgbClr val="FFFFFF"/>
                </a:solidFill>
                <a:latin typeface="Courier New"/>
                <a:ea typeface="Courier New"/>
                <a:cs typeface="Courier New"/>
                <a:sym typeface="Courier New"/>
              </a:rPr>
              <a:t>waitKey(1)</a:t>
            </a:r>
            <a:r>
              <a:rPr sz="1650" b="0" i="0">
                <a:solidFill>
                  <a:srgbClr val="FFFFFF"/>
                </a:solidFill>
                <a:latin typeface="Avenir"/>
                <a:ea typeface="Avenir"/>
                <a:cs typeface="Avenir"/>
                <a:sym typeface="Avenir"/>
              </a:rPr>
              <a:t> waits one millisecond and returns the key that was pressed. </a:t>
            </a:r>
            <a:r>
              <a:rPr sz="1419" b="0" i="0">
                <a:solidFill>
                  <a:srgbClr val="FFFFFF"/>
                </a:solidFill>
                <a:latin typeface="Courier New"/>
                <a:ea typeface="Courier New"/>
                <a:cs typeface="Courier New"/>
                <a:sym typeface="Courier New"/>
              </a:rPr>
              <a:t>&amp; 0xFF</a:t>
            </a:r>
            <a:r>
              <a:rPr sz="1650" b="0" i="0">
                <a:solidFill>
                  <a:srgbClr val="FFFFFF"/>
                </a:solidFill>
                <a:latin typeface="Avenir"/>
                <a:ea typeface="Avenir"/>
                <a:cs typeface="Avenir"/>
                <a:sym typeface="Avenir"/>
              </a:rPr>
              <a:t> masks off the extra bits some platforms report, and </a:t>
            </a:r>
            <a:r>
              <a:rPr sz="1419" b="0" i="0">
                <a:solidFill>
                  <a:srgbClr val="FFFFFF"/>
                </a:solidFill>
                <a:latin typeface="Courier New"/>
                <a:ea typeface="Courier New"/>
                <a:cs typeface="Courier New"/>
                <a:sym typeface="Courier New"/>
              </a:rPr>
              <a:t>ord('q')</a:t>
            </a:r>
            <a:r>
              <a:rPr sz="1650" b="0" i="0">
                <a:solidFill>
                  <a:srgbClr val="FFFFFF"/>
                </a:solidFill>
                <a:latin typeface="Avenir"/>
                <a:ea typeface="Avenir"/>
                <a:cs typeface="Avenir"/>
                <a:sym typeface="Avenir"/>
              </a:rPr>
              <a:t> turns the letter into the number the comparison needs.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Reading the </a:t>
            </a:r>
            <a:r>
              <a:rPr sz="2827" b="0" i="0">
                <a:solidFill>
                  <a:srgbClr val="FFFFFF"/>
                </a:solidFill>
                <a:latin typeface="Bungee"/>
                <a:ea typeface="Bungee"/>
                <a:cs typeface="Bungee"/>
                <a:sym typeface="Bungee"/>
              </a:rPr>
              <a:t>output</a:t>
            </a:r>
          </a:p>
        </p:txBody>
      </p:sp>
      <p:sp>
        <p:nvSpPr>
          <p:cNvPr id="3" name="blk0154"/>
          <p:cNvSpPr/>
          <p:nvPr/>
        </p:nvSpPr>
        <p:spPr>
          <a:xfrm>
            <a:off x="687600" y="1655999"/>
            <a:ext cx="8686800" cy="53080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154"/>
          <p:cNvSpPr txBox="1"/>
          <p:nvPr/>
        </p:nvSpPr>
        <p:spPr>
          <a:xfrm>
            <a:off x="910799" y="1818000"/>
            <a:ext cx="8240400" cy="206809"/>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status_msg = f"ID: {marker_id} | X: {rel_x}mm | Y: {rel_y}mm | Z: {rel_z}mm"</a:t>
            </a:r>
          </a:p>
        </p:txBody>
      </p:sp>
      <p:sp>
        <p:nvSpPr>
          <p:cNvPr id="5" name="blk0155"/>
          <p:cNvSpPr txBox="1"/>
          <p:nvPr/>
        </p:nvSpPr>
        <p:spPr>
          <a:xfrm>
            <a:off x="687600" y="2664000"/>
            <a:ext cx="7542000" cy="49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line per marker, per frame. Example:</a:t>
            </a:r>
          </a:p>
        </p:txBody>
      </p:sp>
      <p:sp>
        <p:nvSpPr>
          <p:cNvPr id="6" name="blk0156"/>
          <p:cNvSpPr/>
          <p:nvPr/>
        </p:nvSpPr>
        <p:spPr>
          <a:xfrm>
            <a:off x="687600" y="3240000"/>
            <a:ext cx="8686800" cy="55562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56"/>
          <p:cNvSpPr txBox="1"/>
          <p:nvPr/>
        </p:nvSpPr>
        <p:spPr>
          <a:xfrm>
            <a:off x="910799" y="3401999"/>
            <a:ext cx="8240400" cy="231626"/>
          </a:xfrm>
          <a:prstGeom prst="rect">
            <a:avLst/>
          </a:prstGeom>
          <a:noFill/>
        </p:spPr>
        <p:txBody>
          <a:bodyPr wrap="square" anchor="t" lIns="0" rIns="0" tIns="0" bIns="0">
            <a:noAutofit/>
          </a:bodyPr>
          <a:lstStyle/>
          <a:p>
            <a:pPr algn="l">
              <a:lnSpc>
                <a:spcPct val="115000"/>
              </a:lnSpc>
            </a:pPr>
            <a:r>
              <a:rPr sz="1400" b="0" i="0">
                <a:solidFill>
                  <a:srgbClr val="FFFFFF"/>
                </a:solidFill>
                <a:latin typeface="Courier New"/>
                <a:ea typeface="Courier New"/>
                <a:cs typeface="Courier New"/>
                <a:sym typeface="Courier New"/>
              </a:rPr>
              <a:t>ID: 0 | X: -142.5mm | Y: 88.0mm | Z: 415.7mm</a:t>
            </a:r>
          </a:p>
        </p:txBody>
      </p:sp>
      <p:sp>
        <p:nvSpPr>
          <p:cNvPr id="8" name="blk0157"/>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Break it into the four things it tells you. The </a:t>
            </a:r>
            <a:r>
              <a:rPr sz="1743" b="0" i="0">
                <a:solidFill>
                  <a:srgbClr val="FFFFFF"/>
                </a:solidFill>
                <a:latin typeface="Courier New"/>
                <a:ea typeface="Courier New"/>
                <a:cs typeface="Courier New"/>
                <a:sym typeface="Courier New"/>
              </a:rPr>
              <a:t>ID</a:t>
            </a:r>
            <a:r>
              <a:rPr sz="2027" b="0" i="0">
                <a:solidFill>
                  <a:srgbClr val="FFFFFF"/>
                </a:solidFill>
                <a:latin typeface="Avenir"/>
                <a:ea typeface="Avenir"/>
                <a:cs typeface="Avenir"/>
                <a:sym typeface="Avenir"/>
              </a:rPr>
              <a:t> is which physical marker you are looking at. </a:t>
            </a: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Y</a:t>
            </a:r>
            <a:r>
              <a:rPr sz="2027" b="0" i="0">
                <a:solidFill>
                  <a:srgbClr val="FFFFFF"/>
                </a:solidFill>
                <a:latin typeface="Avenir"/>
                <a:ea typeface="Avenir"/>
                <a:cs typeface="Avenir"/>
                <a:sym typeface="Avenir"/>
              </a:rPr>
              <a:t> are sideways offsets from the pump, and </a:t>
            </a:r>
            <a:r>
              <a:rPr sz="1743" b="0" i="0">
                <a:solidFill>
                  <a:srgbClr val="FFFFFF"/>
                </a:solidFill>
                <a:latin typeface="Courier New"/>
                <a:ea typeface="Courier New"/>
                <a:cs typeface="Courier New"/>
                <a:sym typeface="Courier New"/>
              </a:rPr>
              <a:t>Z</a:t>
            </a:r>
            <a:r>
              <a:rPr sz="2027" b="0" i="0">
                <a:solidFill>
                  <a:srgbClr val="FFFFFF"/>
                </a:solidFill>
                <a:latin typeface="Avenir"/>
                <a:ea typeface="Avenir"/>
                <a:cs typeface="Avenir"/>
                <a:sym typeface="Avenir"/>
              </a:rPr>
              <a:t> is how far in front of the pump it is.</a:t>
            </a:r>
          </a:p>
          <a:p>
            <a:pPr algn="l"/>
            <a:r>
              <a:rPr sz="2027" b="0" i="0">
                <a:solidFill>
                  <a:srgbClr val="FFFFFF"/>
                </a:solidFill>
                <a:latin typeface="Avenir"/>
                <a:ea typeface="Avenir"/>
                <a:cs typeface="Avenir"/>
                <a:sym typeface="Avenir"/>
              </a:rPr>
              <a:t/>
            </a:r>
          </a:p>
          <a:p>
            <a:pPr algn="l">
              <a:lnSpc>
                <a:spcPct val="100000"/>
              </a:lnSpc>
            </a:pPr>
            <a:r>
              <a:rPr sz="2027" b="0" i="0">
                <a:solidFill>
                  <a:srgbClr val="FFFFFF"/>
                </a:solidFill>
                <a:latin typeface="Avenir"/>
                <a:ea typeface="Avenir"/>
                <a:cs typeface="Avenir"/>
                <a:sym typeface="Avenir"/>
              </a:rPr>
              <a:t>While the camera sees nothing, the line reads </a:t>
            </a:r>
            <a:r>
              <a:rPr sz="1743" b="0" i="0">
                <a:solidFill>
                  <a:srgbClr val="FFFFFF"/>
                </a:solidFill>
                <a:latin typeface="Courier New"/>
                <a:ea typeface="Courier New"/>
                <a:cs typeface="Courier New"/>
                <a:sym typeface="Courier New"/>
              </a:rPr>
              <a:t>Searching for markers...</a:t>
            </a:r>
            <a:r>
              <a:rPr sz="2027" b="0" i="0">
                <a:solidFill>
                  <a:srgbClr val="FFFFFF"/>
                </a:solidFill>
                <a:latin typeface="Avenir"/>
                <a:ea typeface="Avenir"/>
                <a:cs typeface="Avenir"/>
                <a:sym typeface="Avenir"/>
              </a:rPr>
              <a:t> instead. That is your cue to check lighting, focus and marker condition — not to change any code.</a:t>
            </a:r>
          </a:p>
        </p:txBody>
      </p:sp>
      <p:sp>
        <p:nvSpPr>
          <p:cNvPr id="9" name="blk0158"/>
          <p:cNvSpPr txBox="1"/>
          <p:nvPr/>
        </p:nvSpPr>
        <p:spPr>
          <a:xfrm>
            <a:off x="687600" y="6630435"/>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numbers jitter slightly frame to frame — sensor noise, not a fault. You want a reading that stays roughly steady with your hand off the board, and moves smoothly and predictably when you move a marker.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tune </a:t>
            </a:r>
            <a:r>
              <a:rPr sz="2827" b="0" i="0">
                <a:solidFill>
                  <a:srgbClr val="FFFFFF"/>
                </a:solidFill>
                <a:latin typeface="Bungee"/>
                <a:ea typeface="Bungee"/>
                <a:cs typeface="Bungee"/>
                <a:sym typeface="Bungee"/>
              </a:rPr>
              <a:t>anything</a:t>
            </a:r>
          </a:p>
        </p:txBody>
      </p:sp>
      <p:sp>
        <p:nvSpPr>
          <p:cNvPr id="3" name="blk016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faults account for almost every bad reading. Learn to recognise them from the symptom rather than changing code at random.</a:t>
            </a:r>
          </a:p>
        </p:txBody>
      </p:sp>
      <p:graphicFrame>
        <p:nvGraphicFramePr>
          <p:cNvPr id="4" name="blk0161"/>
          <p:cNvGraphicFramePr>
            <a:graphicFrameLocks noGrp="1"/>
          </p:cNvGraphicFramePr>
          <p:nvPr/>
        </p:nvGraphicFramePr>
        <p:xfrm>
          <a:off x="687600" y="2384744"/>
          <a:ext cx="8640000" cy="2519995"/>
        </p:xfrm>
        <a:graphic>
          <a:graphicData uri="http://schemas.openxmlformats.org/drawingml/2006/table">
            <a:tbl>
              <a:tblPr firstRow="0" bandRow="0"/>
              <a:tblGrid>
                <a:gridCol w="2664000"/>
                <a:gridCol w="3384000"/>
                <a:gridCol w="2592000"/>
              </a:tblGrid>
              <a:tr h="450000">
                <a:tc>
                  <a:txBody>
                    <a:bodyPr wrap="square"/>
                    <a:lstStyle/>
                    <a:p>
                      <a:pPr algn="l">
                        <a:lnSpc>
                          <a:spcPct val="100000"/>
                        </a:lnSpc>
                      </a:pPr>
                      <a:r>
                        <a:rPr sz="1350" b="1" i="0">
                          <a:solidFill>
                            <a:srgbClr val="FFCF08"/>
                          </a:solidFill>
                          <a:latin typeface="Avenir"/>
                          <a:ea typeface="Avenir"/>
                          <a:cs typeface="Avenir"/>
                          <a:sym typeface="Avenir"/>
                        </a:rPr>
                        <a:t>Symptom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Most likely cause</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Check</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Never finds a marker</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Markers too dark, blurred or too small on screen</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Lighting, focus, distance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Finds then loses it repeatedly</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Glare or reflection on the marker</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Matte card, change the angle of the light</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Numbers jump when still</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Marker not flat, or board not rigid</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Re-tape it, flatten the board</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Numbers roughly right, all too large</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marker_size_m too small</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Re-measure the marker edge</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Numbers drift as the arm moves</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Vibration reaching the camera</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Wait for the arm to settle before reading</a:t>
                      </a:r>
                    </a:p>
                  </a:txBody>
                  <a:tcPr marL="72000" marR="72000" marT="36000" marB="36000" anchor="ctr">
                    <a:solidFill>
                      <a:srgbClr val="2E338C"/>
                    </a:solidFill>
                  </a:tcPr>
                </a:tc>
              </a:tr>
            </a:tbl>
          </a:graphicData>
        </a:graphic>
      </p:graphicFrame>
      <p:sp>
        <p:nvSpPr>
          <p:cNvPr id="5" name="blk0162"/>
          <p:cNvSpPr txBox="1"/>
          <p:nvPr/>
        </p:nvSpPr>
        <p:spPr>
          <a:xfrm>
            <a:off x="687600" y="5544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how four of those five are physical problems with the setup rather than faults in the program. Before you change a line of code, ask whether the camera can physically see what it is being asked to see.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5119200" y="824400"/>
            <a:ext cx="4572000" cy="4204800"/>
          </a:xfrm>
          <a:prstGeom prst="rect">
            <a:avLst/>
          </a:prstGeom>
          <a:noFill/>
        </p:spPr>
        <p:txBody>
          <a:bodyPr wrap="square" anchor="t" lIns="0" rIns="0" tIns="0" bIns="0">
            <a:noAutofit/>
          </a:bodyPr>
          <a:lstStyle/>
          <a:p>
            <a:pPr algn="ctr"/>
            <a:r>
              <a:rPr sz="26000" b="0" i="0">
                <a:solidFill>
                  <a:srgbClr val="383E96"/>
                </a:solidFill>
                <a:latin typeface="Bungee"/>
                <a:ea typeface="Bungee"/>
                <a:cs typeface="Bungee"/>
                <a:sym typeface="Bungee"/>
              </a:rPr>
              <a:t>1</a:t>
            </a:r>
          </a:p>
        </p:txBody>
      </p:sp>
      <p:sp>
        <p:nvSpPr>
          <p:cNvPr id="3" name="TextBox 2"/>
          <p:cNvSpPr txBox="1"/>
          <p:nvPr/>
        </p:nvSpPr>
        <p:spPr>
          <a:xfrm>
            <a:off x="687600" y="5688000"/>
            <a:ext cx="8960400" cy="604800"/>
          </a:xfrm>
          <a:prstGeom prst="rect">
            <a:avLst/>
          </a:prstGeom>
          <a:noFill/>
        </p:spPr>
        <p:txBody>
          <a:bodyPr wrap="square" anchor="t" lIns="0" rIns="0" tIns="0" bIns="0">
            <a:noAutofit/>
          </a:bodyPr>
          <a:lstStyle/>
          <a:p>
            <a:pPr algn="l"/>
            <a:r>
              <a:rPr sz="3200" b="0" i="0">
                <a:solidFill>
                  <a:srgbClr val="FFCF08"/>
                </a:solidFill>
                <a:latin typeface="Bungee"/>
                <a:ea typeface="Bungee"/>
                <a:cs typeface="Bungee"/>
                <a:sym typeface="Bungee"/>
              </a:rPr>
              <a:t>EXTENSION 1</a:t>
            </a:r>
          </a:p>
        </p:txBody>
      </p:sp>
      <p:sp>
        <p:nvSpPr>
          <p:cNvPr id="4" name="TextBox 3"/>
          <p:cNvSpPr txBox="1"/>
          <p:nvPr/>
        </p:nvSpPr>
        <p:spPr>
          <a:xfrm>
            <a:off x="687600" y="6328799"/>
            <a:ext cx="8960400" cy="658800"/>
          </a:xfrm>
          <a:prstGeom prst="rect">
            <a:avLst/>
          </a:prstGeom>
          <a:noFill/>
        </p:spPr>
        <p:txBody>
          <a:bodyPr wrap="square" anchor="t" lIns="0" rIns="0" tIns="0" bIns="0">
            <a:noAutofit/>
          </a:bodyPr>
          <a:lstStyle/>
          <a:p>
            <a:pPr algn="l"/>
            <a:r>
              <a:rPr sz="3400" b="0" i="0">
                <a:solidFill>
                  <a:srgbClr val="FFFFFF"/>
                </a:solidFill>
                <a:latin typeface="Bungee"/>
                <a:ea typeface="Bungee"/>
                <a:cs typeface="Bungee"/>
                <a:sym typeface="Bungee"/>
              </a:rPr>
              <a:t>MAKE THE ARM AIM AT THE MARKER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3"/>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THE </a:t>
            </a:r>
            <a:r>
              <a:rPr sz="2400" b="0" i="0">
                <a:solidFill>
                  <a:srgbClr val="FFFFFF"/>
                </a:solidFill>
                <a:latin typeface="Bungee"/>
                <a:ea typeface="Bungee"/>
                <a:cs typeface="Bungee"/>
                <a:sym typeface="Bungee"/>
              </a:rPr>
              <a:t>BRIEF</a:t>
            </a:r>
          </a:p>
        </p:txBody>
      </p:sp>
      <p:sp>
        <p:nvSpPr>
          <p:cNvPr id="3" name="blk0164"/>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You have a program that measures a marker and prints where it is. A robot needs to do something with that number.</a:t>
            </a:r>
          </a:p>
        </p:txBody>
      </p:sp>
      <p:sp>
        <p:nvSpPr>
          <p:cNvPr id="4" name="blk0165"/>
          <p:cNvSpPr txBox="1"/>
          <p:nvPr/>
        </p:nvSpPr>
        <p:spPr>
          <a:xfrm>
            <a:off x="687600" y="23760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Close the loop. Read the marker position, convert it into joint angles, and let the arm move towards it — then find out how accurate your measurement actually was.</a:t>
            </a:r>
          </a:p>
        </p:txBody>
      </p:sp>
      <p:sp>
        <p:nvSpPr>
          <p:cNvPr id="5" name="blk0166"/>
          <p:cNvSpPr/>
          <p:nvPr/>
        </p:nvSpPr>
        <p:spPr>
          <a:xfrm>
            <a:off x="687600" y="378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66"/>
          <p:cNvSpPr/>
          <p:nvPr/>
        </p:nvSpPr>
        <p:spPr>
          <a:xfrm>
            <a:off x="885600" y="423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66"/>
          <p:cNvSpPr txBox="1"/>
          <p:nvPr/>
        </p:nvSpPr>
        <p:spPr>
          <a:xfrm>
            <a:off x="1162800" y="3924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Accuracy is the whole point. You are about to find out how far a 30mm ruler measurement and a real camera agree, and the answer is more interesting than you expect.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7"/>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YOUR MISSION: </a:t>
            </a:r>
            <a:r>
              <a:rPr sz="2400" b="0" i="0">
                <a:solidFill>
                  <a:srgbClr val="FFFFFF"/>
                </a:solidFill>
                <a:latin typeface="Bungee"/>
                <a:ea typeface="Bungee"/>
                <a:cs typeface="Bungee"/>
                <a:sym typeface="Bungee"/>
              </a:rPr>
              <a:t>AIM AT THE MARKER</a:t>
            </a:r>
          </a:p>
        </p:txBody>
      </p:sp>
      <p:sp>
        <p:nvSpPr>
          <p:cNvPr id="3" name="blk0168"/>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Turn a printed number into a movement, then measure how wrong you were.</a:t>
            </a:r>
          </a:p>
        </p:txBody>
      </p:sp>
      <p:sp>
        <p:nvSpPr>
          <p:cNvPr id="4" name="blk0169"/>
          <p:cNvSpPr/>
          <p:nvPr/>
        </p:nvSpPr>
        <p:spPr>
          <a:xfrm>
            <a:off x="687600" y="1908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9"/>
          <p:cNvSpPr txBox="1"/>
          <p:nvPr/>
        </p:nvSpPr>
        <p:spPr>
          <a:xfrm>
            <a:off x="687600" y="1908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169"/>
          <p:cNvSpPr txBox="1"/>
          <p:nvPr/>
        </p:nvSpPr>
        <p:spPr>
          <a:xfrm>
            <a:off x="1252800" y="1886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Move the arm to the marker</a:t>
            </a:r>
          </a:p>
        </p:txBody>
      </p:sp>
      <p:sp>
        <p:nvSpPr>
          <p:cNvPr id="7" name="blk0169"/>
          <p:cNvSpPr txBox="1"/>
          <p:nvPr/>
        </p:nvSpPr>
        <p:spPr>
          <a:xfrm>
            <a:off x="1252800" y="2206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Use the X, Y and Z you already print to build a set of joint angles and send the arm there. Start with a small movement — this arm is real hardware and the marker size on screen is not the marker size in the room.</a:t>
            </a:r>
          </a:p>
        </p:txBody>
      </p:sp>
      <p:sp>
        <p:nvSpPr>
          <p:cNvPr id="8" name="blk0170"/>
          <p:cNvSpPr/>
          <p:nvPr/>
        </p:nvSpPr>
        <p:spPr>
          <a:xfrm>
            <a:off x="687600" y="31593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70"/>
          <p:cNvSpPr txBox="1"/>
          <p:nvPr/>
        </p:nvSpPr>
        <p:spPr>
          <a:xfrm>
            <a:off x="687600" y="31593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170"/>
          <p:cNvSpPr txBox="1"/>
          <p:nvPr/>
        </p:nvSpPr>
        <p:spPr>
          <a:xfrm>
            <a:off x="1252800" y="31377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Prove the reading is repeatable</a:t>
            </a:r>
          </a:p>
        </p:txBody>
      </p:sp>
      <p:sp>
        <p:nvSpPr>
          <p:cNvPr id="11" name="blk0170"/>
          <p:cNvSpPr txBox="1"/>
          <p:nvPr/>
        </p:nvSpPr>
        <p:spPr>
          <a:xfrm>
            <a:off x="1252800" y="345816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Twenty readings from a marker that has not moved. Record the spread. Then move the marker a known 100mm and check that Z changes by 100. If it does not, your error is in the calibration, not in the maths.</a:t>
            </a:r>
          </a:p>
        </p:txBody>
      </p:sp>
      <p:sp>
        <p:nvSpPr>
          <p:cNvPr id="12" name="blk0171"/>
          <p:cNvSpPr/>
          <p:nvPr/>
        </p:nvSpPr>
        <p:spPr>
          <a:xfrm>
            <a:off x="687600" y="4410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71"/>
          <p:cNvSpPr txBox="1"/>
          <p:nvPr/>
        </p:nvSpPr>
        <p:spPr>
          <a:xfrm>
            <a:off x="687600" y="4410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171"/>
          <p:cNvSpPr txBox="1"/>
          <p:nvPr/>
        </p:nvSpPr>
        <p:spPr>
          <a:xfrm>
            <a:off x="1252800" y="4389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Change the rule</a:t>
            </a:r>
          </a:p>
        </p:txBody>
      </p:sp>
      <p:sp>
        <p:nvSpPr>
          <p:cNvPr id="15" name="blk0171"/>
          <p:cNvSpPr txBox="1"/>
          <p:nvPr/>
        </p:nvSpPr>
        <p:spPr>
          <a:xfrm>
            <a:off x="1252800" y="470952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One marker is easy. Try a two-marker board and aim at whichever you moved, or use distance to trigger a pick when a shape sits in place.</a:t>
            </a:r>
          </a:p>
        </p:txBody>
      </p:sp>
      <p:sp>
        <p:nvSpPr>
          <p:cNvPr id="16" name="blk0172"/>
          <p:cNvSpPr/>
          <p:nvPr/>
        </p:nvSpPr>
        <p:spPr>
          <a:xfrm>
            <a:off x="687600" y="53877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172"/>
          <p:cNvSpPr txBox="1"/>
          <p:nvPr/>
        </p:nvSpPr>
        <p:spPr>
          <a:xfrm>
            <a:off x="687600" y="53877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172"/>
          <p:cNvSpPr txBox="1"/>
          <p:nvPr/>
        </p:nvSpPr>
        <p:spPr>
          <a:xfrm>
            <a:off x="1252800" y="53661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Hand it over</a:t>
            </a:r>
          </a:p>
        </p:txBody>
      </p:sp>
      <p:sp>
        <p:nvSpPr>
          <p:cNvPr id="19" name="blk0172"/>
          <p:cNvSpPr txBox="1"/>
          <p:nvPr/>
        </p:nvSpPr>
        <p:spPr>
          <a:xfrm>
            <a:off x="1252800" y="568656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Write the handover page: your marker size, your measured accuracy, what you would recalibrate, and one safety limit for the next person.</a:t>
            </a:r>
          </a:p>
        </p:txBody>
      </p:sp>
      <p:sp>
        <p:nvSpPr>
          <p:cNvPr id="20" name="blk0173"/>
          <p:cNvSpPr/>
          <p:nvPr/>
        </p:nvSpPr>
        <p:spPr>
          <a:xfrm>
            <a:off x="687600" y="6343200"/>
            <a:ext cx="8686800" cy="8784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173"/>
          <p:cNvSpPr/>
          <p:nvPr/>
        </p:nvSpPr>
        <p:spPr>
          <a:xfrm>
            <a:off x="885600" y="671400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lk0173"/>
          <p:cNvSpPr txBox="1"/>
          <p:nvPr/>
        </p:nvSpPr>
        <p:spPr>
          <a:xfrm>
            <a:off x="1162800" y="6487199"/>
            <a:ext cx="7956000" cy="5904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Implement aiming by changing arithmetic, not by re-teaching the arm a new pose each time. A table of recorded angles solves the wrong problem.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4"/>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YOUR </a:t>
            </a:r>
            <a:r>
              <a:rPr sz="2400" b="0" i="0">
                <a:solidFill>
                  <a:srgbClr val="FFFFFF"/>
                </a:solidFill>
                <a:latin typeface="Bungee"/>
                <a:ea typeface="Bungee"/>
                <a:cs typeface="Bungee"/>
                <a:sym typeface="Bungee"/>
              </a:rPr>
              <a:t>DATA LOG</a:t>
            </a:r>
          </a:p>
        </p:txBody>
      </p:sp>
      <p:sp>
        <p:nvSpPr>
          <p:cNvPr id="3" name="blk0175"/>
          <p:cNvSpPr txBox="1"/>
          <p:nvPr/>
        </p:nvSpPr>
        <p:spPr>
          <a:xfrm>
            <a:off x="687600" y="1335600"/>
            <a:ext cx="8686800" cy="50400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Write down what you measured before you tune anything. Every number in this project depends on one ruler measurement.</a:t>
            </a:r>
          </a:p>
        </p:txBody>
      </p:sp>
      <p:graphicFrame>
        <p:nvGraphicFramePr>
          <p:cNvPr id="4" name="blk0176"/>
          <p:cNvGraphicFramePr>
            <a:graphicFrameLocks noGrp="1"/>
          </p:cNvGraphicFramePr>
          <p:nvPr/>
        </p:nvGraphicFramePr>
        <p:xfrm>
          <a:off x="687600" y="2075755"/>
          <a:ext cx="7920000" cy="2105996"/>
        </p:xfrm>
        <a:graphic>
          <a:graphicData uri="http://schemas.openxmlformats.org/drawingml/2006/table">
            <a:tbl>
              <a:tblPr firstRow="0" bandRow="0"/>
              <a:tblGrid>
                <a:gridCol w="1944000"/>
                <a:gridCol w="1224000"/>
                <a:gridCol w="1224000"/>
                <a:gridCol w="1224000"/>
                <a:gridCol w="2304000"/>
              </a:tblGrid>
              <a:tr h="450000">
                <a:tc>
                  <a:txBody>
                    <a:bodyPr wrap="square"/>
                    <a:lstStyle/>
                    <a:p>
                      <a:pPr algn="l">
                        <a:lnSpc>
                          <a:spcPct val="100000"/>
                        </a:lnSpc>
                      </a:pPr>
                      <a:r>
                        <a:rPr sz="1350" b="1" i="0">
                          <a:solidFill>
                            <a:srgbClr val="FFCF08"/>
                          </a:solidFill>
                          <a:latin typeface="Avenir"/>
                          <a:ea typeface="Avenir"/>
                          <a:cs typeface="Avenir"/>
                          <a:sym typeface="Avenir"/>
                        </a:rPr>
                        <a:t>Marker ID</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X (mm)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Y (mm)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Z (mm)</a:t>
                      </a:r>
                    </a:p>
                  </a:txBody>
                  <a:tcPr marL="72000" marR="72000" marT="36000" marB="36000" anchor="ctr">
                    <a:solidFill>
                      <a:srgbClr val="3B41A0"/>
                    </a:solidFill>
                  </a:tcPr>
                </a:tc>
                <a:tc>
                  <a:txBody>
                    <a:bodyPr wrap="square"/>
                    <a:lstStyle/>
                    <a:p>
                      <a:pPr algn="ctr">
                        <a:lnSpc>
                          <a:spcPct val="100000"/>
                        </a:lnSpc>
                      </a:pPr>
                      <a:r>
                        <a:rPr sz="1350" b="1" i="0">
                          <a:solidFill>
                            <a:srgbClr val="FFCF08"/>
                          </a:solidFill>
                          <a:latin typeface="Avenir"/>
                          <a:ea typeface="Avenir"/>
                          <a:cs typeface="Avenir"/>
                          <a:sym typeface="Avenir"/>
                        </a:rPr>
                        <a:t>My values</a:t>
                      </a:r>
                    </a:p>
                  </a:txBody>
                  <a:tcPr marL="72000" marR="72000" marT="36000" marB="36000" anchor="ctr">
                    <a:solidFill>
                      <a:srgbClr val="3B41A0"/>
                    </a:solidFill>
                  </a:tcPr>
                </a:tc>
              </a:tr>
              <a:tr h="413999">
                <a:tc>
                  <a:txBody>
                    <a:bodyPr wrap="square"/>
                    <a:lstStyle/>
                    <a:p>
                      <a:pPr algn="l">
                        <a:lnSpc>
                          <a:spcPct val="100000"/>
                        </a:lnSpc>
                      </a:pPr>
                      <a:r>
                        <a:rPr sz="1350" b="0" i="0">
                          <a:solidFill>
                            <a:srgbClr val="FFFFFF"/>
                          </a:solidFill>
                          <a:latin typeface="Avenir"/>
                          <a:ea typeface="Avenir"/>
                          <a:cs typeface="Avenir"/>
                          <a:sym typeface="Avenir"/>
                        </a:rPr>
                        <a:t>0, marker still</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0, moved 100mm</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1, marker still</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r h="413999">
                <a:tc>
                  <a:txBody>
                    <a:bodyPr wrap="square"/>
                    <a:lstStyle/>
                    <a:p>
                      <a:pPr algn="l">
                        <a:lnSpc>
                          <a:spcPct val="100000"/>
                        </a:lnSpc>
                      </a:pPr>
                      <a:r>
                        <a:rPr sz="1350" b="0" i="0">
                          <a:solidFill>
                            <a:srgbClr val="FFFFFF"/>
                          </a:solidFill>
                          <a:latin typeface="Avenir"/>
                          <a:ea typeface="Avenir"/>
                          <a:cs typeface="Avenir"/>
                          <a:sym typeface="Avenir"/>
                        </a:rPr>
                        <a:t>1, moved 100mm</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c>
                  <a:txBody>
                    <a:bodyPr wrap="square"/>
                    <a:lstStyle/>
                    <a:p>
                      <a:pPr algn="ctr">
                        <a:lnSpc>
                          <a:spcPct val="100000"/>
                        </a:lnSpc>
                      </a:pPr>
                      <a:r>
                        <a:rPr sz="1350" b="0" i="0">
                          <a:solidFill>
                            <a:srgbClr val="FFFFFF"/>
                          </a:solidFill>
                          <a:latin typeface="Avenir"/>
                          <a:ea typeface="Avenir"/>
                          <a:cs typeface="Avenir"/>
                          <a:sym typeface="Avenir"/>
                        </a:rPr>
                        <a:t/>
                      </a:r>
                    </a:p>
                  </a:txBody>
                  <a:tcPr marL="72000" marR="72000" marT="36000" marB="36000" anchor="ctr">
                    <a:solidFill>
                      <a:srgbClr val="2E338C"/>
                    </a:solidFill>
                  </a:tcPr>
                </a:tc>
              </a:tr>
            </a:tbl>
          </a:graphicData>
        </a:graphic>
      </p:graphicFrame>
      <p:sp>
        <p:nvSpPr>
          <p:cNvPr id="5" name="blk0177"/>
          <p:cNvSpPr txBox="1"/>
          <p:nvPr/>
        </p:nvSpPr>
        <p:spPr>
          <a:xfrm>
            <a:off x="687600" y="4428000"/>
            <a:ext cx="8686800" cy="3200400"/>
          </a:xfrm>
          <a:prstGeom prst="rect">
            <a:avLst/>
          </a:prstGeom>
          <a:noFill/>
        </p:spPr>
        <p:txBody>
          <a:bodyPr wrap="square" anchor="t" lIns="0" rIns="0" tIns="0" bIns="0">
            <a:noAutofit/>
          </a:bodyPr>
          <a:lstStyle/>
          <a:p>
            <a:pPr algn="l">
              <a:lnSpc>
                <a:spcPct val="122000"/>
              </a:lnSpc>
            </a:pPr>
            <a:r>
              <a:rPr sz="1700" b="0" i="0">
                <a:solidFill>
                  <a:srgbClr val="FFFFFF"/>
                </a:solidFill>
                <a:latin typeface="Avenir"/>
                <a:ea typeface="Avenir"/>
                <a:cs typeface="Avenir"/>
                <a:sym typeface="Avenir"/>
              </a:rPr>
              <a:t>Then write your aiming rule as a set of conditions before you code it:</a:t>
            </a:r>
          </a:p>
        </p:txBody>
      </p:sp>
      <p:sp>
        <p:nvSpPr>
          <p:cNvPr id="6" name="blk0178"/>
          <p:cNvSpPr/>
          <p:nvPr/>
        </p:nvSpPr>
        <p:spPr>
          <a:xfrm>
            <a:off x="687600" y="4968000"/>
            <a:ext cx="8686800" cy="106851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78"/>
          <p:cNvSpPr txBox="1"/>
          <p:nvPr/>
        </p:nvSpPr>
        <p:spPr>
          <a:xfrm>
            <a:off x="910799" y="5130000"/>
            <a:ext cx="8240400" cy="744512"/>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IF Z is  ______________   THEN move to  ______________</a:t>
            </a:r>
          </a:p>
          <a:p>
            <a:pPr algn="l">
              <a:lnSpc>
                <a:spcPct val="115000"/>
              </a:lnSpc>
            </a:pPr>
            <a:r>
              <a:rPr sz="1500" b="0" i="0">
                <a:solidFill>
                  <a:srgbClr val="FFFFFF"/>
                </a:solidFill>
                <a:latin typeface="Courier New"/>
                <a:ea typeface="Courier New"/>
                <a:cs typeface="Courier New"/>
                <a:sym typeface="Courier New"/>
              </a:rPr>
              <a:t>IF Z is  ______________   THEN move to  ______________</a:t>
            </a:r>
          </a:p>
          <a:p>
            <a:pPr algn="l">
              <a:lnSpc>
                <a:spcPct val="115000"/>
              </a:lnSpc>
            </a:pPr>
            <a:r>
              <a:rPr sz="1500" b="0" i="0">
                <a:solidFill>
                  <a:srgbClr val="FFFFFF"/>
                </a:solidFill>
                <a:latin typeface="Courier New"/>
                <a:ea typeface="Courier New"/>
                <a:cs typeface="Courier New"/>
                <a:sym typeface="Courier New"/>
              </a:rPr>
              <a:t>OTHERWISE                     ______________</a:t>
            </a:r>
          </a:p>
        </p:txBody>
      </p:sp>
      <p:sp>
        <p:nvSpPr>
          <p:cNvPr id="8" name="blk0179"/>
          <p:cNvSpPr/>
          <p:nvPr/>
        </p:nvSpPr>
        <p:spPr>
          <a:xfrm>
            <a:off x="687600" y="6144512"/>
            <a:ext cx="8686800" cy="79200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79"/>
          <p:cNvSpPr/>
          <p:nvPr/>
        </p:nvSpPr>
        <p:spPr>
          <a:xfrm>
            <a:off x="885600" y="6472112"/>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79"/>
          <p:cNvSpPr txBox="1"/>
          <p:nvPr/>
        </p:nvSpPr>
        <p:spPr>
          <a:xfrm>
            <a:off x="1162800" y="6288512"/>
            <a:ext cx="7956000" cy="50400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A rule you cannot say out loud is a rule you have not decided yet.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0"/>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DEFINITION OF </a:t>
            </a:r>
            <a:r>
              <a:rPr sz="2400" b="0" i="0">
                <a:solidFill>
                  <a:srgbClr val="FFFFFF"/>
                </a:solidFill>
                <a:latin typeface="Bungee"/>
                <a:ea typeface="Bungee"/>
                <a:cs typeface="Bungee"/>
                <a:sym typeface="Bungee"/>
              </a:rPr>
              <a:t>DONE</a:t>
            </a:r>
          </a:p>
        </p:txBody>
      </p:sp>
      <p:sp>
        <p:nvSpPr>
          <p:cNvPr id="3" name="blk0181"/>
          <p:cNvSpPr/>
          <p:nvPr/>
        </p:nvSpPr>
        <p:spPr>
          <a:xfrm>
            <a:off x="705600" y="15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181"/>
          <p:cNvSpPr txBox="1"/>
          <p:nvPr/>
        </p:nvSpPr>
        <p:spPr>
          <a:xfrm>
            <a:off x="1252800" y="15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Both markers detected, outlined and numbered, from three different positions on the board</a:t>
            </a:r>
          </a:p>
        </p:txBody>
      </p:sp>
      <p:sp>
        <p:nvSpPr>
          <p:cNvPr id="5" name="blk0182"/>
          <p:cNvSpPr/>
          <p:nvPr/>
        </p:nvSpPr>
        <p:spPr>
          <a:xfrm>
            <a:off x="705600" y="24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82"/>
          <p:cNvSpPr txBox="1"/>
          <p:nvPr/>
        </p:nvSpPr>
        <p:spPr>
          <a:xfrm>
            <a:off x="1252800" y="24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Axis tripod and coordinate text drawn on every detected marker</a:t>
            </a:r>
          </a:p>
        </p:txBody>
      </p:sp>
      <p:sp>
        <p:nvSpPr>
          <p:cNvPr id="7" name="blk0183"/>
          <p:cNvSpPr/>
          <p:nvPr/>
        </p:nvSpPr>
        <p:spPr>
          <a:xfrm>
            <a:off x="705600" y="33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83"/>
          <p:cNvSpPr txBox="1"/>
          <p:nvPr/>
        </p:nvSpPr>
        <p:spPr>
          <a:xfrm>
            <a:off x="1252800" y="33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Your measured marker size recorded in millimetres, with the ruler reading it came from</a:t>
            </a:r>
          </a:p>
        </p:txBody>
      </p:sp>
      <p:sp>
        <p:nvSpPr>
          <p:cNvPr id="9" name="blk0184"/>
          <p:cNvSpPr/>
          <p:nvPr/>
        </p:nvSpPr>
        <p:spPr>
          <a:xfrm>
            <a:off x="705600" y="42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84"/>
          <p:cNvSpPr txBox="1"/>
          <p:nvPr/>
        </p:nvSpPr>
        <p:spPr>
          <a:xfrm>
            <a:off x="1252800" y="42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Twenty repeat readings logged, and the spread written down</a:t>
            </a:r>
          </a:p>
        </p:txBody>
      </p:sp>
      <p:sp>
        <p:nvSpPr>
          <p:cNvPr id="11" name="blk0185"/>
          <p:cNvSpPr/>
          <p:nvPr/>
        </p:nvSpPr>
        <p:spPr>
          <a:xfrm>
            <a:off x="705600" y="5184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185"/>
          <p:cNvSpPr txBox="1"/>
          <p:nvPr/>
        </p:nvSpPr>
        <p:spPr>
          <a:xfrm>
            <a:off x="1252800" y="5162400"/>
            <a:ext cx="8118000" cy="792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Arm moved to a marker position, and the achieved accuracy compared against the reading you aimed with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6"/>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GO </a:t>
            </a:r>
            <a:r>
              <a:rPr sz="2400" b="0" i="0">
                <a:solidFill>
                  <a:srgbClr val="FFFFFF"/>
                </a:solidFill>
                <a:latin typeface="Bungee"/>
                <a:ea typeface="Bungee"/>
                <a:cs typeface="Bungee"/>
                <a:sym typeface="Bungee"/>
              </a:rPr>
              <a:t>FURTHER</a:t>
            </a:r>
          </a:p>
        </p:txBody>
      </p:sp>
      <p:sp>
        <p:nvSpPr>
          <p:cNvPr id="3" name="blk0187"/>
          <p:cNvSpPr/>
          <p:nvPr/>
        </p:nvSpPr>
        <p:spPr>
          <a:xfrm>
            <a:off x="741600" y="168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blk0187"/>
          <p:cNvSpPr txBox="1"/>
          <p:nvPr/>
        </p:nvSpPr>
        <p:spPr>
          <a:xfrm>
            <a:off x="1252800" y="1655999"/>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Average several frames. </a:t>
            </a:r>
            <a:r>
              <a:rPr sz="1600" b="0" i="0">
                <a:solidFill>
                  <a:srgbClr val="FFFFFF"/>
                </a:solidFill>
                <a:latin typeface="Avenir"/>
                <a:ea typeface="Avenir"/>
                <a:cs typeface="Avenir"/>
                <a:sym typeface="Avenir"/>
              </a:rPr>
              <a:t>Pose estimates jitter by a millimetre or two. Averaging a handful of readings gives a steadier number for free, and it teaches you that some noise can be filtered rather than fixed.</a:t>
            </a:r>
          </a:p>
        </p:txBody>
      </p:sp>
      <p:sp>
        <p:nvSpPr>
          <p:cNvPr id="5" name="blk0188"/>
          <p:cNvSpPr/>
          <p:nvPr/>
        </p:nvSpPr>
        <p:spPr>
          <a:xfrm>
            <a:off x="741600" y="283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188"/>
          <p:cNvSpPr txBox="1"/>
          <p:nvPr/>
        </p:nvSpPr>
        <p:spPr>
          <a:xfrm>
            <a:off x="1252800" y="2808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Build a board from several markers. </a:t>
            </a:r>
            <a:r>
              <a:rPr sz="1600" b="0" i="0">
                <a:solidFill>
                  <a:srgbClr val="FFFFFF"/>
                </a:solidFill>
                <a:latin typeface="Avenir"/>
                <a:ea typeface="Avenir"/>
                <a:cs typeface="Avenir"/>
                <a:sym typeface="Avenir"/>
              </a:rPr>
              <a:t>Four markers in a fixed arrangement let you compute where the camera is relative to the whole board, not just to one corner of it.</a:t>
            </a:r>
          </a:p>
        </p:txBody>
      </p:sp>
      <p:sp>
        <p:nvSpPr>
          <p:cNvPr id="7" name="blk0189"/>
          <p:cNvSpPr/>
          <p:nvPr/>
        </p:nvSpPr>
        <p:spPr>
          <a:xfrm>
            <a:off x="741600" y="398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89"/>
          <p:cNvSpPr txBox="1"/>
          <p:nvPr/>
        </p:nvSpPr>
        <p:spPr>
          <a:xfrm>
            <a:off x="1252800" y="3960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Make the program refuse to guess. </a:t>
            </a:r>
            <a:r>
              <a:rPr sz="1600" b="0" i="0">
                <a:solidFill>
                  <a:srgbClr val="FFFFFF"/>
                </a:solidFill>
                <a:latin typeface="Avenir"/>
                <a:ea typeface="Avenir"/>
                <a:cs typeface="Avenir"/>
                <a:sym typeface="Avenir"/>
              </a:rPr>
              <a:t>If consecutive readings jump more than a few millimetres, treat that as a lost marker rather than a moved one, and keep the last position instead of chasing the noise.</a:t>
            </a:r>
          </a:p>
        </p:txBody>
      </p:sp>
      <p:sp>
        <p:nvSpPr>
          <p:cNvPr id="9" name="blk0190"/>
          <p:cNvSpPr/>
          <p:nvPr/>
        </p:nvSpPr>
        <p:spPr>
          <a:xfrm>
            <a:off x="741600" y="514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190"/>
          <p:cNvSpPr txBox="1"/>
          <p:nvPr/>
        </p:nvSpPr>
        <p:spPr>
          <a:xfrm>
            <a:off x="1252800" y="5112000"/>
            <a:ext cx="8118000" cy="1044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Log every reading to a file with a timestamp. </a:t>
            </a:r>
            <a:r>
              <a:rPr sz="1600" b="0" i="0">
                <a:solidFill>
                  <a:srgbClr val="FFFFFF"/>
                </a:solidFill>
                <a:latin typeface="Avenir"/>
                <a:ea typeface="Avenir"/>
                <a:cs typeface="Avenir"/>
                <a:sym typeface="Avenir"/>
              </a:rPr>
              <a:t>Run it for an hour and you will see exactly how much the numbers drift as the arm warms up.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1"/>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MISSION </a:t>
            </a:r>
            <a:r>
              <a:rPr sz="2400" b="0" i="0">
                <a:solidFill>
                  <a:srgbClr val="FFFFFF"/>
                </a:solidFill>
                <a:latin typeface="Bungee"/>
                <a:ea typeface="Bungee"/>
                <a:cs typeface="Bungee"/>
                <a:sym typeface="Bungee"/>
              </a:rPr>
              <a:t>DEBRIEF</a:t>
            </a:r>
          </a:p>
        </p:txBody>
      </p:sp>
      <p:sp>
        <p:nvSpPr>
          <p:cNvPr id="3" name="blk0192"/>
          <p:cNvSpPr txBox="1"/>
          <p:nvPr/>
        </p:nvSpPr>
        <p:spPr>
          <a:xfrm>
            <a:off x="687600" y="1655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1.</a:t>
            </a:r>
          </a:p>
        </p:txBody>
      </p:sp>
      <p:sp>
        <p:nvSpPr>
          <p:cNvPr id="4" name="blk0192"/>
          <p:cNvSpPr txBox="1"/>
          <p:nvPr/>
        </p:nvSpPr>
        <p:spPr>
          <a:xfrm>
            <a:off x="1252800" y="1655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program stores distance in metres and prints it in millimetres. Why keep both?</a:t>
            </a:r>
          </a:p>
        </p:txBody>
      </p:sp>
      <p:sp>
        <p:nvSpPr>
          <p:cNvPr id="5" name="blk0193"/>
          <p:cNvSpPr txBox="1"/>
          <p:nvPr/>
        </p:nvSpPr>
        <p:spPr>
          <a:xfrm>
            <a:off x="687600" y="2844000"/>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2.</a:t>
            </a:r>
          </a:p>
        </p:txBody>
      </p:sp>
      <p:sp>
        <p:nvSpPr>
          <p:cNvPr id="6" name="blk0193"/>
          <p:cNvSpPr txBox="1"/>
          <p:nvPr/>
        </p:nvSpPr>
        <p:spPr>
          <a:xfrm>
            <a:off x="1252800" y="2844000"/>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pump offsets are crossed over in the code. What would you check before deciding that was a bug and correcting it?</a:t>
            </a:r>
          </a:p>
        </p:txBody>
      </p:sp>
      <p:sp>
        <p:nvSpPr>
          <p:cNvPr id="7" name="blk0194"/>
          <p:cNvSpPr txBox="1"/>
          <p:nvPr/>
        </p:nvSpPr>
        <p:spPr>
          <a:xfrm>
            <a:off x="687600" y="4031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3.</a:t>
            </a:r>
          </a:p>
        </p:txBody>
      </p:sp>
      <p:sp>
        <p:nvSpPr>
          <p:cNvPr id="8" name="blk0194"/>
          <p:cNvSpPr txBox="1"/>
          <p:nvPr/>
        </p:nvSpPr>
        <p:spPr>
          <a:xfrm>
            <a:off x="1252800" y="4031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Your readings are roughly 3% too large. Which of </a:t>
            </a:r>
            <a:r>
              <a:rPr sz="1419" b="0" i="0">
                <a:solidFill>
                  <a:srgbClr val="FFFFFF"/>
                </a:solidFill>
                <a:latin typeface="Courier New"/>
                <a:ea typeface="Courier New"/>
                <a:cs typeface="Courier New"/>
                <a:sym typeface="Courier New"/>
              </a:rPr>
              <a:t>marker_size_m</a:t>
            </a:r>
            <a:r>
              <a:rPr sz="1650" b="0" i="0">
                <a:solidFill>
                  <a:srgbClr val="FFFFFF"/>
                </a:solidFill>
                <a:latin typeface="Avenir"/>
                <a:ea typeface="Avenir"/>
                <a:cs typeface="Avenir"/>
                <a:sym typeface="Avenir"/>
              </a:rPr>
              <a:t>, the calibration, or the lens distortion is the most likely cause, and how would you tell them apart?</a:t>
            </a:r>
          </a:p>
        </p:txBody>
      </p:sp>
      <p:sp>
        <p:nvSpPr>
          <p:cNvPr id="9" name="blk0195"/>
          <p:cNvSpPr txBox="1"/>
          <p:nvPr/>
        </p:nvSpPr>
        <p:spPr>
          <a:xfrm>
            <a:off x="687600" y="5219999"/>
            <a:ext cx="457200" cy="3276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4.</a:t>
            </a:r>
          </a:p>
        </p:txBody>
      </p:sp>
      <p:sp>
        <p:nvSpPr>
          <p:cNvPr id="10" name="blk0195"/>
          <p:cNvSpPr txBox="1"/>
          <p:nvPr/>
        </p:nvSpPr>
        <p:spPr>
          <a:xfrm>
            <a:off x="1252800" y="5219999"/>
            <a:ext cx="8118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Why does the program need both </a:t>
            </a:r>
            <a:r>
              <a:rPr sz="1419" b="0" i="0">
                <a:solidFill>
                  <a:srgbClr val="FFFFFF"/>
                </a:solidFill>
                <a:latin typeface="Courier New"/>
                <a:ea typeface="Courier New"/>
                <a:cs typeface="Courier New"/>
                <a:sym typeface="Courier New"/>
              </a:rPr>
              <a:t>rvecs</a:t>
            </a:r>
            <a:r>
              <a:rPr sz="1650" b="0" i="0">
                <a:solidFill>
                  <a:srgbClr val="FFFFFF"/>
                </a:solidFill>
                <a:latin typeface="Avenir"/>
                <a:ea typeface="Avenir"/>
                <a:cs typeface="Avenir"/>
                <a:sym typeface="Avenir"/>
              </a:rPr>
              <a:t> and </a:t>
            </a:r>
            <a:r>
              <a:rPr sz="1419" b="0" i="0">
                <a:solidFill>
                  <a:srgbClr val="FFFFFF"/>
                </a:solidFill>
                <a:latin typeface="Courier New"/>
                <a:ea typeface="Courier New"/>
                <a:cs typeface="Courier New"/>
                <a:sym typeface="Courier New"/>
              </a:rPr>
              <a:t>tvecs</a:t>
            </a:r>
            <a:r>
              <a:rPr sz="1650" b="0" i="0">
                <a:solidFill>
                  <a:srgbClr val="FFFFFF"/>
                </a:solidFill>
                <a:latin typeface="Avenir"/>
                <a:ea typeface="Avenir"/>
                <a:cs typeface="Avenir"/>
                <a:sym typeface="Avenir"/>
              </a:rPr>
              <a:t>? Name a task that would fail with only one of them.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5.png"/>
          <p:cNvPicPr>
            <a:picLocks noChangeAspect="1"/>
          </p:cNvPicPr>
          <p:nvPr/>
        </p:nvPicPr>
        <p:blipFill>
          <a:blip r:embed="rId2"/>
          <a:stretch>
            <a:fillRect/>
          </a:stretch>
        </p:blipFill>
        <p:spPr>
          <a:xfrm>
            <a:off x="5990400" y="1170000"/>
            <a:ext cx="4068000" cy="4737600"/>
          </a:xfrm>
          <a:prstGeom prst="rect">
            <a:avLst/>
          </a:prstGeom>
        </p:spPr>
      </p:pic>
      <p:pic>
        <p:nvPicPr>
          <p:cNvPr id="3" name="Picture 2" descr="image6.png"/>
          <p:cNvPicPr>
            <a:picLocks noChangeAspect="1"/>
          </p:cNvPicPr>
          <p:nvPr/>
        </p:nvPicPr>
        <p:blipFill>
          <a:blip r:embed="rId3"/>
          <a:stretch>
            <a:fillRect/>
          </a:stretch>
        </p:blipFill>
        <p:spPr>
          <a:xfrm>
            <a:off x="640800" y="748800"/>
            <a:ext cx="3610800" cy="1353600"/>
          </a:xfrm>
          <a:prstGeom prst="rect">
            <a:avLst/>
          </a:prstGeom>
        </p:spPr>
      </p:pic>
      <p:sp>
        <p:nvSpPr>
          <p:cNvPr id="4" name="TextBox 3"/>
          <p:cNvSpPr txBox="1"/>
          <p:nvPr/>
        </p:nvSpPr>
        <p:spPr>
          <a:xfrm>
            <a:off x="687600" y="5558400"/>
            <a:ext cx="8960400" cy="658800"/>
          </a:xfrm>
          <a:prstGeom prst="rect">
            <a:avLst/>
          </a:prstGeom>
          <a:noFill/>
        </p:spPr>
        <p:txBody>
          <a:bodyPr wrap="square" anchor="t" lIns="0" rIns="0" tIns="0" bIns="0">
            <a:noAutofit/>
          </a:bodyPr>
          <a:lstStyle/>
          <a:p>
            <a:pPr algn="l"/>
            <a:r>
              <a:rPr sz="3400" b="0" i="0">
                <a:solidFill>
                  <a:srgbClr val="FFFFFF"/>
                </a:solidFill>
                <a:latin typeface="Bungee"/>
                <a:ea typeface="Bungee"/>
                <a:cs typeface="Bungee"/>
                <a:sym typeface="Bungee"/>
              </a:rPr>
              <a:t>MISSION</a:t>
            </a:r>
          </a:p>
        </p:txBody>
      </p:sp>
      <p:sp>
        <p:nvSpPr>
          <p:cNvPr id="5" name="TextBox 4"/>
          <p:cNvSpPr txBox="1"/>
          <p:nvPr/>
        </p:nvSpPr>
        <p:spPr>
          <a:xfrm>
            <a:off x="687600" y="6235200"/>
            <a:ext cx="8960400" cy="658800"/>
          </a:xfrm>
          <a:prstGeom prst="rect">
            <a:avLst/>
          </a:prstGeom>
          <a:noFill/>
        </p:spPr>
        <p:txBody>
          <a:bodyPr wrap="square" anchor="t" lIns="0" rIns="0" tIns="0" bIns="0">
            <a:noAutofit/>
          </a:bodyPr>
          <a:lstStyle/>
          <a:p>
            <a:pPr algn="l"/>
            <a:r>
              <a:rPr sz="3400" b="0" i="0">
                <a:solidFill>
                  <a:srgbClr val="FFCF08"/>
                </a:solidFill>
                <a:latin typeface="Bungee"/>
                <a:ea typeface="Bungee"/>
                <a:cs typeface="Bungee"/>
                <a:sym typeface="Bungee"/>
              </a:rPr>
              <a:t>COMPLETE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