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12"/>
    <p:sldId id="291" r:id="rId11"/>
    <p:sldId id="292" r:id="rId10"/>
    <p:sldId id="293" r:id="rId9"/>
    <p:sldId id="294" r:id="rId8"/>
    <p:sldId id="295" r:id="rId52"/>
  </p:sldIdLst>
  <p:sldSz cy="7772400" cx="10058400"/>
  <p:notesSz cx="6858000" cy="9144000"/>
  <p:embeddedFontLst>
    <p:embeddedFont>
      <p:font typeface="Google Sans"/>
      <p:regular r:id="rId47"/>
      <p:bold r:id="rId48"/>
      <p:italic r:id="rId49"/>
      <p:boldItalic r:id="rId50"/>
    </p:embeddedFont>
    <p:embeddedFont>
      <p:font typeface="Bungee"/>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48">
          <p15:clr>
            <a:srgbClr val="747775"/>
          </p15:clr>
        </p15:guide>
        <p15:guide id="2" pos="31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C22C-DABC-4BF4-A259-F465392D9469}">
  <a:tblStyle styleId="{FBDFC22C-DABC-4BF4-A259-F465392D94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39.xml"/><Relationship Id="rId9" Type="http://schemas.openxmlformats.org/officeDocument/2006/relationships/slide" Target="slides/slide38.xml"/><Relationship Id="rId10" Type="http://schemas.openxmlformats.org/officeDocument/2006/relationships/slide" Target="slides/slide37.xml"/><Relationship Id="rId11" Type="http://schemas.openxmlformats.org/officeDocument/2006/relationships/slide" Target="slides/slide36.xml"/><Relationship Id="rId12" Type="http://schemas.openxmlformats.org/officeDocument/2006/relationships/slide" Target="slides/slide3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font" Target="fonts/GoogleSans-regular.fntdata"/><Relationship Id="rId48" Type="http://schemas.openxmlformats.org/officeDocument/2006/relationships/font" Target="fonts/GoogleSans-bold.fntdata"/><Relationship Id="rId49" Type="http://schemas.openxmlformats.org/officeDocument/2006/relationships/font" Target="fonts/GoogleSans-italic.fntdata"/><Relationship Id="rId50" Type="http://schemas.openxmlformats.org/officeDocument/2006/relationships/font" Target="fonts/GoogleSans-boldItalic.fntdata"/><Relationship Id="rId51" Type="http://schemas.openxmlformats.org/officeDocument/2006/relationships/font" Target="fonts/Bungee-regular.fntdata"/><Relationship Id="rId52"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45" y="685800"/>
            <a:ext cx="4437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600" cy="31017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6433"/>
              <a:buNone/>
              <a:defRPr sz="6433"/>
            </a:lvl1pPr>
            <a:lvl2pPr lvl="1" algn="ctr">
              <a:lnSpc>
                <a:spcPct val="100000"/>
              </a:lnSpc>
              <a:spcBef>
                <a:spcPts val="0"/>
              </a:spcBef>
              <a:spcAft>
                <a:spcPts val="0"/>
              </a:spcAft>
              <a:buSzPts val="6433"/>
              <a:buNone/>
              <a:defRPr sz="6433"/>
            </a:lvl2pPr>
            <a:lvl3pPr lvl="2" algn="ctr">
              <a:lnSpc>
                <a:spcPct val="100000"/>
              </a:lnSpc>
              <a:spcBef>
                <a:spcPts val="0"/>
              </a:spcBef>
              <a:spcAft>
                <a:spcPts val="0"/>
              </a:spcAft>
              <a:buSzPts val="6433"/>
              <a:buNone/>
              <a:defRPr sz="6433"/>
            </a:lvl3pPr>
            <a:lvl4pPr lvl="3" algn="ctr">
              <a:lnSpc>
                <a:spcPct val="100000"/>
              </a:lnSpc>
              <a:spcBef>
                <a:spcPts val="0"/>
              </a:spcBef>
              <a:spcAft>
                <a:spcPts val="0"/>
              </a:spcAft>
              <a:buSzPts val="6433"/>
              <a:buNone/>
              <a:defRPr sz="6433"/>
            </a:lvl4pPr>
            <a:lvl5pPr lvl="4" algn="ctr">
              <a:lnSpc>
                <a:spcPct val="100000"/>
              </a:lnSpc>
              <a:spcBef>
                <a:spcPts val="0"/>
              </a:spcBef>
              <a:spcAft>
                <a:spcPts val="0"/>
              </a:spcAft>
              <a:buSzPts val="6433"/>
              <a:buNone/>
              <a:defRPr sz="6433"/>
            </a:lvl5pPr>
            <a:lvl6pPr lvl="5" algn="ctr">
              <a:lnSpc>
                <a:spcPct val="100000"/>
              </a:lnSpc>
              <a:spcBef>
                <a:spcPts val="0"/>
              </a:spcBef>
              <a:spcAft>
                <a:spcPts val="0"/>
              </a:spcAft>
              <a:buSzPts val="6433"/>
              <a:buNone/>
              <a:defRPr sz="6433"/>
            </a:lvl6pPr>
            <a:lvl7pPr lvl="6" algn="ctr">
              <a:lnSpc>
                <a:spcPct val="100000"/>
              </a:lnSpc>
              <a:spcBef>
                <a:spcPts val="0"/>
              </a:spcBef>
              <a:spcAft>
                <a:spcPts val="0"/>
              </a:spcAft>
              <a:buSzPts val="6433"/>
              <a:buNone/>
              <a:defRPr sz="6433"/>
            </a:lvl7pPr>
            <a:lvl8pPr lvl="7" algn="ctr">
              <a:lnSpc>
                <a:spcPct val="100000"/>
              </a:lnSpc>
              <a:spcBef>
                <a:spcPts val="0"/>
              </a:spcBef>
              <a:spcAft>
                <a:spcPts val="0"/>
              </a:spcAft>
              <a:buSzPts val="6433"/>
              <a:buNone/>
              <a:defRPr sz="6433"/>
            </a:lvl8pPr>
            <a:lvl9pPr lvl="8" algn="ctr">
              <a:lnSpc>
                <a:spcPct val="100000"/>
              </a:lnSpc>
              <a:spcBef>
                <a:spcPts val="0"/>
              </a:spcBef>
              <a:spcAft>
                <a:spcPts val="0"/>
              </a:spcAft>
              <a:buSzPts val="6433"/>
              <a:buNone/>
              <a:defRPr sz="6433"/>
            </a:lvl9pPr>
          </a:lstStyle>
          <a:p/>
        </p:txBody>
      </p:sp>
      <p:sp>
        <p:nvSpPr>
          <p:cNvPr id="11" name="Google Shape;11;p2"/>
          <p:cNvSpPr txBox="1"/>
          <p:nvPr>
            <p:ph idx="1" type="subTitle"/>
          </p:nvPr>
        </p:nvSpPr>
        <p:spPr>
          <a:xfrm>
            <a:off x="342870" y="4282678"/>
            <a:ext cx="9372600" cy="11976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3464"/>
              <a:buNone/>
              <a:defRPr sz="3464"/>
            </a:lvl1pPr>
            <a:lvl2pPr lvl="1" algn="ctr">
              <a:lnSpc>
                <a:spcPct val="100000"/>
              </a:lnSpc>
              <a:spcBef>
                <a:spcPts val="0"/>
              </a:spcBef>
              <a:spcAft>
                <a:spcPts val="0"/>
              </a:spcAft>
              <a:buSzPts val="3464"/>
              <a:buNone/>
              <a:defRPr sz="3464"/>
            </a:lvl2pPr>
            <a:lvl3pPr lvl="2" algn="ctr">
              <a:lnSpc>
                <a:spcPct val="100000"/>
              </a:lnSpc>
              <a:spcBef>
                <a:spcPts val="0"/>
              </a:spcBef>
              <a:spcAft>
                <a:spcPts val="0"/>
              </a:spcAft>
              <a:buSzPts val="3464"/>
              <a:buNone/>
              <a:defRPr sz="3464"/>
            </a:lvl3pPr>
            <a:lvl4pPr lvl="3" algn="ctr">
              <a:lnSpc>
                <a:spcPct val="100000"/>
              </a:lnSpc>
              <a:spcBef>
                <a:spcPts val="0"/>
              </a:spcBef>
              <a:spcAft>
                <a:spcPts val="0"/>
              </a:spcAft>
              <a:buSzPts val="3464"/>
              <a:buNone/>
              <a:defRPr sz="3464"/>
            </a:lvl4pPr>
            <a:lvl5pPr lvl="4" algn="ctr">
              <a:lnSpc>
                <a:spcPct val="100000"/>
              </a:lnSpc>
              <a:spcBef>
                <a:spcPts val="0"/>
              </a:spcBef>
              <a:spcAft>
                <a:spcPts val="0"/>
              </a:spcAft>
              <a:buSzPts val="3464"/>
              <a:buNone/>
              <a:defRPr sz="3464"/>
            </a:lvl5pPr>
            <a:lvl6pPr lvl="5" algn="ctr">
              <a:lnSpc>
                <a:spcPct val="100000"/>
              </a:lnSpc>
              <a:spcBef>
                <a:spcPts val="0"/>
              </a:spcBef>
              <a:spcAft>
                <a:spcPts val="0"/>
              </a:spcAft>
              <a:buSzPts val="3464"/>
              <a:buNone/>
              <a:defRPr sz="3464"/>
            </a:lvl6pPr>
            <a:lvl7pPr lvl="6" algn="ctr">
              <a:lnSpc>
                <a:spcPct val="100000"/>
              </a:lnSpc>
              <a:spcBef>
                <a:spcPts val="0"/>
              </a:spcBef>
              <a:spcAft>
                <a:spcPts val="0"/>
              </a:spcAft>
              <a:buSzPts val="3464"/>
              <a:buNone/>
              <a:defRPr sz="3464"/>
            </a:lvl7pPr>
            <a:lvl8pPr lvl="7" algn="ctr">
              <a:lnSpc>
                <a:spcPct val="100000"/>
              </a:lnSpc>
              <a:spcBef>
                <a:spcPts val="0"/>
              </a:spcBef>
              <a:spcAft>
                <a:spcPts val="0"/>
              </a:spcAft>
              <a:buSzPts val="3464"/>
              <a:buNone/>
              <a:defRPr sz="3464"/>
            </a:lvl8pPr>
            <a:lvl9pPr lvl="8" algn="ctr">
              <a:lnSpc>
                <a:spcPct val="100000"/>
              </a:lnSpc>
              <a:spcBef>
                <a:spcPts val="0"/>
              </a:spcBef>
              <a:spcAft>
                <a:spcPts val="0"/>
              </a:spcAft>
              <a:buSzPts val="3464"/>
              <a:buNone/>
              <a:defRPr sz="3464"/>
            </a:lvl9pPr>
          </a:lstStyle>
          <a:p/>
        </p:txBody>
      </p:sp>
      <p:sp>
        <p:nvSpPr>
          <p:cNvPr id="12" name="Google Shape;12;p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15" name="Google Shape;15;p3"/>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16" name="Google Shape;16;p3"/>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42870" y="3250173"/>
            <a:ext cx="9372600" cy="1272000"/>
          </a:xfrm>
          <a:prstGeom prst="rect">
            <a:avLst/>
          </a:prstGeom>
          <a:noFill/>
          <a:ln>
            <a:noFill/>
          </a:ln>
        </p:spPr>
        <p:txBody>
          <a:bodyPr anchorCtr="0" anchor="ctr" bIns="113100" lIns="113100" spcFirstLastPara="1" rIns="113100" wrap="square" tIns="113100">
            <a:spAutoFit/>
          </a:bodyPr>
          <a:lstStyle>
            <a:lvl1pPr lvl="0" algn="ctr">
              <a:lnSpc>
                <a:spcPct val="100000"/>
              </a:lnSpc>
              <a:spcBef>
                <a:spcPts val="0"/>
              </a:spcBef>
              <a:spcAft>
                <a:spcPts val="0"/>
              </a:spcAft>
              <a:buSzPts val="4453"/>
              <a:buNone/>
              <a:defRPr sz="4453"/>
            </a:lvl1pPr>
            <a:lvl2pPr lvl="1" algn="ctr">
              <a:lnSpc>
                <a:spcPct val="100000"/>
              </a:lnSpc>
              <a:spcBef>
                <a:spcPts val="0"/>
              </a:spcBef>
              <a:spcAft>
                <a:spcPts val="0"/>
              </a:spcAft>
              <a:buSzPts val="4453"/>
              <a:buNone/>
              <a:defRPr sz="4453"/>
            </a:lvl2pPr>
            <a:lvl3pPr lvl="2" algn="ctr">
              <a:lnSpc>
                <a:spcPct val="100000"/>
              </a:lnSpc>
              <a:spcBef>
                <a:spcPts val="0"/>
              </a:spcBef>
              <a:spcAft>
                <a:spcPts val="0"/>
              </a:spcAft>
              <a:buSzPts val="4453"/>
              <a:buNone/>
              <a:defRPr sz="4453"/>
            </a:lvl3pPr>
            <a:lvl4pPr lvl="3" algn="ctr">
              <a:lnSpc>
                <a:spcPct val="100000"/>
              </a:lnSpc>
              <a:spcBef>
                <a:spcPts val="0"/>
              </a:spcBef>
              <a:spcAft>
                <a:spcPts val="0"/>
              </a:spcAft>
              <a:buSzPts val="4453"/>
              <a:buNone/>
              <a:defRPr sz="4453"/>
            </a:lvl4pPr>
            <a:lvl5pPr lvl="4" algn="ctr">
              <a:lnSpc>
                <a:spcPct val="100000"/>
              </a:lnSpc>
              <a:spcBef>
                <a:spcPts val="0"/>
              </a:spcBef>
              <a:spcAft>
                <a:spcPts val="0"/>
              </a:spcAft>
              <a:buSzPts val="4453"/>
              <a:buNone/>
              <a:defRPr sz="4453"/>
            </a:lvl5pPr>
            <a:lvl6pPr lvl="5" algn="ctr">
              <a:lnSpc>
                <a:spcPct val="100000"/>
              </a:lnSpc>
              <a:spcBef>
                <a:spcPts val="0"/>
              </a:spcBef>
              <a:spcAft>
                <a:spcPts val="0"/>
              </a:spcAft>
              <a:buSzPts val="4453"/>
              <a:buNone/>
              <a:defRPr sz="4453"/>
            </a:lvl6pPr>
            <a:lvl7pPr lvl="6" algn="ctr">
              <a:lnSpc>
                <a:spcPct val="100000"/>
              </a:lnSpc>
              <a:spcBef>
                <a:spcPts val="0"/>
              </a:spcBef>
              <a:spcAft>
                <a:spcPts val="0"/>
              </a:spcAft>
              <a:buSzPts val="4453"/>
              <a:buNone/>
              <a:defRPr sz="4453"/>
            </a:lvl7pPr>
            <a:lvl8pPr lvl="7" algn="ctr">
              <a:lnSpc>
                <a:spcPct val="100000"/>
              </a:lnSpc>
              <a:spcBef>
                <a:spcPts val="0"/>
              </a:spcBef>
              <a:spcAft>
                <a:spcPts val="0"/>
              </a:spcAft>
              <a:buSzPts val="4453"/>
              <a:buNone/>
              <a:defRPr sz="4453"/>
            </a:lvl8pPr>
            <a:lvl9pPr lvl="8" algn="ctr">
              <a:lnSpc>
                <a:spcPct val="100000"/>
              </a:lnSpc>
              <a:spcBef>
                <a:spcPts val="0"/>
              </a:spcBef>
              <a:spcAft>
                <a:spcPts val="0"/>
              </a:spcAft>
              <a:buSzPts val="4453"/>
              <a:buNone/>
              <a:defRPr sz="4453"/>
            </a:lvl9pPr>
          </a:lstStyle>
          <a:p/>
        </p:txBody>
      </p:sp>
      <p:sp>
        <p:nvSpPr>
          <p:cNvPr id="19" name="Google Shape;19;p4"/>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2" name="Google Shape;22;p5"/>
          <p:cNvSpPr txBox="1"/>
          <p:nvPr>
            <p:ph idx="1" type="body"/>
          </p:nvPr>
        </p:nvSpPr>
        <p:spPr>
          <a:xfrm>
            <a:off x="34287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3" name="Google Shape;23;p5"/>
          <p:cNvSpPr txBox="1"/>
          <p:nvPr>
            <p:ph idx="2" type="body"/>
          </p:nvPr>
        </p:nvSpPr>
        <p:spPr>
          <a:xfrm>
            <a:off x="531564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4" name="Google Shape;24;p5"/>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7" name="Google Shape;27;p6"/>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a:noFill/>
          <a:ln>
            <a:noFill/>
          </a:ln>
        </p:spPr>
        <p:txBody>
          <a:bodyPr anchorCtr="0" anchor="b" bIns="113100" lIns="113100" spcFirstLastPara="1" rIns="113100" wrap="square" tIns="113100">
            <a:spAutoFit/>
          </a:bodyPr>
          <a:lstStyle>
            <a:lvl1pPr lvl="0" algn="l">
              <a:lnSpc>
                <a:spcPct val="100000"/>
              </a:lnSpc>
              <a:spcBef>
                <a:spcPts val="0"/>
              </a:spcBef>
              <a:spcAft>
                <a:spcPts val="0"/>
              </a:spcAft>
              <a:buSzPts val="2969"/>
              <a:buNone/>
              <a:defRPr sz="2969"/>
            </a:lvl1pPr>
            <a:lvl2pPr lvl="1" algn="l">
              <a:lnSpc>
                <a:spcPct val="100000"/>
              </a:lnSpc>
              <a:spcBef>
                <a:spcPts val="0"/>
              </a:spcBef>
              <a:spcAft>
                <a:spcPts val="0"/>
              </a:spcAft>
              <a:buSzPts val="2969"/>
              <a:buNone/>
              <a:defRPr sz="2969"/>
            </a:lvl2pPr>
            <a:lvl3pPr lvl="2" algn="l">
              <a:lnSpc>
                <a:spcPct val="100000"/>
              </a:lnSpc>
              <a:spcBef>
                <a:spcPts val="0"/>
              </a:spcBef>
              <a:spcAft>
                <a:spcPts val="0"/>
              </a:spcAft>
              <a:buSzPts val="2969"/>
              <a:buNone/>
              <a:defRPr sz="2969"/>
            </a:lvl3pPr>
            <a:lvl4pPr lvl="3" algn="l">
              <a:lnSpc>
                <a:spcPct val="100000"/>
              </a:lnSpc>
              <a:spcBef>
                <a:spcPts val="0"/>
              </a:spcBef>
              <a:spcAft>
                <a:spcPts val="0"/>
              </a:spcAft>
              <a:buSzPts val="2969"/>
              <a:buNone/>
              <a:defRPr sz="2969"/>
            </a:lvl4pPr>
            <a:lvl5pPr lvl="4" algn="l">
              <a:lnSpc>
                <a:spcPct val="100000"/>
              </a:lnSpc>
              <a:spcBef>
                <a:spcPts val="0"/>
              </a:spcBef>
              <a:spcAft>
                <a:spcPts val="0"/>
              </a:spcAft>
              <a:buSzPts val="2969"/>
              <a:buNone/>
              <a:defRPr sz="2969"/>
            </a:lvl5pPr>
            <a:lvl6pPr lvl="5" algn="l">
              <a:lnSpc>
                <a:spcPct val="100000"/>
              </a:lnSpc>
              <a:spcBef>
                <a:spcPts val="0"/>
              </a:spcBef>
              <a:spcAft>
                <a:spcPts val="0"/>
              </a:spcAft>
              <a:buSzPts val="2969"/>
              <a:buNone/>
              <a:defRPr sz="2969"/>
            </a:lvl6pPr>
            <a:lvl7pPr lvl="6" algn="l">
              <a:lnSpc>
                <a:spcPct val="100000"/>
              </a:lnSpc>
              <a:spcBef>
                <a:spcPts val="0"/>
              </a:spcBef>
              <a:spcAft>
                <a:spcPts val="0"/>
              </a:spcAft>
              <a:buSzPts val="2969"/>
              <a:buNone/>
              <a:defRPr sz="2969"/>
            </a:lvl7pPr>
            <a:lvl8pPr lvl="7" algn="l">
              <a:lnSpc>
                <a:spcPct val="100000"/>
              </a:lnSpc>
              <a:spcBef>
                <a:spcPts val="0"/>
              </a:spcBef>
              <a:spcAft>
                <a:spcPts val="0"/>
              </a:spcAft>
              <a:buSzPts val="2969"/>
              <a:buNone/>
              <a:defRPr sz="2969"/>
            </a:lvl8pPr>
            <a:lvl9pPr lvl="8" algn="l">
              <a:lnSpc>
                <a:spcPct val="100000"/>
              </a:lnSpc>
              <a:spcBef>
                <a:spcPts val="0"/>
              </a:spcBef>
              <a:spcAft>
                <a:spcPts val="0"/>
              </a:spcAft>
              <a:buSzPts val="2969"/>
              <a:buNone/>
              <a:defRPr sz="2969"/>
            </a:lvl9pPr>
          </a:lstStyle>
          <a:p/>
        </p:txBody>
      </p:sp>
      <p:sp>
        <p:nvSpPr>
          <p:cNvPr id="30" name="Google Shape;30;p7"/>
          <p:cNvSpPr txBox="1"/>
          <p:nvPr>
            <p:ph idx="1" type="body"/>
          </p:nvPr>
        </p:nvSpPr>
        <p:spPr>
          <a:xfrm>
            <a:off x="342870" y="2099840"/>
            <a:ext cx="3088800" cy="4804500"/>
          </a:xfrm>
          <a:prstGeom prst="rect">
            <a:avLst/>
          </a:prstGeom>
          <a:noFill/>
          <a:ln>
            <a:noFill/>
          </a:ln>
        </p:spPr>
        <p:txBody>
          <a:bodyPr anchorCtr="0" anchor="t" bIns="113100" lIns="113100" spcFirstLastPara="1" rIns="113100" wrap="square" tIns="113100">
            <a:spAutoFit/>
          </a:bodyPr>
          <a:lstStyle>
            <a:lvl1pPr indent="-322834" lvl="0" marL="457200" algn="l">
              <a:lnSpc>
                <a:spcPct val="115000"/>
              </a:lnSpc>
              <a:spcBef>
                <a:spcPts val="0"/>
              </a:spcBef>
              <a:spcAft>
                <a:spcPts val="0"/>
              </a:spcAft>
              <a:buSzPts val="1484"/>
              <a:buChar char="●"/>
              <a:defRPr sz="1484"/>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31" name="Google Shape;31;p7"/>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700" cy="6181800"/>
          </a:xfrm>
          <a:prstGeom prst="rect">
            <a:avLst/>
          </a:prstGeom>
          <a:noFill/>
          <a:ln>
            <a:noFill/>
          </a:ln>
        </p:spPr>
        <p:txBody>
          <a:bodyPr anchorCtr="0" anchor="ctr" bIns="113100" lIns="113100" spcFirstLastPara="1" rIns="113100" wrap="square" tIns="113100">
            <a:spAutoFit/>
          </a:bodyPr>
          <a:lstStyle>
            <a:lvl1pPr lvl="0" algn="l">
              <a:lnSpc>
                <a:spcPct val="100000"/>
              </a:lnSpc>
              <a:spcBef>
                <a:spcPts val="0"/>
              </a:spcBef>
              <a:spcAft>
                <a:spcPts val="0"/>
              </a:spcAft>
              <a:buSzPts val="5938"/>
              <a:buNone/>
              <a:defRPr sz="5938"/>
            </a:lvl1pPr>
            <a:lvl2pPr lvl="1" algn="l">
              <a:lnSpc>
                <a:spcPct val="100000"/>
              </a:lnSpc>
              <a:spcBef>
                <a:spcPts val="0"/>
              </a:spcBef>
              <a:spcAft>
                <a:spcPts val="0"/>
              </a:spcAft>
              <a:buSzPts val="5938"/>
              <a:buNone/>
              <a:defRPr sz="5938"/>
            </a:lvl2pPr>
            <a:lvl3pPr lvl="2" algn="l">
              <a:lnSpc>
                <a:spcPct val="100000"/>
              </a:lnSpc>
              <a:spcBef>
                <a:spcPts val="0"/>
              </a:spcBef>
              <a:spcAft>
                <a:spcPts val="0"/>
              </a:spcAft>
              <a:buSzPts val="5938"/>
              <a:buNone/>
              <a:defRPr sz="5938"/>
            </a:lvl3pPr>
            <a:lvl4pPr lvl="3" algn="l">
              <a:lnSpc>
                <a:spcPct val="100000"/>
              </a:lnSpc>
              <a:spcBef>
                <a:spcPts val="0"/>
              </a:spcBef>
              <a:spcAft>
                <a:spcPts val="0"/>
              </a:spcAft>
              <a:buSzPts val="5938"/>
              <a:buNone/>
              <a:defRPr sz="5938"/>
            </a:lvl4pPr>
            <a:lvl5pPr lvl="4" algn="l">
              <a:lnSpc>
                <a:spcPct val="100000"/>
              </a:lnSpc>
              <a:spcBef>
                <a:spcPts val="0"/>
              </a:spcBef>
              <a:spcAft>
                <a:spcPts val="0"/>
              </a:spcAft>
              <a:buSzPts val="5938"/>
              <a:buNone/>
              <a:defRPr sz="5938"/>
            </a:lvl5pPr>
            <a:lvl6pPr lvl="5" algn="l">
              <a:lnSpc>
                <a:spcPct val="100000"/>
              </a:lnSpc>
              <a:spcBef>
                <a:spcPts val="0"/>
              </a:spcBef>
              <a:spcAft>
                <a:spcPts val="0"/>
              </a:spcAft>
              <a:buSzPts val="5938"/>
              <a:buNone/>
              <a:defRPr sz="5938"/>
            </a:lvl6pPr>
            <a:lvl7pPr lvl="6" algn="l">
              <a:lnSpc>
                <a:spcPct val="100000"/>
              </a:lnSpc>
              <a:spcBef>
                <a:spcPts val="0"/>
              </a:spcBef>
              <a:spcAft>
                <a:spcPts val="0"/>
              </a:spcAft>
              <a:buSzPts val="5938"/>
              <a:buNone/>
              <a:defRPr sz="5938"/>
            </a:lvl7pPr>
            <a:lvl8pPr lvl="7" algn="l">
              <a:lnSpc>
                <a:spcPct val="100000"/>
              </a:lnSpc>
              <a:spcBef>
                <a:spcPts val="0"/>
              </a:spcBef>
              <a:spcAft>
                <a:spcPts val="0"/>
              </a:spcAft>
              <a:buSzPts val="5938"/>
              <a:buNone/>
              <a:defRPr sz="5938"/>
            </a:lvl8pPr>
            <a:lvl9pPr lvl="8" algn="l">
              <a:lnSpc>
                <a:spcPct val="100000"/>
              </a:lnSpc>
              <a:spcBef>
                <a:spcPts val="0"/>
              </a:spcBef>
              <a:spcAft>
                <a:spcPts val="0"/>
              </a:spcAft>
              <a:buSzPts val="5938"/>
              <a:buNone/>
              <a:defRPr sz="5938"/>
            </a:lvl9pPr>
          </a:lstStyle>
          <a:p/>
        </p:txBody>
      </p:sp>
      <p:sp>
        <p:nvSpPr>
          <p:cNvPr id="34" name="Google Shape;34;p8"/>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113100" lIns="113100" spcFirstLastPara="1" rIns="113100" wrap="square" tIns="11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92050" y="1863464"/>
            <a:ext cx="4449600" cy="22398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5196"/>
              <a:buNone/>
              <a:defRPr sz="5196"/>
            </a:lvl1pPr>
            <a:lvl2pPr lvl="1" algn="ctr">
              <a:lnSpc>
                <a:spcPct val="100000"/>
              </a:lnSpc>
              <a:spcBef>
                <a:spcPts val="0"/>
              </a:spcBef>
              <a:spcAft>
                <a:spcPts val="0"/>
              </a:spcAft>
              <a:buSzPts val="5196"/>
              <a:buNone/>
              <a:defRPr sz="5196"/>
            </a:lvl2pPr>
            <a:lvl3pPr lvl="2" algn="ctr">
              <a:lnSpc>
                <a:spcPct val="100000"/>
              </a:lnSpc>
              <a:spcBef>
                <a:spcPts val="0"/>
              </a:spcBef>
              <a:spcAft>
                <a:spcPts val="0"/>
              </a:spcAft>
              <a:buSzPts val="5196"/>
              <a:buNone/>
              <a:defRPr sz="5196"/>
            </a:lvl3pPr>
            <a:lvl4pPr lvl="3" algn="ctr">
              <a:lnSpc>
                <a:spcPct val="100000"/>
              </a:lnSpc>
              <a:spcBef>
                <a:spcPts val="0"/>
              </a:spcBef>
              <a:spcAft>
                <a:spcPts val="0"/>
              </a:spcAft>
              <a:buSzPts val="5196"/>
              <a:buNone/>
              <a:defRPr sz="5196"/>
            </a:lvl4pPr>
            <a:lvl5pPr lvl="4" algn="ctr">
              <a:lnSpc>
                <a:spcPct val="100000"/>
              </a:lnSpc>
              <a:spcBef>
                <a:spcPts val="0"/>
              </a:spcBef>
              <a:spcAft>
                <a:spcPts val="0"/>
              </a:spcAft>
              <a:buSzPts val="5196"/>
              <a:buNone/>
              <a:defRPr sz="5196"/>
            </a:lvl5pPr>
            <a:lvl6pPr lvl="5" algn="ctr">
              <a:lnSpc>
                <a:spcPct val="100000"/>
              </a:lnSpc>
              <a:spcBef>
                <a:spcPts val="0"/>
              </a:spcBef>
              <a:spcAft>
                <a:spcPts val="0"/>
              </a:spcAft>
              <a:buSzPts val="5196"/>
              <a:buNone/>
              <a:defRPr sz="5196"/>
            </a:lvl6pPr>
            <a:lvl7pPr lvl="6" algn="ctr">
              <a:lnSpc>
                <a:spcPct val="100000"/>
              </a:lnSpc>
              <a:spcBef>
                <a:spcPts val="0"/>
              </a:spcBef>
              <a:spcAft>
                <a:spcPts val="0"/>
              </a:spcAft>
              <a:buSzPts val="5196"/>
              <a:buNone/>
              <a:defRPr sz="5196"/>
            </a:lvl7pPr>
            <a:lvl8pPr lvl="7" algn="ctr">
              <a:lnSpc>
                <a:spcPct val="100000"/>
              </a:lnSpc>
              <a:spcBef>
                <a:spcPts val="0"/>
              </a:spcBef>
              <a:spcAft>
                <a:spcPts val="0"/>
              </a:spcAft>
              <a:buSzPts val="5196"/>
              <a:buNone/>
              <a:defRPr sz="5196"/>
            </a:lvl8pPr>
            <a:lvl9pPr lvl="8" algn="ctr">
              <a:lnSpc>
                <a:spcPct val="100000"/>
              </a:lnSpc>
              <a:spcBef>
                <a:spcPts val="0"/>
              </a:spcBef>
              <a:spcAft>
                <a:spcPts val="0"/>
              </a:spcAft>
              <a:buSzPts val="5196"/>
              <a:buNone/>
              <a:defRPr sz="5196"/>
            </a:lvl9pPr>
          </a:lstStyle>
          <a:p/>
        </p:txBody>
      </p:sp>
      <p:sp>
        <p:nvSpPr>
          <p:cNvPr id="38" name="Google Shape;38;p9"/>
          <p:cNvSpPr txBox="1"/>
          <p:nvPr>
            <p:ph idx="1" type="subTitle"/>
          </p:nvPr>
        </p:nvSpPr>
        <p:spPr>
          <a:xfrm>
            <a:off x="292050" y="4235758"/>
            <a:ext cx="4449600" cy="18663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2598"/>
              <a:buNone/>
              <a:defRPr sz="2598"/>
            </a:lvl1pPr>
            <a:lvl2pPr lvl="1" algn="ctr">
              <a:lnSpc>
                <a:spcPct val="100000"/>
              </a:lnSpc>
              <a:spcBef>
                <a:spcPts val="0"/>
              </a:spcBef>
              <a:spcAft>
                <a:spcPts val="0"/>
              </a:spcAft>
              <a:buSzPts val="2598"/>
              <a:buNone/>
              <a:defRPr sz="2598"/>
            </a:lvl2pPr>
            <a:lvl3pPr lvl="2" algn="ctr">
              <a:lnSpc>
                <a:spcPct val="100000"/>
              </a:lnSpc>
              <a:spcBef>
                <a:spcPts val="0"/>
              </a:spcBef>
              <a:spcAft>
                <a:spcPts val="0"/>
              </a:spcAft>
              <a:buSzPts val="2598"/>
              <a:buNone/>
              <a:defRPr sz="2598"/>
            </a:lvl3pPr>
            <a:lvl4pPr lvl="3" algn="ctr">
              <a:lnSpc>
                <a:spcPct val="100000"/>
              </a:lnSpc>
              <a:spcBef>
                <a:spcPts val="0"/>
              </a:spcBef>
              <a:spcAft>
                <a:spcPts val="0"/>
              </a:spcAft>
              <a:buSzPts val="2598"/>
              <a:buNone/>
              <a:defRPr sz="2598"/>
            </a:lvl4pPr>
            <a:lvl5pPr lvl="4" algn="ctr">
              <a:lnSpc>
                <a:spcPct val="100000"/>
              </a:lnSpc>
              <a:spcBef>
                <a:spcPts val="0"/>
              </a:spcBef>
              <a:spcAft>
                <a:spcPts val="0"/>
              </a:spcAft>
              <a:buSzPts val="2598"/>
              <a:buNone/>
              <a:defRPr sz="2598"/>
            </a:lvl5pPr>
            <a:lvl6pPr lvl="5" algn="ctr">
              <a:lnSpc>
                <a:spcPct val="100000"/>
              </a:lnSpc>
              <a:spcBef>
                <a:spcPts val="0"/>
              </a:spcBef>
              <a:spcAft>
                <a:spcPts val="0"/>
              </a:spcAft>
              <a:buSzPts val="2598"/>
              <a:buNone/>
              <a:defRPr sz="2598"/>
            </a:lvl6pPr>
            <a:lvl7pPr lvl="6" algn="ctr">
              <a:lnSpc>
                <a:spcPct val="100000"/>
              </a:lnSpc>
              <a:spcBef>
                <a:spcPts val="0"/>
              </a:spcBef>
              <a:spcAft>
                <a:spcPts val="0"/>
              </a:spcAft>
              <a:buSzPts val="2598"/>
              <a:buNone/>
              <a:defRPr sz="2598"/>
            </a:lvl7pPr>
            <a:lvl8pPr lvl="7" algn="ctr">
              <a:lnSpc>
                <a:spcPct val="100000"/>
              </a:lnSpc>
              <a:spcBef>
                <a:spcPts val="0"/>
              </a:spcBef>
              <a:spcAft>
                <a:spcPts val="0"/>
              </a:spcAft>
              <a:buSzPts val="2598"/>
              <a:buNone/>
              <a:defRPr sz="2598"/>
            </a:lvl8pPr>
            <a:lvl9pPr lvl="8" algn="ctr">
              <a:lnSpc>
                <a:spcPct val="100000"/>
              </a:lnSpc>
              <a:spcBef>
                <a:spcPts val="0"/>
              </a:spcBef>
              <a:spcAft>
                <a:spcPts val="0"/>
              </a:spcAft>
              <a:buSzPts val="2598"/>
              <a:buNone/>
              <a:defRPr sz="2598"/>
            </a:lvl9pPr>
          </a:lstStyle>
          <a:p/>
        </p:txBody>
      </p:sp>
      <p:sp>
        <p:nvSpPr>
          <p:cNvPr id="39" name="Google Shape;39;p9"/>
          <p:cNvSpPr txBox="1"/>
          <p:nvPr>
            <p:ph idx="2" type="body"/>
          </p:nvPr>
        </p:nvSpPr>
        <p:spPr>
          <a:xfrm>
            <a:off x="5433450" y="1094158"/>
            <a:ext cx="4220700" cy="5583600"/>
          </a:xfrm>
          <a:prstGeom prst="rect">
            <a:avLst/>
          </a:prstGeom>
          <a:noFill/>
          <a:ln>
            <a:noFill/>
          </a:ln>
        </p:spPr>
        <p:txBody>
          <a:bodyPr anchorCtr="0" anchor="ctr"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40" name="Google Shape;40;p9"/>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a:noFill/>
          <a:ln>
            <a:noFill/>
          </a:ln>
        </p:spPr>
        <p:txBody>
          <a:bodyPr anchorCtr="0" anchor="ctr" bIns="113100" lIns="113100" spcFirstLastPara="1" rIns="113100" wrap="square" tIns="113100">
            <a:spAutoFit/>
          </a:bodyPr>
          <a:lstStyle>
            <a:lvl1pPr indent="-228600" lvl="0" marL="457200" algn="l">
              <a:lnSpc>
                <a:spcPct val="100000"/>
              </a:lnSpc>
              <a:spcBef>
                <a:spcPts val="0"/>
              </a:spcBef>
              <a:spcAft>
                <a:spcPts val="0"/>
              </a:spcAft>
              <a:buSzPts val="2227"/>
              <a:buNone/>
              <a:defRPr sz="2227"/>
            </a:lvl1pPr>
          </a:lstStyle>
          <a:p/>
        </p:txBody>
      </p:sp>
      <p:sp>
        <p:nvSpPr>
          <p:cNvPr id="43" name="Google Shape;43;p10"/>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600" cy="29670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14844"/>
              <a:buNone/>
              <a:defRPr sz="14844"/>
            </a:lvl1pPr>
            <a:lvl2pPr lvl="1" algn="ctr">
              <a:lnSpc>
                <a:spcPct val="100000"/>
              </a:lnSpc>
              <a:spcBef>
                <a:spcPts val="0"/>
              </a:spcBef>
              <a:spcAft>
                <a:spcPts val="0"/>
              </a:spcAft>
              <a:buSzPts val="14844"/>
              <a:buNone/>
              <a:defRPr sz="14844"/>
            </a:lvl2pPr>
            <a:lvl3pPr lvl="2" algn="ctr">
              <a:lnSpc>
                <a:spcPct val="100000"/>
              </a:lnSpc>
              <a:spcBef>
                <a:spcPts val="0"/>
              </a:spcBef>
              <a:spcAft>
                <a:spcPts val="0"/>
              </a:spcAft>
              <a:buSzPts val="14844"/>
              <a:buNone/>
              <a:defRPr sz="14844"/>
            </a:lvl3pPr>
            <a:lvl4pPr lvl="3" algn="ctr">
              <a:lnSpc>
                <a:spcPct val="100000"/>
              </a:lnSpc>
              <a:spcBef>
                <a:spcPts val="0"/>
              </a:spcBef>
              <a:spcAft>
                <a:spcPts val="0"/>
              </a:spcAft>
              <a:buSzPts val="14844"/>
              <a:buNone/>
              <a:defRPr sz="14844"/>
            </a:lvl4pPr>
            <a:lvl5pPr lvl="4" algn="ctr">
              <a:lnSpc>
                <a:spcPct val="100000"/>
              </a:lnSpc>
              <a:spcBef>
                <a:spcPts val="0"/>
              </a:spcBef>
              <a:spcAft>
                <a:spcPts val="0"/>
              </a:spcAft>
              <a:buSzPts val="14844"/>
              <a:buNone/>
              <a:defRPr sz="14844"/>
            </a:lvl5pPr>
            <a:lvl6pPr lvl="5" algn="ctr">
              <a:lnSpc>
                <a:spcPct val="100000"/>
              </a:lnSpc>
              <a:spcBef>
                <a:spcPts val="0"/>
              </a:spcBef>
              <a:spcAft>
                <a:spcPts val="0"/>
              </a:spcAft>
              <a:buSzPts val="14844"/>
              <a:buNone/>
              <a:defRPr sz="14844"/>
            </a:lvl6pPr>
            <a:lvl7pPr lvl="6" algn="ctr">
              <a:lnSpc>
                <a:spcPct val="100000"/>
              </a:lnSpc>
              <a:spcBef>
                <a:spcPts val="0"/>
              </a:spcBef>
              <a:spcAft>
                <a:spcPts val="0"/>
              </a:spcAft>
              <a:buSzPts val="14844"/>
              <a:buNone/>
              <a:defRPr sz="14844"/>
            </a:lvl7pPr>
            <a:lvl8pPr lvl="7" algn="ctr">
              <a:lnSpc>
                <a:spcPct val="100000"/>
              </a:lnSpc>
              <a:spcBef>
                <a:spcPts val="0"/>
              </a:spcBef>
              <a:spcAft>
                <a:spcPts val="0"/>
              </a:spcAft>
              <a:buSzPts val="14844"/>
              <a:buNone/>
              <a:defRPr sz="14844"/>
            </a:lvl8pPr>
            <a:lvl9pPr lvl="8" algn="ctr">
              <a:lnSpc>
                <a:spcPct val="100000"/>
              </a:lnSpc>
              <a:spcBef>
                <a:spcPts val="0"/>
              </a:spcBef>
              <a:spcAft>
                <a:spcPts val="0"/>
              </a:spcAft>
              <a:buSzPts val="14844"/>
              <a:buNone/>
              <a:defRPr sz="14844"/>
            </a:lvl9pPr>
          </a:lstStyle>
          <a:p>
            <a:r>
              <a:t>xx%</a:t>
            </a:r>
          </a:p>
        </p:txBody>
      </p:sp>
      <p:sp>
        <p:nvSpPr>
          <p:cNvPr id="46" name="Google Shape;46;p11"/>
          <p:cNvSpPr txBox="1"/>
          <p:nvPr>
            <p:ph idx="1" type="body"/>
          </p:nvPr>
        </p:nvSpPr>
        <p:spPr>
          <a:xfrm>
            <a:off x="342870" y="4763362"/>
            <a:ext cx="9372600" cy="1965600"/>
          </a:xfrm>
          <a:prstGeom prst="rect">
            <a:avLst/>
          </a:prstGeom>
          <a:noFill/>
          <a:ln>
            <a:noFill/>
          </a:ln>
        </p:spPr>
        <p:txBody>
          <a:bodyPr anchorCtr="0" anchor="t" bIns="113100" lIns="113100" spcFirstLastPara="1" rIns="113100" wrap="square" tIns="113100">
            <a:spAutoFit/>
          </a:bodyPr>
          <a:lstStyle>
            <a:lvl1pPr indent="-370015" lvl="0" marL="457200" algn="ctr">
              <a:lnSpc>
                <a:spcPct val="115000"/>
              </a:lnSpc>
              <a:spcBef>
                <a:spcPts val="0"/>
              </a:spcBef>
              <a:spcAft>
                <a:spcPts val="0"/>
              </a:spcAft>
              <a:buSzPts val="2227"/>
              <a:buChar char="●"/>
              <a:defRPr sz="2227"/>
            </a:lvl1pPr>
            <a:lvl2pPr indent="-338582" lvl="1" marL="914400" algn="ctr">
              <a:lnSpc>
                <a:spcPct val="115000"/>
              </a:lnSpc>
              <a:spcBef>
                <a:spcPts val="0"/>
              </a:spcBef>
              <a:spcAft>
                <a:spcPts val="0"/>
              </a:spcAft>
              <a:buSzPts val="1732"/>
              <a:buChar char="○"/>
              <a:defRPr sz="1732"/>
            </a:lvl2pPr>
            <a:lvl3pPr indent="-338582" lvl="2" marL="1371600" algn="ctr">
              <a:lnSpc>
                <a:spcPct val="115000"/>
              </a:lnSpc>
              <a:spcBef>
                <a:spcPts val="0"/>
              </a:spcBef>
              <a:spcAft>
                <a:spcPts val="0"/>
              </a:spcAft>
              <a:buSzPts val="1732"/>
              <a:buChar char="■"/>
              <a:defRPr sz="1732"/>
            </a:lvl3pPr>
            <a:lvl4pPr indent="-338582" lvl="3" marL="1828800" algn="ctr">
              <a:lnSpc>
                <a:spcPct val="115000"/>
              </a:lnSpc>
              <a:spcBef>
                <a:spcPts val="0"/>
              </a:spcBef>
              <a:spcAft>
                <a:spcPts val="0"/>
              </a:spcAft>
              <a:buSzPts val="1732"/>
              <a:buChar char="●"/>
              <a:defRPr sz="1732"/>
            </a:lvl4pPr>
            <a:lvl5pPr indent="-338582" lvl="4" marL="2286000" algn="ctr">
              <a:lnSpc>
                <a:spcPct val="115000"/>
              </a:lnSpc>
              <a:spcBef>
                <a:spcPts val="0"/>
              </a:spcBef>
              <a:spcAft>
                <a:spcPts val="0"/>
              </a:spcAft>
              <a:buSzPts val="1732"/>
              <a:buChar char="○"/>
              <a:defRPr sz="1732"/>
            </a:lvl5pPr>
            <a:lvl6pPr indent="-338582" lvl="5" marL="2743200" algn="ctr">
              <a:lnSpc>
                <a:spcPct val="115000"/>
              </a:lnSpc>
              <a:spcBef>
                <a:spcPts val="0"/>
              </a:spcBef>
              <a:spcAft>
                <a:spcPts val="0"/>
              </a:spcAft>
              <a:buSzPts val="1732"/>
              <a:buChar char="■"/>
              <a:defRPr sz="1732"/>
            </a:lvl6pPr>
            <a:lvl7pPr indent="-338582" lvl="6" marL="3200400" algn="ctr">
              <a:lnSpc>
                <a:spcPct val="115000"/>
              </a:lnSpc>
              <a:spcBef>
                <a:spcPts val="0"/>
              </a:spcBef>
              <a:spcAft>
                <a:spcPts val="0"/>
              </a:spcAft>
              <a:buSzPts val="1732"/>
              <a:buChar char="●"/>
              <a:defRPr sz="1732"/>
            </a:lvl7pPr>
            <a:lvl8pPr indent="-338582" lvl="7" marL="3657600" algn="ctr">
              <a:lnSpc>
                <a:spcPct val="115000"/>
              </a:lnSpc>
              <a:spcBef>
                <a:spcPts val="0"/>
              </a:spcBef>
              <a:spcAft>
                <a:spcPts val="0"/>
              </a:spcAft>
              <a:buSzPts val="1732"/>
              <a:buChar char="○"/>
              <a:defRPr sz="1732"/>
            </a:lvl8pPr>
            <a:lvl9pPr indent="-338582" lvl="8" marL="4114800" algn="ctr">
              <a:lnSpc>
                <a:spcPct val="115000"/>
              </a:lnSpc>
              <a:spcBef>
                <a:spcPts val="0"/>
              </a:spcBef>
              <a:spcAft>
                <a:spcPts val="0"/>
              </a:spcAft>
              <a:buSzPts val="1732"/>
              <a:buChar char="■"/>
              <a:defRPr sz="1732"/>
            </a:lvl9pPr>
          </a:lstStyle>
          <a:p/>
        </p:txBody>
      </p:sp>
      <p:sp>
        <p:nvSpPr>
          <p:cNvPr id="47" name="Google Shape;47;p1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E338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marR="0" rtl="0" algn="l">
              <a:lnSpc>
                <a:spcPct val="115000"/>
              </a:lnSpc>
              <a:spcBef>
                <a:spcPts val="0"/>
              </a:spcBef>
              <a:spcAft>
                <a:spcPts val="0"/>
              </a:spcAft>
              <a:buClr>
                <a:schemeClr val="dk2"/>
              </a:buClr>
              <a:buSzPts val="2227"/>
              <a:buFont typeface="Arial"/>
              <a:buChar char="●"/>
              <a:defRPr b="0" i="0" sz="2227" u="none" cap="none" strike="noStrike">
                <a:solidFill>
                  <a:schemeClr val="dk2"/>
                </a:solidFill>
                <a:latin typeface="Arial"/>
                <a:ea typeface="Arial"/>
                <a:cs typeface="Arial"/>
                <a:sym typeface="Arial"/>
              </a:defRPr>
            </a:lvl1pPr>
            <a:lvl2pPr indent="-338582" lvl="1" marL="914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2pPr>
            <a:lvl3pPr indent="-338582" lvl="2" marL="1371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3pPr>
            <a:lvl4pPr indent="-338582" lvl="3" marL="1828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4pPr>
            <a:lvl5pPr indent="-338582" lvl="4" marL="22860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5pPr>
            <a:lvl6pPr indent="-338582" lvl="5" marL="27432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6pPr>
            <a:lvl7pPr indent="-338582" lvl="6" marL="3200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7pPr>
            <a:lvl8pPr indent="-338582" lvl="7" marL="3657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8pPr>
            <a:lvl9pPr indent="-338582" lvl="8" marL="4114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6260400" y="1371600"/>
            <a:ext cx="4024800" cy="4096800"/>
          </a:xfrm>
          <a:prstGeom prst="rect">
            <a:avLst/>
          </a:prstGeom>
        </p:spPr>
      </p:pic>
      <p:pic>
        <p:nvPicPr>
          <p:cNvPr id="3" name="Picture 2" descr="image2.png"/>
          <p:cNvPicPr>
            <a:picLocks noChangeAspect="1"/>
          </p:cNvPicPr>
          <p:nvPr/>
        </p:nvPicPr>
        <p:blipFill>
          <a:blip r:embed="rId3"/>
          <a:stretch>
            <a:fillRect/>
          </a:stretch>
        </p:blipFill>
        <p:spPr>
          <a:xfrm>
            <a:off x="687600" y="914400"/>
            <a:ext cx="3484800" cy="1080000"/>
          </a:xfrm>
          <a:prstGeom prst="rect">
            <a:avLst/>
          </a:prstGeom>
        </p:spPr>
      </p:pic>
      <p:sp>
        <p:nvSpPr>
          <p:cNvPr id="4" name="TextBox 3"/>
          <p:cNvSpPr txBox="1"/>
          <p:nvPr/>
        </p:nvSpPr>
        <p:spPr>
          <a:xfrm>
            <a:off x="684000" y="4575600"/>
            <a:ext cx="8802000" cy="2512800"/>
          </a:xfrm>
          <a:prstGeom prst="rect">
            <a:avLst/>
          </a:prstGeom>
          <a:noFill/>
        </p:spPr>
        <p:txBody>
          <a:bodyPr wrap="square" anchor="ctr" lIns="0" rIns="0" tIns="0" bIns="0">
            <a:noAutofit/>
          </a:bodyPr>
          <a:lstStyle/>
          <a:p>
            <a:pPr algn="l">
              <a:lnSpc>
                <a:spcPct val="100000"/>
              </a:lnSpc>
            </a:pPr>
            <a:r>
              <a:rPr sz="4400" b="0" i="0">
                <a:solidFill>
                  <a:srgbClr val="FFFFFF"/>
                </a:solidFill>
                <a:latin typeface="Bungee"/>
                <a:ea typeface="Bungee"/>
                <a:cs typeface="Bungee"/>
                <a:sym typeface="Bungee"/>
              </a:rPr>
              <a:t>Introduction to</a:t>
            </a:r>
          </a:p>
          <a:p>
            <a:pPr algn="l">
              <a:lnSpc>
                <a:spcPct val="100000"/>
              </a:lnSpc>
            </a:pPr>
            <a:r>
              <a:rPr sz="4400" b="0" i="0">
                <a:solidFill>
                  <a:srgbClr val="FFFFFF"/>
                </a:solidFill>
                <a:latin typeface="Bungee"/>
                <a:ea typeface="Bungee"/>
                <a:cs typeface="Bungee"/>
                <a:sym typeface="Bungee"/>
              </a:rPr>
              <a:t>Advanced Robotics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Project 1</a:t>
            </a:r>
          </a:p>
          <a:p>
            <a:pPr algn="l">
              <a:lnSpc>
                <a:spcPct val="100000"/>
              </a:lnSpc>
            </a:pPr>
            <a:r>
              <a:rPr sz="4400" b="0" i="0">
                <a:solidFill>
                  <a:srgbClr val="FFFFFF"/>
                </a:solidFill>
                <a:latin typeface="Bungee"/>
                <a:ea typeface="Bungee"/>
                <a:cs typeface="Bungee"/>
                <a:sym typeface="Bungee"/>
              </a:rPr>
              <a:t>Seeing Shapes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What’s </a:t>
            </a:r>
            <a:r>
              <a:rPr sz="2827" b="0" i="0">
                <a:solidFill>
                  <a:srgbClr val="FFFFFF"/>
                </a:solidFill>
                <a:latin typeface="Bungee"/>
                <a:ea typeface="Bungee"/>
                <a:cs typeface="Bungee"/>
                <a:sym typeface="Bungee"/>
              </a:rPr>
              <a:t>next</a:t>
            </a:r>
            <a:r>
              <a:rPr sz="2827" b="0" i="0">
                <a:solidFill>
                  <a:srgbClr val="FFFFFF"/>
                </a:solidFill>
                <a:latin typeface="Bungee"/>
                <a:ea typeface="Bungee"/>
                <a:cs typeface="Bungee"/>
                <a:sym typeface="Bungee"/>
              </a:rPr>
              <a:t>?</a:t>
            </a:r>
          </a:p>
        </p:txBody>
      </p:sp>
      <p:sp>
        <p:nvSpPr>
          <p:cNvPr id="3" name="blk00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In Module 1 you built a program that could tell red from yellow. That worked because every colour has a number attached to it, so the computer could look up a range and make a decision.</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This project asks a much harder question. Nobody tells the computer what colour a block is. It has to work out the shape from the picture alone — triangle, square, circle or rectangle — and then put a name on screen.</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starter file already contains all of the difficult mathematics. Your job is to supply the missing </a:t>
            </a:r>
            <a:r>
              <a:rPr sz="2027" b="1" i="0">
                <a:solidFill>
                  <a:srgbClr val="FFFFFF"/>
                </a:solidFill>
                <a:latin typeface="Google Sans"/>
                <a:ea typeface="Google Sans"/>
                <a:cs typeface="Google Sans"/>
                <a:sym typeface="Google Sans"/>
              </a:rPr>
              <a:t>measurements</a:t>
            </a:r>
            <a:r>
              <a:rPr sz="2027" b="0" i="0">
                <a:solidFill>
                  <a:srgbClr val="FFFFFF"/>
                </a:solidFill>
                <a:latin typeface="Avenir"/>
                <a:ea typeface="Avenir"/>
                <a:cs typeface="Avenir"/>
                <a:sym typeface="Avenir"/>
              </a:rPr>
              <a:t> and the </a:t>
            </a:r>
            <a:r>
              <a:rPr sz="2027" b="1" i="0">
                <a:solidFill>
                  <a:srgbClr val="FFFFFF"/>
                </a:solidFill>
                <a:latin typeface="Google Sans"/>
                <a:ea typeface="Google Sans"/>
                <a:cs typeface="Google Sans"/>
                <a:sym typeface="Google Sans"/>
              </a:rPr>
              <a:t>decision</a:t>
            </a:r>
            <a:r>
              <a:rPr sz="2027" b="0" i="0">
                <a:solidFill>
                  <a:srgbClr val="FFFFFF"/>
                </a:solidFill>
                <a:latin typeface="Avenir"/>
                <a:ea typeface="Avenir"/>
                <a:cs typeface="Avenir"/>
                <a:sym typeface="Avenir"/>
              </a:rPr>
              <a:t> that turns them into a single word.</a:t>
            </a:r>
          </a:p>
        </p:txBody>
      </p:sp>
      <p:sp>
        <p:nvSpPr>
          <p:cNvPr id="4" name="blk0003"/>
          <p:cNvSpPr txBox="1"/>
          <p:nvPr/>
        </p:nvSpPr>
        <p:spPr>
          <a:xfrm>
            <a:off x="687600" y="5368126"/>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windows will open when the program runs: </a:t>
            </a:r>
            <a:r>
              <a:rPr sz="1419" b="0" i="0">
                <a:solidFill>
                  <a:srgbClr val="FFFFFF"/>
                </a:solidFill>
                <a:latin typeface="Courier New"/>
                <a:ea typeface="Courier New"/>
                <a:cs typeface="Courier New"/>
                <a:sym typeface="Courier New"/>
              </a:rPr>
              <a:t>Shape Detection</a:t>
            </a:r>
            <a:r>
              <a:rPr sz="1650" b="0" i="0">
                <a:solidFill>
                  <a:srgbClr val="FFFFFF"/>
                </a:solidFill>
                <a:latin typeface="Avenir"/>
                <a:ea typeface="Avenir"/>
                <a:cs typeface="Avenir"/>
                <a:sym typeface="Avenir"/>
              </a:rPr>
              <a:t> with your label drawn on it, and </a:t>
            </a:r>
            <a:r>
              <a:rPr sz="1419" b="0" i="0">
                <a:solidFill>
                  <a:srgbClr val="FFFFFF"/>
                </a:solidFill>
                <a:latin typeface="Courier New"/>
                <a:ea typeface="Courier New"/>
                <a:cs typeface="Courier New"/>
                <a:sym typeface="Courier New"/>
              </a:rPr>
              <a:t>Threshold View (Binary)</a:t>
            </a:r>
            <a:r>
              <a:rPr sz="1650" b="0" i="0">
                <a:solidFill>
                  <a:srgbClr val="FFFFFF"/>
                </a:solidFill>
                <a:latin typeface="Avenir"/>
                <a:ea typeface="Avenir"/>
                <a:cs typeface="Avenir"/>
                <a:sym typeface="Avenir"/>
              </a:rPr>
              <a:t> with the cleaned-up black and white picture the computer actually sees. Keep both open. Most of your debugging happens in the second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From colour to shape</a:t>
            </a:r>
          </a:p>
        </p:txBody>
      </p:sp>
      <p:sp>
        <p:nvSpPr>
          <p:cNvPr id="3" name="blk000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Colour detection asks a question about a pixel: which numbers fall inside a range? Shape detection asks a question about an outline: how far around is it, and how much of its own box does it fill?</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That means hue, saturation and value are no longer needed at all. We throw the colour away on purpose and keep only light and dark.</a:t>
            </a:r>
          </a:p>
          <a:p>
            <a:pPr algn="l"/>
            <a:r>
              <a:rPr sz="2027" b="0" i="0">
                <a:solidFill>
                  <a:srgbClr val="FFFFFF"/>
                </a:solidFill>
                <a:latin typeface="Avenir"/>
                <a:ea typeface="Avenir"/>
                <a:cs typeface="Avenir"/>
                <a:sym typeface="Avenir"/>
              </a:rPr>
              <a:t/>
            </a:r>
          </a:p>
          <a:p>
            <a:pPr algn="l">
              <a:lnSpc>
                <a:spcPct val="100000"/>
              </a:lnSpc>
            </a:pPr>
            <a:r>
              <a:rPr sz="2027" b="1" i="0">
                <a:solidFill>
                  <a:srgbClr val="FFFFFF"/>
                </a:solidFill>
                <a:latin typeface="Google Sans"/>
                <a:ea typeface="Google Sans"/>
                <a:cs typeface="Google Sans"/>
                <a:sym typeface="Google Sans"/>
              </a:rPr>
              <a:t>This is the first project where OpenCV does the seeing and you do the deciding. Every number that ends up on screen is a number you wrote.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a:t>
            </a:r>
            <a:r>
              <a:rPr sz="2827" b="0" i="0">
                <a:solidFill>
                  <a:srgbClr val="FFFFFF"/>
                </a:solidFill>
                <a:latin typeface="Bungee"/>
                <a:ea typeface="Bungee"/>
                <a:cs typeface="Bungee"/>
                <a:sym typeface="Bungee"/>
              </a:rPr>
              <a:t>pipeline</a:t>
            </a:r>
          </a:p>
        </p:txBody>
      </p:sp>
      <p:sp>
        <p:nvSpPr>
          <p:cNvPr id="3" name="blk000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Five lines turn a camera frame into a list of candidate shapes. You will not change any of these five lines — they are already written for you — but you need to know what each one hands to the next.</a:t>
            </a:r>
          </a:p>
        </p:txBody>
      </p:sp>
      <p:sp>
        <p:nvSpPr>
          <p:cNvPr id="4" name="blk0008"/>
          <p:cNvSpPr/>
          <p:nvPr/>
        </p:nvSpPr>
        <p:spPr>
          <a:xfrm>
            <a:off x="687600" y="2715259"/>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8"/>
          <p:cNvSpPr txBox="1"/>
          <p:nvPr/>
        </p:nvSpPr>
        <p:spPr>
          <a:xfrm>
            <a:off x="687600" y="2715259"/>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008"/>
          <p:cNvSpPr txBox="1"/>
          <p:nvPr/>
        </p:nvSpPr>
        <p:spPr>
          <a:xfrm>
            <a:off x="1252800" y="2693659"/>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Greyscale</a:t>
            </a:r>
          </a:p>
        </p:txBody>
      </p:sp>
      <p:sp>
        <p:nvSpPr>
          <p:cNvPr id="7" name="blk0008"/>
          <p:cNvSpPr txBox="1"/>
          <p:nvPr/>
        </p:nvSpPr>
        <p:spPr>
          <a:xfrm>
            <a:off x="1252800" y="3014059"/>
            <a:ext cx="8118000" cy="57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One brightness number per pixel instead of three colour numbers.</a:t>
            </a:r>
          </a:p>
        </p:txBody>
      </p:sp>
      <p:sp>
        <p:nvSpPr>
          <p:cNvPr id="8" name="blk0009"/>
          <p:cNvSpPr/>
          <p:nvPr/>
        </p:nvSpPr>
        <p:spPr>
          <a:xfrm>
            <a:off x="687600" y="3417979"/>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09"/>
          <p:cNvSpPr txBox="1"/>
          <p:nvPr/>
        </p:nvSpPr>
        <p:spPr>
          <a:xfrm>
            <a:off x="687600" y="3417979"/>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009"/>
          <p:cNvSpPr txBox="1"/>
          <p:nvPr/>
        </p:nvSpPr>
        <p:spPr>
          <a:xfrm>
            <a:off x="1252800" y="3396379"/>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Blur</a:t>
            </a:r>
          </a:p>
        </p:txBody>
      </p:sp>
      <p:sp>
        <p:nvSpPr>
          <p:cNvPr id="11" name="blk0009"/>
          <p:cNvSpPr txBox="1"/>
          <p:nvPr/>
        </p:nvSpPr>
        <p:spPr>
          <a:xfrm>
            <a:off x="1252800" y="3716779"/>
            <a:ext cx="8118000" cy="57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Smooths sensor noise so the outline is not full of holes.</a:t>
            </a:r>
          </a:p>
        </p:txBody>
      </p:sp>
      <p:sp>
        <p:nvSpPr>
          <p:cNvPr id="12" name="blk0010"/>
          <p:cNvSpPr/>
          <p:nvPr/>
        </p:nvSpPr>
        <p:spPr>
          <a:xfrm>
            <a:off x="687600" y="4120699"/>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10"/>
          <p:cNvSpPr txBox="1"/>
          <p:nvPr/>
        </p:nvSpPr>
        <p:spPr>
          <a:xfrm>
            <a:off x="687600" y="4120699"/>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010"/>
          <p:cNvSpPr txBox="1"/>
          <p:nvPr/>
        </p:nvSpPr>
        <p:spPr>
          <a:xfrm>
            <a:off x="1252800" y="4099099"/>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Threshold</a:t>
            </a:r>
          </a:p>
        </p:txBody>
      </p:sp>
      <p:sp>
        <p:nvSpPr>
          <p:cNvPr id="15" name="blk0010"/>
          <p:cNvSpPr txBox="1"/>
          <p:nvPr/>
        </p:nvSpPr>
        <p:spPr>
          <a:xfrm>
            <a:off x="1252800" y="4419499"/>
            <a:ext cx="8118000" cy="57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Turns everything darker than 110 white, everything else black.</a:t>
            </a:r>
          </a:p>
        </p:txBody>
      </p:sp>
      <p:sp>
        <p:nvSpPr>
          <p:cNvPr id="16" name="blk0011"/>
          <p:cNvSpPr/>
          <p:nvPr/>
        </p:nvSpPr>
        <p:spPr>
          <a:xfrm>
            <a:off x="687600" y="4823419"/>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011"/>
          <p:cNvSpPr txBox="1"/>
          <p:nvPr/>
        </p:nvSpPr>
        <p:spPr>
          <a:xfrm>
            <a:off x="687600" y="4823419"/>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011"/>
          <p:cNvSpPr txBox="1"/>
          <p:nvPr/>
        </p:nvSpPr>
        <p:spPr>
          <a:xfrm>
            <a:off x="1252800" y="4801819"/>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Close</a:t>
            </a:r>
          </a:p>
        </p:txBody>
      </p:sp>
      <p:sp>
        <p:nvSpPr>
          <p:cNvPr id="19" name="blk0011"/>
          <p:cNvSpPr txBox="1"/>
          <p:nvPr/>
        </p:nvSpPr>
        <p:spPr>
          <a:xfrm>
            <a:off x="1252800" y="5122219"/>
            <a:ext cx="8118000" cy="57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Darns small holes so one shape stays one shape.</a:t>
            </a:r>
          </a:p>
        </p:txBody>
      </p:sp>
      <p:sp>
        <p:nvSpPr>
          <p:cNvPr id="20" name="blk0012"/>
          <p:cNvSpPr/>
          <p:nvPr/>
        </p:nvSpPr>
        <p:spPr>
          <a:xfrm>
            <a:off x="687600" y="55548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012"/>
          <p:cNvSpPr txBox="1"/>
          <p:nvPr/>
        </p:nvSpPr>
        <p:spPr>
          <a:xfrm>
            <a:off x="687600" y="55548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5</a:t>
            </a:r>
          </a:p>
        </p:txBody>
      </p:sp>
      <p:sp>
        <p:nvSpPr>
          <p:cNvPr id="22" name="blk0012"/>
          <p:cNvSpPr txBox="1"/>
          <p:nvPr/>
        </p:nvSpPr>
        <p:spPr>
          <a:xfrm>
            <a:off x="1252800" y="55332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Contours</a:t>
            </a:r>
          </a:p>
        </p:txBody>
      </p:sp>
      <p:sp>
        <p:nvSpPr>
          <p:cNvPr id="23" name="blk0012"/>
          <p:cNvSpPr txBox="1"/>
          <p:nvPr/>
        </p:nvSpPr>
        <p:spPr>
          <a:xfrm>
            <a:off x="1252800" y="5853599"/>
            <a:ext cx="8118000" cy="57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Traces each outline and hands you a list of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Greyscale</a:t>
            </a:r>
          </a:p>
        </p:txBody>
      </p:sp>
      <p:sp>
        <p:nvSpPr>
          <p:cNvPr id="3" name="blk001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camera hands you a three-number pixel: blue, green, red. For shape work that is three times more data than you need, and the colour values only add noise.</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cvtColor</a:t>
            </a:r>
            <a:r>
              <a:rPr sz="2027" b="0" i="0">
                <a:solidFill>
                  <a:srgbClr val="FFFFFF"/>
                </a:solidFill>
                <a:latin typeface="Avenir"/>
                <a:ea typeface="Avenir"/>
                <a:cs typeface="Avenir"/>
                <a:sym typeface="Avenir"/>
              </a:rPr>
              <a:t> converts the frame to one brightness number per pixel. White stays 255, black stays 0, and everything in between keeps its place on the grey scale.</a:t>
            </a:r>
          </a:p>
        </p:txBody>
      </p:sp>
      <p:sp>
        <p:nvSpPr>
          <p:cNvPr id="4" name="blk0015"/>
          <p:cNvSpPr/>
          <p:nvPr/>
        </p:nvSpPr>
        <p:spPr>
          <a:xfrm>
            <a:off x="687600" y="3567520"/>
            <a:ext cx="8686800" cy="85343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5"/>
          <p:cNvSpPr txBox="1"/>
          <p:nvPr/>
        </p:nvSpPr>
        <p:spPr>
          <a:xfrm>
            <a:off x="910799" y="3729520"/>
            <a:ext cx="8240400" cy="529431"/>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img_h, img_w = img.shape[:2]</a:t>
            </a:r>
          </a:p>
          <a:p>
            <a:pPr algn="l">
              <a:lnSpc>
                <a:spcPct val="115000"/>
              </a:lnSpc>
            </a:pPr>
            <a:r>
              <a:rPr sz="1600" b="0" i="0">
                <a:solidFill>
                  <a:srgbClr val="FFFFFF"/>
                </a:solidFill>
                <a:latin typeface="Courier New"/>
                <a:ea typeface="Courier New"/>
                <a:cs typeface="Courier New"/>
                <a:sym typeface="Courier New"/>
              </a:rPr>
              <a:t>gray = cv2.cvtColor(img, cv2.COLOR_BGR2GRAY)</a:t>
            </a:r>
          </a:p>
        </p:txBody>
      </p:sp>
      <p:sp>
        <p:nvSpPr>
          <p:cNvPr id="6" name="blk0016"/>
          <p:cNvSpPr txBox="1"/>
          <p:nvPr/>
        </p:nvSpPr>
        <p:spPr>
          <a:xfrm>
            <a:off x="687600" y="4528951"/>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things to notice. </a:t>
            </a:r>
            <a:r>
              <a:rPr sz="1419" b="0" i="0">
                <a:solidFill>
                  <a:srgbClr val="FFFFFF"/>
                </a:solidFill>
                <a:latin typeface="Courier New"/>
                <a:ea typeface="Courier New"/>
                <a:cs typeface="Courier New"/>
                <a:sym typeface="Courier New"/>
              </a:rPr>
              <a:t>img.shape[:2]</a:t>
            </a:r>
            <a:r>
              <a:rPr sz="1650" b="0" i="0">
                <a:solidFill>
                  <a:srgbClr val="FFFFFF"/>
                </a:solidFill>
                <a:latin typeface="Avenir"/>
                <a:ea typeface="Avenir"/>
                <a:cs typeface="Avenir"/>
                <a:sym typeface="Avenir"/>
              </a:rPr>
              <a:t> gives you height and width only — the trailing </a:t>
            </a:r>
            <a:r>
              <a:rPr sz="1419" b="0" i="0">
                <a:solidFill>
                  <a:srgbClr val="FFFFFF"/>
                </a:solidFill>
                <a:latin typeface="Courier New"/>
                <a:ea typeface="Courier New"/>
                <a:cs typeface="Courier New"/>
                <a:sym typeface="Courier New"/>
              </a:rPr>
              <a:t>3</a:t>
            </a:r>
            <a:r>
              <a:rPr sz="1650" b="0" i="0">
                <a:solidFill>
                  <a:srgbClr val="FFFFFF"/>
                </a:solidFill>
                <a:latin typeface="Avenir"/>
                <a:ea typeface="Avenir"/>
                <a:cs typeface="Avenir"/>
                <a:sym typeface="Avenir"/>
              </a:rPr>
              <a:t>, which is the colour channels, is chopped off by the </a:t>
            </a:r>
            <a:r>
              <a:rPr sz="1419" b="0" i="0">
                <a:solidFill>
                  <a:srgbClr val="FFFFFF"/>
                </a:solidFill>
                <a:latin typeface="Courier New"/>
                <a:ea typeface="Courier New"/>
                <a:cs typeface="Courier New"/>
                <a:sym typeface="Courier New"/>
              </a:rPr>
              <a:t>:2</a:t>
            </a:r>
            <a:r>
              <a:rPr sz="1650" b="0" i="0">
                <a:solidFill>
                  <a:srgbClr val="FFFFFF"/>
                </a:solidFill>
                <a:latin typeface="Avenir"/>
                <a:ea typeface="Avenir"/>
                <a:cs typeface="Avenir"/>
                <a:sym typeface="Avenir"/>
              </a:rPr>
              <a:t>. And </a:t>
            </a:r>
            <a:r>
              <a:rPr sz="1419" b="0" i="0">
                <a:solidFill>
                  <a:srgbClr val="FFFFFF"/>
                </a:solidFill>
                <a:latin typeface="Courier New"/>
                <a:ea typeface="Courier New"/>
                <a:cs typeface="Courier New"/>
                <a:sym typeface="Courier New"/>
              </a:rPr>
              <a:t>BGR2GRAY</a:t>
            </a:r>
            <a:r>
              <a:rPr sz="1650" b="0" i="0">
                <a:solidFill>
                  <a:srgbClr val="FFFFFF"/>
                </a:solidFill>
                <a:latin typeface="Avenir"/>
                <a:ea typeface="Avenir"/>
                <a:cs typeface="Avenir"/>
                <a:sym typeface="Avenir"/>
              </a:rPr>
              <a:t> is not a colour choice: it is the channel order OpenCV uses, which is the reverse of the </a:t>
            </a:r>
            <a:r>
              <a:rPr sz="1419" b="0" i="0">
                <a:solidFill>
                  <a:srgbClr val="FFFFFF"/>
                </a:solidFill>
                <a:latin typeface="Courier New"/>
                <a:ea typeface="Courier New"/>
                <a:cs typeface="Courier New"/>
                <a:sym typeface="Courier New"/>
              </a:rPr>
              <a:t>RGB</a:t>
            </a:r>
            <a:r>
              <a:rPr sz="1650" b="0" i="0">
                <a:solidFill>
                  <a:srgbClr val="FFFFFF"/>
                </a:solidFill>
                <a:latin typeface="Avenir"/>
                <a:ea typeface="Avenir"/>
                <a:cs typeface="Avenir"/>
                <a:sym typeface="Avenir"/>
              </a:rPr>
              <a:t> you are used 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Blur</a:t>
            </a:r>
          </a:p>
        </p:txBody>
      </p:sp>
      <p:sp>
        <p:nvSpPr>
          <p:cNvPr id="3" name="blk001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camera’s sensor is never perfect. A single dark pixel of noise becomes a hole in your shape, and a hole becomes a broken contour.</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A Gaussian blur replaces every pixel with the average of itself and its neighbours. That pushes isolated noise down while leaving large solid regions alone.</a:t>
            </a:r>
          </a:p>
        </p:txBody>
      </p:sp>
      <p:sp>
        <p:nvSpPr>
          <p:cNvPr id="4" name="blk0019"/>
          <p:cNvSpPr/>
          <p:nvPr/>
        </p:nvSpPr>
        <p:spPr>
          <a:xfrm>
            <a:off x="687600" y="3567520"/>
            <a:ext cx="8686800" cy="58871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9"/>
          <p:cNvSpPr txBox="1"/>
          <p:nvPr/>
        </p:nvSpPr>
        <p:spPr>
          <a:xfrm>
            <a:off x="910799" y="3729519"/>
            <a:ext cx="8240400" cy="264715"/>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blurred = cv2.GaussianBlur(gray, (5, 5), 0)</a:t>
            </a:r>
          </a:p>
        </p:txBody>
      </p:sp>
      <p:sp>
        <p:nvSpPr>
          <p:cNvPr id="6" name="blk0020"/>
          <p:cNvSpPr txBox="1"/>
          <p:nvPr/>
        </p:nvSpPr>
        <p:spPr>
          <a:xfrm>
            <a:off x="687600" y="4264235"/>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(5, 5)</a:t>
            </a:r>
            <a:r>
              <a:rPr sz="1650" b="0" i="0">
                <a:solidFill>
                  <a:srgbClr val="FFFFFF"/>
                </a:solidFill>
                <a:latin typeface="Avenir"/>
                <a:ea typeface="Avenir"/>
                <a:cs typeface="Avenir"/>
                <a:sym typeface="Avenir"/>
              </a:rPr>
              <a:t> is a window size: five pixels across, five pixels down. Bigger numbers smooth more. The </a:t>
            </a:r>
            <a:r>
              <a:rPr sz="1419" b="0" i="0">
                <a:solidFill>
                  <a:srgbClr val="FFFFFF"/>
                </a:solidFill>
                <a:latin typeface="Courier New"/>
                <a:ea typeface="Courier New"/>
                <a:cs typeface="Courier New"/>
                <a:sym typeface="Courier New"/>
              </a:rPr>
              <a:t>0</a:t>
            </a:r>
            <a:r>
              <a:rPr sz="1650" b="0" i="0">
                <a:solidFill>
                  <a:srgbClr val="FFFFFF"/>
                </a:solidFill>
                <a:latin typeface="Avenir"/>
                <a:ea typeface="Avenir"/>
                <a:cs typeface="Avenir"/>
                <a:sym typeface="Avenir"/>
              </a:rPr>
              <a:t> at the end means ‘work out the standard deviation for me’, and it is the only value you will ever need.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Threshold</a:t>
            </a:r>
          </a:p>
        </p:txBody>
      </p:sp>
      <p:sp>
        <p:nvSpPr>
          <p:cNvPr id="3" name="blk002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Now you make a decision about every single pixel: is it dark enough to be part of a shape, or not?</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THRESH_BINARY_INV</a:t>
            </a:r>
            <a:r>
              <a:rPr sz="2027" b="0" i="0">
                <a:solidFill>
                  <a:srgbClr val="FFFFFF"/>
                </a:solidFill>
                <a:latin typeface="Avenir"/>
                <a:ea typeface="Avenir"/>
                <a:cs typeface="Avenir"/>
                <a:sym typeface="Avenir"/>
              </a:rPr>
              <a:t> is the important half. ‘INV’ means inverted — the dark pixels become white and the pale background becomes black. That is deliberate. We want white shapes on a black background, because that is what contour finding expects.</a:t>
            </a:r>
          </a:p>
        </p:txBody>
      </p:sp>
      <p:sp>
        <p:nvSpPr>
          <p:cNvPr id="4" name="blk0023"/>
          <p:cNvSpPr/>
          <p:nvPr/>
        </p:nvSpPr>
        <p:spPr>
          <a:xfrm>
            <a:off x="687600" y="3876435"/>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3"/>
          <p:cNvSpPr txBox="1"/>
          <p:nvPr/>
        </p:nvSpPr>
        <p:spPr>
          <a:xfrm>
            <a:off x="910799" y="4038435"/>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_, thresh = cv2.threshold(blurred, 110, 255, cv2.THRESH_BINARY_INV)</a:t>
            </a:r>
          </a:p>
        </p:txBody>
      </p:sp>
      <p:sp>
        <p:nvSpPr>
          <p:cNvPr id="6" name="blk0024"/>
          <p:cNvSpPr txBox="1"/>
          <p:nvPr/>
        </p:nvSpPr>
        <p:spPr>
          <a:xfrm>
            <a:off x="687600" y="4556605"/>
            <a:ext cx="7542000" cy="936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110</a:t>
            </a:r>
            <a:r>
              <a:rPr sz="1650" b="0" i="0">
                <a:solidFill>
                  <a:srgbClr val="FFFFFF"/>
                </a:solidFill>
                <a:latin typeface="Avenir"/>
                <a:ea typeface="Avenir"/>
                <a:cs typeface="Avenir"/>
                <a:sym typeface="Avenir"/>
              </a:rPr>
              <a:t> is the only number on this slide you will ever be asked to change. Turn it up and pale shapes disappear; turn it down and every shadow on the table becomes a shape. If a shape refuses to detect, this number is the first thing to touch.</a:t>
            </a:r>
          </a:p>
        </p:txBody>
      </p:sp>
      <p:sp>
        <p:nvSpPr>
          <p:cNvPr id="7" name="blk0025"/>
          <p:cNvSpPr txBox="1"/>
          <p:nvPr/>
        </p:nvSpPr>
        <p:spPr>
          <a:xfrm>
            <a:off x="687600" y="5871613"/>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_</a:t>
            </a:r>
            <a:r>
              <a:rPr sz="1650" b="0" i="0">
                <a:solidFill>
                  <a:srgbClr val="FFFFFF"/>
                </a:solidFill>
                <a:latin typeface="Avenir"/>
                <a:ea typeface="Avenir"/>
                <a:cs typeface="Avenir"/>
                <a:sym typeface="Avenir"/>
              </a:rPr>
              <a:t> on the left is a variable you are deliberately throwing away. OpenCV returns the threshold value as well as the image, and this program has no use for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Closing the </a:t>
            </a:r>
            <a:r>
              <a:rPr sz="2827" b="0" i="0">
                <a:solidFill>
                  <a:srgbClr val="FFFFFF"/>
                </a:solidFill>
                <a:latin typeface="Bungee"/>
                <a:ea typeface="Bungee"/>
                <a:cs typeface="Bungee"/>
                <a:sym typeface="Bungee"/>
              </a:rPr>
              <a:t>outline</a:t>
            </a:r>
          </a:p>
        </p:txBody>
      </p:sp>
      <p:sp>
        <p:nvSpPr>
          <p:cNvPr id="3" name="blk002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Blur helps, but it never quite finishes the job. The outline is still broken in places, and a broken outline is detected as two smaller shapes instead of one.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A morphological close swells the outline by a few pixels and then shrinks it back. The net effect is that small gaps vanish while the overall size stays the same.</a:t>
            </a:r>
          </a:p>
        </p:txBody>
      </p:sp>
      <p:sp>
        <p:nvSpPr>
          <p:cNvPr id="4" name="blk0028"/>
          <p:cNvSpPr/>
          <p:nvPr/>
        </p:nvSpPr>
        <p:spPr>
          <a:xfrm>
            <a:off x="687600" y="356752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8"/>
          <p:cNvSpPr txBox="1"/>
          <p:nvPr/>
        </p:nvSpPr>
        <p:spPr>
          <a:xfrm>
            <a:off x="910799" y="3729519"/>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kernel = np.ones((5, 5), np.uint8)</a:t>
            </a:r>
          </a:p>
          <a:p>
            <a:pPr algn="l">
              <a:lnSpc>
                <a:spcPct val="115000"/>
              </a:lnSpc>
            </a:pPr>
            <a:r>
              <a:rPr sz="1500" b="0" i="0">
                <a:solidFill>
                  <a:srgbClr val="FFFFFF"/>
                </a:solidFill>
                <a:latin typeface="Courier New"/>
                <a:ea typeface="Courier New"/>
                <a:cs typeface="Courier New"/>
                <a:sym typeface="Courier New"/>
              </a:rPr>
              <a:t>thresh_clean = cv2.morphologyEx(thresh, cv2.MORPH_CLOSE, kernel)</a:t>
            </a:r>
          </a:p>
        </p:txBody>
      </p:sp>
      <p:sp>
        <p:nvSpPr>
          <p:cNvPr id="6" name="blk0029"/>
          <p:cNvSpPr txBox="1"/>
          <p:nvPr/>
        </p:nvSpPr>
        <p:spPr>
          <a:xfrm>
            <a:off x="687600" y="4495861"/>
            <a:ext cx="7542000" cy="864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np.ones((5, 5), np.uint8)</a:t>
            </a:r>
            <a:r>
              <a:rPr sz="1650" b="0" i="0">
                <a:solidFill>
                  <a:srgbClr val="FFFFFF"/>
                </a:solidFill>
                <a:latin typeface="Avenir"/>
                <a:ea typeface="Avenir"/>
                <a:cs typeface="Avenir"/>
                <a:sym typeface="Avenir"/>
              </a:rPr>
              <a:t> builds a 5×5 block of ones, and that block is the brush. Swapping </a:t>
            </a:r>
            <a:r>
              <a:rPr sz="1419" b="0" i="0">
                <a:solidFill>
                  <a:srgbClr val="FFFFFF"/>
                </a:solidFill>
                <a:latin typeface="Courier New"/>
                <a:ea typeface="Courier New"/>
                <a:cs typeface="Courier New"/>
                <a:sym typeface="Courier New"/>
              </a:rPr>
              <a:t>MORPH_CLOSE</a:t>
            </a:r>
            <a:r>
              <a:rPr sz="1650" b="0" i="0">
                <a:solidFill>
                  <a:srgbClr val="FFFFFF"/>
                </a:solidFill>
                <a:latin typeface="Avenir"/>
                <a:ea typeface="Avenir"/>
                <a:cs typeface="Avenir"/>
                <a:sym typeface="Avenir"/>
              </a:rPr>
              <a:t> for </a:t>
            </a:r>
            <a:r>
              <a:rPr sz="1419" b="0" i="0">
                <a:solidFill>
                  <a:srgbClr val="FFFFFF"/>
                </a:solidFill>
                <a:latin typeface="Courier New"/>
                <a:ea typeface="Courier New"/>
                <a:cs typeface="Courier New"/>
                <a:sym typeface="Courier New"/>
              </a:rPr>
              <a:t>MORPH_OPEN</a:t>
            </a:r>
            <a:r>
              <a:rPr sz="1650" b="0" i="0">
                <a:solidFill>
                  <a:srgbClr val="FFFFFF"/>
                </a:solidFill>
                <a:latin typeface="Avenir"/>
                <a:ea typeface="Avenir"/>
                <a:cs typeface="Avenir"/>
                <a:sym typeface="Avenir"/>
              </a:rPr>
              <a:t> would do the opposite job: remove specks instead of gaps.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Contours</a:t>
            </a:r>
          </a:p>
        </p:txBody>
      </p:sp>
      <p:sp>
        <p:nvSpPr>
          <p:cNvPr id="3" name="blk003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step that actually produces the list you are about to measure.</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findContours</a:t>
            </a:r>
            <a:r>
              <a:rPr sz="2027" b="0" i="0">
                <a:solidFill>
                  <a:srgbClr val="FFFFFF"/>
                </a:solidFill>
                <a:latin typeface="Avenir"/>
                <a:ea typeface="Avenir"/>
                <a:cs typeface="Avenir"/>
                <a:sym typeface="Avenir"/>
              </a:rPr>
              <a:t> walks along every white shape and returns the pixels on its border, in order, as a list of points. Each shape comes back as one NumPy array of coordinates.</a:t>
            </a:r>
          </a:p>
        </p:txBody>
      </p:sp>
      <p:sp>
        <p:nvSpPr>
          <p:cNvPr id="4" name="blk0032"/>
          <p:cNvSpPr/>
          <p:nvPr/>
        </p:nvSpPr>
        <p:spPr>
          <a:xfrm>
            <a:off x="687600" y="3258606"/>
            <a:ext cx="8686800" cy="111814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2"/>
          <p:cNvSpPr txBox="1"/>
          <p:nvPr/>
        </p:nvSpPr>
        <p:spPr>
          <a:xfrm>
            <a:off x="910799" y="3420605"/>
            <a:ext cx="8240400" cy="794146"/>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contours, _ = cv2.findContours(</a:t>
            </a:r>
          </a:p>
          <a:p>
            <a:pPr algn="l">
              <a:lnSpc>
                <a:spcPct val="115000"/>
              </a:lnSpc>
            </a:pPr>
            <a:r>
              <a:rPr sz="1600" b="0" i="0">
                <a:solidFill>
                  <a:srgbClr val="FFFFFF"/>
                </a:solidFill>
                <a:latin typeface="Courier New"/>
                <a:ea typeface="Courier New"/>
                <a:cs typeface="Courier New"/>
                <a:sym typeface="Courier New"/>
              </a:rPr>
              <a:t>    thresh_clean, cv2.RETR_EXTERNAL, cv2.CHAIN_APPROX_SIMPLE</a:t>
            </a:r>
          </a:p>
          <a:p>
            <a:pPr algn="l">
              <a:lnSpc>
                <a:spcPct val="115000"/>
              </a:lnSpc>
            </a:pPr>
            <a:r>
              <a:rPr sz="1600" b="0" i="0">
                <a:solidFill>
                  <a:srgbClr val="FFFFFF"/>
                </a:solidFill>
                <a:latin typeface="Courier New"/>
                <a:ea typeface="Courier New"/>
                <a:cs typeface="Courier New"/>
                <a:sym typeface="Courier New"/>
              </a:rPr>
              <a:t>)</a:t>
            </a:r>
          </a:p>
        </p:txBody>
      </p:sp>
      <p:sp>
        <p:nvSpPr>
          <p:cNvPr id="6" name="blk0033"/>
          <p:cNvSpPr txBox="1"/>
          <p:nvPr/>
        </p:nvSpPr>
        <p:spPr>
          <a:xfrm>
            <a:off x="687600" y="4484752"/>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flags are doing real work here. </a:t>
            </a:r>
            <a:r>
              <a:rPr sz="1419" b="0" i="0">
                <a:solidFill>
                  <a:srgbClr val="FFFFFF"/>
                </a:solidFill>
                <a:latin typeface="Courier New"/>
                <a:ea typeface="Courier New"/>
                <a:cs typeface="Courier New"/>
                <a:sym typeface="Courier New"/>
              </a:rPr>
              <a:t>RETR_EXTERNAL</a:t>
            </a:r>
            <a:r>
              <a:rPr sz="1650" b="0" i="0">
                <a:solidFill>
                  <a:srgbClr val="FFFFFF"/>
                </a:solidFill>
                <a:latin typeface="Avenir"/>
                <a:ea typeface="Avenir"/>
                <a:cs typeface="Avenir"/>
                <a:sym typeface="Avenir"/>
              </a:rPr>
              <a:t> keeps only the outermost outline, so a shape drawn inside another shape is not reported twice. </a:t>
            </a:r>
            <a:r>
              <a:rPr sz="1419" b="0" i="0">
                <a:solidFill>
                  <a:srgbClr val="FFFFFF"/>
                </a:solidFill>
                <a:latin typeface="Courier New"/>
                <a:ea typeface="Courier New"/>
                <a:cs typeface="Courier New"/>
                <a:sym typeface="Courier New"/>
              </a:rPr>
              <a:t>CHAIN_APPROX_SIMPLE</a:t>
            </a:r>
            <a:r>
              <a:rPr sz="1650" b="0" i="0">
                <a:solidFill>
                  <a:srgbClr val="FFFFFF"/>
                </a:solidFill>
                <a:latin typeface="Avenir"/>
                <a:ea typeface="Avenir"/>
                <a:cs typeface="Avenir"/>
                <a:sym typeface="Avenir"/>
              </a:rPr>
              <a:t> throws away points sitting in a straight line between two others — fewer numbers to store, and a square arrives as four corners instead of a hundred.</a:t>
            </a:r>
          </a:p>
        </p:txBody>
      </p:sp>
      <p:sp>
        <p:nvSpPr>
          <p:cNvPr id="7" name="blk0034"/>
          <p:cNvSpPr txBox="1"/>
          <p:nvPr/>
        </p:nvSpPr>
        <p:spPr>
          <a:xfrm>
            <a:off x="687600" y="6101512"/>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_</a:t>
            </a:r>
            <a:r>
              <a:rPr sz="1650" b="0" i="0">
                <a:solidFill>
                  <a:srgbClr val="FFFFFF"/>
                </a:solidFill>
                <a:latin typeface="Avenir"/>
                <a:ea typeface="Avenir"/>
                <a:cs typeface="Avenir"/>
                <a:sym typeface="Avenir"/>
              </a:rPr>
              <a:t> on the left of the equals sign is OpenCV’s hierarchy — a map of which shape sits inside which. This program has no use for it, so it goes straight in the bin.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Three </a:t>
            </a:r>
            <a:r>
              <a:rPr sz="2827" b="0" i="0">
                <a:solidFill>
                  <a:srgbClr val="FFFFFF"/>
                </a:solidFill>
                <a:latin typeface="Bungee"/>
                <a:ea typeface="Bungee"/>
                <a:cs typeface="Bungee"/>
                <a:sym typeface="Bungee"/>
              </a:rPr>
              <a:t>measurements</a:t>
            </a:r>
          </a:p>
        </p:txBody>
      </p:sp>
      <p:sp>
        <p:nvSpPr>
          <p:cNvPr id="3" name="blk003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Everything that follows is built from three numbers. Take them one at a time, and give each one its own guard.</a:t>
            </a:r>
          </a:p>
        </p:txBody>
      </p:sp>
      <p:sp>
        <p:nvSpPr>
          <p:cNvPr id="4" name="TextBox 3"/>
          <p:cNvSpPr txBox="1"/>
          <p:nvPr/>
        </p:nvSpPr>
        <p:spPr>
          <a:xfrm>
            <a:off x="1252800" y="19800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area</a:t>
            </a:r>
            <a:r>
              <a:rPr sz="1650" b="1" i="0">
                <a:solidFill>
                  <a:srgbClr val="FFCF08"/>
                </a:solidFill>
                <a:latin typeface="Avenir"/>
                <a:ea typeface="Avenir"/>
                <a:cs typeface="Avenir"/>
                <a:sym typeface="Avenir"/>
              </a:rPr>
              <a:t>  —  </a:t>
            </a:r>
            <a:r>
              <a:rPr sz="1419" b="1" i="0">
                <a:solidFill>
                  <a:srgbClr val="FFCF08"/>
                </a:solidFill>
                <a:latin typeface="Courier New"/>
                <a:ea typeface="Courier New"/>
                <a:cs typeface="Courier New"/>
                <a:sym typeface="Courier New"/>
              </a:rPr>
              <a:t>cv2.contourArea(cnt)</a:t>
            </a:r>
          </a:p>
        </p:txBody>
      </p:sp>
      <p:sp>
        <p:nvSpPr>
          <p:cNvPr id="5" name="TextBox 4"/>
          <p:cNvSpPr txBox="1"/>
          <p:nvPr/>
        </p:nvSpPr>
        <p:spPr>
          <a:xfrm>
            <a:off x="1252800" y="2278800"/>
            <a:ext cx="8118000" cy="57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How many pixels the shape covers. This is also how you throw away noise.</a:t>
            </a:r>
          </a:p>
        </p:txBody>
      </p:sp>
      <p:sp>
        <p:nvSpPr>
          <p:cNvPr id="6" name="TextBox 5"/>
          <p:cNvSpPr txBox="1"/>
          <p:nvPr/>
        </p:nvSpPr>
        <p:spPr>
          <a:xfrm>
            <a:off x="1252800" y="28800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perimeter</a:t>
            </a:r>
            <a:r>
              <a:rPr sz="1650" b="1" i="0">
                <a:solidFill>
                  <a:srgbClr val="FFCF08"/>
                </a:solidFill>
                <a:latin typeface="Avenir"/>
                <a:ea typeface="Avenir"/>
                <a:cs typeface="Avenir"/>
                <a:sym typeface="Avenir"/>
              </a:rPr>
              <a:t>  —  </a:t>
            </a:r>
            <a:r>
              <a:rPr sz="1419" b="1" i="0">
                <a:solidFill>
                  <a:srgbClr val="FFCF08"/>
                </a:solidFill>
                <a:latin typeface="Courier New"/>
                <a:ea typeface="Courier New"/>
                <a:cs typeface="Courier New"/>
                <a:sym typeface="Courier New"/>
              </a:rPr>
              <a:t>cv2.arcLength(cnt, True)</a:t>
            </a:r>
          </a:p>
        </p:txBody>
      </p:sp>
      <p:sp>
        <p:nvSpPr>
          <p:cNvPr id="7" name="TextBox 6"/>
          <p:cNvSpPr txBox="1"/>
          <p:nvPr/>
        </p:nvSpPr>
        <p:spPr>
          <a:xfrm>
            <a:off x="1252800" y="3178800"/>
            <a:ext cx="8118000" cy="57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The distance all the way around the outline. The True means the contour is closed.</a:t>
            </a:r>
          </a:p>
        </p:txBody>
      </p:sp>
      <p:sp>
        <p:nvSpPr>
          <p:cNvPr id="8" name="TextBox 7"/>
          <p:cNvSpPr txBox="1"/>
          <p:nvPr/>
        </p:nvSpPr>
        <p:spPr>
          <a:xfrm>
            <a:off x="1252800" y="37800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bounding box</a:t>
            </a:r>
            <a:r>
              <a:rPr sz="1650" b="1" i="0">
                <a:solidFill>
                  <a:srgbClr val="FFCF08"/>
                </a:solidFill>
                <a:latin typeface="Avenir"/>
                <a:ea typeface="Avenir"/>
                <a:cs typeface="Avenir"/>
                <a:sym typeface="Avenir"/>
              </a:rPr>
              <a:t>  —  </a:t>
            </a:r>
            <a:r>
              <a:rPr sz="1419" b="1" i="0">
                <a:solidFill>
                  <a:srgbClr val="FFCF08"/>
                </a:solidFill>
                <a:latin typeface="Courier New"/>
                <a:ea typeface="Courier New"/>
                <a:cs typeface="Courier New"/>
                <a:sym typeface="Courier New"/>
              </a:rPr>
              <a:t>cv2.minAreaRect(cnt)</a:t>
            </a:r>
          </a:p>
        </p:txBody>
      </p:sp>
      <p:sp>
        <p:nvSpPr>
          <p:cNvPr id="9" name="TextBox 8"/>
          <p:cNvSpPr txBox="1"/>
          <p:nvPr/>
        </p:nvSpPr>
        <p:spPr>
          <a:xfrm>
            <a:off x="1252800" y="4078800"/>
            <a:ext cx="8118000" cy="57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The smallest rectangle that still contains the shape, rotated to hug it.</a:t>
            </a:r>
          </a:p>
        </p:txBody>
      </p:sp>
      <p:sp>
        <p:nvSpPr>
          <p:cNvPr id="10" name="blk0037"/>
          <p:cNvSpPr/>
          <p:nvPr/>
        </p:nvSpPr>
        <p:spPr>
          <a:xfrm>
            <a:off x="687600" y="4536000"/>
            <a:ext cx="8686800" cy="16475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37"/>
          <p:cNvSpPr txBox="1"/>
          <p:nvPr/>
        </p:nvSpPr>
        <p:spPr>
          <a:xfrm>
            <a:off x="910799" y="4698000"/>
            <a:ext cx="8240400" cy="1323578"/>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area = cv2.contourArea(cnt)</a:t>
            </a:r>
          </a:p>
          <a:p>
            <a:pPr algn="l">
              <a:lnSpc>
                <a:spcPct val="115000"/>
              </a:lnSpc>
            </a:pPr>
            <a:r>
              <a:rPr sz="1600" b="0" i="0">
                <a:solidFill>
                  <a:srgbClr val="FFFFFF"/>
                </a:solidFill>
                <a:latin typeface="Courier New"/>
                <a:ea typeface="Courier New"/>
                <a:cs typeface="Courier New"/>
                <a:sym typeface="Courier New"/>
              </a:rPr>
              <a:t>peri = cv2.arcLength(cnt, True)</a:t>
            </a:r>
          </a:p>
          <a:p>
            <a:pPr algn="l">
              <a:lnSpc>
                <a:spcPct val="115000"/>
              </a:lnSpc>
            </a:pPr>
            <a:r>
              <a:rPr sz="1600" b="0" i="0">
                <a:solidFill>
                  <a:srgbClr val="FFFFFF"/>
                </a:solidFill>
                <a:latin typeface="Courier New"/>
                <a:ea typeface="Courier New"/>
                <a:cs typeface="Courier New"/>
                <a:sym typeface="Courier New"/>
              </a:rPr>
              <a:t>rect = cv2.minAreaRect(cnt)</a:t>
            </a:r>
          </a:p>
          <a:p>
            <a:pPr algn="l">
              <a:lnSpc>
                <a:spcPct val="115000"/>
              </a:lnSpc>
            </a:pPr>
            <a:r>
              <a:rPr sz="1600" b="0" i="0">
                <a:solidFill>
                  <a:srgbClr val="FFFFFF"/>
                </a:solidFill>
                <a:latin typeface="Courier New"/>
                <a:ea typeface="Courier New"/>
                <a:cs typeface="Courier New"/>
                <a:sym typeface="Courier New"/>
              </a:rPr>
              <a:t>(cx, cy), (w, h), angle = rect</a:t>
            </a:r>
          </a:p>
          <a:p>
            <a:pPr algn="l">
              <a:lnSpc>
                <a:spcPct val="115000"/>
              </a:lnSpc>
            </a:pPr>
            <a:r>
              <a:rPr sz="1600" b="0" i="0">
                <a:solidFill>
                  <a:srgbClr val="FFFFFF"/>
                </a:solidFill>
                <a:latin typeface="Courier New"/>
                <a:ea typeface="Courier New"/>
                <a:cs typeface="Courier New"/>
                <a:sym typeface="Courier New"/>
              </a:rPr>
              <a:t>rect_area = w * h</a:t>
            </a:r>
          </a:p>
        </p:txBody>
      </p:sp>
      <p:sp>
        <p:nvSpPr>
          <p:cNvPr id="12" name="blk0038"/>
          <p:cNvSpPr txBox="1"/>
          <p:nvPr/>
        </p:nvSpPr>
        <p:spPr>
          <a:xfrm>
            <a:off x="687600" y="6291578"/>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the fourth line. </a:t>
            </a:r>
            <a:r>
              <a:rPr sz="1419" b="0" i="0">
                <a:solidFill>
                  <a:srgbClr val="FFFFFF"/>
                </a:solidFill>
                <a:latin typeface="Courier New"/>
                <a:ea typeface="Courier New"/>
                <a:cs typeface="Courier New"/>
                <a:sym typeface="Courier New"/>
              </a:rPr>
              <a:t>(cx, cy), (w, h), angle = rect</a:t>
            </a:r>
            <a:r>
              <a:rPr sz="1650" b="0" i="0">
                <a:solidFill>
                  <a:srgbClr val="FFFFFF"/>
                </a:solidFill>
                <a:latin typeface="Avenir"/>
                <a:ea typeface="Avenir"/>
                <a:cs typeface="Avenir"/>
                <a:sym typeface="Avenir"/>
              </a:rPr>
              <a:t> is Python unpacking: one returned value, immediately split into three differently named ones. You will use this pattern constantly.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Three </a:t>
            </a:r>
            <a:r>
              <a:rPr sz="2827" b="0" i="0">
                <a:solidFill>
                  <a:srgbClr val="FFFFFF"/>
                </a:solidFill>
                <a:latin typeface="Bungee"/>
                <a:ea typeface="Bungee"/>
                <a:cs typeface="Bungee"/>
                <a:sym typeface="Bungee"/>
              </a:rPr>
              <a:t>metrics</a:t>
            </a:r>
          </a:p>
        </p:txBody>
      </p:sp>
      <p:sp>
        <p:nvSpPr>
          <p:cNvPr id="3" name="blk004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Raw measurements are awkward to compare. A circle of 3000 pixels and a square of 3000 pixels are the same size and nothing else. These three ratios turn size into shape.</a:t>
            </a:r>
          </a:p>
        </p:txBody>
      </p:sp>
      <p:sp>
        <p:nvSpPr>
          <p:cNvPr id="4" name="blk0041"/>
          <p:cNvSpPr/>
          <p:nvPr/>
        </p:nvSpPr>
        <p:spPr>
          <a:xfrm>
            <a:off x="687600" y="228096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1"/>
          <p:cNvSpPr txBox="1"/>
          <p:nvPr/>
        </p:nvSpPr>
        <p:spPr>
          <a:xfrm>
            <a:off x="910799" y="2442959"/>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extent = float(area) / rect_area</a:t>
            </a:r>
          </a:p>
          <a:p>
            <a:pPr algn="l">
              <a:lnSpc>
                <a:spcPct val="115000"/>
              </a:lnSpc>
            </a:pPr>
            <a:r>
              <a:rPr sz="1500" b="0" i="0">
                <a:solidFill>
                  <a:srgbClr val="FFFFFF"/>
                </a:solidFill>
                <a:latin typeface="Courier New"/>
                <a:ea typeface="Courier New"/>
                <a:cs typeface="Courier New"/>
                <a:sym typeface="Courier New"/>
              </a:rPr>
              <a:t>circularity = (4 * np.pi * area) / (peri ** 2)</a:t>
            </a:r>
          </a:p>
          <a:p>
            <a:pPr algn="l">
              <a:lnSpc>
                <a:spcPct val="115000"/>
              </a:lnSpc>
            </a:pPr>
            <a:r>
              <a:rPr sz="1500" b="0" i="0">
                <a:solidFill>
                  <a:srgbClr val="FFFFFF"/>
                </a:solidFill>
                <a:latin typeface="Courier New"/>
                <a:ea typeface="Courier New"/>
                <a:cs typeface="Courier New"/>
                <a:sym typeface="Courier New"/>
              </a:rPr>
              <a:t>aspect_ratio = float(min(w, h)) / max(w, h) if max(w, h) &gt; 0 else 0</a:t>
            </a:r>
          </a:p>
        </p:txBody>
      </p:sp>
      <p:sp>
        <p:nvSpPr>
          <p:cNvPr id="6" name="blk0042"/>
          <p:cNvSpPr txBox="1"/>
          <p:nvPr/>
        </p:nvSpPr>
        <p:spPr>
          <a:xfrm>
            <a:off x="687600" y="3457472"/>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Python ideas in three lines. </a:t>
            </a:r>
            <a:r>
              <a:rPr sz="1419" b="0" i="0">
                <a:solidFill>
                  <a:srgbClr val="FFFFFF"/>
                </a:solidFill>
                <a:latin typeface="Courier New"/>
                <a:ea typeface="Courier New"/>
                <a:cs typeface="Courier New"/>
                <a:sym typeface="Courier New"/>
              </a:rPr>
              <a:t>**</a:t>
            </a:r>
            <a:r>
              <a:rPr sz="1650" b="0" i="0">
                <a:solidFill>
                  <a:srgbClr val="FFFFFF"/>
                </a:solidFill>
                <a:latin typeface="Avenir"/>
                <a:ea typeface="Avenir"/>
                <a:cs typeface="Avenir"/>
                <a:sym typeface="Avenir"/>
              </a:rPr>
              <a:t> is the power operator, so </a:t>
            </a:r>
            <a:r>
              <a:rPr sz="1419" b="0" i="0">
                <a:solidFill>
                  <a:srgbClr val="FFFFFF"/>
                </a:solidFill>
                <a:latin typeface="Courier New"/>
                <a:ea typeface="Courier New"/>
                <a:cs typeface="Courier New"/>
                <a:sym typeface="Courier New"/>
              </a:rPr>
              <a:t>peri ** 2</a:t>
            </a:r>
            <a:r>
              <a:rPr sz="1650" b="0" i="0">
                <a:solidFill>
                  <a:srgbClr val="FFFFFF"/>
                </a:solidFill>
                <a:latin typeface="Avenir"/>
                <a:ea typeface="Avenir"/>
                <a:cs typeface="Avenir"/>
                <a:sym typeface="Avenir"/>
              </a:rPr>
              <a:t> squares the perimeter. The third line ends in </a:t>
            </a:r>
            <a:r>
              <a:rPr sz="1419" b="0" i="0">
                <a:solidFill>
                  <a:srgbClr val="FFFFFF"/>
                </a:solidFill>
                <a:latin typeface="Courier New"/>
                <a:ea typeface="Courier New"/>
                <a:cs typeface="Courier New"/>
                <a:sym typeface="Courier New"/>
              </a:rPr>
              <a:t>... if ... else 0</a:t>
            </a:r>
            <a:r>
              <a:rPr sz="1650" b="0" i="0">
                <a:solidFill>
                  <a:srgbClr val="FFFFFF"/>
                </a:solidFill>
                <a:latin typeface="Avenir"/>
                <a:ea typeface="Avenir"/>
                <a:cs typeface="Avenir"/>
                <a:sym typeface="Avenir"/>
              </a:rPr>
              <a:t>, a conditional expression: divide only when the larger side is not zero, otherwise fall back to zero.</a:t>
            </a:r>
          </a:p>
        </p:txBody>
      </p:sp>
      <p:graphicFrame>
        <p:nvGraphicFramePr>
          <p:cNvPr id="7" name="blk0043"/>
          <p:cNvGraphicFramePr>
            <a:graphicFrameLocks noGrp="1"/>
          </p:cNvGraphicFramePr>
          <p:nvPr/>
        </p:nvGraphicFramePr>
        <p:xfrm>
          <a:off x="687600" y="4772480"/>
          <a:ext cx="8388000" cy="1691997"/>
        </p:xfrm>
        <a:graphic>
          <a:graphicData uri="http://schemas.openxmlformats.org/drawingml/2006/table">
            <a:tbl>
              <a:tblPr firstRow="0" bandRow="0"/>
              <a:tblGrid>
                <a:gridCol w="1404000"/>
                <a:gridCol w="2232000"/>
                <a:gridCol w="1152000"/>
                <a:gridCol w="1152000"/>
                <a:gridCol w="1152000"/>
                <a:gridCol w="1296000"/>
              </a:tblGrid>
              <a:tr h="450000">
                <a:tc>
                  <a:txBody>
                    <a:bodyPr wrap="square"/>
                    <a:lstStyle/>
                    <a:p>
                      <a:pPr algn="l">
                        <a:lnSpc>
                          <a:spcPct val="100000"/>
                        </a:lnSpc>
                      </a:pPr>
                      <a:r>
                        <a:rPr sz="1350" b="1" i="0">
                          <a:solidFill>
                            <a:srgbClr val="FFCF08"/>
                          </a:solidFill>
                          <a:latin typeface="Avenir"/>
                          <a:ea typeface="Avenir"/>
                          <a:cs typeface="Avenir"/>
                          <a:sym typeface="Avenir"/>
                        </a:rPr>
                        <a:t>Metric</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Formula</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Triangle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Square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Circle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Rectangle</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extent</a:t>
                      </a:r>
                    </a:p>
                  </a:txBody>
                  <a:tcPr marL="72000" marR="72000" marT="36000" marB="36000" anchor="ctr">
                    <a:solidFill>
                      <a:srgbClr val="2E338C"/>
                    </a:solidFill>
                  </a:tcPr>
                </a:tc>
                <a:tc>
                  <a:txBody>
                    <a:bodyPr wrap="square"/>
                    <a:lstStyle/>
                    <a:p>
                      <a:pPr algn="ctr">
                        <a:lnSpc>
                          <a:spcPct val="100000"/>
                        </a:lnSpc>
                      </a:pPr>
                      <a:r>
                        <a:rPr sz="1161" b="0" i="0">
                          <a:solidFill>
                            <a:srgbClr val="FFFFFF"/>
                          </a:solidFill>
                          <a:latin typeface="Courier New"/>
                          <a:ea typeface="Courier New"/>
                          <a:cs typeface="Courier New"/>
                          <a:sym typeface="Courier New"/>
                        </a:rPr>
                        <a:t>area / rect_area</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~0.50</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~1.00</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~0.79</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~1.00</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circularity</a:t>
                      </a:r>
                    </a:p>
                  </a:txBody>
                  <a:tcPr marL="72000" marR="72000" marT="36000" marB="36000" anchor="ctr">
                    <a:solidFill>
                      <a:srgbClr val="2E338C"/>
                    </a:solidFill>
                  </a:tcPr>
                </a:tc>
                <a:tc>
                  <a:txBody>
                    <a:bodyPr wrap="square"/>
                    <a:lstStyle/>
                    <a:p>
                      <a:pPr algn="ctr">
                        <a:lnSpc>
                          <a:spcPct val="100000"/>
                        </a:lnSpc>
                      </a:pPr>
                      <a:r>
                        <a:rPr sz="1161" b="0" i="0">
                          <a:solidFill>
                            <a:srgbClr val="FFFFFF"/>
                          </a:solidFill>
                          <a:latin typeface="Courier New"/>
                          <a:ea typeface="Courier New"/>
                          <a:cs typeface="Courier New"/>
                          <a:sym typeface="Courier New"/>
                        </a:rPr>
                        <a:t>4π·area / peri²</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~0.60</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~0.79</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~1.00</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~0.70</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aspect_ratio</a:t>
                      </a:r>
                    </a:p>
                  </a:txBody>
                  <a:tcPr marL="72000" marR="72000" marT="36000" marB="36000" anchor="ctr">
                    <a:solidFill>
                      <a:srgbClr val="2E338C"/>
                    </a:solidFill>
                  </a:tcPr>
                </a:tc>
                <a:tc>
                  <a:txBody>
                    <a:bodyPr wrap="square"/>
                    <a:lstStyle/>
                    <a:p>
                      <a:pPr algn="ctr">
                        <a:lnSpc>
                          <a:spcPct val="100000"/>
                        </a:lnSpc>
                      </a:pPr>
                      <a:r>
                        <a:rPr sz="1161" b="0" i="0">
                          <a:solidFill>
                            <a:srgbClr val="FFFFFF"/>
                          </a:solidFill>
                          <a:latin typeface="Courier New"/>
                          <a:ea typeface="Courier New"/>
                          <a:cs typeface="Courier New"/>
                          <a:sym typeface="Courier New"/>
                        </a:rPr>
                        <a:t>min(w,h) / max(w,h)</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~0.87</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~1.00</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~1.00</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~0.50</a:t>
                      </a:r>
                    </a:p>
                  </a:txBody>
                  <a:tcPr marL="72000" marR="72000" marT="36000" marB="36000" anchor="ctr">
                    <a:solidFill>
                      <a:srgbClr val="2E338C"/>
                    </a:solidFill>
                  </a:tcPr>
                </a:tc>
              </a:tr>
            </a:tbl>
          </a:graphicData>
        </a:graphic>
      </p:graphicFrame>
      <p:sp>
        <p:nvSpPr>
          <p:cNvPr id="8" name="blk0044"/>
          <p:cNvSpPr txBox="1"/>
          <p:nvPr/>
        </p:nvSpPr>
        <p:spPr>
          <a:xfrm>
            <a:off x="687600" y="6572476"/>
            <a:ext cx="7542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Extent</a:t>
            </a:r>
            <a:r>
              <a:rPr sz="1650" b="0" i="0">
                <a:solidFill>
                  <a:srgbClr val="FFFFFF"/>
                </a:solidFill>
                <a:latin typeface="Avenir"/>
                <a:ea typeface="Avenir"/>
                <a:cs typeface="Avenir"/>
                <a:sym typeface="Avenir"/>
              </a:rPr>
              <a:t> fills how much of its own box the shape takes up. </a:t>
            </a:r>
            <a:r>
              <a:rPr sz="1650" b="1" i="0">
                <a:solidFill>
                  <a:srgbClr val="FFFFFF"/>
                </a:solidFill>
                <a:latin typeface="Google Sans"/>
                <a:ea typeface="Google Sans"/>
                <a:cs typeface="Google Sans"/>
                <a:sym typeface="Google Sans"/>
              </a:rPr>
              <a:t>Circularity</a:t>
            </a:r>
            <a:r>
              <a:rPr sz="1650" b="0" i="0">
                <a:solidFill>
                  <a:srgbClr val="FFFFFF"/>
                </a:solidFill>
                <a:latin typeface="Avenir"/>
                <a:ea typeface="Avenir"/>
                <a:cs typeface="Avenir"/>
                <a:sym typeface="Avenir"/>
              </a:rPr>
              <a:t> scores how close the outline is to a perfect circle. </a:t>
            </a:r>
            <a:r>
              <a:rPr sz="1650" b="1" i="0">
                <a:solidFill>
                  <a:srgbClr val="FFFFFF"/>
                </a:solidFill>
                <a:latin typeface="Google Sans"/>
                <a:ea typeface="Google Sans"/>
                <a:cs typeface="Google Sans"/>
                <a:sym typeface="Google Sans"/>
              </a:rPr>
              <a:t>Aspect ratio</a:t>
            </a:r>
            <a:r>
              <a:rPr sz="1650" b="0" i="0">
                <a:solidFill>
                  <a:srgbClr val="FFFFFF"/>
                </a:solidFill>
                <a:latin typeface="Avenir"/>
                <a:ea typeface="Avenir"/>
                <a:cs typeface="Avenir"/>
                <a:sym typeface="Avenir"/>
              </a:rPr>
              <a:t> compares the sides: 1.0 means a square.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Counting </a:t>
            </a:r>
            <a:r>
              <a:rPr sz="2827" b="0" i="0">
                <a:solidFill>
                  <a:srgbClr val="FFFFFF"/>
                </a:solidFill>
                <a:latin typeface="Bungee"/>
                <a:ea typeface="Bungee"/>
                <a:cs typeface="Bungee"/>
                <a:sym typeface="Bungee"/>
              </a:rPr>
              <a:t>corners</a:t>
            </a:r>
          </a:p>
        </p:txBody>
      </p:sp>
      <p:sp>
        <p:nvSpPr>
          <p:cNvPr id="3" name="blk004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Extent and circularity are not enough on their own. A square and a rectangle both fill their box almost completely, so you need one more clue: how many corners has this shape got?</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approxPolyDP</a:t>
            </a:r>
            <a:r>
              <a:rPr sz="2027" b="0" i="0">
                <a:solidFill>
                  <a:srgbClr val="FFFFFF"/>
                </a:solidFill>
                <a:latin typeface="Avenir"/>
                <a:ea typeface="Avenir"/>
                <a:cs typeface="Avenir"/>
                <a:sym typeface="Avenir"/>
              </a:rPr>
              <a:t> simplifies the outline, discarding points that do not change the direction much, and hands back the corners that are left.</a:t>
            </a:r>
          </a:p>
        </p:txBody>
      </p:sp>
      <p:sp>
        <p:nvSpPr>
          <p:cNvPr id="4" name="blk0047"/>
          <p:cNvSpPr txBox="1"/>
          <p:nvPr/>
        </p:nvSpPr>
        <p:spPr>
          <a:xfrm>
            <a:off x="687600" y="3876435"/>
            <a:ext cx="8686800" cy="529431"/>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approx = cv2.approxPolyDP(cnt, 0.04 * peri, True)</a:t>
            </a:r>
          </a:p>
          <a:p>
            <a:pPr algn="l">
              <a:lnSpc>
                <a:spcPct val="115000"/>
              </a:lnSpc>
            </a:pPr>
            <a:r>
              <a:rPr sz="1600" b="0" i="0">
                <a:solidFill>
                  <a:srgbClr val="FFFFFF"/>
                </a:solidFill>
                <a:latin typeface="Courier New"/>
                <a:ea typeface="Courier New"/>
                <a:cs typeface="Courier New"/>
                <a:sym typeface="Courier New"/>
              </a:rPr>
              <a:t>num_vertices = len(approx)</a:t>
            </a:r>
          </a:p>
        </p:txBody>
      </p:sp>
      <p:sp>
        <p:nvSpPr>
          <p:cNvPr id="5" name="blk0048"/>
          <p:cNvSpPr txBox="1"/>
          <p:nvPr/>
        </p:nvSpPr>
        <p:spPr>
          <a:xfrm>
            <a:off x="687600" y="4513866"/>
            <a:ext cx="7542000" cy="936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0.04 * peri</a:t>
            </a:r>
            <a:r>
              <a:rPr sz="1650" b="0" i="0">
                <a:solidFill>
                  <a:srgbClr val="FFFFFF"/>
                </a:solidFill>
                <a:latin typeface="Avenir"/>
                <a:ea typeface="Avenir"/>
                <a:cs typeface="Avenir"/>
                <a:sym typeface="Avenir"/>
              </a:rPr>
              <a:t> is the tolerance, and it scales with the shape — a big shape is allowed to be sloppy, a small one is not. Set it to 0 and you get every original pixel back; set it far too high and a square collapses to a single line.</a:t>
            </a:r>
          </a:p>
        </p:txBody>
      </p:sp>
      <p:sp>
        <p:nvSpPr>
          <p:cNvPr id="6" name="blk0049"/>
          <p:cNvSpPr/>
          <p:nvPr/>
        </p:nvSpPr>
        <p:spPr>
          <a:xfrm>
            <a:off x="687600" y="5828874"/>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49"/>
          <p:cNvSpPr/>
          <p:nvPr/>
        </p:nvSpPr>
        <p:spPr>
          <a:xfrm>
            <a:off x="885600" y="619967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49"/>
          <p:cNvSpPr txBox="1"/>
          <p:nvPr/>
        </p:nvSpPr>
        <p:spPr>
          <a:xfrm>
            <a:off x="1162800" y="5972874"/>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These two lines are already written for you in the starter file. Do not retype them — just notice that num_vertices is the number you will test in a moment.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Gates and </a:t>
            </a:r>
            <a:r>
              <a:rPr sz="2827" b="0" i="0">
                <a:solidFill>
                  <a:srgbClr val="FFFFFF"/>
                </a:solidFill>
                <a:latin typeface="Bungee"/>
                <a:ea typeface="Bungee"/>
                <a:cs typeface="Bungee"/>
                <a:sym typeface="Bungee"/>
              </a:rPr>
              <a:t>guards</a:t>
            </a:r>
          </a:p>
        </p:txBody>
      </p:sp>
      <p:sp>
        <p:nvSpPr>
          <p:cNvPr id="3" name="blk005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Before a shape is measured, the program throws most contours away. Before a shape is divided, it checks the divisor is not zero. Both habits are worth copying.</a:t>
            </a:r>
          </a:p>
        </p:txBody>
      </p:sp>
      <p:sp>
        <p:nvSpPr>
          <p:cNvPr id="4" name="blk0052"/>
          <p:cNvSpPr/>
          <p:nvPr/>
        </p:nvSpPr>
        <p:spPr>
          <a:xfrm>
            <a:off x="687600" y="2302559"/>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2"/>
          <p:cNvSpPr txBox="1"/>
          <p:nvPr/>
        </p:nvSpPr>
        <p:spPr>
          <a:xfrm>
            <a:off x="687600" y="2302559"/>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052"/>
          <p:cNvSpPr txBox="1"/>
          <p:nvPr/>
        </p:nvSpPr>
        <p:spPr>
          <a:xfrm>
            <a:off x="1252800" y="22809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The area gate</a:t>
            </a:r>
          </a:p>
        </p:txBody>
      </p:sp>
      <p:sp>
        <p:nvSpPr>
          <p:cNvPr id="7" name="blk0052"/>
          <p:cNvSpPr txBox="1"/>
          <p:nvPr/>
        </p:nvSpPr>
        <p:spPr>
          <a:xfrm>
            <a:off x="1252800" y="2601359"/>
            <a:ext cx="8118000" cy="648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A shape has to occupy between 2% and 80% of the cropped view. Anything smaller is dust or a shadow; anything larger is your hand, or the rim of the plate.</a:t>
            </a:r>
          </a:p>
        </p:txBody>
      </p:sp>
      <p:sp>
        <p:nvSpPr>
          <p:cNvPr id="8" name="blk0053"/>
          <p:cNvSpPr/>
          <p:nvPr/>
        </p:nvSpPr>
        <p:spPr>
          <a:xfrm>
            <a:off x="687600" y="32796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53"/>
          <p:cNvSpPr txBox="1"/>
          <p:nvPr/>
        </p:nvSpPr>
        <p:spPr>
          <a:xfrm>
            <a:off x="687600" y="32796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053"/>
          <p:cNvSpPr txBox="1"/>
          <p:nvPr/>
        </p:nvSpPr>
        <p:spPr>
          <a:xfrm>
            <a:off x="1252800" y="32580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The zero guards</a:t>
            </a:r>
          </a:p>
        </p:txBody>
      </p:sp>
      <p:sp>
        <p:nvSpPr>
          <p:cNvPr id="11" name="blk0053"/>
          <p:cNvSpPr txBox="1"/>
          <p:nvPr/>
        </p:nvSpPr>
        <p:spPr>
          <a:xfrm>
            <a:off x="1252800" y="3578400"/>
            <a:ext cx="8118000" cy="792000"/>
          </a:xfrm>
          <a:prstGeom prst="rect">
            <a:avLst/>
          </a:prstGeom>
          <a:noFill/>
        </p:spPr>
        <p:txBody>
          <a:bodyPr wrap="square" anchor="t" lIns="0" rIns="0" tIns="0" bIns="0">
            <a:noAutofit/>
          </a:bodyPr>
          <a:lstStyle/>
          <a:p>
            <a:pPr algn="l">
              <a:lnSpc>
                <a:spcPct val="120000"/>
              </a:lnSpc>
            </a:pPr>
            <a:r>
              <a:rPr sz="1290" b="0" i="0">
                <a:solidFill>
                  <a:srgbClr val="FFFFFF"/>
                </a:solidFill>
                <a:latin typeface="Courier New"/>
                <a:ea typeface="Courier New"/>
                <a:cs typeface="Courier New"/>
                <a:sym typeface="Courier New"/>
              </a:rPr>
              <a:t>peri == 0</a:t>
            </a:r>
            <a:r>
              <a:rPr sz="1500" b="0" i="0">
                <a:solidFill>
                  <a:srgbClr val="FFFFFF"/>
                </a:solidFill>
                <a:latin typeface="Avenir"/>
                <a:ea typeface="Avenir"/>
                <a:cs typeface="Avenir"/>
                <a:sym typeface="Avenir"/>
              </a:rPr>
              <a:t> and </a:t>
            </a:r>
            <a:r>
              <a:rPr sz="1290" b="0" i="0">
                <a:solidFill>
                  <a:srgbClr val="FFFFFF"/>
                </a:solidFill>
                <a:latin typeface="Courier New"/>
                <a:ea typeface="Courier New"/>
                <a:cs typeface="Courier New"/>
                <a:sym typeface="Courier New"/>
              </a:rPr>
              <a:t>rect_area == 0</a:t>
            </a:r>
            <a:r>
              <a:rPr sz="1500" b="0" i="0">
                <a:solidFill>
                  <a:srgbClr val="FFFFFF"/>
                </a:solidFill>
                <a:latin typeface="Avenir"/>
                <a:ea typeface="Avenir"/>
                <a:cs typeface="Avenir"/>
                <a:sym typeface="Avenir"/>
              </a:rPr>
              <a:t> look fussy, but dividing by zero raises </a:t>
            </a:r>
            <a:r>
              <a:rPr sz="1290" b="0" i="0">
                <a:solidFill>
                  <a:srgbClr val="FFFFFF"/>
                </a:solidFill>
                <a:latin typeface="Courier New"/>
                <a:ea typeface="Courier New"/>
                <a:cs typeface="Courier New"/>
                <a:sym typeface="Courier New"/>
              </a:rPr>
              <a:t>ZeroDivisionError</a:t>
            </a:r>
            <a:r>
              <a:rPr sz="1500" b="0" i="0">
                <a:solidFill>
                  <a:srgbClr val="FFFFFF"/>
                </a:solidFill>
                <a:latin typeface="Avenir"/>
                <a:ea typeface="Avenir"/>
                <a:cs typeface="Avenir"/>
                <a:sym typeface="Avenir"/>
              </a:rPr>
              <a:t> and kills the whole program. A camera pointed at nothing will do this to you within a minute.</a:t>
            </a:r>
          </a:p>
        </p:txBody>
      </p:sp>
      <p:sp>
        <p:nvSpPr>
          <p:cNvPr id="12" name="blk0054"/>
          <p:cNvSpPr/>
          <p:nvPr/>
        </p:nvSpPr>
        <p:spPr>
          <a:xfrm>
            <a:off x="687600" y="450936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54"/>
          <p:cNvSpPr txBox="1"/>
          <p:nvPr/>
        </p:nvSpPr>
        <p:spPr>
          <a:xfrm>
            <a:off x="910799" y="4671360"/>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if area &lt; (img_h * img_w * 0.02) or area &gt; (img_h * img_w * 0.80):</a:t>
            </a:r>
          </a:p>
          <a:p>
            <a:pPr algn="l">
              <a:lnSpc>
                <a:spcPct val="115000"/>
              </a:lnSpc>
            </a:pPr>
            <a:r>
              <a:rPr sz="1500" b="0" i="0">
                <a:solidFill>
                  <a:srgbClr val="FFFFFF"/>
                </a:solidFill>
                <a:latin typeface="Courier New"/>
                <a:ea typeface="Courier New"/>
                <a:cs typeface="Courier New"/>
                <a:sym typeface="Courier New"/>
              </a:rPr>
              <a:t>    continue</a:t>
            </a:r>
          </a:p>
        </p:txBody>
      </p:sp>
      <p:sp>
        <p:nvSpPr>
          <p:cNvPr id="14" name="blk0055"/>
          <p:cNvSpPr txBox="1"/>
          <p:nvPr/>
        </p:nvSpPr>
        <p:spPr>
          <a:xfrm>
            <a:off x="687600" y="5437701"/>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or</a:t>
            </a:r>
            <a:r>
              <a:rPr sz="1650" b="0" i="0">
                <a:solidFill>
                  <a:srgbClr val="FFFFFF"/>
                </a:solidFill>
                <a:latin typeface="Avenir"/>
                <a:ea typeface="Avenir"/>
                <a:cs typeface="Avenir"/>
                <a:sym typeface="Avenir"/>
              </a:rPr>
              <a:t> matters. Either condition on its own is enough to reject the contour, so the line is long and hard to read on purpose — split it across lines with brackets if that helps you.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a:t>
            </a:r>
            <a:r>
              <a:rPr sz="2827" b="0" i="0">
                <a:solidFill>
                  <a:srgbClr val="FFFFFF"/>
                </a:solidFill>
                <a:latin typeface="Bungee"/>
                <a:ea typeface="Bungee"/>
                <a:cs typeface="Bungee"/>
                <a:sym typeface="Bungee"/>
              </a:rPr>
              <a:t>decision</a:t>
            </a:r>
          </a:p>
        </p:txBody>
      </p:sp>
      <p:sp>
        <p:nvSpPr>
          <p:cNvPr id="3" name="blk005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Now the payoff. Four tests, tried in order, and the first one that succeeds names the shape.</a:t>
            </a:r>
          </a:p>
        </p:txBody>
      </p:sp>
      <p:sp>
        <p:nvSpPr>
          <p:cNvPr id="4" name="blk0058"/>
          <p:cNvSpPr/>
          <p:nvPr/>
        </p:nvSpPr>
        <p:spPr>
          <a:xfrm>
            <a:off x="687600" y="2015999"/>
            <a:ext cx="8686800" cy="247481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8"/>
          <p:cNvSpPr txBox="1"/>
          <p:nvPr/>
        </p:nvSpPr>
        <p:spPr>
          <a:xfrm>
            <a:off x="910799" y="2178000"/>
            <a:ext cx="8240400" cy="215081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object_type = "Unknown"</a:t>
            </a:r>
          </a:p>
          <a:p>
            <a:pPr algn="l">
              <a:lnSpc>
                <a:spcPct val="115000"/>
              </a:lnSpc>
            </a:pPr>
            <a:r>
              <a:rPr sz="1300" b="0" i="0">
                <a:solidFill>
                  <a:srgbClr val="FFFFFF"/>
                </a:solidFill>
                <a:latin typeface="Courier New"/>
                <a:ea typeface="Courier New"/>
                <a:cs typeface="Courier New"/>
                <a:sym typeface="Courier New"/>
              </a:rPr>
              <a:t/>
            </a:r>
          </a:p>
          <a:p>
            <a:pPr algn="l">
              <a:lnSpc>
                <a:spcPct val="115000"/>
              </a:lnSpc>
            </a:pPr>
            <a:r>
              <a:rPr sz="1300" b="0" i="0">
                <a:solidFill>
                  <a:srgbClr val="FFFFFF"/>
                </a:solidFill>
                <a:latin typeface="Courier New"/>
                <a:ea typeface="Courier New"/>
                <a:cs typeface="Courier New"/>
                <a:sym typeface="Courier New"/>
              </a:rPr>
              <a:t>if extent &lt; 0.65 or num_vertices == 3:</a:t>
            </a:r>
          </a:p>
          <a:p>
            <a:pPr algn="l">
              <a:lnSpc>
                <a:spcPct val="115000"/>
              </a:lnSpc>
            </a:pPr>
            <a:r>
              <a:rPr sz="1300" b="0" i="0">
                <a:solidFill>
                  <a:srgbClr val="FFFFFF"/>
                </a:solidFill>
                <a:latin typeface="Courier New"/>
                <a:ea typeface="Courier New"/>
                <a:cs typeface="Courier New"/>
                <a:sym typeface="Courier New"/>
              </a:rPr>
              <a:t>    object_type = "Triangle"</a:t>
            </a:r>
          </a:p>
          <a:p>
            <a:pPr algn="l">
              <a:lnSpc>
                <a:spcPct val="115000"/>
              </a:lnSpc>
            </a:pPr>
            <a:r>
              <a:rPr sz="1300" b="0" i="0">
                <a:solidFill>
                  <a:srgbClr val="FFFFFF"/>
                </a:solidFill>
                <a:latin typeface="Courier New"/>
                <a:ea typeface="Courier New"/>
                <a:cs typeface="Courier New"/>
                <a:sym typeface="Courier New"/>
              </a:rPr>
              <a:t>elif extent &gt;= 0.82 and aspect_ratio &gt;= 0.78:</a:t>
            </a:r>
          </a:p>
          <a:p>
            <a:pPr algn="l">
              <a:lnSpc>
                <a:spcPct val="115000"/>
              </a:lnSpc>
            </a:pPr>
            <a:r>
              <a:rPr sz="1300" b="0" i="0">
                <a:solidFill>
                  <a:srgbClr val="FFFFFF"/>
                </a:solidFill>
                <a:latin typeface="Courier New"/>
                <a:ea typeface="Courier New"/>
                <a:cs typeface="Courier New"/>
                <a:sym typeface="Courier New"/>
              </a:rPr>
              <a:t>    object_type = "Square"</a:t>
            </a:r>
          </a:p>
          <a:p>
            <a:pPr algn="l">
              <a:lnSpc>
                <a:spcPct val="115000"/>
              </a:lnSpc>
            </a:pPr>
            <a:r>
              <a:rPr sz="1300" b="0" i="0">
                <a:solidFill>
                  <a:srgbClr val="FFFFFF"/>
                </a:solidFill>
                <a:latin typeface="Courier New"/>
                <a:ea typeface="Courier New"/>
                <a:cs typeface="Courier New"/>
                <a:sym typeface="Courier New"/>
              </a:rPr>
              <a:t>elif circularity &gt;= 0.85 or (0.68 &lt;= extent &lt; 0.82 and aspect_ratio &gt;= 0.80):</a:t>
            </a:r>
          </a:p>
          <a:p>
            <a:pPr algn="l">
              <a:lnSpc>
                <a:spcPct val="115000"/>
              </a:lnSpc>
            </a:pPr>
            <a:r>
              <a:rPr sz="1300" b="0" i="0">
                <a:solidFill>
                  <a:srgbClr val="FFFFFF"/>
                </a:solidFill>
                <a:latin typeface="Courier New"/>
                <a:ea typeface="Courier New"/>
                <a:cs typeface="Courier New"/>
                <a:sym typeface="Courier New"/>
              </a:rPr>
              <a:t>    object_type = "Circle"</a:t>
            </a:r>
          </a:p>
          <a:p>
            <a:pPr algn="l">
              <a:lnSpc>
                <a:spcPct val="115000"/>
              </a:lnSpc>
            </a:pPr>
            <a:r>
              <a:rPr sz="1300" b="0" i="0">
                <a:solidFill>
                  <a:srgbClr val="FFFFFF"/>
                </a:solidFill>
                <a:latin typeface="Courier New"/>
                <a:ea typeface="Courier New"/>
                <a:cs typeface="Courier New"/>
                <a:sym typeface="Courier New"/>
              </a:rPr>
              <a:t>else:</a:t>
            </a:r>
          </a:p>
          <a:p>
            <a:pPr algn="l">
              <a:lnSpc>
                <a:spcPct val="115000"/>
              </a:lnSpc>
            </a:pPr>
            <a:r>
              <a:rPr sz="1300" b="0" i="0">
                <a:solidFill>
                  <a:srgbClr val="FFFFFF"/>
                </a:solidFill>
                <a:latin typeface="Courier New"/>
                <a:ea typeface="Courier New"/>
                <a:cs typeface="Courier New"/>
                <a:sym typeface="Courier New"/>
              </a:rPr>
              <a:t>    object_type = "Rectangle"</a:t>
            </a:r>
          </a:p>
        </p:txBody>
      </p:sp>
      <p:sp>
        <p:nvSpPr>
          <p:cNvPr id="6" name="blk0059"/>
          <p:cNvSpPr txBox="1"/>
          <p:nvPr/>
        </p:nvSpPr>
        <p:spPr>
          <a:xfrm>
            <a:off x="687600" y="4598813"/>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Starting at </a:t>
            </a:r>
            <a:r>
              <a:rPr sz="1419" b="0" i="0">
                <a:solidFill>
                  <a:srgbClr val="FFFFFF"/>
                </a:solidFill>
                <a:latin typeface="Courier New"/>
                <a:ea typeface="Courier New"/>
                <a:cs typeface="Courier New"/>
                <a:sym typeface="Courier New"/>
              </a:rPr>
              <a:t>"Unknown"</a:t>
            </a:r>
            <a:r>
              <a:rPr sz="1650" b="0" i="0">
                <a:solidFill>
                  <a:srgbClr val="FFFFFF"/>
                </a:solidFill>
                <a:latin typeface="Avenir"/>
                <a:ea typeface="Avenir"/>
                <a:cs typeface="Avenir"/>
                <a:sym typeface="Avenir"/>
              </a:rPr>
              <a:t> is not decoration. It guarantees the variable exists before any test runs, so nothing downstream can trip over an undefined name. If you later make the thresholds aggressive enough that every test fails, </a:t>
            </a:r>
            <a:r>
              <a:rPr sz="1419" b="0" i="0">
                <a:solidFill>
                  <a:srgbClr val="FFFFFF"/>
                </a:solidFill>
                <a:latin typeface="Courier New"/>
                <a:ea typeface="Courier New"/>
                <a:cs typeface="Courier New"/>
                <a:sym typeface="Courier New"/>
              </a:rPr>
              <a:t>Unknown</a:t>
            </a:r>
            <a:r>
              <a:rPr sz="1650" b="0" i="0">
                <a:solidFill>
                  <a:srgbClr val="FFFFFF"/>
                </a:solidFill>
                <a:latin typeface="Avenir"/>
                <a:ea typeface="Avenir"/>
                <a:cs typeface="Avenir"/>
                <a:sym typeface="Avenir"/>
              </a:rPr>
              <a:t> is what appears on screen instead of a crash.</a:t>
            </a:r>
          </a:p>
        </p:txBody>
      </p:sp>
      <p:sp>
        <p:nvSpPr>
          <p:cNvPr id="7" name="blk0060"/>
          <p:cNvSpPr txBox="1"/>
          <p:nvPr/>
        </p:nvSpPr>
        <p:spPr>
          <a:xfrm>
            <a:off x="687600" y="5913821"/>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Read the branches as English: ‘if it fills less than 65% of its box, or it has three corners, it is a triangle. Otherwise, if it fills at least 82% and its sides are nearly equal, it is a square.’ That is the whole trick — the numbers are just the shape of the sentence.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Why </a:t>
            </a:r>
            <a:r>
              <a:rPr sz="2827" b="0" i="0">
                <a:solidFill>
                  <a:srgbClr val="FFFFFF"/>
                </a:solidFill>
                <a:latin typeface="Bungee"/>
                <a:ea typeface="Bungee"/>
                <a:cs typeface="Bungee"/>
                <a:sym typeface="Bungee"/>
              </a:rPr>
              <a:t>order matters</a:t>
            </a:r>
          </a:p>
        </p:txBody>
      </p:sp>
      <p:sp>
        <p:nvSpPr>
          <p:cNvPr id="3" name="blk006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Look at the square test and the circle test again. Both ask for </a:t>
            </a:r>
            <a:r>
              <a:rPr sz="1743" b="0" i="0">
                <a:solidFill>
                  <a:srgbClr val="FFFFFF"/>
                </a:solidFill>
                <a:latin typeface="Courier New"/>
                <a:ea typeface="Courier New"/>
                <a:cs typeface="Courier New"/>
                <a:sym typeface="Courier New"/>
              </a:rPr>
              <a:t>aspect_ratio &gt;= 0.78</a:t>
            </a:r>
            <a:r>
              <a:rPr sz="2027" b="0" i="0">
                <a:solidFill>
                  <a:srgbClr val="FFFFFF"/>
                </a:solidFill>
                <a:latin typeface="Avenir"/>
                <a:ea typeface="Avenir"/>
                <a:cs typeface="Avenir"/>
                <a:sym typeface="Avenir"/>
              </a:rPr>
              <a:t>, and a perfect circle has an aspect ratio of 1.00. A circle would satisfy the square test if the square test ran second.</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This is why the chain is an </a:t>
            </a:r>
            <a:r>
              <a:rPr sz="1743" b="0" i="0">
                <a:solidFill>
                  <a:srgbClr val="FFFFFF"/>
                </a:solidFill>
                <a:latin typeface="Courier New"/>
                <a:ea typeface="Courier New"/>
                <a:cs typeface="Courier New"/>
                <a:sym typeface="Courier New"/>
              </a:rPr>
              <a:t>if / elif / elif / else</a:t>
            </a:r>
            <a:r>
              <a:rPr sz="2027" b="0" i="0">
                <a:solidFill>
                  <a:srgbClr val="FFFFFF"/>
                </a:solidFill>
                <a:latin typeface="Avenir"/>
                <a:ea typeface="Avenir"/>
                <a:cs typeface="Avenir"/>
                <a:sym typeface="Avenir"/>
              </a:rPr>
              <a:t> and not four independent </a:t>
            </a:r>
            <a:r>
              <a:rPr sz="1743" b="0" i="0">
                <a:solidFill>
                  <a:srgbClr val="FFFFFF"/>
                </a:solidFill>
                <a:latin typeface="Courier New"/>
                <a:ea typeface="Courier New"/>
                <a:cs typeface="Courier New"/>
                <a:sym typeface="Courier New"/>
              </a:rPr>
              <a:t>if</a:t>
            </a:r>
            <a:r>
              <a:rPr sz="2027" b="0" i="0">
                <a:solidFill>
                  <a:srgbClr val="FFFFFF"/>
                </a:solidFill>
                <a:latin typeface="Avenir"/>
                <a:ea typeface="Avenir"/>
                <a:cs typeface="Avenir"/>
                <a:sym typeface="Avenir"/>
              </a:rPr>
              <a:t> statements. Python runs the tests top to bottom and stops at the first match, so the order you write is part of the meaning.</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It is also why the triangle test comes first. A triangle fills only half of its own box, so </a:t>
            </a:r>
            <a:r>
              <a:rPr sz="1743" b="0" i="0">
                <a:solidFill>
                  <a:srgbClr val="FFFFFF"/>
                </a:solidFill>
                <a:latin typeface="Courier New"/>
                <a:ea typeface="Courier New"/>
                <a:cs typeface="Courier New"/>
                <a:sym typeface="Courier New"/>
              </a:rPr>
              <a:t>extent &lt; 0.65</a:t>
            </a:r>
            <a:r>
              <a:rPr sz="2027" b="0" i="0">
                <a:solidFill>
                  <a:srgbClr val="FFFFFF"/>
                </a:solidFill>
                <a:latin typeface="Avenir"/>
                <a:ea typeface="Avenir"/>
                <a:cs typeface="Avenir"/>
                <a:sym typeface="Avenir"/>
              </a:rPr>
              <a:t> claims it before any other test has a chance to guess.</a:t>
            </a:r>
          </a:p>
        </p:txBody>
      </p:sp>
      <p:sp>
        <p:nvSpPr>
          <p:cNvPr id="4" name="blk0063"/>
          <p:cNvSpPr/>
          <p:nvPr/>
        </p:nvSpPr>
        <p:spPr>
          <a:xfrm>
            <a:off x="687600" y="5368126"/>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63"/>
          <p:cNvSpPr/>
          <p:nvPr/>
        </p:nvSpPr>
        <p:spPr>
          <a:xfrm>
            <a:off x="885600" y="581920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63"/>
          <p:cNvSpPr txBox="1"/>
          <p:nvPr/>
        </p:nvSpPr>
        <p:spPr>
          <a:xfrm>
            <a:off x="1162800" y="5512126"/>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Before you write the chain, predict the order yourself. For each of the four shapes, look at the table on the Three metrics slide and decide which test should claim it. Then check your answer against the code.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a:t>
            </a:r>
          </a:p>
        </p:txBody>
      </p:sp>
      <p:sp>
        <p:nvSpPr>
          <p:cNvPr id="3" name="blk006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On your computer, open VS Code, open your project folder, and open the file labelled </a:t>
            </a:r>
            <a:r>
              <a:rPr sz="1800" b="1" i="0">
                <a:solidFill>
                  <a:srgbClr val="FFFFFF"/>
                </a:solidFill>
                <a:latin typeface="Google Sans"/>
                <a:ea typeface="Google Sans"/>
                <a:cs typeface="Google Sans"/>
                <a:sym typeface="Google Sans"/>
              </a:rPr>
              <a:t>M2-P1-Starter.py</a:t>
            </a:r>
            <a:r>
              <a:rPr sz="1800" b="0" i="0">
                <a:solidFill>
                  <a:srgbClr val="FFFFFF"/>
                </a:solidFill>
                <a:latin typeface="Avenir"/>
                <a:ea typeface="Avenir"/>
                <a:cs typeface="Avenir"/>
                <a:sym typeface="Avenir"/>
              </a:rPr>
              <a:t>.</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You will see sections marked </a:t>
            </a:r>
            <a:r>
              <a:rPr sz="1548" b="0" i="0">
                <a:solidFill>
                  <a:srgbClr val="FFFFFF"/>
                </a:solidFill>
                <a:latin typeface="Courier New"/>
                <a:ea typeface="Courier New"/>
                <a:cs typeface="Courier New"/>
                <a:sym typeface="Courier New"/>
              </a:rPr>
              <a:t># TODO:</a:t>
            </a:r>
            <a:r>
              <a:rPr sz="1800" b="0" i="0">
                <a:solidFill>
                  <a:srgbClr val="FFFFFF"/>
                </a:solidFill>
                <a:latin typeface="Avenir"/>
                <a:ea typeface="Avenir"/>
                <a:cs typeface="Avenir"/>
                <a:sym typeface="Avenir"/>
              </a:rPr>
              <a:t> with the code missing between the </a:t>
            </a:r>
            <a:r>
              <a:rPr sz="1548" b="0" i="0">
                <a:solidFill>
                  <a:srgbClr val="FFFFFF"/>
                </a:solidFill>
                <a:latin typeface="Courier New"/>
                <a:ea typeface="Courier New"/>
                <a:cs typeface="Courier New"/>
                <a:sym typeface="Courier New"/>
              </a:rPr>
              <a:t># ---</a:t>
            </a:r>
            <a:r>
              <a:rPr sz="1800" b="0" i="0">
                <a:solidFill>
                  <a:srgbClr val="FFFFFF"/>
                </a:solidFill>
                <a:latin typeface="Avenir"/>
                <a:ea typeface="Avenir"/>
                <a:cs typeface="Avenir"/>
                <a:sym typeface="Avenir"/>
              </a:rPr>
              <a:t> lines. There are eleven of them, and they run from the imports at the top of the file to the camera setup near the bottom.</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Before you fill in any of them, send the file across and run it. Seeing it fail first tells you exactly which errors belong to the missing code.</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Turn the arm on and give it about two minutes to boot, then run this in the VS Code terminal.</a:t>
            </a:r>
          </a:p>
        </p:txBody>
      </p:sp>
      <p:sp>
        <p:nvSpPr>
          <p:cNvPr id="4" name="blk0066"/>
          <p:cNvSpPr txBox="1"/>
          <p:nvPr/>
        </p:nvSpPr>
        <p:spPr>
          <a:xfrm>
            <a:off x="687600" y="5243616"/>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scp M2-P1-Starter.py er@192.168.1.149:Documents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a:t>
            </a:r>
          </a:p>
        </p:txBody>
      </p:sp>
      <p:sp>
        <p:nvSpPr>
          <p:cNvPr id="3" name="blk006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Open Real VNC Viewer and connect to the Arm - Pump device. Open ‘er’s Home’, then the Documents folder on the left panel.</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Right-click the empty space in the folder, choose </a:t>
            </a:r>
            <a:r>
              <a:rPr sz="1548" b="0" i="0">
                <a:solidFill>
                  <a:srgbClr val="FFFFFF"/>
                </a:solidFill>
                <a:latin typeface="Courier New"/>
                <a:ea typeface="Courier New"/>
                <a:cs typeface="Courier New"/>
                <a:sym typeface="Courier New"/>
              </a:rPr>
              <a:t>Open in Terminal</a:t>
            </a:r>
            <a:r>
              <a:rPr sz="1800" b="0" i="0">
                <a:solidFill>
                  <a:srgbClr val="FFFFFF"/>
                </a:solidFill>
                <a:latin typeface="Avenir"/>
                <a:ea typeface="Avenir"/>
                <a:cs typeface="Avenir"/>
                <a:sym typeface="Avenir"/>
              </a:rPr>
              <a:t>, and run the starter file.</a:t>
            </a:r>
          </a:p>
        </p:txBody>
      </p:sp>
      <p:sp>
        <p:nvSpPr>
          <p:cNvPr id="4" name="blk0069"/>
          <p:cNvSpPr txBox="1"/>
          <p:nvPr/>
        </p:nvSpPr>
        <p:spPr>
          <a:xfrm>
            <a:off x="687600" y="2811312"/>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M2-P1-Starter.py</a:t>
            </a:r>
          </a:p>
        </p:txBody>
      </p:sp>
      <p:sp>
        <p:nvSpPr>
          <p:cNvPr id="5" name="blk0070"/>
          <p:cNvSpPr txBox="1"/>
          <p:nvPr/>
        </p:nvSpPr>
        <p:spPr>
          <a:xfrm>
            <a:off x="687600" y="3250206"/>
            <a:ext cx="7542000" cy="43884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You will not get as far as the camera, and the two failures are worth reading carefully, because they are different kinds of failure.</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The robot section sits inside a </a:t>
            </a:r>
            <a:r>
              <a:rPr sz="1548" b="0" i="0">
                <a:solidFill>
                  <a:srgbClr val="FFFFFF"/>
                </a:solidFill>
                <a:latin typeface="Courier New"/>
                <a:ea typeface="Courier New"/>
                <a:cs typeface="Courier New"/>
                <a:sym typeface="Courier New"/>
              </a:rPr>
              <a:t>try / except</a:t>
            </a:r>
            <a:r>
              <a:rPr sz="1800" b="0" i="0">
                <a:solidFill>
                  <a:srgbClr val="FFFFFF"/>
                </a:solidFill>
                <a:latin typeface="Avenir"/>
                <a:ea typeface="Avenir"/>
                <a:cs typeface="Avenir"/>
                <a:sym typeface="Avenir"/>
              </a:rPr>
              <a:t> block, so the missing </a:t>
            </a:r>
            <a:r>
              <a:rPr sz="1548" b="0" i="0">
                <a:solidFill>
                  <a:srgbClr val="FFFFFF"/>
                </a:solidFill>
                <a:latin typeface="Courier New"/>
                <a:ea typeface="Courier New"/>
                <a:cs typeface="Courier New"/>
                <a:sym typeface="Courier New"/>
              </a:rPr>
              <a:t>MyCobot280</a:t>
            </a:r>
            <a:r>
              <a:rPr sz="1800" b="0" i="0">
                <a:solidFill>
                  <a:srgbClr val="FFFFFF"/>
                </a:solidFill>
                <a:latin typeface="Avenir"/>
                <a:ea typeface="Avenir"/>
                <a:cs typeface="Avenir"/>
                <a:sym typeface="Avenir"/>
              </a:rPr>
              <a:t> import does not stop the program — it prints a hardware warning and carries on. The missing </a:t>
            </a:r>
            <a:r>
              <a:rPr sz="1548" b="0" i="0">
                <a:solidFill>
                  <a:srgbClr val="FFFFFF"/>
                </a:solidFill>
                <a:latin typeface="Courier New"/>
                <a:ea typeface="Courier New"/>
                <a:cs typeface="Courier New"/>
                <a:sym typeface="Courier New"/>
              </a:rPr>
              <a:t>cv2</a:t>
            </a:r>
            <a:r>
              <a:rPr sz="1800" b="0" i="0">
                <a:solidFill>
                  <a:srgbClr val="FFFFFF"/>
                </a:solidFill>
                <a:latin typeface="Avenir"/>
                <a:ea typeface="Avenir"/>
                <a:cs typeface="Avenir"/>
                <a:sym typeface="Avenir"/>
              </a:rPr>
              <a:t> import is not inside that block, so that one does stop you.</a:t>
            </a:r>
          </a:p>
        </p:txBody>
      </p:sp>
      <p:sp>
        <p:nvSpPr>
          <p:cNvPr id="6" name="blk0071"/>
          <p:cNvSpPr/>
          <p:nvPr/>
        </p:nvSpPr>
        <p:spPr>
          <a:xfrm>
            <a:off x="687600" y="5260158"/>
            <a:ext cx="8686800" cy="13828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71"/>
          <p:cNvSpPr txBox="1"/>
          <p:nvPr/>
        </p:nvSpPr>
        <p:spPr>
          <a:xfrm>
            <a:off x="910799" y="5422157"/>
            <a:ext cx="8240400" cy="1058862"/>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Robot hardware warning: name 'MyCobot280' is not defined</a:t>
            </a:r>
          </a:p>
          <a:p>
            <a:pPr algn="l">
              <a:lnSpc>
                <a:spcPct val="115000"/>
              </a:lnSpc>
            </a:pPr>
            <a:r>
              <a:rPr sz="1600" b="0" i="0">
                <a:solidFill>
                  <a:srgbClr val="FFFFFF"/>
                </a:solidFill>
                <a:latin typeface="Courier New"/>
                <a:ea typeface="Courier New"/>
                <a:cs typeface="Courier New"/>
                <a:sym typeface="Courier New"/>
              </a:rPr>
              <a:t>Continuing with OpenCV camera pipeline only...</a:t>
            </a:r>
          </a:p>
          <a:p>
            <a:pPr algn="l">
              <a:lnSpc>
                <a:spcPct val="115000"/>
              </a:lnSpc>
            </a:pPr>
            <a:r>
              <a:rPr sz="1600" b="0" i="0">
                <a:solidFill>
                  <a:srgbClr val="FFFFFF"/>
                </a:solidFill>
                <a:latin typeface="Courier New"/>
                <a:ea typeface="Courier New"/>
                <a:cs typeface="Courier New"/>
                <a:sym typeface="Courier New"/>
              </a:rPr>
              <a:t/>
            </a:r>
          </a:p>
          <a:p>
            <a:pPr algn="l">
              <a:lnSpc>
                <a:spcPct val="115000"/>
              </a:lnSpc>
            </a:pPr>
            <a:r>
              <a:rPr sz="1600" b="0" i="0">
                <a:solidFill>
                  <a:srgbClr val="FFFFFF"/>
                </a:solidFill>
                <a:latin typeface="Courier New"/>
                <a:ea typeface="Courier New"/>
                <a:cs typeface="Courier New"/>
                <a:sym typeface="Courier New"/>
              </a:rPr>
              <a:t>NameError: name 'cv2' is not defined</a:t>
            </a:r>
          </a:p>
        </p:txBody>
      </p:sp>
      <p:sp>
        <p:nvSpPr>
          <p:cNvPr id="8" name="blk0072"/>
          <p:cNvSpPr txBox="1"/>
          <p:nvPr/>
        </p:nvSpPr>
        <p:spPr>
          <a:xfrm>
            <a:off x="687600" y="675102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Neither is a broken camera. </a:t>
            </a:r>
            <a:r>
              <a:rPr sz="1419" b="0" i="0">
                <a:solidFill>
                  <a:srgbClr val="FFFFFF"/>
                </a:solidFill>
                <a:latin typeface="Courier New"/>
                <a:ea typeface="Courier New"/>
                <a:cs typeface="Courier New"/>
                <a:sym typeface="Courier New"/>
              </a:rPr>
              <a:t>try / except</a:t>
            </a:r>
            <a:r>
              <a:rPr sz="1650" b="0" i="0">
                <a:solidFill>
                  <a:srgbClr val="FFFFFF"/>
                </a:solidFill>
                <a:latin typeface="Avenir"/>
                <a:ea typeface="Avenir"/>
                <a:cs typeface="Avenir"/>
                <a:sym typeface="Avenir"/>
              </a:rPr>
              <a:t> lets the problem be reported, then ignored — the message just tells you which import is missing.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3</a:t>
            </a:r>
          </a:p>
        </p:txBody>
      </p:sp>
      <p:sp>
        <p:nvSpPr>
          <p:cNvPr id="3" name="blk007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Fill in the first TODO at the very top of the file. Four imports, and each one earns its place:</a:t>
            </a:r>
          </a:p>
        </p:txBody>
      </p:sp>
      <p:sp>
        <p:nvSpPr>
          <p:cNvPr id="4" name="TextBox 3"/>
          <p:cNvSpPr txBox="1"/>
          <p:nvPr/>
        </p:nvSpPr>
        <p:spPr>
          <a:xfrm>
            <a:off x="1252800" y="1944000"/>
            <a:ext cx="8118000" cy="324000"/>
          </a:xfrm>
          <a:prstGeom prst="rect">
            <a:avLst/>
          </a:prstGeom>
          <a:noFill/>
        </p:spPr>
        <p:txBody>
          <a:bodyPr wrap="square" anchor="t" lIns="0" rIns="0" tIns="0" bIns="0">
            <a:noAutofit/>
          </a:bodyPr>
          <a:lstStyle/>
          <a:p>
            <a:pPr algn="l"/>
            <a:r>
              <a:rPr sz="1419" b="1" i="0">
                <a:solidFill>
                  <a:srgbClr val="FFCF08"/>
                </a:solidFill>
                <a:latin typeface="Courier New"/>
                <a:ea typeface="Courier New"/>
                <a:cs typeface="Courier New"/>
                <a:sym typeface="Courier New"/>
              </a:rPr>
              <a:t>cv2</a:t>
            </a:r>
          </a:p>
        </p:txBody>
      </p:sp>
      <p:sp>
        <p:nvSpPr>
          <p:cNvPr id="5" name="TextBox 4"/>
          <p:cNvSpPr txBox="1"/>
          <p:nvPr/>
        </p:nvSpPr>
        <p:spPr>
          <a:xfrm>
            <a:off x="1252800" y="2203200"/>
            <a:ext cx="8118000" cy="468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OpenCV — every cv2. call in this project comes from here.</a:t>
            </a:r>
          </a:p>
        </p:txBody>
      </p:sp>
      <p:sp>
        <p:nvSpPr>
          <p:cNvPr id="6" name="TextBox 5"/>
          <p:cNvSpPr txBox="1"/>
          <p:nvPr/>
        </p:nvSpPr>
        <p:spPr>
          <a:xfrm>
            <a:off x="1252800" y="2682000"/>
            <a:ext cx="8118000" cy="324000"/>
          </a:xfrm>
          <a:prstGeom prst="rect">
            <a:avLst/>
          </a:prstGeom>
          <a:noFill/>
        </p:spPr>
        <p:txBody>
          <a:bodyPr wrap="square" anchor="t" lIns="0" rIns="0" tIns="0" bIns="0">
            <a:noAutofit/>
          </a:bodyPr>
          <a:lstStyle/>
          <a:p>
            <a:pPr algn="l"/>
            <a:r>
              <a:rPr sz="1419" b="1" i="0">
                <a:solidFill>
                  <a:srgbClr val="FFCF08"/>
                </a:solidFill>
                <a:latin typeface="Courier New"/>
                <a:ea typeface="Courier New"/>
                <a:cs typeface="Courier New"/>
                <a:sym typeface="Courier New"/>
              </a:rPr>
              <a:t>numpy as np</a:t>
            </a:r>
          </a:p>
        </p:txBody>
      </p:sp>
      <p:sp>
        <p:nvSpPr>
          <p:cNvPr id="7" name="TextBox 6"/>
          <p:cNvSpPr txBox="1"/>
          <p:nvPr/>
        </p:nvSpPr>
        <p:spPr>
          <a:xfrm>
            <a:off x="1252800" y="2941200"/>
            <a:ext cx="8118000" cy="468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NumPy under the alias np, used for arrays and math in the shape code.</a:t>
            </a:r>
          </a:p>
        </p:txBody>
      </p:sp>
      <p:sp>
        <p:nvSpPr>
          <p:cNvPr id="8" name="TextBox 7"/>
          <p:cNvSpPr txBox="1"/>
          <p:nvPr/>
        </p:nvSpPr>
        <p:spPr>
          <a:xfrm>
            <a:off x="1252800" y="3420000"/>
            <a:ext cx="8118000" cy="324000"/>
          </a:xfrm>
          <a:prstGeom prst="rect">
            <a:avLst/>
          </a:prstGeom>
          <a:noFill/>
        </p:spPr>
        <p:txBody>
          <a:bodyPr wrap="square" anchor="t" lIns="0" rIns="0" tIns="0" bIns="0">
            <a:noAutofit/>
          </a:bodyPr>
          <a:lstStyle/>
          <a:p>
            <a:pPr algn="l"/>
            <a:r>
              <a:rPr sz="1419" b="1" i="0">
                <a:solidFill>
                  <a:srgbClr val="FFCF08"/>
                </a:solidFill>
                <a:latin typeface="Courier New"/>
                <a:ea typeface="Courier New"/>
                <a:cs typeface="Courier New"/>
                <a:sym typeface="Courier New"/>
              </a:rPr>
              <a:t>time</a:t>
            </a:r>
          </a:p>
        </p:txBody>
      </p:sp>
      <p:sp>
        <p:nvSpPr>
          <p:cNvPr id="9" name="TextBox 8"/>
          <p:cNvSpPr txBox="1"/>
          <p:nvPr/>
        </p:nvSpPr>
        <p:spPr>
          <a:xfrm>
            <a:off x="1252800" y="3679200"/>
            <a:ext cx="8118000" cy="468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The standard library. time.sleep() paces the program against the arm.</a:t>
            </a:r>
          </a:p>
        </p:txBody>
      </p:sp>
      <p:sp>
        <p:nvSpPr>
          <p:cNvPr id="10" name="TextBox 9"/>
          <p:cNvSpPr txBox="1"/>
          <p:nvPr/>
        </p:nvSpPr>
        <p:spPr>
          <a:xfrm>
            <a:off x="1252800" y="4158000"/>
            <a:ext cx="8118000" cy="324000"/>
          </a:xfrm>
          <a:prstGeom prst="rect">
            <a:avLst/>
          </a:prstGeom>
          <a:noFill/>
        </p:spPr>
        <p:txBody>
          <a:bodyPr wrap="square" anchor="t" lIns="0" rIns="0" tIns="0" bIns="0">
            <a:noAutofit/>
          </a:bodyPr>
          <a:lstStyle/>
          <a:p>
            <a:pPr algn="l"/>
            <a:r>
              <a:rPr sz="1419" b="1" i="0">
                <a:solidFill>
                  <a:srgbClr val="FFCF08"/>
                </a:solidFill>
                <a:latin typeface="Courier New"/>
                <a:ea typeface="Courier New"/>
                <a:cs typeface="Courier New"/>
                <a:sym typeface="Courier New"/>
              </a:rPr>
              <a:t>MyCobot280</a:t>
            </a:r>
          </a:p>
        </p:txBody>
      </p:sp>
      <p:sp>
        <p:nvSpPr>
          <p:cNvPr id="11" name="TextBox 10"/>
          <p:cNvSpPr txBox="1"/>
          <p:nvPr/>
        </p:nvSpPr>
        <p:spPr>
          <a:xfrm>
            <a:off x="1252800" y="4417200"/>
            <a:ext cx="8118000" cy="468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The arm driver from pymycobot. Written specifically for this course.</a:t>
            </a:r>
          </a:p>
        </p:txBody>
      </p:sp>
      <p:sp>
        <p:nvSpPr>
          <p:cNvPr id="12" name="blk0075"/>
          <p:cNvSpPr/>
          <p:nvPr/>
        </p:nvSpPr>
        <p:spPr>
          <a:xfrm>
            <a:off x="687600" y="4860000"/>
            <a:ext cx="8686800" cy="16475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75"/>
          <p:cNvSpPr txBox="1"/>
          <p:nvPr/>
        </p:nvSpPr>
        <p:spPr>
          <a:xfrm>
            <a:off x="910799" y="5022000"/>
            <a:ext cx="8240400" cy="1323578"/>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import cv2</a:t>
            </a:r>
          </a:p>
          <a:p>
            <a:pPr algn="l">
              <a:lnSpc>
                <a:spcPct val="115000"/>
              </a:lnSpc>
            </a:pPr>
            <a:r>
              <a:rPr sz="1600" b="0" i="0">
                <a:solidFill>
                  <a:srgbClr val="FFFFFF"/>
                </a:solidFill>
                <a:latin typeface="Courier New"/>
                <a:ea typeface="Courier New"/>
                <a:cs typeface="Courier New"/>
                <a:sym typeface="Courier New"/>
              </a:rPr>
              <a:t>import numpy as np</a:t>
            </a:r>
          </a:p>
          <a:p>
            <a:pPr algn="l">
              <a:lnSpc>
                <a:spcPct val="115000"/>
              </a:lnSpc>
            </a:pPr>
            <a:r>
              <a:rPr sz="1600" b="0" i="0">
                <a:solidFill>
                  <a:srgbClr val="FFFFFF"/>
                </a:solidFill>
                <a:latin typeface="Courier New"/>
                <a:ea typeface="Courier New"/>
                <a:cs typeface="Courier New"/>
                <a:sym typeface="Courier New"/>
              </a:rPr>
              <a:t>import time</a:t>
            </a:r>
          </a:p>
          <a:p>
            <a:pPr algn="l">
              <a:lnSpc>
                <a:spcPct val="115000"/>
              </a:lnSpc>
            </a:pPr>
            <a:r>
              <a:rPr sz="1600" b="0" i="0">
                <a:solidFill>
                  <a:srgbClr val="FFFFFF"/>
                </a:solidFill>
                <a:latin typeface="Courier New"/>
                <a:ea typeface="Courier New"/>
                <a:cs typeface="Courier New"/>
                <a:sym typeface="Courier New"/>
              </a:rPr>
              <a:t/>
            </a:r>
          </a:p>
          <a:p>
            <a:pPr algn="l">
              <a:lnSpc>
                <a:spcPct val="115000"/>
              </a:lnSpc>
            </a:pPr>
            <a:r>
              <a:rPr sz="1600" b="0" i="0">
                <a:solidFill>
                  <a:srgbClr val="FFFFFF"/>
                </a:solidFill>
                <a:latin typeface="Courier New"/>
                <a:ea typeface="Courier New"/>
                <a:cs typeface="Courier New"/>
                <a:sym typeface="Courier New"/>
              </a:rPr>
              <a:t>from pymycobot.mycobot280 import MyCobot280</a:t>
            </a:r>
          </a:p>
        </p:txBody>
      </p:sp>
      <p:sp>
        <p:nvSpPr>
          <p:cNvPr id="14" name="blk0076"/>
          <p:cNvSpPr txBox="1"/>
          <p:nvPr/>
        </p:nvSpPr>
        <p:spPr>
          <a:xfrm>
            <a:off x="687600" y="6615578"/>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as np</a:t>
            </a:r>
            <a:r>
              <a:rPr sz="1650" b="0" i="0">
                <a:solidFill>
                  <a:srgbClr val="FFFFFF"/>
                </a:solidFill>
                <a:latin typeface="Avenir"/>
                <a:ea typeface="Avenir"/>
                <a:cs typeface="Avenir"/>
                <a:sym typeface="Avenir"/>
              </a:rPr>
              <a:t> is an alias: </a:t>
            </a:r>
            <a:r>
              <a:rPr sz="1419" b="0" i="0">
                <a:solidFill>
                  <a:srgbClr val="FFFFFF"/>
                </a:solidFill>
                <a:latin typeface="Courier New"/>
                <a:ea typeface="Courier New"/>
                <a:cs typeface="Courier New"/>
                <a:sym typeface="Courier New"/>
              </a:rPr>
              <a:t>np</a:t>
            </a:r>
            <a:r>
              <a:rPr sz="1650" b="0" i="0">
                <a:solidFill>
                  <a:srgbClr val="FFFFFF"/>
                </a:solidFill>
                <a:latin typeface="Avenir"/>
                <a:ea typeface="Avenir"/>
                <a:cs typeface="Avenir"/>
                <a:sym typeface="Avenir"/>
              </a:rPr>
              <a:t> is a short nickname for </a:t>
            </a:r>
            <a:r>
              <a:rPr sz="1419" b="0" i="0">
                <a:solidFill>
                  <a:srgbClr val="FFFFFF"/>
                </a:solidFill>
                <a:latin typeface="Courier New"/>
                <a:ea typeface="Courier New"/>
                <a:cs typeface="Courier New"/>
                <a:sym typeface="Courier New"/>
              </a:rPr>
              <a:t>numpy</a:t>
            </a:r>
            <a:r>
              <a:rPr sz="1650" b="0" i="0">
                <a:solidFill>
                  <a:srgbClr val="FFFFFF"/>
                </a:solidFill>
                <a:latin typeface="Avenir"/>
                <a:ea typeface="Avenir"/>
                <a:cs typeface="Avenir"/>
                <a:sym typeface="Avenir"/>
              </a:rPr>
              <a:t>. Keep the blank line — it separates other people’s code from yours.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4</a:t>
            </a:r>
          </a:p>
        </p:txBody>
      </p:sp>
      <p:sp>
        <p:nvSpPr>
          <p:cNvPr id="3" name="blk007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The next TODO sits inside the </a:t>
            </a:r>
            <a:r>
              <a:rPr sz="1548" b="0" i="0">
                <a:solidFill>
                  <a:srgbClr val="FFFFFF"/>
                </a:solidFill>
                <a:latin typeface="Courier New"/>
                <a:ea typeface="Courier New"/>
                <a:cs typeface="Courier New"/>
                <a:sym typeface="Courier New"/>
              </a:rPr>
              <a:t>try</a:t>
            </a:r>
            <a:r>
              <a:rPr sz="1800" b="0" i="0">
                <a:solidFill>
                  <a:srgbClr val="FFFFFF"/>
                </a:solidFill>
                <a:latin typeface="Avenir"/>
                <a:ea typeface="Avenir"/>
                <a:cs typeface="Avenir"/>
                <a:sym typeface="Avenir"/>
              </a:rPr>
              <a:t> block. This is the code that wakes the arm up.</a:t>
            </a:r>
          </a:p>
          <a:p>
            <a:pPr algn="l"/>
            <a:r>
              <a:rPr sz="1800" b="0" i="0">
                <a:solidFill>
                  <a:srgbClr val="FFFFFF"/>
                </a:solidFill>
                <a:latin typeface="Avenir"/>
                <a:ea typeface="Avenir"/>
                <a:cs typeface="Avenir"/>
                <a:sym typeface="Avenir"/>
              </a:rPr>
              <a:t/>
            </a:r>
          </a:p>
          <a:p>
            <a:pPr algn="l">
              <a:lnSpc>
                <a:spcPct val="100000"/>
              </a:lnSpc>
            </a:pPr>
            <a:r>
              <a:rPr sz="1548" b="0" i="0">
                <a:solidFill>
                  <a:srgbClr val="FFFFFF"/>
                </a:solidFill>
                <a:latin typeface="Courier New"/>
                <a:ea typeface="Courier New"/>
                <a:cs typeface="Courier New"/>
                <a:sym typeface="Courier New"/>
              </a:rPr>
              <a:t>MyCobot280('/dev/ttyAMA0', 1000000)</a:t>
            </a:r>
            <a:r>
              <a:rPr sz="1800" b="0" i="0">
                <a:solidFill>
                  <a:srgbClr val="FFFFFF"/>
                </a:solidFill>
                <a:latin typeface="Avenir"/>
                <a:ea typeface="Avenir"/>
                <a:cs typeface="Avenir"/>
                <a:sym typeface="Avenir"/>
              </a:rPr>
              <a:t> takes two arguments: which serial port the arm is plugged into, and how fast to talk to it. On another machine the port may be </a:t>
            </a:r>
            <a:r>
              <a:rPr sz="1548" b="0" i="0">
                <a:solidFill>
                  <a:srgbClr val="FFFFFF"/>
                </a:solidFill>
                <a:latin typeface="Courier New"/>
                <a:ea typeface="Courier New"/>
                <a:cs typeface="Courier New"/>
                <a:sym typeface="Courier New"/>
              </a:rPr>
              <a:t>ttyUSB0</a:t>
            </a:r>
            <a:r>
              <a:rPr sz="1800" b="0" i="0">
                <a:solidFill>
                  <a:srgbClr val="FFFFFF"/>
                </a:solidFill>
                <a:latin typeface="Avenir"/>
                <a:ea typeface="Avenir"/>
                <a:cs typeface="Avenir"/>
                <a:sym typeface="Avenir"/>
              </a:rPr>
              <a:t>, so if this line throws, check the port before you suspect the arm.</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Each </a:t>
            </a:r>
            <a:r>
              <a:rPr sz="1548" b="0" i="0">
                <a:solidFill>
                  <a:srgbClr val="FFFFFF"/>
                </a:solidFill>
                <a:latin typeface="Courier New"/>
                <a:ea typeface="Courier New"/>
                <a:cs typeface="Courier New"/>
                <a:sym typeface="Courier New"/>
              </a:rPr>
              <a:t>sleep</a:t>
            </a:r>
            <a:r>
              <a:rPr sz="1800" b="0" i="0">
                <a:solidFill>
                  <a:srgbClr val="FFFFFF"/>
                </a:solidFill>
                <a:latin typeface="Avenir"/>
                <a:ea typeface="Avenir"/>
                <a:cs typeface="Avenir"/>
                <a:sym typeface="Avenir"/>
              </a:rPr>
              <a:t> gives the command before it time to finish. Remove them and the arm misses instructions — which looks exactly like a broken arm.</a:t>
            </a:r>
          </a:p>
        </p:txBody>
      </p:sp>
      <p:sp>
        <p:nvSpPr>
          <p:cNvPr id="4" name="blk0079"/>
          <p:cNvSpPr/>
          <p:nvPr/>
        </p:nvSpPr>
        <p:spPr>
          <a:xfrm>
            <a:off x="687600" y="4438944"/>
            <a:ext cx="8686800" cy="191229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9"/>
          <p:cNvSpPr txBox="1"/>
          <p:nvPr/>
        </p:nvSpPr>
        <p:spPr>
          <a:xfrm>
            <a:off x="910799" y="4600944"/>
            <a:ext cx="8240400" cy="1588293"/>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print("Connecting to myCobot280...")</a:t>
            </a:r>
          </a:p>
          <a:p>
            <a:pPr algn="l">
              <a:lnSpc>
                <a:spcPct val="115000"/>
              </a:lnSpc>
            </a:pPr>
            <a:r>
              <a:rPr sz="1600" b="0" i="0">
                <a:solidFill>
                  <a:srgbClr val="FFFFFF"/>
                </a:solidFill>
                <a:latin typeface="Courier New"/>
                <a:ea typeface="Courier New"/>
                <a:cs typeface="Courier New"/>
                <a:sym typeface="Courier New"/>
              </a:rPr>
              <a:t/>
            </a:r>
          </a:p>
          <a:p>
            <a:pPr algn="l">
              <a:lnSpc>
                <a:spcPct val="115000"/>
              </a:lnSpc>
            </a:pPr>
            <a:r>
              <a:rPr sz="1600" b="0" i="0">
                <a:solidFill>
                  <a:srgbClr val="FFFFFF"/>
                </a:solidFill>
                <a:latin typeface="Courier New"/>
                <a:ea typeface="Courier New"/>
                <a:cs typeface="Courier New"/>
                <a:sym typeface="Courier New"/>
              </a:rPr>
              <a:t>mc = MyCobot280('/dev/ttyAMA0', 1000000)</a:t>
            </a:r>
          </a:p>
          <a:p>
            <a:pPr algn="l">
              <a:lnSpc>
                <a:spcPct val="115000"/>
              </a:lnSpc>
            </a:pPr>
            <a:r>
              <a:rPr sz="1600" b="0" i="0">
                <a:solidFill>
                  <a:srgbClr val="FFFFFF"/>
                </a:solidFill>
                <a:latin typeface="Courier New"/>
                <a:ea typeface="Courier New"/>
                <a:cs typeface="Courier New"/>
                <a:sym typeface="Courier New"/>
              </a:rPr>
              <a:t>time.sleep(0.5)</a:t>
            </a:r>
          </a:p>
          <a:p>
            <a:pPr algn="l">
              <a:lnSpc>
                <a:spcPct val="115000"/>
              </a:lnSpc>
            </a:pPr>
            <a:r>
              <a:rPr sz="1600" b="0" i="0">
                <a:solidFill>
                  <a:srgbClr val="FFFFFF"/>
                </a:solidFill>
                <a:latin typeface="Courier New"/>
                <a:ea typeface="Courier New"/>
                <a:cs typeface="Courier New"/>
                <a:sym typeface="Courier New"/>
              </a:rPr>
              <a:t>mc.power_on()</a:t>
            </a:r>
          </a:p>
          <a:p>
            <a:pPr algn="l">
              <a:lnSpc>
                <a:spcPct val="115000"/>
              </a:lnSpc>
            </a:pPr>
            <a:r>
              <a:rPr sz="1600" b="0" i="0">
                <a:solidFill>
                  <a:srgbClr val="FFFFFF"/>
                </a:solidFill>
                <a:latin typeface="Courier New"/>
                <a:ea typeface="Courier New"/>
                <a:cs typeface="Courier New"/>
                <a:sym typeface="Courier New"/>
              </a:rPr>
              <a:t>time.sleep(0.5)</a:t>
            </a:r>
          </a:p>
        </p:txBody>
      </p:sp>
      <p:sp>
        <p:nvSpPr>
          <p:cNvPr id="6" name="blk0080"/>
          <p:cNvSpPr txBox="1"/>
          <p:nvPr/>
        </p:nvSpPr>
        <p:spPr>
          <a:xfrm>
            <a:off x="687600" y="6459237"/>
            <a:ext cx="7542000" cy="648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mc</a:t>
            </a:r>
            <a:r>
              <a:rPr sz="1650" b="0" i="0">
                <a:solidFill>
                  <a:srgbClr val="FFFFFF"/>
                </a:solidFill>
                <a:latin typeface="Avenir"/>
                <a:ea typeface="Avenir"/>
                <a:cs typeface="Avenir"/>
                <a:sym typeface="Avenir"/>
              </a:rPr>
              <a:t> is the name you give the arm. Every later line that talks to the hardware goes through it, so you only ever type the port once.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5</a:t>
            </a:r>
          </a:p>
        </p:txBody>
      </p:sp>
      <p:sp>
        <p:nvSpPr>
          <p:cNvPr id="3" name="blk008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One TODO left in this section: park the arm somewhere safe before the camera work starts.</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Six numbers, one per joint, in degrees. Zero means ‘no bend’, and the signs say which way. Folding the arm up and out of shot is deliberate — a metal arm parked in view is a shape your program will try to measure.</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The </a:t>
            </a:r>
            <a:r>
              <a:rPr sz="1548" b="0" i="0">
                <a:solidFill>
                  <a:srgbClr val="FFFFFF"/>
                </a:solidFill>
                <a:latin typeface="Courier New"/>
                <a:ea typeface="Courier New"/>
                <a:cs typeface="Courier New"/>
                <a:sym typeface="Courier New"/>
              </a:rPr>
              <a:t>50</a:t>
            </a:r>
            <a:r>
              <a:rPr sz="1800" b="0" i="0">
                <a:solidFill>
                  <a:srgbClr val="FFFFFF"/>
                </a:solidFill>
                <a:latin typeface="Avenir"/>
                <a:ea typeface="Avenir"/>
                <a:cs typeface="Avenir"/>
                <a:sym typeface="Avenir"/>
              </a:rPr>
              <a:t> is how fast to travel there.</a:t>
            </a:r>
          </a:p>
        </p:txBody>
      </p:sp>
      <p:sp>
        <p:nvSpPr>
          <p:cNvPr id="4" name="blk0083"/>
          <p:cNvSpPr/>
          <p:nvPr/>
        </p:nvSpPr>
        <p:spPr>
          <a:xfrm>
            <a:off x="687600" y="3890304"/>
            <a:ext cx="8686800" cy="111814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3"/>
          <p:cNvSpPr txBox="1"/>
          <p:nvPr/>
        </p:nvSpPr>
        <p:spPr>
          <a:xfrm>
            <a:off x="910799" y="4052303"/>
            <a:ext cx="8240400" cy="794146"/>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home_pos = [0, 45, -90, -45, 0, 0]</a:t>
            </a:r>
          </a:p>
          <a:p>
            <a:pPr algn="l">
              <a:lnSpc>
                <a:spcPct val="115000"/>
              </a:lnSpc>
            </a:pPr>
            <a:r>
              <a:rPr sz="1600" b="0" i="0">
                <a:solidFill>
                  <a:srgbClr val="FFFFFF"/>
                </a:solidFill>
                <a:latin typeface="Courier New"/>
                <a:ea typeface="Courier New"/>
                <a:cs typeface="Courier New"/>
                <a:sym typeface="Courier New"/>
              </a:rPr>
              <a:t>mc.send_angles(home_pos, 50)</a:t>
            </a:r>
          </a:p>
          <a:p>
            <a:pPr algn="l">
              <a:lnSpc>
                <a:spcPct val="115000"/>
              </a:lnSpc>
            </a:pPr>
            <a:r>
              <a:rPr sz="1600" b="0" i="0">
                <a:solidFill>
                  <a:srgbClr val="FFFFFF"/>
                </a:solidFill>
                <a:latin typeface="Courier New"/>
                <a:ea typeface="Courier New"/>
                <a:cs typeface="Courier New"/>
                <a:sym typeface="Courier New"/>
              </a:rPr>
              <a:t>time.sleep(2.0)</a:t>
            </a:r>
          </a:p>
        </p:txBody>
      </p:sp>
      <p:sp>
        <p:nvSpPr>
          <p:cNvPr id="6" name="blk0084"/>
          <p:cNvSpPr txBox="1"/>
          <p:nvPr/>
        </p:nvSpPr>
        <p:spPr>
          <a:xfrm>
            <a:off x="687600" y="511645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a </a:t>
            </a:r>
            <a:r>
              <a:rPr sz="1419" b="0" i="0">
                <a:solidFill>
                  <a:srgbClr val="FFFFFF"/>
                </a:solidFill>
                <a:latin typeface="Courier New"/>
                <a:ea typeface="Courier New"/>
                <a:cs typeface="Courier New"/>
                <a:sym typeface="Courier New"/>
              </a:rPr>
              <a:t>list</a:t>
            </a:r>
            <a:r>
              <a:rPr sz="1650" b="0" i="0">
                <a:solidFill>
                  <a:srgbClr val="FFFFFF"/>
                </a:solidFill>
                <a:latin typeface="Avenir"/>
                <a:ea typeface="Avenir"/>
                <a:cs typeface="Avenir"/>
                <a:sym typeface="Avenir"/>
              </a:rPr>
              <a:t>, not a tuple. The </a:t>
            </a:r>
            <a:r>
              <a:rPr sz="1419" b="0" i="0">
                <a:solidFill>
                  <a:srgbClr val="FFFFFF"/>
                </a:solidFill>
                <a:latin typeface="Courier New"/>
                <a:ea typeface="Courier New"/>
                <a:cs typeface="Courier New"/>
                <a:sym typeface="Courier New"/>
              </a:rPr>
              <a:t>[ ]</a:t>
            </a:r>
            <a:r>
              <a:rPr sz="1650" b="0" i="0">
                <a:solidFill>
                  <a:srgbClr val="FFFFFF"/>
                </a:solidFill>
                <a:latin typeface="Avenir"/>
                <a:ea typeface="Avenir"/>
                <a:cs typeface="Avenir"/>
                <a:sym typeface="Avenir"/>
              </a:rPr>
              <a:t> brackets mean you can change it later, which is exactly what you will want when you go on to record positions for the sorting bins.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6</a:t>
            </a:r>
          </a:p>
        </p:txBody>
      </p:sp>
      <p:sp>
        <p:nvSpPr>
          <p:cNvPr id="3" name="blk008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Send the file across again and run it. This time all four imports exist, so the robot should wake up and two windows should open.</a:t>
            </a:r>
          </a:p>
        </p:txBody>
      </p:sp>
      <p:sp>
        <p:nvSpPr>
          <p:cNvPr id="4" name="blk0087"/>
          <p:cNvSpPr txBox="1"/>
          <p:nvPr/>
        </p:nvSpPr>
        <p:spPr>
          <a:xfrm>
            <a:off x="687600" y="2006640"/>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scp M2-P1-Starter.py er@192.168.1.149:Documents</a:t>
            </a:r>
          </a:p>
        </p:txBody>
      </p:sp>
      <p:sp>
        <p:nvSpPr>
          <p:cNvPr id="5" name="blk0088"/>
          <p:cNvSpPr txBox="1"/>
          <p:nvPr/>
        </p:nvSpPr>
        <p:spPr>
          <a:xfrm>
            <a:off x="687600" y="2445534"/>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M2-P1-Starter.py</a:t>
            </a:r>
          </a:p>
        </p:txBody>
      </p:sp>
      <p:sp>
        <p:nvSpPr>
          <p:cNvPr id="6" name="blk0089"/>
          <p:cNvSpPr txBox="1"/>
          <p:nvPr/>
        </p:nvSpPr>
        <p:spPr>
          <a:xfrm>
            <a:off x="687600" y="2951999"/>
            <a:ext cx="7542000" cy="46764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The status line will say </a:t>
            </a:r>
            <a:r>
              <a:rPr sz="1548" b="0" i="0">
                <a:solidFill>
                  <a:srgbClr val="FFFFFF"/>
                </a:solidFill>
                <a:latin typeface="Courier New"/>
                <a:ea typeface="Courier New"/>
                <a:cs typeface="Courier New"/>
                <a:sym typeface="Courier New"/>
              </a:rPr>
              <a:t>Searching...</a:t>
            </a:r>
            <a:r>
              <a:rPr sz="1800" b="0" i="0">
                <a:solidFill>
                  <a:srgbClr val="FFFFFF"/>
                </a:solidFill>
                <a:latin typeface="Avenir"/>
                <a:ea typeface="Avenir"/>
                <a:cs typeface="Avenir"/>
                <a:sym typeface="Avenir"/>
              </a:rPr>
              <a:t> and stay there. Put a shape on the plate and nothing happens.</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That is expected, and it is worth pausing on. Five stages of image processing are running correctly — greyscale, blur, threshold, close and the contour search have all executed. What is missing is the part that </a:t>
            </a:r>
            <a:r>
              <a:rPr sz="1800" b="1" i="0">
                <a:solidFill>
                  <a:srgbClr val="FFFFFF"/>
                </a:solidFill>
                <a:latin typeface="Google Sans"/>
                <a:ea typeface="Google Sans"/>
                <a:cs typeface="Google Sans"/>
                <a:sym typeface="Google Sans"/>
              </a:rPr>
              <a:t>measures</a:t>
            </a:r>
            <a:r>
              <a:rPr sz="1800" b="0" i="0">
                <a:solidFill>
                  <a:srgbClr val="FFFFFF"/>
                </a:solidFill>
                <a:latin typeface="Avenir"/>
                <a:ea typeface="Avenir"/>
                <a:cs typeface="Avenir"/>
                <a:sym typeface="Avenir"/>
              </a:rPr>
              <a:t>.</a:t>
            </a:r>
          </a:p>
        </p:txBody>
      </p:sp>
      <p:sp>
        <p:nvSpPr>
          <p:cNvPr id="7" name="blk0090"/>
          <p:cNvSpPr txBox="1"/>
          <p:nvPr/>
        </p:nvSpPr>
        <p:spPr>
          <a:xfrm>
            <a:off x="687600" y="4961951"/>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Read the two windows before you change anything. In </a:t>
            </a:r>
            <a:r>
              <a:rPr sz="1419" b="0" i="0">
                <a:solidFill>
                  <a:srgbClr val="FFFFFF"/>
                </a:solidFill>
                <a:latin typeface="Courier New"/>
                <a:ea typeface="Courier New"/>
                <a:cs typeface="Courier New"/>
                <a:sym typeface="Courier New"/>
              </a:rPr>
              <a:t>Threshold View (Binary)</a:t>
            </a:r>
            <a:r>
              <a:rPr sz="1650" b="0" i="0">
                <a:solidFill>
                  <a:srgbClr val="FFFFFF"/>
                </a:solidFill>
                <a:latin typeface="Avenir"/>
                <a:ea typeface="Avenir"/>
                <a:cs typeface="Avenir"/>
                <a:sym typeface="Avenir"/>
              </a:rPr>
              <a:t> your shape should already be a clean white blob on black. If it is not, the problem is upstream of the TODOs and no amount of typing will help. Learn to look at the boring picture first.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7</a:t>
            </a:r>
          </a:p>
        </p:txBody>
      </p:sp>
      <p:sp>
        <p:nvSpPr>
          <p:cNvPr id="3" name="blk009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First measurement TODO. How much of the view does the shape cover, and is it worth measuring at all?</a:t>
            </a:r>
          </a:p>
        </p:txBody>
      </p:sp>
      <p:sp>
        <p:nvSpPr>
          <p:cNvPr id="4" name="blk0093"/>
          <p:cNvSpPr/>
          <p:nvPr/>
        </p:nvSpPr>
        <p:spPr>
          <a:xfrm>
            <a:off x="687600" y="2124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3"/>
          <p:cNvSpPr txBox="1"/>
          <p:nvPr/>
        </p:nvSpPr>
        <p:spPr>
          <a:xfrm>
            <a:off x="910799" y="2286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area = cv2.contourArea(cnt)</a:t>
            </a:r>
          </a:p>
          <a:p>
            <a:pPr algn="l">
              <a:lnSpc>
                <a:spcPct val="115000"/>
              </a:lnSpc>
            </a:pPr>
            <a:r>
              <a:rPr sz="1500" b="0" i="0">
                <a:solidFill>
                  <a:srgbClr val="FFFFFF"/>
                </a:solidFill>
                <a:latin typeface="Courier New"/>
                <a:ea typeface="Courier New"/>
                <a:cs typeface="Courier New"/>
                <a:sym typeface="Courier New"/>
              </a:rPr>
              <a:t>if area &lt; (img_h * img_w * 0.02) or area &gt; (img_h * img_w * 0.80):</a:t>
            </a:r>
          </a:p>
          <a:p>
            <a:pPr algn="l">
              <a:lnSpc>
                <a:spcPct val="115000"/>
              </a:lnSpc>
            </a:pPr>
            <a:r>
              <a:rPr sz="1500" b="0" i="0">
                <a:solidFill>
                  <a:srgbClr val="FFFFFF"/>
                </a:solidFill>
                <a:latin typeface="Courier New"/>
                <a:ea typeface="Courier New"/>
                <a:cs typeface="Courier New"/>
                <a:sym typeface="Courier New"/>
              </a:rPr>
              <a:t>    continue</a:t>
            </a:r>
          </a:p>
        </p:txBody>
      </p:sp>
      <p:sp>
        <p:nvSpPr>
          <p:cNvPr id="6" name="blk0094"/>
          <p:cNvSpPr txBox="1"/>
          <p:nvPr/>
        </p:nvSpPr>
        <p:spPr>
          <a:xfrm>
            <a:off x="687600" y="3300512"/>
            <a:ext cx="7542000" cy="720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img_h * img_w</a:t>
            </a:r>
            <a:r>
              <a:rPr sz="1650" b="0" i="0">
                <a:solidFill>
                  <a:srgbClr val="FFFFFF"/>
                </a:solidFill>
                <a:latin typeface="Avenir"/>
                <a:ea typeface="Avenir"/>
                <a:cs typeface="Avenir"/>
                <a:sym typeface="Avenir"/>
              </a:rPr>
              <a:t> is the total pixel count of the cropped view, so the gate is expressed as a percentage and survives you changing the camera resolution later.</a:t>
            </a:r>
          </a:p>
        </p:txBody>
      </p:sp>
      <p:sp>
        <p:nvSpPr>
          <p:cNvPr id="7" name="blk0095"/>
          <p:cNvSpPr txBox="1"/>
          <p:nvPr/>
        </p:nvSpPr>
        <p:spPr>
          <a:xfrm>
            <a:off x="687600" y="4313768"/>
            <a:ext cx="7542000" cy="864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continue</a:t>
            </a:r>
            <a:r>
              <a:rPr sz="1650" b="0" i="0">
                <a:solidFill>
                  <a:srgbClr val="FFFFFF"/>
                </a:solidFill>
                <a:latin typeface="Avenir"/>
                <a:ea typeface="Avenir"/>
                <a:cs typeface="Avenir"/>
                <a:sym typeface="Avenir"/>
              </a:rPr>
              <a:t> does not mean ‘skip this one line’. It abandons the whole loop iteration and moves on to the next contour. Forgetting that is how people end up measuring a dust speck.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8</a:t>
            </a:r>
          </a:p>
        </p:txBody>
      </p:sp>
      <p:sp>
        <p:nvSpPr>
          <p:cNvPr id="3" name="blk009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Second measurement. How far is it all the way around?</a:t>
            </a:r>
          </a:p>
        </p:txBody>
      </p:sp>
      <p:sp>
        <p:nvSpPr>
          <p:cNvPr id="4" name="blk0098"/>
          <p:cNvSpPr/>
          <p:nvPr/>
        </p:nvSpPr>
        <p:spPr>
          <a:xfrm>
            <a:off x="687600" y="2124000"/>
            <a:ext cx="8686800" cy="111814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8"/>
          <p:cNvSpPr txBox="1"/>
          <p:nvPr/>
        </p:nvSpPr>
        <p:spPr>
          <a:xfrm>
            <a:off x="910799" y="2286000"/>
            <a:ext cx="8240400" cy="794146"/>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peri = cv2.arcLength(cnt, True)</a:t>
            </a:r>
          </a:p>
          <a:p>
            <a:pPr algn="l">
              <a:lnSpc>
                <a:spcPct val="115000"/>
              </a:lnSpc>
            </a:pPr>
            <a:r>
              <a:rPr sz="1600" b="0" i="0">
                <a:solidFill>
                  <a:srgbClr val="FFFFFF"/>
                </a:solidFill>
                <a:latin typeface="Courier New"/>
                <a:ea typeface="Courier New"/>
                <a:cs typeface="Courier New"/>
                <a:sym typeface="Courier New"/>
              </a:rPr>
              <a:t>if peri == 0:</a:t>
            </a:r>
          </a:p>
          <a:p>
            <a:pPr algn="l">
              <a:lnSpc>
                <a:spcPct val="115000"/>
              </a:lnSpc>
            </a:pPr>
            <a:r>
              <a:rPr sz="1600" b="0" i="0">
                <a:solidFill>
                  <a:srgbClr val="FFFFFF"/>
                </a:solidFill>
                <a:latin typeface="Courier New"/>
                <a:ea typeface="Courier New"/>
                <a:cs typeface="Courier New"/>
                <a:sym typeface="Courier New"/>
              </a:rPr>
              <a:t>    continue</a:t>
            </a:r>
          </a:p>
        </p:txBody>
      </p:sp>
      <p:sp>
        <p:nvSpPr>
          <p:cNvPr id="6" name="blk0099"/>
          <p:cNvSpPr txBox="1"/>
          <p:nvPr/>
        </p:nvSpPr>
        <p:spPr>
          <a:xfrm>
            <a:off x="687600" y="3350146"/>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True</a:t>
            </a:r>
            <a:r>
              <a:rPr sz="1650" b="0" i="0">
                <a:solidFill>
                  <a:srgbClr val="FFFFFF"/>
                </a:solidFill>
                <a:latin typeface="Avenir"/>
                <a:ea typeface="Avenir"/>
                <a:cs typeface="Avenir"/>
                <a:sym typeface="Avenir"/>
              </a:rPr>
              <a:t> asks for a closed outline — join the last point back to the first. Leave it off and you lose one edge in three on a triangle, which is more than enough to make the circularity figure wrong without looking obviously broken.</a:t>
            </a:r>
          </a:p>
        </p:txBody>
      </p:sp>
      <p:sp>
        <p:nvSpPr>
          <p:cNvPr id="7" name="blk0100"/>
          <p:cNvSpPr txBox="1"/>
          <p:nvPr/>
        </p:nvSpPr>
        <p:spPr>
          <a:xfrm>
            <a:off x="687600" y="4665154"/>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guard underneath looks pedantic, but remember that this perimeter is about to become a divisor. Guard the divisor, not the symptom.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9</a:t>
            </a:r>
          </a:p>
        </p:txBody>
      </p:sp>
      <p:sp>
        <p:nvSpPr>
          <p:cNvPr id="3" name="blk01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Third measurement, and the one that needs unpacking.</a:t>
            </a:r>
          </a:p>
        </p:txBody>
      </p:sp>
      <p:sp>
        <p:nvSpPr>
          <p:cNvPr id="4" name="blk0103"/>
          <p:cNvSpPr/>
          <p:nvPr/>
        </p:nvSpPr>
        <p:spPr>
          <a:xfrm>
            <a:off x="687600" y="1980000"/>
            <a:ext cx="8686800" cy="16475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3"/>
          <p:cNvSpPr txBox="1"/>
          <p:nvPr/>
        </p:nvSpPr>
        <p:spPr>
          <a:xfrm>
            <a:off x="910799" y="2142000"/>
            <a:ext cx="8240400" cy="1323578"/>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rect = cv2.minAreaRect(cnt)</a:t>
            </a:r>
          </a:p>
          <a:p>
            <a:pPr algn="l">
              <a:lnSpc>
                <a:spcPct val="115000"/>
              </a:lnSpc>
            </a:pPr>
            <a:r>
              <a:rPr sz="1600" b="0" i="0">
                <a:solidFill>
                  <a:srgbClr val="FFFFFF"/>
                </a:solidFill>
                <a:latin typeface="Courier New"/>
                <a:ea typeface="Courier New"/>
                <a:cs typeface="Courier New"/>
                <a:sym typeface="Courier New"/>
              </a:rPr>
              <a:t>(cx, cy), (w, h), angle = rect</a:t>
            </a:r>
          </a:p>
          <a:p>
            <a:pPr algn="l">
              <a:lnSpc>
                <a:spcPct val="115000"/>
              </a:lnSpc>
            </a:pPr>
            <a:r>
              <a:rPr sz="1600" b="0" i="0">
                <a:solidFill>
                  <a:srgbClr val="FFFFFF"/>
                </a:solidFill>
                <a:latin typeface="Courier New"/>
                <a:ea typeface="Courier New"/>
                <a:cs typeface="Courier New"/>
                <a:sym typeface="Courier New"/>
              </a:rPr>
              <a:t>rect_area = w * h</a:t>
            </a:r>
          </a:p>
          <a:p>
            <a:pPr algn="l">
              <a:lnSpc>
                <a:spcPct val="115000"/>
              </a:lnSpc>
            </a:pPr>
            <a:r>
              <a:rPr sz="1600" b="0" i="0">
                <a:solidFill>
                  <a:srgbClr val="FFFFFF"/>
                </a:solidFill>
                <a:latin typeface="Courier New"/>
                <a:ea typeface="Courier New"/>
                <a:cs typeface="Courier New"/>
                <a:sym typeface="Courier New"/>
              </a:rPr>
              <a:t>if rect_area == 0:</a:t>
            </a:r>
          </a:p>
          <a:p>
            <a:pPr algn="l">
              <a:lnSpc>
                <a:spcPct val="115000"/>
              </a:lnSpc>
            </a:pPr>
            <a:r>
              <a:rPr sz="1600" b="0" i="0">
                <a:solidFill>
                  <a:srgbClr val="FFFFFF"/>
                </a:solidFill>
                <a:latin typeface="Courier New"/>
                <a:ea typeface="Courier New"/>
                <a:cs typeface="Courier New"/>
                <a:sym typeface="Courier New"/>
              </a:rPr>
              <a:t>    continue</a:t>
            </a:r>
          </a:p>
        </p:txBody>
      </p:sp>
      <p:sp>
        <p:nvSpPr>
          <p:cNvPr id="6" name="blk0104"/>
          <p:cNvSpPr txBox="1"/>
          <p:nvPr/>
        </p:nvSpPr>
        <p:spPr>
          <a:xfrm>
            <a:off x="687600" y="3735578"/>
            <a:ext cx="7542000" cy="1007999"/>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minAreaRect</a:t>
            </a:r>
            <a:r>
              <a:rPr sz="1650" b="0" i="0">
                <a:solidFill>
                  <a:srgbClr val="FFFFFF"/>
                </a:solidFill>
                <a:latin typeface="Avenir"/>
                <a:ea typeface="Avenir"/>
                <a:cs typeface="Avenir"/>
                <a:sym typeface="Avenir"/>
              </a:rPr>
              <a:t> does not give you an upright box. It rotates one to hug the shape, so a shape leaning at 30° still gets a tight fit. That is why it hands back an </a:t>
            </a:r>
            <a:r>
              <a:rPr sz="1419" b="0" i="0">
                <a:solidFill>
                  <a:srgbClr val="FFFFFF"/>
                </a:solidFill>
                <a:latin typeface="Courier New"/>
                <a:ea typeface="Courier New"/>
                <a:cs typeface="Courier New"/>
                <a:sym typeface="Courier New"/>
              </a:rPr>
              <a:t>angle</a:t>
            </a:r>
            <a:r>
              <a:rPr sz="1650" b="0" i="0">
                <a:solidFill>
                  <a:srgbClr val="FFFFFF"/>
                </a:solidFill>
                <a:latin typeface="Avenir"/>
                <a:ea typeface="Avenir"/>
                <a:cs typeface="Avenir"/>
                <a:sym typeface="Avenir"/>
              </a:rPr>
              <a:t>, and why you get </a:t>
            </a:r>
            <a:r>
              <a:rPr sz="1419" b="0" i="0">
                <a:solidFill>
                  <a:srgbClr val="FFFFFF"/>
                </a:solidFill>
                <a:latin typeface="Courier New"/>
                <a:ea typeface="Courier New"/>
                <a:cs typeface="Courier New"/>
                <a:sym typeface="Courier New"/>
              </a:rPr>
              <a:t>(w, h)</a:t>
            </a:r>
            <a:r>
              <a:rPr sz="1650" b="0" i="0">
                <a:solidFill>
                  <a:srgbClr val="FFFFFF"/>
                </a:solidFill>
                <a:latin typeface="Avenir"/>
                <a:ea typeface="Avenir"/>
                <a:cs typeface="Avenir"/>
                <a:sym typeface="Avenir"/>
              </a:rPr>
              <a:t> rather than </a:t>
            </a:r>
            <a:r>
              <a:rPr sz="1419" b="0" i="0">
                <a:solidFill>
                  <a:srgbClr val="FFFFFF"/>
                </a:solidFill>
                <a:latin typeface="Courier New"/>
                <a:ea typeface="Courier New"/>
                <a:cs typeface="Courier New"/>
                <a:sym typeface="Courier New"/>
              </a:rPr>
              <a:t>(left, top, right, bottom)</a:t>
            </a:r>
            <a:r>
              <a:rPr sz="1650" b="0" i="0">
                <a:solidFill>
                  <a:srgbClr val="FFFFFF"/>
                </a:solidFill>
                <a:latin typeface="Avenir"/>
                <a:ea typeface="Avenir"/>
                <a:cs typeface="Avenir"/>
                <a:sym typeface="Avenir"/>
              </a:rPr>
              <a:t>.</a:t>
            </a:r>
          </a:p>
        </p:txBody>
      </p:sp>
      <p:sp>
        <p:nvSpPr>
          <p:cNvPr id="7" name="blk0105"/>
          <p:cNvSpPr txBox="1"/>
          <p:nvPr/>
        </p:nvSpPr>
        <p:spPr>
          <a:xfrm>
            <a:off x="687600" y="5050586"/>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Read the second line right to left: the centre arrives first, then the size, then the angle. And note that </a:t>
            </a:r>
            <a:r>
              <a:rPr sz="1419" b="0" i="0">
                <a:solidFill>
                  <a:srgbClr val="FFFFFF"/>
                </a:solidFill>
                <a:latin typeface="Courier New"/>
                <a:ea typeface="Courier New"/>
                <a:cs typeface="Courier New"/>
                <a:sym typeface="Courier New"/>
              </a:rPr>
              <a:t>cx</a:t>
            </a:r>
            <a:r>
              <a:rPr sz="1650" b="0" i="0">
                <a:solidFill>
                  <a:srgbClr val="FFFFFF"/>
                </a:solidFill>
                <a:latin typeface="Avenir"/>
                <a:ea typeface="Avenir"/>
                <a:cs typeface="Avenir"/>
                <a:sym typeface="Avenir"/>
              </a:rPr>
              <a:t> and </a:t>
            </a:r>
            <a:r>
              <a:rPr sz="1419" b="0" i="0">
                <a:solidFill>
                  <a:srgbClr val="FFFFFF"/>
                </a:solidFill>
                <a:latin typeface="Courier New"/>
                <a:ea typeface="Courier New"/>
                <a:cs typeface="Courier New"/>
                <a:sym typeface="Courier New"/>
              </a:rPr>
              <a:t>cy</a:t>
            </a:r>
            <a:r>
              <a:rPr sz="1650" b="0" i="0">
                <a:solidFill>
                  <a:srgbClr val="FFFFFF"/>
                </a:solidFill>
                <a:latin typeface="Avenir"/>
                <a:ea typeface="Avenir"/>
                <a:cs typeface="Avenir"/>
                <a:sym typeface="Avenir"/>
              </a:rPr>
              <a:t> are never used by the decision — they are where the label gets drawn. Not every value you are handed has to be used.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10</a:t>
            </a:r>
          </a:p>
        </p:txBody>
      </p:sp>
      <p:sp>
        <p:nvSpPr>
          <p:cNvPr id="3" name="blk010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Now turn the raw measurements into the three ratios. These three lines are what the whole project turns on.</a:t>
            </a:r>
          </a:p>
        </p:txBody>
      </p:sp>
      <p:sp>
        <p:nvSpPr>
          <p:cNvPr id="4" name="blk0108"/>
          <p:cNvSpPr/>
          <p:nvPr/>
        </p:nvSpPr>
        <p:spPr>
          <a:xfrm>
            <a:off x="687600" y="2268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8"/>
          <p:cNvSpPr txBox="1"/>
          <p:nvPr/>
        </p:nvSpPr>
        <p:spPr>
          <a:xfrm>
            <a:off x="910799" y="2430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extent = float(area) / rect_area</a:t>
            </a:r>
          </a:p>
          <a:p>
            <a:pPr algn="l">
              <a:lnSpc>
                <a:spcPct val="115000"/>
              </a:lnSpc>
            </a:pPr>
            <a:r>
              <a:rPr sz="1500" b="0" i="0">
                <a:solidFill>
                  <a:srgbClr val="FFFFFF"/>
                </a:solidFill>
                <a:latin typeface="Courier New"/>
                <a:ea typeface="Courier New"/>
                <a:cs typeface="Courier New"/>
                <a:sym typeface="Courier New"/>
              </a:rPr>
              <a:t>circularity = (4 * np.pi * area) / (peri ** 2)</a:t>
            </a:r>
          </a:p>
          <a:p>
            <a:pPr algn="l">
              <a:lnSpc>
                <a:spcPct val="115000"/>
              </a:lnSpc>
            </a:pPr>
            <a:r>
              <a:rPr sz="1500" b="0" i="0">
                <a:solidFill>
                  <a:srgbClr val="FFFFFF"/>
                </a:solidFill>
                <a:latin typeface="Courier New"/>
                <a:ea typeface="Courier New"/>
                <a:cs typeface="Courier New"/>
                <a:sym typeface="Courier New"/>
              </a:rPr>
              <a:t>aspect_ratio = float(min(w, h)) / max(w, h) if max(w, h) &gt; 0 else 0</a:t>
            </a:r>
          </a:p>
        </p:txBody>
      </p:sp>
      <p:sp>
        <p:nvSpPr>
          <p:cNvPr id="6" name="blk0109"/>
          <p:cNvSpPr txBox="1"/>
          <p:nvPr/>
        </p:nvSpPr>
        <p:spPr>
          <a:xfrm>
            <a:off x="687600" y="3444512"/>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Python ideas in three lines. </a:t>
            </a:r>
            <a:r>
              <a:rPr sz="1419" b="0" i="0">
                <a:solidFill>
                  <a:srgbClr val="FFFFFF"/>
                </a:solidFill>
                <a:latin typeface="Courier New"/>
                <a:ea typeface="Courier New"/>
                <a:cs typeface="Courier New"/>
                <a:sym typeface="Courier New"/>
              </a:rPr>
              <a:t>**</a:t>
            </a:r>
            <a:r>
              <a:rPr sz="1650" b="0" i="0">
                <a:solidFill>
                  <a:srgbClr val="FFFFFF"/>
                </a:solidFill>
                <a:latin typeface="Avenir"/>
                <a:ea typeface="Avenir"/>
                <a:cs typeface="Avenir"/>
                <a:sym typeface="Avenir"/>
              </a:rPr>
              <a:t> is the power operator, so </a:t>
            </a:r>
            <a:r>
              <a:rPr sz="1419" b="0" i="0">
                <a:solidFill>
                  <a:srgbClr val="FFFFFF"/>
                </a:solidFill>
                <a:latin typeface="Courier New"/>
                <a:ea typeface="Courier New"/>
                <a:cs typeface="Courier New"/>
                <a:sym typeface="Courier New"/>
              </a:rPr>
              <a:t>peri ** 2</a:t>
            </a:r>
            <a:r>
              <a:rPr sz="1650" b="0" i="0">
                <a:solidFill>
                  <a:srgbClr val="FFFFFF"/>
                </a:solidFill>
                <a:latin typeface="Avenir"/>
                <a:ea typeface="Avenir"/>
                <a:cs typeface="Avenir"/>
                <a:sym typeface="Avenir"/>
              </a:rPr>
              <a:t> squares the perimeter. And the third line ends in </a:t>
            </a:r>
            <a:r>
              <a:rPr sz="1419" b="0" i="0">
                <a:solidFill>
                  <a:srgbClr val="FFFFFF"/>
                </a:solidFill>
                <a:latin typeface="Courier New"/>
                <a:ea typeface="Courier New"/>
                <a:cs typeface="Courier New"/>
                <a:sym typeface="Courier New"/>
              </a:rPr>
              <a:t>if ... else 0</a:t>
            </a:r>
            <a:r>
              <a:rPr sz="1650" b="0" i="0">
                <a:solidFill>
                  <a:srgbClr val="FFFFFF"/>
                </a:solidFill>
                <a:latin typeface="Avenir"/>
                <a:ea typeface="Avenir"/>
                <a:cs typeface="Avenir"/>
                <a:sym typeface="Avenir"/>
              </a:rPr>
              <a:t>, a conditional expression written out longhand it would be four lines with an </a:t>
            </a:r>
            <a:r>
              <a:rPr sz="1419" b="0" i="0">
                <a:solidFill>
                  <a:srgbClr val="FFFFFF"/>
                </a:solidFill>
                <a:latin typeface="Courier New"/>
                <a:ea typeface="Courier New"/>
                <a:cs typeface="Courier New"/>
                <a:sym typeface="Courier New"/>
              </a:rPr>
              <a:t>if</a:t>
            </a:r>
            <a:r>
              <a:rPr sz="1650" b="0" i="0">
                <a:solidFill>
                  <a:srgbClr val="FFFFFF"/>
                </a:solidFill>
                <a:latin typeface="Avenir"/>
                <a:ea typeface="Avenir"/>
                <a:cs typeface="Avenir"/>
                <a:sym typeface="Avenir"/>
              </a:rPr>
              <a:t> and a </a:t>
            </a:r>
            <a:r>
              <a:rPr sz="1419" b="0" i="0">
                <a:solidFill>
                  <a:srgbClr val="FFFFFF"/>
                </a:solidFill>
                <a:latin typeface="Courier New"/>
                <a:ea typeface="Courier New"/>
                <a:cs typeface="Courier New"/>
                <a:sym typeface="Courier New"/>
              </a:rPr>
              <a:t>pass</a:t>
            </a:r>
            <a:r>
              <a:rPr sz="1650" b="0" i="0">
                <a:solidFill>
                  <a:srgbClr val="FFFFFF"/>
                </a:solidFill>
                <a:latin typeface="Avenir"/>
                <a:ea typeface="Avenir"/>
                <a:cs typeface="Avenir"/>
                <a:sym typeface="Avenir"/>
              </a:rPr>
              <a:t>.</a:t>
            </a:r>
          </a:p>
        </p:txBody>
      </p:sp>
      <p:sp>
        <p:nvSpPr>
          <p:cNvPr id="7" name="blk0110"/>
          <p:cNvSpPr/>
          <p:nvPr/>
        </p:nvSpPr>
        <p:spPr>
          <a:xfrm>
            <a:off x="687600" y="4759520"/>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10"/>
          <p:cNvSpPr/>
          <p:nvPr/>
        </p:nvSpPr>
        <p:spPr>
          <a:xfrm>
            <a:off x="885600" y="51303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10"/>
          <p:cNvSpPr txBox="1"/>
          <p:nvPr/>
        </p:nvSpPr>
        <p:spPr>
          <a:xfrm>
            <a:off x="1162800" y="4903520"/>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Type these three lines exactly as they appear. A single missing bracket here will not be reported until the program is already running.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p>
        </p:txBody>
      </p:sp>
      <p:sp>
        <p:nvSpPr>
          <p:cNvPr id="3" name="blk011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One line, and it is not filler.</a:t>
            </a:r>
          </a:p>
        </p:txBody>
      </p:sp>
      <p:sp>
        <p:nvSpPr>
          <p:cNvPr id="4" name="blk0113"/>
          <p:cNvSpPr/>
          <p:nvPr/>
        </p:nvSpPr>
        <p:spPr>
          <a:xfrm>
            <a:off x="687600" y="2124000"/>
            <a:ext cx="8686800" cy="58871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3"/>
          <p:cNvSpPr txBox="1"/>
          <p:nvPr/>
        </p:nvSpPr>
        <p:spPr>
          <a:xfrm>
            <a:off x="910799" y="2286000"/>
            <a:ext cx="8240400" cy="264715"/>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object_type = "Unknown"</a:t>
            </a:r>
          </a:p>
        </p:txBody>
      </p:sp>
      <p:sp>
        <p:nvSpPr>
          <p:cNvPr id="6" name="blk0114"/>
          <p:cNvSpPr txBox="1"/>
          <p:nvPr/>
        </p:nvSpPr>
        <p:spPr>
          <a:xfrm>
            <a:off x="687600" y="2844000"/>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guarantees the variable exists before any test runs, so nothing downstream can trip over an undefined name. In this project the </a:t>
            </a:r>
            <a:r>
              <a:rPr sz="1419" b="0" i="0">
                <a:solidFill>
                  <a:srgbClr val="FFFFFF"/>
                </a:solidFill>
                <a:latin typeface="Courier New"/>
                <a:ea typeface="Courier New"/>
                <a:cs typeface="Courier New"/>
                <a:sym typeface="Courier New"/>
              </a:rPr>
              <a:t>else</a:t>
            </a:r>
            <a:r>
              <a:rPr sz="1650" b="0" i="0">
                <a:solidFill>
                  <a:srgbClr val="FFFFFF"/>
                </a:solidFill>
                <a:latin typeface="Avenir"/>
                <a:ea typeface="Avenir"/>
                <a:cs typeface="Avenir"/>
                <a:sym typeface="Avenir"/>
              </a:rPr>
              <a:t> branch always overwrites it — but tune the thresholds hard enough that every test fails, and </a:t>
            </a:r>
            <a:r>
              <a:rPr sz="1419" b="0" i="0">
                <a:solidFill>
                  <a:srgbClr val="FFFFFF"/>
                </a:solidFill>
                <a:latin typeface="Courier New"/>
                <a:ea typeface="Courier New"/>
                <a:cs typeface="Courier New"/>
                <a:sym typeface="Courier New"/>
              </a:rPr>
              <a:t>Unknown</a:t>
            </a:r>
            <a:r>
              <a:rPr sz="1650" b="0" i="0">
                <a:solidFill>
                  <a:srgbClr val="FFFFFF"/>
                </a:solidFill>
                <a:latin typeface="Avenir"/>
                <a:ea typeface="Avenir"/>
                <a:cs typeface="Avenir"/>
                <a:sym typeface="Avenir"/>
              </a:rPr>
              <a:t> is what appears on screen instead of a crash.</a:t>
            </a:r>
          </a:p>
        </p:txBody>
      </p:sp>
      <p:sp>
        <p:nvSpPr>
          <p:cNvPr id="7" name="blk0115"/>
          <p:cNvSpPr/>
          <p:nvPr/>
        </p:nvSpPr>
        <p:spPr>
          <a:xfrm>
            <a:off x="687600" y="4159008"/>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15"/>
          <p:cNvSpPr/>
          <p:nvPr/>
        </p:nvSpPr>
        <p:spPr>
          <a:xfrm>
            <a:off x="885600" y="452980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15"/>
          <p:cNvSpPr txBox="1"/>
          <p:nvPr/>
        </p:nvSpPr>
        <p:spPr>
          <a:xfrm>
            <a:off x="1162800" y="4303008"/>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Set the safe default first, then overwrite it. This one habit prevents an entire class of beginner bug.</a:t>
            </a:r>
          </a:p>
        </p:txBody>
      </p:sp>
      <p:sp>
        <p:nvSpPr>
          <p:cNvPr id="10" name="blk0116"/>
          <p:cNvSpPr txBox="1"/>
          <p:nvPr/>
        </p:nvSpPr>
        <p:spPr>
          <a:xfrm>
            <a:off x="687600" y="5184000"/>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In Python a name has to exist before it is used, and reading an undefined name is an error, not an empty string. Declaring it up front is cheaper than debugging that later.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p>
        </p:txBody>
      </p:sp>
      <p:sp>
        <p:nvSpPr>
          <p:cNvPr id="3" name="blk011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The last big TODO. Four tests in order; the first match names the shape.</a:t>
            </a:r>
          </a:p>
        </p:txBody>
      </p:sp>
      <p:sp>
        <p:nvSpPr>
          <p:cNvPr id="4" name="blk0119"/>
          <p:cNvSpPr/>
          <p:nvPr/>
        </p:nvSpPr>
        <p:spPr>
          <a:xfrm>
            <a:off x="687600" y="2124000"/>
            <a:ext cx="8686800" cy="247481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9"/>
          <p:cNvSpPr txBox="1"/>
          <p:nvPr/>
        </p:nvSpPr>
        <p:spPr>
          <a:xfrm>
            <a:off x="910799" y="2286000"/>
            <a:ext cx="8240400" cy="215081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object_type = "Unknown"</a:t>
            </a:r>
          </a:p>
          <a:p>
            <a:pPr algn="l">
              <a:lnSpc>
                <a:spcPct val="115000"/>
              </a:lnSpc>
            </a:pPr>
            <a:r>
              <a:rPr sz="1300" b="0" i="0">
                <a:solidFill>
                  <a:srgbClr val="FFFFFF"/>
                </a:solidFill>
                <a:latin typeface="Courier New"/>
                <a:ea typeface="Courier New"/>
                <a:cs typeface="Courier New"/>
                <a:sym typeface="Courier New"/>
              </a:rPr>
              <a:t/>
            </a:r>
          </a:p>
          <a:p>
            <a:pPr algn="l">
              <a:lnSpc>
                <a:spcPct val="115000"/>
              </a:lnSpc>
            </a:pPr>
            <a:r>
              <a:rPr sz="1300" b="0" i="0">
                <a:solidFill>
                  <a:srgbClr val="FFFFFF"/>
                </a:solidFill>
                <a:latin typeface="Courier New"/>
                <a:ea typeface="Courier New"/>
                <a:cs typeface="Courier New"/>
                <a:sym typeface="Courier New"/>
              </a:rPr>
              <a:t>if extent &lt; 0.65 or num_vertices == 3:</a:t>
            </a:r>
          </a:p>
          <a:p>
            <a:pPr algn="l">
              <a:lnSpc>
                <a:spcPct val="115000"/>
              </a:lnSpc>
            </a:pPr>
            <a:r>
              <a:rPr sz="1300" b="0" i="0">
                <a:solidFill>
                  <a:srgbClr val="FFFFFF"/>
                </a:solidFill>
                <a:latin typeface="Courier New"/>
                <a:ea typeface="Courier New"/>
                <a:cs typeface="Courier New"/>
                <a:sym typeface="Courier New"/>
              </a:rPr>
              <a:t>    object_type = "Triangle"</a:t>
            </a:r>
          </a:p>
          <a:p>
            <a:pPr algn="l">
              <a:lnSpc>
                <a:spcPct val="115000"/>
              </a:lnSpc>
            </a:pPr>
            <a:r>
              <a:rPr sz="1300" b="0" i="0">
                <a:solidFill>
                  <a:srgbClr val="FFFFFF"/>
                </a:solidFill>
                <a:latin typeface="Courier New"/>
                <a:ea typeface="Courier New"/>
                <a:cs typeface="Courier New"/>
                <a:sym typeface="Courier New"/>
              </a:rPr>
              <a:t>elif extent &gt;= 0.82 and aspect_ratio &gt;= 0.78:</a:t>
            </a:r>
          </a:p>
          <a:p>
            <a:pPr algn="l">
              <a:lnSpc>
                <a:spcPct val="115000"/>
              </a:lnSpc>
            </a:pPr>
            <a:r>
              <a:rPr sz="1300" b="0" i="0">
                <a:solidFill>
                  <a:srgbClr val="FFFFFF"/>
                </a:solidFill>
                <a:latin typeface="Courier New"/>
                <a:ea typeface="Courier New"/>
                <a:cs typeface="Courier New"/>
                <a:sym typeface="Courier New"/>
              </a:rPr>
              <a:t>    object_type = "Square"</a:t>
            </a:r>
          </a:p>
          <a:p>
            <a:pPr algn="l">
              <a:lnSpc>
                <a:spcPct val="115000"/>
              </a:lnSpc>
            </a:pPr>
            <a:r>
              <a:rPr sz="1300" b="0" i="0">
                <a:solidFill>
                  <a:srgbClr val="FFFFFF"/>
                </a:solidFill>
                <a:latin typeface="Courier New"/>
                <a:ea typeface="Courier New"/>
                <a:cs typeface="Courier New"/>
                <a:sym typeface="Courier New"/>
              </a:rPr>
              <a:t>elif circularity &gt;= 0.85 or (0.68 &lt;= extent &lt; 0.82 and aspect_ratio &gt;= 0.80):</a:t>
            </a:r>
          </a:p>
          <a:p>
            <a:pPr algn="l">
              <a:lnSpc>
                <a:spcPct val="115000"/>
              </a:lnSpc>
            </a:pPr>
            <a:r>
              <a:rPr sz="1300" b="0" i="0">
                <a:solidFill>
                  <a:srgbClr val="FFFFFF"/>
                </a:solidFill>
                <a:latin typeface="Courier New"/>
                <a:ea typeface="Courier New"/>
                <a:cs typeface="Courier New"/>
                <a:sym typeface="Courier New"/>
              </a:rPr>
              <a:t>    object_type = "Circle"</a:t>
            </a:r>
          </a:p>
          <a:p>
            <a:pPr algn="l">
              <a:lnSpc>
                <a:spcPct val="115000"/>
              </a:lnSpc>
            </a:pPr>
            <a:r>
              <a:rPr sz="1300" b="0" i="0">
                <a:solidFill>
                  <a:srgbClr val="FFFFFF"/>
                </a:solidFill>
                <a:latin typeface="Courier New"/>
                <a:ea typeface="Courier New"/>
                <a:cs typeface="Courier New"/>
                <a:sym typeface="Courier New"/>
              </a:rPr>
              <a:t>else:</a:t>
            </a:r>
          </a:p>
          <a:p>
            <a:pPr algn="l">
              <a:lnSpc>
                <a:spcPct val="115000"/>
              </a:lnSpc>
            </a:pPr>
            <a:r>
              <a:rPr sz="1300" b="0" i="0">
                <a:solidFill>
                  <a:srgbClr val="FFFFFF"/>
                </a:solidFill>
                <a:latin typeface="Courier New"/>
                <a:ea typeface="Courier New"/>
                <a:cs typeface="Courier New"/>
                <a:sym typeface="Courier New"/>
              </a:rPr>
              <a:t>    object_type = "Rectangle"</a:t>
            </a:r>
          </a:p>
        </p:txBody>
      </p:sp>
      <p:sp>
        <p:nvSpPr>
          <p:cNvPr id="6" name="blk0120"/>
          <p:cNvSpPr txBox="1"/>
          <p:nvPr/>
        </p:nvSpPr>
        <p:spPr>
          <a:xfrm>
            <a:off x="687600" y="4706814"/>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Copy the indentation exactly. The lines inside each branch sit four spaces further right than the </a:t>
            </a:r>
            <a:r>
              <a:rPr sz="1419" b="0" i="0">
                <a:solidFill>
                  <a:srgbClr val="FFFFFF"/>
                </a:solidFill>
                <a:latin typeface="Courier New"/>
                <a:ea typeface="Courier New"/>
                <a:cs typeface="Courier New"/>
                <a:sym typeface="Courier New"/>
              </a:rPr>
              <a:t>if</a:t>
            </a:r>
            <a:r>
              <a:rPr sz="1650" b="0" i="0">
                <a:solidFill>
                  <a:srgbClr val="FFFFFF"/>
                </a:solidFill>
                <a:latin typeface="Avenir"/>
                <a:ea typeface="Avenir"/>
                <a:cs typeface="Avenir"/>
                <a:sym typeface="Avenir"/>
              </a:rPr>
              <a:t> that owns them. Python has no braces, so that indentation is the only thing telling it where a block starts and stops.</a:t>
            </a:r>
          </a:p>
        </p:txBody>
      </p:sp>
      <p:sp>
        <p:nvSpPr>
          <p:cNvPr id="7" name="blk0121"/>
          <p:cNvSpPr txBox="1"/>
          <p:nvPr/>
        </p:nvSpPr>
        <p:spPr>
          <a:xfrm>
            <a:off x="687600" y="572007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you see </a:t>
            </a:r>
            <a:r>
              <a:rPr sz="1419" b="0" i="0">
                <a:solidFill>
                  <a:srgbClr val="FFFFFF"/>
                </a:solidFill>
                <a:latin typeface="Courier New"/>
                <a:ea typeface="Courier New"/>
                <a:cs typeface="Courier New"/>
                <a:sym typeface="Courier New"/>
              </a:rPr>
              <a:t>IndentationError</a:t>
            </a:r>
            <a:r>
              <a:rPr sz="1650" b="0" i="0">
                <a:solidFill>
                  <a:srgbClr val="FFFFFF"/>
                </a:solidFill>
                <a:latin typeface="Avenir"/>
                <a:ea typeface="Avenir"/>
                <a:cs typeface="Avenir"/>
                <a:sym typeface="Avenir"/>
              </a:rPr>
              <a:t>, you have mixed tabs and spaces. In VS Code, click </a:t>
            </a:r>
            <a:r>
              <a:rPr sz="1419" b="0" i="0">
                <a:solidFill>
                  <a:srgbClr val="FFFFFF"/>
                </a:solidFill>
                <a:latin typeface="Courier New"/>
                <a:ea typeface="Courier New"/>
                <a:cs typeface="Courier New"/>
                <a:sym typeface="Courier New"/>
              </a:rPr>
              <a:t>Spaces: 4</a:t>
            </a:r>
            <a:r>
              <a:rPr sz="1650" b="0" i="0">
                <a:solidFill>
                  <a:srgbClr val="FFFFFF"/>
                </a:solidFill>
                <a:latin typeface="Avenir"/>
                <a:ea typeface="Avenir"/>
                <a:cs typeface="Avenir"/>
                <a:sym typeface="Avenir"/>
              </a:rPr>
              <a:t> in the status bar to switch the file to spaces, and stay there.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13</a:t>
            </a:r>
          </a:p>
        </p:txBody>
      </p:sp>
      <p:sp>
        <p:nvSpPr>
          <p:cNvPr id="3" name="blk012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Two TODOs left, both down in </a:t>
            </a:r>
            <a:r>
              <a:rPr sz="1548" b="0" i="0">
                <a:solidFill>
                  <a:srgbClr val="FFFFFF"/>
                </a:solidFill>
                <a:latin typeface="Courier New"/>
                <a:ea typeface="Courier New"/>
                <a:cs typeface="Courier New"/>
                <a:sym typeface="Courier New"/>
              </a:rPr>
              <a:t>main()</a:t>
            </a:r>
            <a:r>
              <a:rPr sz="1800" b="0" i="0">
                <a:solidFill>
                  <a:srgbClr val="FFFFFF"/>
                </a:solidFill>
                <a:latin typeface="Avenir"/>
                <a:ea typeface="Avenir"/>
                <a:cs typeface="Avenir"/>
                <a:sym typeface="Avenir"/>
              </a:rPr>
              <a:t>. This one is about which camera to open.</a:t>
            </a:r>
          </a:p>
        </p:txBody>
      </p:sp>
      <p:sp>
        <p:nvSpPr>
          <p:cNvPr id="4" name="blk0124"/>
          <p:cNvSpPr/>
          <p:nvPr/>
        </p:nvSpPr>
        <p:spPr>
          <a:xfrm>
            <a:off x="687600" y="2124000"/>
            <a:ext cx="8686800" cy="13828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4"/>
          <p:cNvSpPr txBox="1"/>
          <p:nvPr/>
        </p:nvSpPr>
        <p:spPr>
          <a:xfrm>
            <a:off x="910799" y="2286000"/>
            <a:ext cx="8240400" cy="1058862"/>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cap_num = find_working_camera()</a:t>
            </a:r>
          </a:p>
          <a:p>
            <a:pPr algn="l">
              <a:lnSpc>
                <a:spcPct val="115000"/>
              </a:lnSpc>
            </a:pPr>
            <a:r>
              <a:rPr sz="1600" b="0" i="0">
                <a:solidFill>
                  <a:srgbClr val="FFFFFF"/>
                </a:solidFill>
                <a:latin typeface="Courier New"/>
                <a:ea typeface="Courier New"/>
                <a:cs typeface="Courier New"/>
                <a:sym typeface="Courier New"/>
              </a:rPr>
              <a:t>if cap_num is None:</a:t>
            </a:r>
          </a:p>
          <a:p>
            <a:pPr algn="l">
              <a:lnSpc>
                <a:spcPct val="115000"/>
              </a:lnSpc>
            </a:pPr>
            <a:r>
              <a:rPr sz="1600" b="0" i="0">
                <a:solidFill>
                  <a:srgbClr val="FFFFFF"/>
                </a:solidFill>
                <a:latin typeface="Courier New"/>
                <a:ea typeface="Courier New"/>
                <a:cs typeface="Courier New"/>
                <a:sym typeface="Courier New"/>
              </a:rPr>
              <a:t>    print("Error: No working camera stream found.")</a:t>
            </a:r>
          </a:p>
          <a:p>
            <a:pPr algn="l">
              <a:lnSpc>
                <a:spcPct val="115000"/>
              </a:lnSpc>
            </a:pPr>
            <a:r>
              <a:rPr sz="1600" b="0" i="0">
                <a:solidFill>
                  <a:srgbClr val="FFFFFF"/>
                </a:solidFill>
                <a:latin typeface="Courier New"/>
                <a:ea typeface="Courier New"/>
                <a:cs typeface="Courier New"/>
                <a:sym typeface="Courier New"/>
              </a:rPr>
              <a:t>    return</a:t>
            </a:r>
          </a:p>
        </p:txBody>
      </p:sp>
      <p:sp>
        <p:nvSpPr>
          <p:cNvPr id="6" name="blk0125"/>
          <p:cNvSpPr txBox="1"/>
          <p:nvPr/>
        </p:nvSpPr>
        <p:spPr>
          <a:xfrm>
            <a:off x="687600" y="3614862"/>
            <a:ext cx="7542000" cy="864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find_working_camera()</a:t>
            </a:r>
            <a:r>
              <a:rPr sz="1650" b="0" i="0">
                <a:solidFill>
                  <a:srgbClr val="FFFFFF"/>
                </a:solidFill>
                <a:latin typeface="Avenir"/>
                <a:ea typeface="Avenir"/>
                <a:cs typeface="Avenir"/>
                <a:sym typeface="Avenir"/>
              </a:rPr>
              <a:t> tries indexes 0 to 4 and returns the first one that produces a picture. Linux does not promise a camera is always index 0 — plugging one in can push the other to index 1.</a:t>
            </a:r>
          </a:p>
        </p:txBody>
      </p:sp>
      <p:sp>
        <p:nvSpPr>
          <p:cNvPr id="7" name="blk0126"/>
          <p:cNvSpPr txBox="1"/>
          <p:nvPr/>
        </p:nvSpPr>
        <p:spPr>
          <a:xfrm>
            <a:off x="687600" y="4628118"/>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is None</a:t>
            </a:r>
            <a:r>
              <a:rPr sz="1650" b="0" i="0">
                <a:solidFill>
                  <a:srgbClr val="FFFFFF"/>
                </a:solidFill>
                <a:latin typeface="Avenir"/>
                <a:ea typeface="Avenir"/>
                <a:cs typeface="Avenir"/>
                <a:sym typeface="Avenir"/>
              </a:rPr>
              <a:t> test asks whether the function found nothing at all, and </a:t>
            </a:r>
            <a:r>
              <a:rPr sz="1419" b="0" i="0">
                <a:solidFill>
                  <a:srgbClr val="FFFFFF"/>
                </a:solidFill>
                <a:latin typeface="Courier New"/>
                <a:ea typeface="Courier New"/>
                <a:cs typeface="Courier New"/>
                <a:sym typeface="Courier New"/>
              </a:rPr>
              <a:t>return</a:t>
            </a:r>
            <a:r>
              <a:rPr sz="1650" b="0" i="0">
                <a:solidFill>
                  <a:srgbClr val="FFFFFF"/>
                </a:solidFill>
                <a:latin typeface="Avenir"/>
                <a:ea typeface="Avenir"/>
                <a:cs typeface="Avenir"/>
                <a:sym typeface="Avenir"/>
              </a:rPr>
              <a:t> leaves </a:t>
            </a:r>
            <a:r>
              <a:rPr sz="1419" b="0" i="0">
                <a:solidFill>
                  <a:srgbClr val="FFFFFF"/>
                </a:solidFill>
                <a:latin typeface="Courier New"/>
                <a:ea typeface="Courier New"/>
                <a:cs typeface="Courier New"/>
                <a:sym typeface="Courier New"/>
              </a:rPr>
              <a:t>main()</a:t>
            </a:r>
            <a:r>
              <a:rPr sz="1650" b="0" i="0">
                <a:solidFill>
                  <a:srgbClr val="FFFFFF"/>
                </a:solidFill>
                <a:latin typeface="Avenir"/>
                <a:ea typeface="Avenir"/>
                <a:cs typeface="Avenir"/>
                <a:sym typeface="Avenir"/>
              </a:rPr>
              <a:t> immediately rather than carrying on with a camera that does not exist.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14</a:t>
            </a:r>
          </a:p>
        </p:txBody>
      </p:sp>
      <p:sp>
        <p:nvSpPr>
          <p:cNvPr id="3" name="blk012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Open the camera and ask for a sensible picture size.</a:t>
            </a:r>
          </a:p>
        </p:txBody>
      </p:sp>
      <p:sp>
        <p:nvSpPr>
          <p:cNvPr id="4" name="blk0129"/>
          <p:cNvSpPr/>
          <p:nvPr/>
        </p:nvSpPr>
        <p:spPr>
          <a:xfrm>
            <a:off x="687600" y="2124000"/>
            <a:ext cx="8686800" cy="111814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9"/>
          <p:cNvSpPr txBox="1"/>
          <p:nvPr/>
        </p:nvSpPr>
        <p:spPr>
          <a:xfrm>
            <a:off x="910799" y="2286000"/>
            <a:ext cx="8240400" cy="794146"/>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cap = cv2.VideoCapture(cap_num, cv2.CAP_V4L2)</a:t>
            </a:r>
          </a:p>
          <a:p>
            <a:pPr algn="l">
              <a:lnSpc>
                <a:spcPct val="115000"/>
              </a:lnSpc>
            </a:pPr>
            <a:r>
              <a:rPr sz="1600" b="0" i="0">
                <a:solidFill>
                  <a:srgbClr val="FFFFFF"/>
                </a:solidFill>
                <a:latin typeface="Courier New"/>
                <a:ea typeface="Courier New"/>
                <a:cs typeface="Courier New"/>
                <a:sym typeface="Courier New"/>
              </a:rPr>
              <a:t>cap.set(cv2.CAP_PROP_FRAME_WIDTH, 640)</a:t>
            </a:r>
          </a:p>
          <a:p>
            <a:pPr algn="l">
              <a:lnSpc>
                <a:spcPct val="115000"/>
              </a:lnSpc>
            </a:pPr>
            <a:r>
              <a:rPr sz="1600" b="0" i="0">
                <a:solidFill>
                  <a:srgbClr val="FFFFFF"/>
                </a:solidFill>
                <a:latin typeface="Courier New"/>
                <a:ea typeface="Courier New"/>
                <a:cs typeface="Courier New"/>
                <a:sym typeface="Courier New"/>
              </a:rPr>
              <a:t>cap.set(cv2.CAP_PROP_FRAME_HEIGHT, 480)</a:t>
            </a:r>
          </a:p>
        </p:txBody>
      </p:sp>
      <p:sp>
        <p:nvSpPr>
          <p:cNvPr id="6" name="blk0130"/>
          <p:cNvSpPr txBox="1"/>
          <p:nvPr/>
        </p:nvSpPr>
        <p:spPr>
          <a:xfrm>
            <a:off x="687600" y="3350146"/>
            <a:ext cx="7542000" cy="720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CAP_V4L2</a:t>
            </a:r>
            <a:r>
              <a:rPr sz="1650" b="0" i="0">
                <a:solidFill>
                  <a:srgbClr val="FFFFFF"/>
                </a:solidFill>
                <a:latin typeface="Avenir"/>
                <a:ea typeface="Avenir"/>
                <a:cs typeface="Avenir"/>
                <a:sym typeface="Avenir"/>
              </a:rPr>
              <a:t> is the Video4Linux2 backend, which is what the arm’s Linux system uses. The two </a:t>
            </a:r>
            <a:r>
              <a:rPr sz="1419" b="0" i="0">
                <a:solidFill>
                  <a:srgbClr val="FFFFFF"/>
                </a:solidFill>
                <a:latin typeface="Courier New"/>
                <a:ea typeface="Courier New"/>
                <a:cs typeface="Courier New"/>
                <a:sym typeface="Courier New"/>
              </a:rPr>
              <a:t>set</a:t>
            </a:r>
            <a:r>
              <a:rPr sz="1650" b="0" i="0">
                <a:solidFill>
                  <a:srgbClr val="FFFFFF"/>
                </a:solidFill>
                <a:latin typeface="Avenir"/>
                <a:ea typeface="Avenir"/>
                <a:cs typeface="Avenir"/>
                <a:sym typeface="Avenir"/>
              </a:rPr>
              <a:t> lines request 640×480.</a:t>
            </a:r>
          </a:p>
        </p:txBody>
      </p:sp>
      <p:sp>
        <p:nvSpPr>
          <p:cNvPr id="7" name="blk0131"/>
          <p:cNvSpPr txBox="1"/>
          <p:nvPr/>
        </p:nvSpPr>
        <p:spPr>
          <a:xfrm>
            <a:off x="687600" y="4140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Note the wording: you are </a:t>
            </a:r>
            <a:r>
              <a:rPr sz="1650" b="1" i="0">
                <a:solidFill>
                  <a:srgbClr val="FFFFFF"/>
                </a:solidFill>
                <a:latin typeface="Google Sans"/>
                <a:ea typeface="Google Sans"/>
                <a:cs typeface="Google Sans"/>
                <a:sym typeface="Google Sans"/>
              </a:rPr>
              <a:t>asking</a:t>
            </a:r>
            <a:r>
              <a:rPr sz="1650" b="0" i="0">
                <a:solidFill>
                  <a:srgbClr val="FFFFFF"/>
                </a:solidFill>
                <a:latin typeface="Avenir"/>
                <a:ea typeface="Avenir"/>
                <a:cs typeface="Avenir"/>
                <a:sym typeface="Avenir"/>
              </a:rPr>
              <a:t>, not telling. Some cameras ignore the request, so if the window looks wrong, print </a:t>
            </a:r>
            <a:r>
              <a:rPr sz="1419" b="0" i="0">
                <a:solidFill>
                  <a:srgbClr val="FFFFFF"/>
                </a:solidFill>
                <a:latin typeface="Courier New"/>
                <a:ea typeface="Courier New"/>
                <a:cs typeface="Courier New"/>
                <a:sym typeface="Courier New"/>
              </a:rPr>
              <a:t>cap.get(cv2.CAP_PROP_FRAME_WIDTH)</a:t>
            </a:r>
            <a:r>
              <a:rPr sz="1650" b="0" i="0">
                <a:solidFill>
                  <a:srgbClr val="FFFFFF"/>
                </a:solidFill>
                <a:latin typeface="Avenir"/>
                <a:ea typeface="Avenir"/>
                <a:cs typeface="Avenir"/>
                <a:sym typeface="Avenir"/>
              </a:rPr>
              <a:t> and find out what you actually got.</a:t>
            </a:r>
          </a:p>
        </p:txBody>
      </p:sp>
      <p:sp>
        <p:nvSpPr>
          <p:cNvPr id="8" name="blk0132"/>
          <p:cNvSpPr txBox="1"/>
          <p:nvPr/>
        </p:nvSpPr>
        <p:spPr>
          <a:xfrm>
            <a:off x="687600" y="5256000"/>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Both lines live inside </a:t>
            </a:r>
            <a:r>
              <a:rPr sz="1419" b="0" i="0">
                <a:solidFill>
                  <a:srgbClr val="FFFFFF"/>
                </a:solidFill>
                <a:latin typeface="Courier New"/>
                <a:ea typeface="Courier New"/>
                <a:cs typeface="Courier New"/>
                <a:sym typeface="Courier New"/>
              </a:rPr>
              <a:t>main()</a:t>
            </a:r>
            <a:r>
              <a:rPr sz="1650" b="0" i="0">
                <a:solidFill>
                  <a:srgbClr val="FFFFFF"/>
                </a:solidFill>
                <a:latin typeface="Avenir"/>
                <a:ea typeface="Avenir"/>
                <a:cs typeface="Avenir"/>
                <a:sym typeface="Avenir"/>
              </a:rPr>
              <a:t> rather than at the top of the file, because the camera is opened as late as possible and released as early as possible.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15</a:t>
            </a:r>
          </a:p>
        </p:txBody>
      </p:sp>
      <p:sp>
        <p:nvSpPr>
          <p:cNvPr id="3" name="blk013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Send the file across and run it one more time. Then place one shape at a time on the plate and watch the label.</a:t>
            </a:r>
          </a:p>
        </p:txBody>
      </p:sp>
      <p:sp>
        <p:nvSpPr>
          <p:cNvPr id="4" name="blk0135"/>
          <p:cNvSpPr txBox="1"/>
          <p:nvPr/>
        </p:nvSpPr>
        <p:spPr>
          <a:xfrm>
            <a:off x="687600" y="2015999"/>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scp M2-P1-Starter.py er@192.168.1.149:Documents</a:t>
            </a:r>
          </a:p>
        </p:txBody>
      </p:sp>
      <p:sp>
        <p:nvSpPr>
          <p:cNvPr id="5" name="blk0136"/>
          <p:cNvSpPr txBox="1"/>
          <p:nvPr/>
        </p:nvSpPr>
        <p:spPr>
          <a:xfrm>
            <a:off x="687600" y="2454893"/>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M2-P1-Starter.py</a:t>
            </a:r>
          </a:p>
        </p:txBody>
      </p:sp>
      <p:sp>
        <p:nvSpPr>
          <p:cNvPr id="6" name="blk0137"/>
          <p:cNvSpPr/>
          <p:nvPr/>
        </p:nvSpPr>
        <p:spPr>
          <a:xfrm>
            <a:off x="705600" y="2915388"/>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37"/>
          <p:cNvSpPr txBox="1"/>
          <p:nvPr/>
        </p:nvSpPr>
        <p:spPr>
          <a:xfrm>
            <a:off x="1252800" y="2893788"/>
            <a:ext cx="8118000" cy="57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Triangle</a:t>
            </a:r>
            <a:r>
              <a:rPr sz="1600" b="0" i="0">
                <a:solidFill>
                  <a:srgbClr val="FFFFFF"/>
                </a:solidFill>
                <a:latin typeface="Avenir"/>
                <a:ea typeface="Avenir"/>
                <a:cs typeface="Avenir"/>
                <a:sym typeface="Avenir"/>
              </a:rPr>
              <a:t> — should print </a:t>
            </a:r>
            <a:r>
              <a:rPr sz="1376" b="0" i="0">
                <a:solidFill>
                  <a:srgbClr val="FFFFFF"/>
                </a:solidFill>
                <a:latin typeface="Courier New"/>
                <a:ea typeface="Courier New"/>
                <a:cs typeface="Courier New"/>
                <a:sym typeface="Courier New"/>
              </a:rPr>
              <a:t>Verts: 3</a:t>
            </a:r>
            <a:r>
              <a:rPr sz="1600" b="0" i="0">
                <a:solidFill>
                  <a:srgbClr val="FFFFFF"/>
                </a:solidFill>
                <a:latin typeface="Avenir"/>
                <a:ea typeface="Avenir"/>
                <a:cs typeface="Avenir"/>
                <a:sym typeface="Avenir"/>
              </a:rPr>
              <a:t> and an extent near 0.50</a:t>
            </a:r>
          </a:p>
        </p:txBody>
      </p:sp>
      <p:sp>
        <p:nvSpPr>
          <p:cNvPr id="8" name="blk0138"/>
          <p:cNvSpPr/>
          <p:nvPr/>
        </p:nvSpPr>
        <p:spPr>
          <a:xfrm>
            <a:off x="705600" y="347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38"/>
          <p:cNvSpPr txBox="1"/>
          <p:nvPr/>
        </p:nvSpPr>
        <p:spPr>
          <a:xfrm>
            <a:off x="1252800" y="3452400"/>
            <a:ext cx="8118000" cy="57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Square</a:t>
            </a:r>
            <a:r>
              <a:rPr sz="1600" b="0" i="0">
                <a:solidFill>
                  <a:srgbClr val="FFFFFF"/>
                </a:solidFill>
                <a:latin typeface="Avenir"/>
                <a:ea typeface="Avenir"/>
                <a:cs typeface="Avenir"/>
                <a:sym typeface="Avenir"/>
              </a:rPr>
              <a:t> — extent near 1.00 and aspect ratio near 1.00</a:t>
            </a:r>
          </a:p>
        </p:txBody>
      </p:sp>
      <p:sp>
        <p:nvSpPr>
          <p:cNvPr id="10" name="blk0139"/>
          <p:cNvSpPr/>
          <p:nvPr/>
        </p:nvSpPr>
        <p:spPr>
          <a:xfrm>
            <a:off x="705600" y="410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39"/>
          <p:cNvSpPr txBox="1"/>
          <p:nvPr/>
        </p:nvSpPr>
        <p:spPr>
          <a:xfrm>
            <a:off x="1252800" y="4082400"/>
            <a:ext cx="8118000" cy="57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Circle</a:t>
            </a:r>
            <a:r>
              <a:rPr sz="1600" b="0" i="0">
                <a:solidFill>
                  <a:srgbClr val="FFFFFF"/>
                </a:solidFill>
                <a:latin typeface="Avenir"/>
                <a:ea typeface="Avenir"/>
                <a:cs typeface="Avenir"/>
                <a:sym typeface="Avenir"/>
              </a:rPr>
              <a:t> — circularity near 1.00 and extent near 0.79</a:t>
            </a:r>
          </a:p>
        </p:txBody>
      </p:sp>
      <p:sp>
        <p:nvSpPr>
          <p:cNvPr id="12" name="blk0140"/>
          <p:cNvSpPr/>
          <p:nvPr/>
        </p:nvSpPr>
        <p:spPr>
          <a:xfrm>
            <a:off x="705600" y="473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140"/>
          <p:cNvSpPr txBox="1"/>
          <p:nvPr/>
        </p:nvSpPr>
        <p:spPr>
          <a:xfrm>
            <a:off x="1252800" y="4712400"/>
            <a:ext cx="8118000" cy="576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Rectangle</a:t>
            </a:r>
            <a:r>
              <a:rPr sz="1600" b="0" i="0">
                <a:solidFill>
                  <a:srgbClr val="FFFFFF"/>
                </a:solidFill>
                <a:latin typeface="Avenir"/>
                <a:ea typeface="Avenir"/>
                <a:cs typeface="Avenir"/>
                <a:sym typeface="Avenir"/>
              </a:rPr>
              <a:t> — the long thin one; circularity 0.70 or lower, aspect ratio near 0.50</a:t>
            </a:r>
          </a:p>
        </p:txBody>
      </p:sp>
      <p:sp>
        <p:nvSpPr>
          <p:cNvPr id="14" name="blk0141"/>
          <p:cNvSpPr/>
          <p:nvPr/>
        </p:nvSpPr>
        <p:spPr>
          <a:xfrm>
            <a:off x="687600" y="5508000"/>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lk0141"/>
          <p:cNvSpPr/>
          <p:nvPr/>
        </p:nvSpPr>
        <p:spPr>
          <a:xfrm>
            <a:off x="885600" y="58788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lk0141"/>
          <p:cNvSpPr txBox="1"/>
          <p:nvPr/>
        </p:nvSpPr>
        <p:spPr>
          <a:xfrm>
            <a:off x="1162800" y="5652000"/>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Test each shape at least three times, and move it around the plate. A detector that only works in the middle of the frame is not finished.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Reading the </a:t>
            </a:r>
            <a:r>
              <a:rPr sz="2827" b="0" i="0">
                <a:solidFill>
                  <a:srgbClr val="FFFFFF"/>
                </a:solidFill>
                <a:latin typeface="Bungee"/>
                <a:ea typeface="Bungee"/>
                <a:cs typeface="Bungee"/>
                <a:sym typeface="Bungee"/>
              </a:rPr>
              <a:t>output</a:t>
            </a:r>
          </a:p>
        </p:txBody>
      </p:sp>
      <p:sp>
        <p:nvSpPr>
          <p:cNvPr id="3" name="blk014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The line printed under the windows is your diagnostic. It looks like this:</a:t>
            </a:r>
          </a:p>
        </p:txBody>
      </p:sp>
      <p:sp>
        <p:nvSpPr>
          <p:cNvPr id="4" name="blk0144"/>
          <p:cNvSpPr/>
          <p:nvPr/>
        </p:nvSpPr>
        <p:spPr>
          <a:xfrm>
            <a:off x="687600" y="2124000"/>
            <a:ext cx="8686800" cy="58871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4"/>
          <p:cNvSpPr txBox="1"/>
          <p:nvPr/>
        </p:nvSpPr>
        <p:spPr>
          <a:xfrm>
            <a:off x="910799" y="2286000"/>
            <a:ext cx="8240400" cy="264715"/>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[Detected] Square | Extent: 0.99 | Circ: 0.78 | Verts: 4</a:t>
            </a:r>
          </a:p>
        </p:txBody>
      </p:sp>
      <p:sp>
        <p:nvSpPr>
          <p:cNvPr id="6" name="blk0145"/>
          <p:cNvSpPr/>
          <p:nvPr/>
        </p:nvSpPr>
        <p:spPr>
          <a:xfrm>
            <a:off x="741600" y="305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45"/>
          <p:cNvSpPr txBox="1"/>
          <p:nvPr/>
        </p:nvSpPr>
        <p:spPr>
          <a:xfrm>
            <a:off x="1252800" y="3024000"/>
            <a:ext cx="8118000" cy="79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word before the first pipe is the answer</a:t>
            </a:r>
            <a:r>
              <a:rPr sz="1600" b="0" i="0">
                <a:solidFill>
                  <a:srgbClr val="FFFFFF"/>
                </a:solidFill>
                <a:latin typeface="Avenir"/>
                <a:ea typeface="Avenir"/>
                <a:cs typeface="Avenir"/>
                <a:sym typeface="Avenir"/>
              </a:rPr>
              <a:t> — the only part the arm would ever act on.</a:t>
            </a:r>
          </a:p>
        </p:txBody>
      </p:sp>
      <p:sp>
        <p:nvSpPr>
          <p:cNvPr id="8" name="blk0146"/>
          <p:cNvSpPr/>
          <p:nvPr/>
        </p:nvSpPr>
        <p:spPr>
          <a:xfrm>
            <a:off x="741600" y="391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46"/>
          <p:cNvSpPr txBox="1"/>
          <p:nvPr/>
        </p:nvSpPr>
        <p:spPr>
          <a:xfrm>
            <a:off x="1252800" y="3888000"/>
            <a:ext cx="8118000" cy="79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Extent, Circ and Verts are the evidence</a:t>
            </a:r>
            <a:r>
              <a:rPr sz="1600" b="0" i="0">
                <a:solidFill>
                  <a:srgbClr val="FFFFFF"/>
                </a:solidFill>
                <a:latin typeface="Avenir"/>
                <a:ea typeface="Avenir"/>
                <a:cs typeface="Avenir"/>
                <a:sym typeface="Avenir"/>
              </a:rPr>
              <a:t>. When the answer is wrong, these three tell you which measurement to distrust.</a:t>
            </a:r>
          </a:p>
        </p:txBody>
      </p:sp>
      <p:sp>
        <p:nvSpPr>
          <p:cNvPr id="10" name="blk0147"/>
          <p:cNvSpPr/>
          <p:nvPr/>
        </p:nvSpPr>
        <p:spPr>
          <a:xfrm>
            <a:off x="741600" y="478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47"/>
          <p:cNvSpPr txBox="1"/>
          <p:nvPr/>
        </p:nvSpPr>
        <p:spPr>
          <a:xfrm>
            <a:off x="1252800" y="47520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If </a:t>
            </a:r>
            <a:r>
              <a:rPr sz="1376" b="0" i="0">
                <a:solidFill>
                  <a:srgbClr val="FFFFFF"/>
                </a:solidFill>
                <a:latin typeface="Courier New"/>
                <a:ea typeface="Courier New"/>
                <a:cs typeface="Courier New"/>
                <a:sym typeface="Courier New"/>
              </a:rPr>
              <a:t>Verts</a:t>
            </a:r>
            <a:r>
              <a:rPr sz="1600" b="0" i="0">
                <a:solidFill>
                  <a:srgbClr val="FFFFFF"/>
                </a:solidFill>
                <a:latin typeface="Avenir"/>
                <a:ea typeface="Avenir"/>
                <a:cs typeface="Avenir"/>
                <a:sym typeface="Avenir"/>
              </a:rPr>
              <a:t> says 3 but the answer is not Triangle, then the shape is a poor drawing rather than your code being broken.</a:t>
            </a:r>
          </a:p>
        </p:txBody>
      </p:sp>
      <p:sp>
        <p:nvSpPr>
          <p:cNvPr id="12" name="blk0148"/>
          <p:cNvSpPr/>
          <p:nvPr/>
        </p:nvSpPr>
        <p:spPr>
          <a:xfrm>
            <a:off x="687600" y="5616000"/>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148"/>
          <p:cNvSpPr/>
          <p:nvPr/>
        </p:nvSpPr>
        <p:spPr>
          <a:xfrm>
            <a:off x="885600" y="59868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148"/>
          <p:cNvSpPr txBox="1"/>
          <p:nvPr/>
        </p:nvSpPr>
        <p:spPr>
          <a:xfrm>
            <a:off x="1162800" y="5760000"/>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Change one threshold, retest, and write down what moved. Changing three numbers at once is how a whole afternoon disappears.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5119200" y="824400"/>
            <a:ext cx="4572000" cy="4204800"/>
          </a:xfrm>
          <a:prstGeom prst="rect">
            <a:avLst/>
          </a:prstGeom>
          <a:noFill/>
        </p:spPr>
        <p:txBody>
          <a:bodyPr wrap="square" anchor="t" lIns="0" rIns="0" tIns="0" bIns="0">
            <a:noAutofit/>
          </a:bodyPr>
          <a:lstStyle/>
          <a:p>
            <a:pPr algn="ctr"/>
            <a:r>
              <a:rPr sz="26000" b="0" i="0">
                <a:solidFill>
                  <a:srgbClr val="383E96"/>
                </a:solidFill>
                <a:latin typeface="Bungee"/>
                <a:ea typeface="Bungee"/>
                <a:cs typeface="Bungee"/>
                <a:sym typeface="Bungee"/>
              </a:rPr>
              <a:t>1</a:t>
            </a:r>
          </a:p>
        </p:txBody>
      </p:sp>
      <p:sp>
        <p:nvSpPr>
          <p:cNvPr id="3" name="TextBox 2"/>
          <p:cNvSpPr txBox="1"/>
          <p:nvPr/>
        </p:nvSpPr>
        <p:spPr>
          <a:xfrm>
            <a:off x="687600" y="5688000"/>
            <a:ext cx="8960400" cy="604800"/>
          </a:xfrm>
          <a:prstGeom prst="rect">
            <a:avLst/>
          </a:prstGeom>
          <a:noFill/>
        </p:spPr>
        <p:txBody>
          <a:bodyPr wrap="square" anchor="t" lIns="0" rIns="0" tIns="0" bIns="0">
            <a:noAutofit/>
          </a:bodyPr>
          <a:lstStyle/>
          <a:p>
            <a:pPr algn="l"/>
            <a:r>
              <a:rPr sz="3200" b="0" i="0">
                <a:solidFill>
                  <a:srgbClr val="FFCF08"/>
                </a:solidFill>
                <a:latin typeface="Bungee"/>
                <a:ea typeface="Bungee"/>
                <a:cs typeface="Bungee"/>
                <a:sym typeface="Bungee"/>
              </a:rPr>
              <a:t>EXTENSION 1</a:t>
            </a:r>
          </a:p>
        </p:txBody>
      </p:sp>
      <p:sp>
        <p:nvSpPr>
          <p:cNvPr id="4" name="TextBox 3"/>
          <p:cNvSpPr txBox="1"/>
          <p:nvPr/>
        </p:nvSpPr>
        <p:spPr>
          <a:xfrm>
            <a:off x="687600" y="6328799"/>
            <a:ext cx="8960400" cy="658800"/>
          </a:xfrm>
          <a:prstGeom prst="rect">
            <a:avLst/>
          </a:prstGeom>
          <a:noFill/>
        </p:spPr>
        <p:txBody>
          <a:bodyPr wrap="square" anchor="t" lIns="0" rIns="0" tIns="0" bIns="0">
            <a:noAutofit/>
          </a:bodyPr>
          <a:lstStyle/>
          <a:p>
            <a:pPr algn="l"/>
            <a:r>
              <a:rPr sz="3400" b="0" i="0">
                <a:solidFill>
                  <a:srgbClr val="FFFFFF"/>
                </a:solidFill>
                <a:latin typeface="Bungee"/>
                <a:ea typeface="Bungee"/>
                <a:cs typeface="Bungee"/>
                <a:sym typeface="Bungee"/>
              </a:rPr>
              <a:t>MAKE THE ARM SORT BY SHAPE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9"/>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THE </a:t>
            </a:r>
            <a:r>
              <a:rPr sz="2400" b="0" i="0">
                <a:solidFill>
                  <a:srgbClr val="FFFFFF"/>
                </a:solidFill>
                <a:latin typeface="Bungee"/>
                <a:ea typeface="Bungee"/>
                <a:cs typeface="Bungee"/>
                <a:sym typeface="Bungee"/>
              </a:rPr>
              <a:t>BRIEF</a:t>
            </a:r>
          </a:p>
        </p:txBody>
      </p:sp>
      <p:sp>
        <p:nvSpPr>
          <p:cNvPr id="3" name="blk0150"/>
          <p:cNvSpPr txBox="1"/>
          <p:nvPr/>
        </p:nvSpPr>
        <p:spPr>
          <a:xfrm>
            <a:off x="687600" y="13356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You have a program that names a shape. A sorting program needs one more thing: somewhere for each shape to go.</a:t>
            </a:r>
          </a:p>
        </p:txBody>
      </p:sp>
      <p:sp>
        <p:nvSpPr>
          <p:cNvPr id="4" name="blk0151"/>
          <p:cNvSpPr txBox="1"/>
          <p:nvPr/>
        </p:nvSpPr>
        <p:spPr>
          <a:xfrm>
            <a:off x="687600" y="23760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Add that, and the machine you have been building all module becomes a shape sorter. Then change what ‘sort’ means, because recognising four shapes is the easy half.</a:t>
            </a:r>
          </a:p>
        </p:txBody>
      </p:sp>
      <p:sp>
        <p:nvSpPr>
          <p:cNvPr id="5" name="blk0152"/>
          <p:cNvSpPr/>
          <p:nvPr/>
        </p:nvSpPr>
        <p:spPr>
          <a:xfrm>
            <a:off x="687600" y="3780000"/>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152"/>
          <p:cNvSpPr/>
          <p:nvPr/>
        </p:nvSpPr>
        <p:spPr>
          <a:xfrm>
            <a:off x="885600" y="41508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52"/>
          <p:cNvSpPr txBox="1"/>
          <p:nvPr/>
        </p:nvSpPr>
        <p:spPr>
          <a:xfrm>
            <a:off x="1162800" y="3924000"/>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challenge has no single correct answer. It has a working machine and a written explanation, and you need both.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3"/>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YOUR MISSION: </a:t>
            </a:r>
            <a:r>
              <a:rPr sz="2400" b="0" i="0">
                <a:solidFill>
                  <a:srgbClr val="FFFFFF"/>
                </a:solidFill>
                <a:latin typeface="Bungee"/>
                <a:ea typeface="Bungee"/>
                <a:cs typeface="Bungee"/>
                <a:sym typeface="Bungee"/>
              </a:rPr>
              <a:t>SORT BY SHAPE</a:t>
            </a:r>
          </a:p>
        </p:txBody>
      </p:sp>
      <p:sp>
        <p:nvSpPr>
          <p:cNvPr id="3" name="blk0154"/>
          <p:cNvSpPr txBox="1"/>
          <p:nvPr/>
        </p:nvSpPr>
        <p:spPr>
          <a:xfrm>
            <a:off x="687600" y="13356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Record every shape’s home position, then move it.</a:t>
            </a:r>
          </a:p>
        </p:txBody>
      </p:sp>
      <p:sp>
        <p:nvSpPr>
          <p:cNvPr id="4" name="blk0155"/>
          <p:cNvSpPr/>
          <p:nvPr/>
        </p:nvSpPr>
        <p:spPr>
          <a:xfrm>
            <a:off x="687600" y="1908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5"/>
          <p:cNvSpPr txBox="1"/>
          <p:nvPr/>
        </p:nvSpPr>
        <p:spPr>
          <a:xfrm>
            <a:off x="687600" y="1908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155"/>
          <p:cNvSpPr txBox="1"/>
          <p:nvPr/>
        </p:nvSpPr>
        <p:spPr>
          <a:xfrm>
            <a:off x="1252800" y="1886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Move the arm to each bin</a:t>
            </a:r>
          </a:p>
        </p:txBody>
      </p:sp>
      <p:sp>
        <p:nvSpPr>
          <p:cNvPr id="7" name="blk0155"/>
          <p:cNvSpPr txBox="1"/>
          <p:nvPr/>
        </p:nvSpPr>
        <p:spPr>
          <a:xfrm>
            <a:off x="1252800" y="220680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Pick four positions on the plate. Each one is a list of six joint angles plus a gripper value, exactly like </a:t>
            </a:r>
            <a:r>
              <a:rPr sz="1290" b="0" i="0">
                <a:solidFill>
                  <a:srgbClr val="FFFFFF"/>
                </a:solidFill>
                <a:latin typeface="Courier New"/>
                <a:ea typeface="Courier New"/>
                <a:cs typeface="Courier New"/>
                <a:sym typeface="Courier New"/>
              </a:rPr>
              <a:t>home_pos</a:t>
            </a:r>
            <a:r>
              <a:rPr sz="1500" b="0" i="0">
                <a:solidFill>
                  <a:srgbClr val="FFFFFF"/>
                </a:solidFill>
                <a:latin typeface="Avenir"/>
                <a:ea typeface="Avenir"/>
                <a:cs typeface="Avenir"/>
                <a:sym typeface="Avenir"/>
              </a:rPr>
              <a:t>. Send the arm there when a shape is recognised.</a:t>
            </a:r>
          </a:p>
        </p:txBody>
      </p:sp>
      <p:sp>
        <p:nvSpPr>
          <p:cNvPr id="8" name="blk0156"/>
          <p:cNvSpPr/>
          <p:nvPr/>
        </p:nvSpPr>
        <p:spPr>
          <a:xfrm>
            <a:off x="687600" y="2988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56"/>
          <p:cNvSpPr txBox="1"/>
          <p:nvPr/>
        </p:nvSpPr>
        <p:spPr>
          <a:xfrm>
            <a:off x="687600" y="2988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156"/>
          <p:cNvSpPr txBox="1"/>
          <p:nvPr/>
        </p:nvSpPr>
        <p:spPr>
          <a:xfrm>
            <a:off x="1252800" y="2966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Prove all four still work</a:t>
            </a:r>
          </a:p>
        </p:txBody>
      </p:sp>
      <p:sp>
        <p:nvSpPr>
          <p:cNvPr id="11" name="blk0156"/>
          <p:cNvSpPr txBox="1"/>
          <p:nvPr/>
        </p:nvSpPr>
        <p:spPr>
          <a:xfrm>
            <a:off x="1252800" y="328680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Twelve placements, three of each shape, every one identified correctly and sent to the right bin. If tuning a threshold fixed one shape and broke another, you have moved the problem rather than solved it.</a:t>
            </a:r>
          </a:p>
        </p:txBody>
      </p:sp>
      <p:sp>
        <p:nvSpPr>
          <p:cNvPr id="12" name="blk0157"/>
          <p:cNvSpPr/>
          <p:nvPr/>
        </p:nvSpPr>
        <p:spPr>
          <a:xfrm>
            <a:off x="687600" y="423936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157"/>
          <p:cNvSpPr txBox="1"/>
          <p:nvPr/>
        </p:nvSpPr>
        <p:spPr>
          <a:xfrm>
            <a:off x="687600" y="423936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157"/>
          <p:cNvSpPr txBox="1"/>
          <p:nvPr/>
        </p:nvSpPr>
        <p:spPr>
          <a:xfrm>
            <a:off x="1252800" y="42177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Change the rule</a:t>
            </a:r>
          </a:p>
        </p:txBody>
      </p:sp>
      <p:sp>
        <p:nvSpPr>
          <p:cNvPr id="15" name="blk0157"/>
          <p:cNvSpPr txBox="1"/>
          <p:nvPr/>
        </p:nvSpPr>
        <p:spPr>
          <a:xfrm>
            <a:off x="1252800" y="453816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One shape per bin is the boring version. Try size instead of identity: big shapes into one bin, small into another. Or send triangles and squares to quality control and let only circles and rectangles through. Write your rule as plain sentences before you code it.</a:t>
            </a:r>
          </a:p>
        </p:txBody>
      </p:sp>
      <p:sp>
        <p:nvSpPr>
          <p:cNvPr id="16" name="blk0158"/>
          <p:cNvSpPr/>
          <p:nvPr/>
        </p:nvSpPr>
        <p:spPr>
          <a:xfrm>
            <a:off x="687600" y="576504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158"/>
          <p:cNvSpPr txBox="1"/>
          <p:nvPr/>
        </p:nvSpPr>
        <p:spPr>
          <a:xfrm>
            <a:off x="687600" y="576504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158"/>
          <p:cNvSpPr txBox="1"/>
          <p:nvPr/>
        </p:nvSpPr>
        <p:spPr>
          <a:xfrm>
            <a:off x="1252800" y="574344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Hand it over</a:t>
            </a:r>
          </a:p>
        </p:txBody>
      </p:sp>
      <p:sp>
        <p:nvSpPr>
          <p:cNvPr id="19" name="blk0158"/>
          <p:cNvSpPr txBox="1"/>
          <p:nvPr/>
        </p:nvSpPr>
        <p:spPr>
          <a:xfrm>
            <a:off x="1252800" y="606384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Write the handover page: your thresholds, your sorting rule in plain language, and one thing you would fix with another hour.</a:t>
            </a:r>
          </a:p>
        </p:txBody>
      </p:sp>
      <p:sp>
        <p:nvSpPr>
          <p:cNvPr id="20" name="blk0159"/>
          <p:cNvSpPr/>
          <p:nvPr/>
        </p:nvSpPr>
        <p:spPr>
          <a:xfrm>
            <a:off x="687600" y="6720480"/>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159"/>
          <p:cNvSpPr/>
          <p:nvPr/>
        </p:nvSpPr>
        <p:spPr>
          <a:xfrm>
            <a:off x="885600" y="70912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lk0159"/>
          <p:cNvSpPr txBox="1"/>
          <p:nvPr/>
        </p:nvSpPr>
        <p:spPr>
          <a:xfrm>
            <a:off x="1162800" y="6864479"/>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Implement your rule by changing the logic, not by re-recording coordinates. Re-teaching the arm where the bins are means you solved the wrong problem.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0"/>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YOUR </a:t>
            </a:r>
            <a:r>
              <a:rPr sz="2400" b="0" i="0">
                <a:solidFill>
                  <a:srgbClr val="FFFFFF"/>
                </a:solidFill>
                <a:latin typeface="Bungee"/>
                <a:ea typeface="Bungee"/>
                <a:cs typeface="Bungee"/>
                <a:sym typeface="Bungee"/>
              </a:rPr>
              <a:t>DATA LOG</a:t>
            </a:r>
          </a:p>
        </p:txBody>
      </p:sp>
      <p:sp>
        <p:nvSpPr>
          <p:cNvPr id="3" name="blk0161"/>
          <p:cNvSpPr txBox="1"/>
          <p:nvPr/>
        </p:nvSpPr>
        <p:spPr>
          <a:xfrm>
            <a:off x="687600" y="13356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Write down what you measured before you tune anything. If a threshold is about to change, you need to know what it was.</a:t>
            </a:r>
          </a:p>
        </p:txBody>
      </p:sp>
      <p:graphicFrame>
        <p:nvGraphicFramePr>
          <p:cNvPr id="4" name="blk0162"/>
          <p:cNvGraphicFramePr>
            <a:graphicFrameLocks noGrp="1"/>
          </p:cNvGraphicFramePr>
          <p:nvPr/>
        </p:nvGraphicFramePr>
        <p:xfrm>
          <a:off x="687600" y="2075755"/>
          <a:ext cx="8279999" cy="2105996"/>
        </p:xfrm>
        <a:graphic>
          <a:graphicData uri="http://schemas.openxmlformats.org/drawingml/2006/table">
            <a:tbl>
              <a:tblPr firstRow="0" bandRow="0"/>
              <a:tblGrid>
                <a:gridCol w="1512000"/>
                <a:gridCol w="1224000"/>
                <a:gridCol w="1224000"/>
                <a:gridCol w="1224000"/>
                <a:gridCol w="1080000"/>
                <a:gridCol w="2015999"/>
              </a:tblGrid>
              <a:tr h="450000">
                <a:tc>
                  <a:txBody>
                    <a:bodyPr wrap="square"/>
                    <a:lstStyle/>
                    <a:p>
                      <a:pPr algn="l">
                        <a:lnSpc>
                          <a:spcPct val="100000"/>
                        </a:lnSpc>
                      </a:pPr>
                      <a:r>
                        <a:rPr sz="1350" b="1" i="0">
                          <a:solidFill>
                            <a:srgbClr val="FFCF08"/>
                          </a:solidFill>
                          <a:latin typeface="Avenir"/>
                          <a:ea typeface="Avenir"/>
                          <a:cs typeface="Avenir"/>
                          <a:sym typeface="Avenir"/>
                        </a:rPr>
                        <a:t>Shape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Extent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Circ</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Aspect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Verts</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My values</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Triangle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Square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Circle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Rectangle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bl>
          </a:graphicData>
        </a:graphic>
      </p:graphicFrame>
      <p:sp>
        <p:nvSpPr>
          <p:cNvPr id="5" name="blk0163"/>
          <p:cNvSpPr txBox="1"/>
          <p:nvPr/>
        </p:nvSpPr>
        <p:spPr>
          <a:xfrm>
            <a:off x="687600" y="4428000"/>
            <a:ext cx="8686800" cy="32004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Then write your sorting rule as a set of conditions before you code it:</a:t>
            </a:r>
          </a:p>
        </p:txBody>
      </p:sp>
      <p:sp>
        <p:nvSpPr>
          <p:cNvPr id="6" name="blk0164"/>
          <p:cNvSpPr/>
          <p:nvPr/>
        </p:nvSpPr>
        <p:spPr>
          <a:xfrm>
            <a:off x="687600" y="4968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64"/>
          <p:cNvSpPr txBox="1"/>
          <p:nvPr/>
        </p:nvSpPr>
        <p:spPr>
          <a:xfrm>
            <a:off x="910799" y="5130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IF the shape is  ______________   THEN send it to  ______________</a:t>
            </a:r>
          </a:p>
          <a:p>
            <a:pPr algn="l">
              <a:lnSpc>
                <a:spcPct val="115000"/>
              </a:lnSpc>
            </a:pPr>
            <a:r>
              <a:rPr sz="1500" b="0" i="0">
                <a:solidFill>
                  <a:srgbClr val="FFFFFF"/>
                </a:solidFill>
                <a:latin typeface="Courier New"/>
                <a:ea typeface="Courier New"/>
                <a:cs typeface="Courier New"/>
                <a:sym typeface="Courier New"/>
              </a:rPr>
              <a:t>IF the shape is  ______________   THEN send it to  ______________</a:t>
            </a:r>
          </a:p>
          <a:p>
            <a:pPr algn="l">
              <a:lnSpc>
                <a:spcPct val="115000"/>
              </a:lnSpc>
            </a:pPr>
            <a:r>
              <a:rPr sz="1500" b="0" i="0">
                <a:solidFill>
                  <a:srgbClr val="FFFFFF"/>
                </a:solidFill>
                <a:latin typeface="Courier New"/>
                <a:ea typeface="Courier New"/>
                <a:cs typeface="Courier New"/>
                <a:sym typeface="Courier New"/>
              </a:rPr>
              <a:t>OTHERWISE                          ______________</a:t>
            </a:r>
          </a:p>
        </p:txBody>
      </p:sp>
      <p:sp>
        <p:nvSpPr>
          <p:cNvPr id="8" name="blk0165"/>
          <p:cNvSpPr/>
          <p:nvPr/>
        </p:nvSpPr>
        <p:spPr>
          <a:xfrm>
            <a:off x="687600" y="6144512"/>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65"/>
          <p:cNvSpPr/>
          <p:nvPr/>
        </p:nvSpPr>
        <p:spPr>
          <a:xfrm>
            <a:off x="885600" y="647211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65"/>
          <p:cNvSpPr txBox="1"/>
          <p:nvPr/>
        </p:nvSpPr>
        <p:spPr>
          <a:xfrm>
            <a:off x="1162800" y="6288512"/>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rule you cannot say out loud is a rule you have not decided yet.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6"/>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DEFINITION OF </a:t>
            </a:r>
            <a:r>
              <a:rPr sz="2400" b="0" i="0">
                <a:solidFill>
                  <a:srgbClr val="FFFFFF"/>
                </a:solidFill>
                <a:latin typeface="Bungee"/>
                <a:ea typeface="Bungee"/>
                <a:cs typeface="Bungee"/>
                <a:sym typeface="Bungee"/>
              </a:rPr>
              <a:t>DONE</a:t>
            </a:r>
          </a:p>
        </p:txBody>
      </p:sp>
      <p:sp>
        <p:nvSpPr>
          <p:cNvPr id="3" name="blk0167"/>
          <p:cNvSpPr/>
          <p:nvPr/>
        </p:nvSpPr>
        <p:spPr>
          <a:xfrm>
            <a:off x="705600" y="15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167"/>
          <p:cNvSpPr txBox="1"/>
          <p:nvPr/>
        </p:nvSpPr>
        <p:spPr>
          <a:xfrm>
            <a:off x="1252800" y="15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All four shapes detected correctly from three different places on the plate</a:t>
            </a:r>
          </a:p>
        </p:txBody>
      </p:sp>
      <p:sp>
        <p:nvSpPr>
          <p:cNvPr id="5" name="blk0168"/>
          <p:cNvSpPr/>
          <p:nvPr/>
        </p:nvSpPr>
        <p:spPr>
          <a:xfrm>
            <a:off x="705600" y="24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168"/>
          <p:cNvSpPr txBox="1"/>
          <p:nvPr/>
        </p:nvSpPr>
        <p:spPr>
          <a:xfrm>
            <a:off x="1252800" y="24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Every threshold change recorded in your data log, before and after</a:t>
            </a:r>
          </a:p>
        </p:txBody>
      </p:sp>
      <p:sp>
        <p:nvSpPr>
          <p:cNvPr id="7" name="blk0169"/>
          <p:cNvSpPr/>
          <p:nvPr/>
        </p:nvSpPr>
        <p:spPr>
          <a:xfrm>
            <a:off x="705600" y="33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69"/>
          <p:cNvSpPr txBox="1"/>
          <p:nvPr/>
        </p:nvSpPr>
        <p:spPr>
          <a:xfrm>
            <a:off x="1252800" y="33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Twelve placements sorted correctly into four bins</a:t>
            </a:r>
          </a:p>
        </p:txBody>
      </p:sp>
      <p:sp>
        <p:nvSpPr>
          <p:cNvPr id="9" name="blk0170"/>
          <p:cNvSpPr/>
          <p:nvPr/>
        </p:nvSpPr>
        <p:spPr>
          <a:xfrm>
            <a:off x="705600" y="42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70"/>
          <p:cNvSpPr txBox="1"/>
          <p:nvPr/>
        </p:nvSpPr>
        <p:spPr>
          <a:xfrm>
            <a:off x="1252800" y="42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 sorting rule of your own design, implemented in the </a:t>
            </a:r>
            <a:r>
              <a:rPr sz="1600" b="1" i="0">
                <a:solidFill>
                  <a:srgbClr val="FFFFFF"/>
                </a:solidFill>
                <a:latin typeface="Google Sans"/>
                <a:ea typeface="Google Sans"/>
                <a:cs typeface="Google Sans"/>
                <a:sym typeface="Google Sans"/>
              </a:rPr>
              <a:t>logic</a:t>
            </a:r>
            <a:r>
              <a:rPr sz="1600" b="0" i="0">
                <a:solidFill>
                  <a:srgbClr val="FFFFFF"/>
                </a:solidFill>
                <a:latin typeface="Avenir"/>
                <a:ea typeface="Avenir"/>
                <a:cs typeface="Avenir"/>
                <a:sym typeface="Avenir"/>
              </a:rPr>
              <a:t> rather than the coordinates</a:t>
            </a:r>
          </a:p>
        </p:txBody>
      </p:sp>
      <p:sp>
        <p:nvSpPr>
          <p:cNvPr id="11" name="blk0171"/>
          <p:cNvSpPr/>
          <p:nvPr/>
        </p:nvSpPr>
        <p:spPr>
          <a:xfrm>
            <a:off x="705600" y="51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171"/>
          <p:cNvSpPr txBox="1"/>
          <p:nvPr/>
        </p:nvSpPr>
        <p:spPr>
          <a:xfrm>
            <a:off x="1252800" y="51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Handover page written, and understood by your facilitator from the page alone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2"/>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GO </a:t>
            </a:r>
            <a:r>
              <a:rPr sz="2400" b="0" i="0">
                <a:solidFill>
                  <a:srgbClr val="FFFFFF"/>
                </a:solidFill>
                <a:latin typeface="Bungee"/>
                <a:ea typeface="Bungee"/>
                <a:cs typeface="Bungee"/>
                <a:sym typeface="Bungee"/>
              </a:rPr>
              <a:t>FURTHER</a:t>
            </a:r>
          </a:p>
        </p:txBody>
      </p:sp>
      <p:sp>
        <p:nvSpPr>
          <p:cNvPr id="3" name="blk0173"/>
          <p:cNvSpPr/>
          <p:nvPr/>
        </p:nvSpPr>
        <p:spPr>
          <a:xfrm>
            <a:off x="741600" y="168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173"/>
          <p:cNvSpPr txBox="1"/>
          <p:nvPr/>
        </p:nvSpPr>
        <p:spPr>
          <a:xfrm>
            <a:off x="1252800" y="1655999"/>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Add a fifth shape. </a:t>
            </a:r>
            <a:r>
              <a:rPr sz="1600" b="0" i="0">
                <a:solidFill>
                  <a:srgbClr val="FFFFFF"/>
                </a:solidFill>
                <a:latin typeface="Avenir"/>
                <a:ea typeface="Avenir"/>
                <a:cs typeface="Avenir"/>
                <a:sym typeface="Avenir"/>
              </a:rPr>
              <a:t>A cross or a five-pointed star needs a new test and a new place in the chain — decide where it goes before you write it, and remember that order matters.</a:t>
            </a:r>
          </a:p>
        </p:txBody>
      </p:sp>
      <p:sp>
        <p:nvSpPr>
          <p:cNvPr id="5" name="blk0174"/>
          <p:cNvSpPr/>
          <p:nvPr/>
        </p:nvSpPr>
        <p:spPr>
          <a:xfrm>
            <a:off x="741600" y="283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174"/>
          <p:cNvSpPr txBox="1"/>
          <p:nvPr/>
        </p:nvSpPr>
        <p:spPr>
          <a:xfrm>
            <a:off x="1252800" y="2808000"/>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Make the program refuse to guess. </a:t>
            </a:r>
            <a:r>
              <a:rPr sz="1600" b="0" i="0">
                <a:solidFill>
                  <a:srgbClr val="FFFFFF"/>
                </a:solidFill>
                <a:latin typeface="Avenir"/>
                <a:ea typeface="Avenir"/>
                <a:cs typeface="Avenir"/>
                <a:sym typeface="Avenir"/>
              </a:rPr>
              <a:t>If a shape’s measurements sit within a hair of two thresholds, leave it on the plate and print a warning instead of naming it.</a:t>
            </a:r>
          </a:p>
        </p:txBody>
      </p:sp>
      <p:sp>
        <p:nvSpPr>
          <p:cNvPr id="7" name="blk0175"/>
          <p:cNvSpPr/>
          <p:nvPr/>
        </p:nvSpPr>
        <p:spPr>
          <a:xfrm>
            <a:off x="741600" y="398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75"/>
          <p:cNvSpPr txBox="1"/>
          <p:nvPr/>
        </p:nvSpPr>
        <p:spPr>
          <a:xfrm>
            <a:off x="1252800" y="3960000"/>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Give the operator a choice of sorting rule </a:t>
            </a:r>
            <a:r>
              <a:rPr sz="1600" b="0" i="0">
                <a:solidFill>
                  <a:srgbClr val="FFFFFF"/>
                </a:solidFill>
                <a:latin typeface="Avenir"/>
                <a:ea typeface="Avenir"/>
                <a:cs typeface="Avenir"/>
                <a:sym typeface="Avenir"/>
              </a:rPr>
              <a:t>when the program starts, so one machine can do several jobs.</a:t>
            </a:r>
          </a:p>
        </p:txBody>
      </p:sp>
      <p:sp>
        <p:nvSpPr>
          <p:cNvPr id="9" name="blk0176"/>
          <p:cNvSpPr/>
          <p:nvPr/>
        </p:nvSpPr>
        <p:spPr>
          <a:xfrm>
            <a:off x="741600" y="514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76"/>
          <p:cNvSpPr txBox="1"/>
          <p:nvPr/>
        </p:nvSpPr>
        <p:spPr>
          <a:xfrm>
            <a:off x="1252800" y="5112000"/>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Log every detection to a file with a timestamp. </a:t>
            </a:r>
            <a:r>
              <a:rPr sz="1600" b="0" i="0">
                <a:solidFill>
                  <a:srgbClr val="FFFFFF"/>
                </a:solidFill>
                <a:latin typeface="Avenir"/>
                <a:ea typeface="Avenir"/>
                <a:cs typeface="Avenir"/>
                <a:sym typeface="Avenir"/>
              </a:rPr>
              <a:t>Run the sorter for an hour and you will find shapes you never tested for.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7"/>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MISSION </a:t>
            </a:r>
            <a:r>
              <a:rPr sz="2400" b="0" i="0">
                <a:solidFill>
                  <a:srgbClr val="FFFFFF"/>
                </a:solidFill>
                <a:latin typeface="Bungee"/>
                <a:ea typeface="Bungee"/>
                <a:cs typeface="Bungee"/>
                <a:sym typeface="Bungee"/>
              </a:rPr>
              <a:t>DEBRIEF</a:t>
            </a:r>
          </a:p>
        </p:txBody>
      </p:sp>
      <p:sp>
        <p:nvSpPr>
          <p:cNvPr id="3" name="blk0178"/>
          <p:cNvSpPr txBox="1"/>
          <p:nvPr/>
        </p:nvSpPr>
        <p:spPr>
          <a:xfrm>
            <a:off x="687600" y="1655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1.</a:t>
            </a:r>
          </a:p>
        </p:txBody>
      </p:sp>
      <p:sp>
        <p:nvSpPr>
          <p:cNvPr id="4" name="blk0178"/>
          <p:cNvSpPr txBox="1"/>
          <p:nvPr/>
        </p:nvSpPr>
        <p:spPr>
          <a:xfrm>
            <a:off x="1252800" y="1655999"/>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Why does a circle score about 0.79 on extent rather than 1.00?</a:t>
            </a:r>
          </a:p>
        </p:txBody>
      </p:sp>
      <p:sp>
        <p:nvSpPr>
          <p:cNvPr id="5" name="blk0179"/>
          <p:cNvSpPr txBox="1"/>
          <p:nvPr/>
        </p:nvSpPr>
        <p:spPr>
          <a:xfrm>
            <a:off x="687600" y="2844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2.</a:t>
            </a:r>
          </a:p>
        </p:txBody>
      </p:sp>
      <p:sp>
        <p:nvSpPr>
          <p:cNvPr id="6" name="blk0179"/>
          <p:cNvSpPr txBox="1"/>
          <p:nvPr/>
        </p:nvSpPr>
        <p:spPr>
          <a:xfrm>
            <a:off x="1252800" y="2844000"/>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square test and the circle test both look at </a:t>
            </a:r>
            <a:r>
              <a:rPr sz="1419" b="0" i="0">
                <a:solidFill>
                  <a:srgbClr val="FFFFFF"/>
                </a:solidFill>
                <a:latin typeface="Courier New"/>
                <a:ea typeface="Courier New"/>
                <a:cs typeface="Courier New"/>
                <a:sym typeface="Courier New"/>
              </a:rPr>
              <a:t>aspect_ratio</a:t>
            </a:r>
            <a:r>
              <a:rPr sz="1650" b="0" i="0">
                <a:solidFill>
                  <a:srgbClr val="FFFFFF"/>
                </a:solidFill>
                <a:latin typeface="Avenir"/>
                <a:ea typeface="Avenir"/>
                <a:cs typeface="Avenir"/>
                <a:sym typeface="Avenir"/>
              </a:rPr>
              <a:t>. What would happen if you swapped them?</a:t>
            </a:r>
          </a:p>
        </p:txBody>
      </p:sp>
      <p:sp>
        <p:nvSpPr>
          <p:cNvPr id="7" name="blk0180"/>
          <p:cNvSpPr txBox="1"/>
          <p:nvPr/>
        </p:nvSpPr>
        <p:spPr>
          <a:xfrm>
            <a:off x="687600" y="4031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3.</a:t>
            </a:r>
          </a:p>
        </p:txBody>
      </p:sp>
      <p:sp>
        <p:nvSpPr>
          <p:cNvPr id="8" name="blk0180"/>
          <p:cNvSpPr txBox="1"/>
          <p:nvPr/>
        </p:nvSpPr>
        <p:spPr>
          <a:xfrm>
            <a:off x="1252800" y="4031999"/>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You changed a threshold to make one shape work. How would you know you had not broken another?</a:t>
            </a:r>
          </a:p>
        </p:txBody>
      </p:sp>
      <p:sp>
        <p:nvSpPr>
          <p:cNvPr id="9" name="blk0181"/>
          <p:cNvSpPr txBox="1"/>
          <p:nvPr/>
        </p:nvSpPr>
        <p:spPr>
          <a:xfrm>
            <a:off x="687600" y="5219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4.</a:t>
            </a:r>
          </a:p>
        </p:txBody>
      </p:sp>
      <p:sp>
        <p:nvSpPr>
          <p:cNvPr id="10" name="blk0181"/>
          <p:cNvSpPr txBox="1"/>
          <p:nvPr/>
        </p:nvSpPr>
        <p:spPr>
          <a:xfrm>
            <a:off x="1252800" y="5219999"/>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the camera could see colour as well as shape, what would you sort by instead — and which would you trust more?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5.png"/>
          <p:cNvPicPr>
            <a:picLocks noChangeAspect="1"/>
          </p:cNvPicPr>
          <p:nvPr/>
        </p:nvPicPr>
        <p:blipFill>
          <a:blip r:embed="rId2"/>
          <a:stretch>
            <a:fillRect/>
          </a:stretch>
        </p:blipFill>
        <p:spPr>
          <a:xfrm>
            <a:off x="5990400" y="1170000"/>
            <a:ext cx="4068000" cy="4737600"/>
          </a:xfrm>
          <a:prstGeom prst="rect">
            <a:avLst/>
          </a:prstGeom>
        </p:spPr>
      </p:pic>
      <p:pic>
        <p:nvPicPr>
          <p:cNvPr id="3" name="Picture 2" descr="image6.png"/>
          <p:cNvPicPr>
            <a:picLocks noChangeAspect="1"/>
          </p:cNvPicPr>
          <p:nvPr/>
        </p:nvPicPr>
        <p:blipFill>
          <a:blip r:embed="rId3"/>
          <a:stretch>
            <a:fillRect/>
          </a:stretch>
        </p:blipFill>
        <p:spPr>
          <a:xfrm>
            <a:off x="640800" y="748800"/>
            <a:ext cx="3610800" cy="1353600"/>
          </a:xfrm>
          <a:prstGeom prst="rect">
            <a:avLst/>
          </a:prstGeom>
        </p:spPr>
      </p:pic>
      <p:sp>
        <p:nvSpPr>
          <p:cNvPr id="4" name="TextBox 3"/>
          <p:cNvSpPr txBox="1"/>
          <p:nvPr/>
        </p:nvSpPr>
        <p:spPr>
          <a:xfrm>
            <a:off x="687600" y="5558400"/>
            <a:ext cx="8960400" cy="658800"/>
          </a:xfrm>
          <a:prstGeom prst="rect">
            <a:avLst/>
          </a:prstGeom>
          <a:noFill/>
        </p:spPr>
        <p:txBody>
          <a:bodyPr wrap="square" anchor="t" lIns="0" rIns="0" tIns="0" bIns="0">
            <a:noAutofit/>
          </a:bodyPr>
          <a:lstStyle/>
          <a:p>
            <a:pPr algn="l"/>
            <a:r>
              <a:rPr sz="3400" b="0" i="0">
                <a:solidFill>
                  <a:srgbClr val="FFFFFF"/>
                </a:solidFill>
                <a:latin typeface="Bungee"/>
                <a:ea typeface="Bungee"/>
                <a:cs typeface="Bungee"/>
                <a:sym typeface="Bungee"/>
              </a:rPr>
              <a:t>MISSION</a:t>
            </a:r>
          </a:p>
        </p:txBody>
      </p:sp>
      <p:sp>
        <p:nvSpPr>
          <p:cNvPr id="5" name="TextBox 4"/>
          <p:cNvSpPr txBox="1"/>
          <p:nvPr/>
        </p:nvSpPr>
        <p:spPr>
          <a:xfrm>
            <a:off x="687600" y="6235200"/>
            <a:ext cx="8960400" cy="658800"/>
          </a:xfrm>
          <a:prstGeom prst="rect">
            <a:avLst/>
          </a:prstGeom>
          <a:noFill/>
        </p:spPr>
        <p:txBody>
          <a:bodyPr wrap="square" anchor="t" lIns="0" rIns="0" tIns="0" bIns="0">
            <a:noAutofit/>
          </a:bodyPr>
          <a:lstStyle/>
          <a:p>
            <a:pPr algn="l"/>
            <a:r>
              <a:rPr sz="3400" b="0" i="0">
                <a:solidFill>
                  <a:srgbClr val="FFCF08"/>
                </a:solidFill>
                <a:latin typeface="Bungee"/>
                <a:ea typeface="Bungee"/>
                <a:cs typeface="Bungee"/>
                <a:sym typeface="Bungee"/>
              </a:rPr>
              <a:t>COMPLETE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