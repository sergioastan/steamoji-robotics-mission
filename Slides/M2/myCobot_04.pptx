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5"/>
    <p:sldMasterId id="2147483661" r:id="rId6"/>
  </p:sldMasterIdLst>
  <p:notesMasterIdLst>
    <p:notesMasterId r:id="rId7"/>
  </p:notes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 id="279" r:id="rId36"/>
    <p:sldId id="280" r:id="rId37"/>
    <p:sldId id="281" r:id="rId38"/>
    <p:sldId id="282" r:id="rId39"/>
    <p:sldId id="283" r:id="rId40"/>
    <p:sldId id="284" r:id="rId41"/>
    <p:sldId id="285" r:id="rId42"/>
    <p:sldId id="286" r:id="rId43"/>
    <p:sldId id="287" r:id="rId44"/>
    <p:sldId id="288" r:id="rId45"/>
    <p:sldId id="289" r:id="rId46"/>
    <p:sldId id="290" r:id="rId12"/>
    <p:sldId id="291" r:id="rId11"/>
    <p:sldId id="292" r:id="rId10"/>
    <p:sldId id="293" r:id="rId9"/>
    <p:sldId id="294" r:id="rId8"/>
    <p:sldId id="295" r:id="rId52"/>
    <p:sldId id="296" r:id="rId53"/>
    <p:sldId id="297" r:id="rId54"/>
    <p:sldId id="298" r:id="rId55"/>
    <p:sldId id="299" r:id="rId56"/>
    <p:sldId id="300" r:id="rId57"/>
    <p:sldId id="301" r:id="rId58"/>
    <p:sldId id="302" r:id="rId59"/>
    <p:sldId id="303" r:id="rId60"/>
    <p:sldId id="304" r:id="rId61"/>
  </p:sldIdLst>
  <p:sldSz cy="7772400" cx="10058400"/>
  <p:notesSz cx="6858000" cy="9144000"/>
  <p:embeddedFontLst>
    <p:embeddedFont>
      <p:font typeface="Google Sans"/>
      <p:regular r:id="rId47"/>
      <p:bold r:id="rId48"/>
      <p:italic r:id="rId49"/>
      <p:boldItalic r:id="rId50"/>
    </p:embeddedFont>
    <p:embeddedFont>
      <p:font typeface="Bungee"/>
      <p:regular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448">
          <p15:clr>
            <a:srgbClr val="747775"/>
          </p15:clr>
        </p15:guide>
        <p15:guide id="2" pos="3168">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BDFC22C-DABC-4BF4-A259-F465392D9469}">
  <a:tblStyle styleId="{FBDFC22C-DABC-4BF4-A259-F465392D946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448" orient="horz"/>
        <p:guide pos="31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39.xml"/><Relationship Id="rId9" Type="http://schemas.openxmlformats.org/officeDocument/2006/relationships/slide" Target="slides/slide38.xml"/><Relationship Id="rId10" Type="http://schemas.openxmlformats.org/officeDocument/2006/relationships/slide" Target="slides/slide37.xml"/><Relationship Id="rId11" Type="http://schemas.openxmlformats.org/officeDocument/2006/relationships/slide" Target="slides/slide36.xml"/><Relationship Id="rId12" Type="http://schemas.openxmlformats.org/officeDocument/2006/relationships/slide" Target="slides/slide35.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 Id="rId36" Type="http://schemas.openxmlformats.org/officeDocument/2006/relationships/slide" Target="slides/slide24.xml"/><Relationship Id="rId37" Type="http://schemas.openxmlformats.org/officeDocument/2006/relationships/slide" Target="slides/slide25.xml"/><Relationship Id="rId38" Type="http://schemas.openxmlformats.org/officeDocument/2006/relationships/slide" Target="slides/slide26.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font" Target="fonts/GoogleSans-regular.fntdata"/><Relationship Id="rId48" Type="http://schemas.openxmlformats.org/officeDocument/2006/relationships/font" Target="fonts/GoogleSans-bold.fntdata"/><Relationship Id="rId49" Type="http://schemas.openxmlformats.org/officeDocument/2006/relationships/font" Target="fonts/GoogleSans-italic.fntdata"/><Relationship Id="rId50" Type="http://schemas.openxmlformats.org/officeDocument/2006/relationships/font" Target="fonts/GoogleSans-boldItalic.fntdata"/><Relationship Id="rId51" Type="http://schemas.openxmlformats.org/officeDocument/2006/relationships/font" Target="fonts/Bungee-regular.fntdata"/><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210545" y="685800"/>
            <a:ext cx="4437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42879" y="1125136"/>
            <a:ext cx="9372600" cy="31017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6433"/>
              <a:buNone/>
              <a:defRPr sz="6433"/>
            </a:lvl1pPr>
            <a:lvl2pPr lvl="1" algn="ctr">
              <a:lnSpc>
                <a:spcPct val="100000"/>
              </a:lnSpc>
              <a:spcBef>
                <a:spcPts val="0"/>
              </a:spcBef>
              <a:spcAft>
                <a:spcPts val="0"/>
              </a:spcAft>
              <a:buSzPts val="6433"/>
              <a:buNone/>
              <a:defRPr sz="6433"/>
            </a:lvl2pPr>
            <a:lvl3pPr lvl="2" algn="ctr">
              <a:lnSpc>
                <a:spcPct val="100000"/>
              </a:lnSpc>
              <a:spcBef>
                <a:spcPts val="0"/>
              </a:spcBef>
              <a:spcAft>
                <a:spcPts val="0"/>
              </a:spcAft>
              <a:buSzPts val="6433"/>
              <a:buNone/>
              <a:defRPr sz="6433"/>
            </a:lvl3pPr>
            <a:lvl4pPr lvl="3" algn="ctr">
              <a:lnSpc>
                <a:spcPct val="100000"/>
              </a:lnSpc>
              <a:spcBef>
                <a:spcPts val="0"/>
              </a:spcBef>
              <a:spcAft>
                <a:spcPts val="0"/>
              </a:spcAft>
              <a:buSzPts val="6433"/>
              <a:buNone/>
              <a:defRPr sz="6433"/>
            </a:lvl4pPr>
            <a:lvl5pPr lvl="4" algn="ctr">
              <a:lnSpc>
                <a:spcPct val="100000"/>
              </a:lnSpc>
              <a:spcBef>
                <a:spcPts val="0"/>
              </a:spcBef>
              <a:spcAft>
                <a:spcPts val="0"/>
              </a:spcAft>
              <a:buSzPts val="6433"/>
              <a:buNone/>
              <a:defRPr sz="6433"/>
            </a:lvl5pPr>
            <a:lvl6pPr lvl="5" algn="ctr">
              <a:lnSpc>
                <a:spcPct val="100000"/>
              </a:lnSpc>
              <a:spcBef>
                <a:spcPts val="0"/>
              </a:spcBef>
              <a:spcAft>
                <a:spcPts val="0"/>
              </a:spcAft>
              <a:buSzPts val="6433"/>
              <a:buNone/>
              <a:defRPr sz="6433"/>
            </a:lvl6pPr>
            <a:lvl7pPr lvl="6" algn="ctr">
              <a:lnSpc>
                <a:spcPct val="100000"/>
              </a:lnSpc>
              <a:spcBef>
                <a:spcPts val="0"/>
              </a:spcBef>
              <a:spcAft>
                <a:spcPts val="0"/>
              </a:spcAft>
              <a:buSzPts val="6433"/>
              <a:buNone/>
              <a:defRPr sz="6433"/>
            </a:lvl7pPr>
            <a:lvl8pPr lvl="7" algn="ctr">
              <a:lnSpc>
                <a:spcPct val="100000"/>
              </a:lnSpc>
              <a:spcBef>
                <a:spcPts val="0"/>
              </a:spcBef>
              <a:spcAft>
                <a:spcPts val="0"/>
              </a:spcAft>
              <a:buSzPts val="6433"/>
              <a:buNone/>
              <a:defRPr sz="6433"/>
            </a:lvl8pPr>
            <a:lvl9pPr lvl="8" algn="ctr">
              <a:lnSpc>
                <a:spcPct val="100000"/>
              </a:lnSpc>
              <a:spcBef>
                <a:spcPts val="0"/>
              </a:spcBef>
              <a:spcAft>
                <a:spcPts val="0"/>
              </a:spcAft>
              <a:buSzPts val="6433"/>
              <a:buNone/>
              <a:defRPr sz="6433"/>
            </a:lvl9pPr>
          </a:lstStyle>
          <a:p/>
        </p:txBody>
      </p:sp>
      <p:sp>
        <p:nvSpPr>
          <p:cNvPr id="11" name="Google Shape;11;p2"/>
          <p:cNvSpPr txBox="1"/>
          <p:nvPr>
            <p:ph idx="1" type="subTitle"/>
          </p:nvPr>
        </p:nvSpPr>
        <p:spPr>
          <a:xfrm>
            <a:off x="342870" y="4282678"/>
            <a:ext cx="9372600" cy="11976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3464"/>
              <a:buNone/>
              <a:defRPr sz="3464"/>
            </a:lvl1pPr>
            <a:lvl2pPr lvl="1" algn="ctr">
              <a:lnSpc>
                <a:spcPct val="100000"/>
              </a:lnSpc>
              <a:spcBef>
                <a:spcPts val="0"/>
              </a:spcBef>
              <a:spcAft>
                <a:spcPts val="0"/>
              </a:spcAft>
              <a:buSzPts val="3464"/>
              <a:buNone/>
              <a:defRPr sz="3464"/>
            </a:lvl2pPr>
            <a:lvl3pPr lvl="2" algn="ctr">
              <a:lnSpc>
                <a:spcPct val="100000"/>
              </a:lnSpc>
              <a:spcBef>
                <a:spcPts val="0"/>
              </a:spcBef>
              <a:spcAft>
                <a:spcPts val="0"/>
              </a:spcAft>
              <a:buSzPts val="3464"/>
              <a:buNone/>
              <a:defRPr sz="3464"/>
            </a:lvl3pPr>
            <a:lvl4pPr lvl="3" algn="ctr">
              <a:lnSpc>
                <a:spcPct val="100000"/>
              </a:lnSpc>
              <a:spcBef>
                <a:spcPts val="0"/>
              </a:spcBef>
              <a:spcAft>
                <a:spcPts val="0"/>
              </a:spcAft>
              <a:buSzPts val="3464"/>
              <a:buNone/>
              <a:defRPr sz="3464"/>
            </a:lvl4pPr>
            <a:lvl5pPr lvl="4" algn="ctr">
              <a:lnSpc>
                <a:spcPct val="100000"/>
              </a:lnSpc>
              <a:spcBef>
                <a:spcPts val="0"/>
              </a:spcBef>
              <a:spcAft>
                <a:spcPts val="0"/>
              </a:spcAft>
              <a:buSzPts val="3464"/>
              <a:buNone/>
              <a:defRPr sz="3464"/>
            </a:lvl5pPr>
            <a:lvl6pPr lvl="5" algn="ctr">
              <a:lnSpc>
                <a:spcPct val="100000"/>
              </a:lnSpc>
              <a:spcBef>
                <a:spcPts val="0"/>
              </a:spcBef>
              <a:spcAft>
                <a:spcPts val="0"/>
              </a:spcAft>
              <a:buSzPts val="3464"/>
              <a:buNone/>
              <a:defRPr sz="3464"/>
            </a:lvl6pPr>
            <a:lvl7pPr lvl="6" algn="ctr">
              <a:lnSpc>
                <a:spcPct val="100000"/>
              </a:lnSpc>
              <a:spcBef>
                <a:spcPts val="0"/>
              </a:spcBef>
              <a:spcAft>
                <a:spcPts val="0"/>
              </a:spcAft>
              <a:buSzPts val="3464"/>
              <a:buNone/>
              <a:defRPr sz="3464"/>
            </a:lvl7pPr>
            <a:lvl8pPr lvl="7" algn="ctr">
              <a:lnSpc>
                <a:spcPct val="100000"/>
              </a:lnSpc>
              <a:spcBef>
                <a:spcPts val="0"/>
              </a:spcBef>
              <a:spcAft>
                <a:spcPts val="0"/>
              </a:spcAft>
              <a:buSzPts val="3464"/>
              <a:buNone/>
              <a:defRPr sz="3464"/>
            </a:lvl8pPr>
            <a:lvl9pPr lvl="8" algn="ctr">
              <a:lnSpc>
                <a:spcPct val="100000"/>
              </a:lnSpc>
              <a:spcBef>
                <a:spcPts val="0"/>
              </a:spcBef>
              <a:spcAft>
                <a:spcPts val="0"/>
              </a:spcAft>
              <a:buSzPts val="3464"/>
              <a:buNone/>
              <a:defRPr sz="3464"/>
            </a:lvl9pPr>
          </a:lstStyle>
          <a:p/>
        </p:txBody>
      </p:sp>
      <p:sp>
        <p:nvSpPr>
          <p:cNvPr id="12" name="Google Shape;12;p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15" name="Google Shape;15;p3"/>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16" name="Google Shape;16;p3"/>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4"/>
          <p:cNvSpPr txBox="1"/>
          <p:nvPr>
            <p:ph type="title"/>
          </p:nvPr>
        </p:nvSpPr>
        <p:spPr>
          <a:xfrm>
            <a:off x="342870" y="3250173"/>
            <a:ext cx="9372600" cy="1272000"/>
          </a:xfrm>
          <a:prstGeom prst="rect">
            <a:avLst/>
          </a:prstGeom>
          <a:noFill/>
          <a:ln>
            <a:noFill/>
          </a:ln>
        </p:spPr>
        <p:txBody>
          <a:bodyPr anchorCtr="0" anchor="ctr" bIns="113100" lIns="113100" spcFirstLastPara="1" rIns="113100" wrap="square" tIns="113100">
            <a:spAutoFit/>
          </a:bodyPr>
          <a:lstStyle>
            <a:lvl1pPr lvl="0" algn="ctr">
              <a:lnSpc>
                <a:spcPct val="100000"/>
              </a:lnSpc>
              <a:spcBef>
                <a:spcPts val="0"/>
              </a:spcBef>
              <a:spcAft>
                <a:spcPts val="0"/>
              </a:spcAft>
              <a:buSzPts val="4453"/>
              <a:buNone/>
              <a:defRPr sz="4453"/>
            </a:lvl1pPr>
            <a:lvl2pPr lvl="1" algn="ctr">
              <a:lnSpc>
                <a:spcPct val="100000"/>
              </a:lnSpc>
              <a:spcBef>
                <a:spcPts val="0"/>
              </a:spcBef>
              <a:spcAft>
                <a:spcPts val="0"/>
              </a:spcAft>
              <a:buSzPts val="4453"/>
              <a:buNone/>
              <a:defRPr sz="4453"/>
            </a:lvl2pPr>
            <a:lvl3pPr lvl="2" algn="ctr">
              <a:lnSpc>
                <a:spcPct val="100000"/>
              </a:lnSpc>
              <a:spcBef>
                <a:spcPts val="0"/>
              </a:spcBef>
              <a:spcAft>
                <a:spcPts val="0"/>
              </a:spcAft>
              <a:buSzPts val="4453"/>
              <a:buNone/>
              <a:defRPr sz="4453"/>
            </a:lvl3pPr>
            <a:lvl4pPr lvl="3" algn="ctr">
              <a:lnSpc>
                <a:spcPct val="100000"/>
              </a:lnSpc>
              <a:spcBef>
                <a:spcPts val="0"/>
              </a:spcBef>
              <a:spcAft>
                <a:spcPts val="0"/>
              </a:spcAft>
              <a:buSzPts val="4453"/>
              <a:buNone/>
              <a:defRPr sz="4453"/>
            </a:lvl4pPr>
            <a:lvl5pPr lvl="4" algn="ctr">
              <a:lnSpc>
                <a:spcPct val="100000"/>
              </a:lnSpc>
              <a:spcBef>
                <a:spcPts val="0"/>
              </a:spcBef>
              <a:spcAft>
                <a:spcPts val="0"/>
              </a:spcAft>
              <a:buSzPts val="4453"/>
              <a:buNone/>
              <a:defRPr sz="4453"/>
            </a:lvl5pPr>
            <a:lvl6pPr lvl="5" algn="ctr">
              <a:lnSpc>
                <a:spcPct val="100000"/>
              </a:lnSpc>
              <a:spcBef>
                <a:spcPts val="0"/>
              </a:spcBef>
              <a:spcAft>
                <a:spcPts val="0"/>
              </a:spcAft>
              <a:buSzPts val="4453"/>
              <a:buNone/>
              <a:defRPr sz="4453"/>
            </a:lvl6pPr>
            <a:lvl7pPr lvl="6" algn="ctr">
              <a:lnSpc>
                <a:spcPct val="100000"/>
              </a:lnSpc>
              <a:spcBef>
                <a:spcPts val="0"/>
              </a:spcBef>
              <a:spcAft>
                <a:spcPts val="0"/>
              </a:spcAft>
              <a:buSzPts val="4453"/>
              <a:buNone/>
              <a:defRPr sz="4453"/>
            </a:lvl7pPr>
            <a:lvl8pPr lvl="7" algn="ctr">
              <a:lnSpc>
                <a:spcPct val="100000"/>
              </a:lnSpc>
              <a:spcBef>
                <a:spcPts val="0"/>
              </a:spcBef>
              <a:spcAft>
                <a:spcPts val="0"/>
              </a:spcAft>
              <a:buSzPts val="4453"/>
              <a:buNone/>
              <a:defRPr sz="4453"/>
            </a:lvl8pPr>
            <a:lvl9pPr lvl="8" algn="ctr">
              <a:lnSpc>
                <a:spcPct val="100000"/>
              </a:lnSpc>
              <a:spcBef>
                <a:spcPts val="0"/>
              </a:spcBef>
              <a:spcAft>
                <a:spcPts val="0"/>
              </a:spcAft>
              <a:buSzPts val="4453"/>
              <a:buNone/>
              <a:defRPr sz="4453"/>
            </a:lvl9pPr>
          </a:lstStyle>
          <a:p/>
        </p:txBody>
      </p:sp>
      <p:sp>
        <p:nvSpPr>
          <p:cNvPr id="19" name="Google Shape;19;p4"/>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2" name="Google Shape;22;p5"/>
          <p:cNvSpPr txBox="1"/>
          <p:nvPr>
            <p:ph idx="1" type="body"/>
          </p:nvPr>
        </p:nvSpPr>
        <p:spPr>
          <a:xfrm>
            <a:off x="34287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3" name="Google Shape;23;p5"/>
          <p:cNvSpPr txBox="1"/>
          <p:nvPr>
            <p:ph idx="2" type="body"/>
          </p:nvPr>
        </p:nvSpPr>
        <p:spPr>
          <a:xfrm>
            <a:off x="5315640" y="1741518"/>
            <a:ext cx="4399800" cy="5162700"/>
          </a:xfrm>
          <a:prstGeom prst="rect">
            <a:avLst/>
          </a:prstGeom>
          <a:noFill/>
          <a:ln>
            <a:noFill/>
          </a:ln>
        </p:spPr>
        <p:txBody>
          <a:bodyPr anchorCtr="0" anchor="t" bIns="113100" lIns="113100" spcFirstLastPara="1" rIns="113100" wrap="square" tIns="113100">
            <a:spAutoFit/>
          </a:bodyPr>
          <a:lstStyle>
            <a:lvl1pPr indent="-338582" lvl="0" marL="457200" algn="l">
              <a:lnSpc>
                <a:spcPct val="115000"/>
              </a:lnSpc>
              <a:spcBef>
                <a:spcPts val="0"/>
              </a:spcBef>
              <a:spcAft>
                <a:spcPts val="0"/>
              </a:spcAft>
              <a:buSzPts val="1732"/>
              <a:buChar char="●"/>
              <a:defRPr sz="1732"/>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24" name="Google Shape;24;p5"/>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algn="l">
              <a:lnSpc>
                <a:spcPct val="100000"/>
              </a:lnSpc>
              <a:spcBef>
                <a:spcPts val="0"/>
              </a:spcBef>
              <a:spcAft>
                <a:spcPts val="0"/>
              </a:spcAft>
              <a:buSzPts val="3464"/>
              <a:buNone/>
              <a:defRPr sz="3464"/>
            </a:lvl1pPr>
            <a:lvl2pPr lvl="1" algn="l">
              <a:lnSpc>
                <a:spcPct val="100000"/>
              </a:lnSpc>
              <a:spcBef>
                <a:spcPts val="0"/>
              </a:spcBef>
              <a:spcAft>
                <a:spcPts val="0"/>
              </a:spcAft>
              <a:buSzPts val="3464"/>
              <a:buNone/>
              <a:defRPr sz="3464"/>
            </a:lvl2pPr>
            <a:lvl3pPr lvl="2" algn="l">
              <a:lnSpc>
                <a:spcPct val="100000"/>
              </a:lnSpc>
              <a:spcBef>
                <a:spcPts val="0"/>
              </a:spcBef>
              <a:spcAft>
                <a:spcPts val="0"/>
              </a:spcAft>
              <a:buSzPts val="3464"/>
              <a:buNone/>
              <a:defRPr sz="3464"/>
            </a:lvl3pPr>
            <a:lvl4pPr lvl="3" algn="l">
              <a:lnSpc>
                <a:spcPct val="100000"/>
              </a:lnSpc>
              <a:spcBef>
                <a:spcPts val="0"/>
              </a:spcBef>
              <a:spcAft>
                <a:spcPts val="0"/>
              </a:spcAft>
              <a:buSzPts val="3464"/>
              <a:buNone/>
              <a:defRPr sz="3464"/>
            </a:lvl4pPr>
            <a:lvl5pPr lvl="4" algn="l">
              <a:lnSpc>
                <a:spcPct val="100000"/>
              </a:lnSpc>
              <a:spcBef>
                <a:spcPts val="0"/>
              </a:spcBef>
              <a:spcAft>
                <a:spcPts val="0"/>
              </a:spcAft>
              <a:buSzPts val="3464"/>
              <a:buNone/>
              <a:defRPr sz="3464"/>
            </a:lvl5pPr>
            <a:lvl6pPr lvl="5" algn="l">
              <a:lnSpc>
                <a:spcPct val="100000"/>
              </a:lnSpc>
              <a:spcBef>
                <a:spcPts val="0"/>
              </a:spcBef>
              <a:spcAft>
                <a:spcPts val="0"/>
              </a:spcAft>
              <a:buSzPts val="3464"/>
              <a:buNone/>
              <a:defRPr sz="3464"/>
            </a:lvl6pPr>
            <a:lvl7pPr lvl="6" algn="l">
              <a:lnSpc>
                <a:spcPct val="100000"/>
              </a:lnSpc>
              <a:spcBef>
                <a:spcPts val="0"/>
              </a:spcBef>
              <a:spcAft>
                <a:spcPts val="0"/>
              </a:spcAft>
              <a:buSzPts val="3464"/>
              <a:buNone/>
              <a:defRPr sz="3464"/>
            </a:lvl7pPr>
            <a:lvl8pPr lvl="7" algn="l">
              <a:lnSpc>
                <a:spcPct val="100000"/>
              </a:lnSpc>
              <a:spcBef>
                <a:spcPts val="0"/>
              </a:spcBef>
              <a:spcAft>
                <a:spcPts val="0"/>
              </a:spcAft>
              <a:buSzPts val="3464"/>
              <a:buNone/>
              <a:defRPr sz="3464"/>
            </a:lvl8pPr>
            <a:lvl9pPr lvl="8" algn="l">
              <a:lnSpc>
                <a:spcPct val="100000"/>
              </a:lnSpc>
              <a:spcBef>
                <a:spcPts val="0"/>
              </a:spcBef>
              <a:spcAft>
                <a:spcPts val="0"/>
              </a:spcAft>
              <a:buSzPts val="3464"/>
              <a:buNone/>
              <a:defRPr sz="3464"/>
            </a:lvl9pPr>
          </a:lstStyle>
          <a:p/>
        </p:txBody>
      </p:sp>
      <p:sp>
        <p:nvSpPr>
          <p:cNvPr id="27" name="Google Shape;27;p6"/>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42870" y="839573"/>
            <a:ext cx="3088800" cy="1141800"/>
          </a:xfrm>
          <a:prstGeom prst="rect">
            <a:avLst/>
          </a:prstGeom>
          <a:noFill/>
          <a:ln>
            <a:noFill/>
          </a:ln>
        </p:spPr>
        <p:txBody>
          <a:bodyPr anchorCtr="0" anchor="b" bIns="113100" lIns="113100" spcFirstLastPara="1" rIns="113100" wrap="square" tIns="113100">
            <a:spAutoFit/>
          </a:bodyPr>
          <a:lstStyle>
            <a:lvl1pPr lvl="0" algn="l">
              <a:lnSpc>
                <a:spcPct val="100000"/>
              </a:lnSpc>
              <a:spcBef>
                <a:spcPts val="0"/>
              </a:spcBef>
              <a:spcAft>
                <a:spcPts val="0"/>
              </a:spcAft>
              <a:buSzPts val="2969"/>
              <a:buNone/>
              <a:defRPr sz="2969"/>
            </a:lvl1pPr>
            <a:lvl2pPr lvl="1" algn="l">
              <a:lnSpc>
                <a:spcPct val="100000"/>
              </a:lnSpc>
              <a:spcBef>
                <a:spcPts val="0"/>
              </a:spcBef>
              <a:spcAft>
                <a:spcPts val="0"/>
              </a:spcAft>
              <a:buSzPts val="2969"/>
              <a:buNone/>
              <a:defRPr sz="2969"/>
            </a:lvl2pPr>
            <a:lvl3pPr lvl="2" algn="l">
              <a:lnSpc>
                <a:spcPct val="100000"/>
              </a:lnSpc>
              <a:spcBef>
                <a:spcPts val="0"/>
              </a:spcBef>
              <a:spcAft>
                <a:spcPts val="0"/>
              </a:spcAft>
              <a:buSzPts val="2969"/>
              <a:buNone/>
              <a:defRPr sz="2969"/>
            </a:lvl3pPr>
            <a:lvl4pPr lvl="3" algn="l">
              <a:lnSpc>
                <a:spcPct val="100000"/>
              </a:lnSpc>
              <a:spcBef>
                <a:spcPts val="0"/>
              </a:spcBef>
              <a:spcAft>
                <a:spcPts val="0"/>
              </a:spcAft>
              <a:buSzPts val="2969"/>
              <a:buNone/>
              <a:defRPr sz="2969"/>
            </a:lvl4pPr>
            <a:lvl5pPr lvl="4" algn="l">
              <a:lnSpc>
                <a:spcPct val="100000"/>
              </a:lnSpc>
              <a:spcBef>
                <a:spcPts val="0"/>
              </a:spcBef>
              <a:spcAft>
                <a:spcPts val="0"/>
              </a:spcAft>
              <a:buSzPts val="2969"/>
              <a:buNone/>
              <a:defRPr sz="2969"/>
            </a:lvl5pPr>
            <a:lvl6pPr lvl="5" algn="l">
              <a:lnSpc>
                <a:spcPct val="100000"/>
              </a:lnSpc>
              <a:spcBef>
                <a:spcPts val="0"/>
              </a:spcBef>
              <a:spcAft>
                <a:spcPts val="0"/>
              </a:spcAft>
              <a:buSzPts val="2969"/>
              <a:buNone/>
              <a:defRPr sz="2969"/>
            </a:lvl6pPr>
            <a:lvl7pPr lvl="6" algn="l">
              <a:lnSpc>
                <a:spcPct val="100000"/>
              </a:lnSpc>
              <a:spcBef>
                <a:spcPts val="0"/>
              </a:spcBef>
              <a:spcAft>
                <a:spcPts val="0"/>
              </a:spcAft>
              <a:buSzPts val="2969"/>
              <a:buNone/>
              <a:defRPr sz="2969"/>
            </a:lvl7pPr>
            <a:lvl8pPr lvl="7" algn="l">
              <a:lnSpc>
                <a:spcPct val="100000"/>
              </a:lnSpc>
              <a:spcBef>
                <a:spcPts val="0"/>
              </a:spcBef>
              <a:spcAft>
                <a:spcPts val="0"/>
              </a:spcAft>
              <a:buSzPts val="2969"/>
              <a:buNone/>
              <a:defRPr sz="2969"/>
            </a:lvl8pPr>
            <a:lvl9pPr lvl="8" algn="l">
              <a:lnSpc>
                <a:spcPct val="100000"/>
              </a:lnSpc>
              <a:spcBef>
                <a:spcPts val="0"/>
              </a:spcBef>
              <a:spcAft>
                <a:spcPts val="0"/>
              </a:spcAft>
              <a:buSzPts val="2969"/>
              <a:buNone/>
              <a:defRPr sz="2969"/>
            </a:lvl9pPr>
          </a:lstStyle>
          <a:p/>
        </p:txBody>
      </p:sp>
      <p:sp>
        <p:nvSpPr>
          <p:cNvPr id="30" name="Google Shape;30;p7"/>
          <p:cNvSpPr txBox="1"/>
          <p:nvPr>
            <p:ph idx="1" type="body"/>
          </p:nvPr>
        </p:nvSpPr>
        <p:spPr>
          <a:xfrm>
            <a:off x="342870" y="2099840"/>
            <a:ext cx="3088800" cy="4804500"/>
          </a:xfrm>
          <a:prstGeom prst="rect">
            <a:avLst/>
          </a:prstGeom>
          <a:noFill/>
          <a:ln>
            <a:noFill/>
          </a:ln>
        </p:spPr>
        <p:txBody>
          <a:bodyPr anchorCtr="0" anchor="t" bIns="113100" lIns="113100" spcFirstLastPara="1" rIns="113100" wrap="square" tIns="113100">
            <a:spAutoFit/>
          </a:bodyPr>
          <a:lstStyle>
            <a:lvl1pPr indent="-322834" lvl="0" marL="457200" algn="l">
              <a:lnSpc>
                <a:spcPct val="115000"/>
              </a:lnSpc>
              <a:spcBef>
                <a:spcPts val="0"/>
              </a:spcBef>
              <a:spcAft>
                <a:spcPts val="0"/>
              </a:spcAft>
              <a:buSzPts val="1484"/>
              <a:buChar char="●"/>
              <a:defRPr sz="1484"/>
            </a:lvl1pPr>
            <a:lvl2pPr indent="-322834" lvl="1" marL="914400" algn="l">
              <a:lnSpc>
                <a:spcPct val="115000"/>
              </a:lnSpc>
              <a:spcBef>
                <a:spcPts val="0"/>
              </a:spcBef>
              <a:spcAft>
                <a:spcPts val="0"/>
              </a:spcAft>
              <a:buSzPts val="1484"/>
              <a:buChar char="○"/>
              <a:defRPr sz="1484"/>
            </a:lvl2pPr>
            <a:lvl3pPr indent="-322834" lvl="2" marL="1371600" algn="l">
              <a:lnSpc>
                <a:spcPct val="115000"/>
              </a:lnSpc>
              <a:spcBef>
                <a:spcPts val="0"/>
              </a:spcBef>
              <a:spcAft>
                <a:spcPts val="0"/>
              </a:spcAft>
              <a:buSzPts val="1484"/>
              <a:buChar char="■"/>
              <a:defRPr sz="1484"/>
            </a:lvl3pPr>
            <a:lvl4pPr indent="-322834" lvl="3" marL="1828800" algn="l">
              <a:lnSpc>
                <a:spcPct val="115000"/>
              </a:lnSpc>
              <a:spcBef>
                <a:spcPts val="0"/>
              </a:spcBef>
              <a:spcAft>
                <a:spcPts val="0"/>
              </a:spcAft>
              <a:buSzPts val="1484"/>
              <a:buChar char="●"/>
              <a:defRPr sz="1484"/>
            </a:lvl4pPr>
            <a:lvl5pPr indent="-322834" lvl="4" marL="2286000" algn="l">
              <a:lnSpc>
                <a:spcPct val="115000"/>
              </a:lnSpc>
              <a:spcBef>
                <a:spcPts val="0"/>
              </a:spcBef>
              <a:spcAft>
                <a:spcPts val="0"/>
              </a:spcAft>
              <a:buSzPts val="1484"/>
              <a:buChar char="○"/>
              <a:defRPr sz="1484"/>
            </a:lvl5pPr>
            <a:lvl6pPr indent="-322834" lvl="5" marL="2743200" algn="l">
              <a:lnSpc>
                <a:spcPct val="115000"/>
              </a:lnSpc>
              <a:spcBef>
                <a:spcPts val="0"/>
              </a:spcBef>
              <a:spcAft>
                <a:spcPts val="0"/>
              </a:spcAft>
              <a:buSzPts val="1484"/>
              <a:buChar char="■"/>
              <a:defRPr sz="1484"/>
            </a:lvl6pPr>
            <a:lvl7pPr indent="-322834" lvl="6" marL="3200400" algn="l">
              <a:lnSpc>
                <a:spcPct val="115000"/>
              </a:lnSpc>
              <a:spcBef>
                <a:spcPts val="0"/>
              </a:spcBef>
              <a:spcAft>
                <a:spcPts val="0"/>
              </a:spcAft>
              <a:buSzPts val="1484"/>
              <a:buChar char="●"/>
              <a:defRPr sz="1484"/>
            </a:lvl7pPr>
            <a:lvl8pPr indent="-322834" lvl="7" marL="3657600" algn="l">
              <a:lnSpc>
                <a:spcPct val="115000"/>
              </a:lnSpc>
              <a:spcBef>
                <a:spcPts val="0"/>
              </a:spcBef>
              <a:spcAft>
                <a:spcPts val="0"/>
              </a:spcAft>
              <a:buSzPts val="1484"/>
              <a:buChar char="○"/>
              <a:defRPr sz="1484"/>
            </a:lvl8pPr>
            <a:lvl9pPr indent="-322834" lvl="8" marL="4114800" algn="l">
              <a:lnSpc>
                <a:spcPct val="115000"/>
              </a:lnSpc>
              <a:spcBef>
                <a:spcPts val="0"/>
              </a:spcBef>
              <a:spcAft>
                <a:spcPts val="0"/>
              </a:spcAft>
              <a:buSzPts val="1484"/>
              <a:buChar char="■"/>
              <a:defRPr sz="1484"/>
            </a:lvl9pPr>
          </a:lstStyle>
          <a:p/>
        </p:txBody>
      </p:sp>
      <p:sp>
        <p:nvSpPr>
          <p:cNvPr id="31" name="Google Shape;31;p7"/>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39275" y="680227"/>
            <a:ext cx="7004700" cy="6181800"/>
          </a:xfrm>
          <a:prstGeom prst="rect">
            <a:avLst/>
          </a:prstGeom>
          <a:noFill/>
          <a:ln>
            <a:noFill/>
          </a:ln>
        </p:spPr>
        <p:txBody>
          <a:bodyPr anchorCtr="0" anchor="ctr" bIns="113100" lIns="113100" spcFirstLastPara="1" rIns="113100" wrap="square" tIns="113100">
            <a:spAutoFit/>
          </a:bodyPr>
          <a:lstStyle>
            <a:lvl1pPr lvl="0" algn="l">
              <a:lnSpc>
                <a:spcPct val="100000"/>
              </a:lnSpc>
              <a:spcBef>
                <a:spcPts val="0"/>
              </a:spcBef>
              <a:spcAft>
                <a:spcPts val="0"/>
              </a:spcAft>
              <a:buSzPts val="5938"/>
              <a:buNone/>
              <a:defRPr sz="5938"/>
            </a:lvl1pPr>
            <a:lvl2pPr lvl="1" algn="l">
              <a:lnSpc>
                <a:spcPct val="100000"/>
              </a:lnSpc>
              <a:spcBef>
                <a:spcPts val="0"/>
              </a:spcBef>
              <a:spcAft>
                <a:spcPts val="0"/>
              </a:spcAft>
              <a:buSzPts val="5938"/>
              <a:buNone/>
              <a:defRPr sz="5938"/>
            </a:lvl2pPr>
            <a:lvl3pPr lvl="2" algn="l">
              <a:lnSpc>
                <a:spcPct val="100000"/>
              </a:lnSpc>
              <a:spcBef>
                <a:spcPts val="0"/>
              </a:spcBef>
              <a:spcAft>
                <a:spcPts val="0"/>
              </a:spcAft>
              <a:buSzPts val="5938"/>
              <a:buNone/>
              <a:defRPr sz="5938"/>
            </a:lvl3pPr>
            <a:lvl4pPr lvl="3" algn="l">
              <a:lnSpc>
                <a:spcPct val="100000"/>
              </a:lnSpc>
              <a:spcBef>
                <a:spcPts val="0"/>
              </a:spcBef>
              <a:spcAft>
                <a:spcPts val="0"/>
              </a:spcAft>
              <a:buSzPts val="5938"/>
              <a:buNone/>
              <a:defRPr sz="5938"/>
            </a:lvl4pPr>
            <a:lvl5pPr lvl="4" algn="l">
              <a:lnSpc>
                <a:spcPct val="100000"/>
              </a:lnSpc>
              <a:spcBef>
                <a:spcPts val="0"/>
              </a:spcBef>
              <a:spcAft>
                <a:spcPts val="0"/>
              </a:spcAft>
              <a:buSzPts val="5938"/>
              <a:buNone/>
              <a:defRPr sz="5938"/>
            </a:lvl5pPr>
            <a:lvl6pPr lvl="5" algn="l">
              <a:lnSpc>
                <a:spcPct val="100000"/>
              </a:lnSpc>
              <a:spcBef>
                <a:spcPts val="0"/>
              </a:spcBef>
              <a:spcAft>
                <a:spcPts val="0"/>
              </a:spcAft>
              <a:buSzPts val="5938"/>
              <a:buNone/>
              <a:defRPr sz="5938"/>
            </a:lvl6pPr>
            <a:lvl7pPr lvl="6" algn="l">
              <a:lnSpc>
                <a:spcPct val="100000"/>
              </a:lnSpc>
              <a:spcBef>
                <a:spcPts val="0"/>
              </a:spcBef>
              <a:spcAft>
                <a:spcPts val="0"/>
              </a:spcAft>
              <a:buSzPts val="5938"/>
              <a:buNone/>
              <a:defRPr sz="5938"/>
            </a:lvl7pPr>
            <a:lvl8pPr lvl="7" algn="l">
              <a:lnSpc>
                <a:spcPct val="100000"/>
              </a:lnSpc>
              <a:spcBef>
                <a:spcPts val="0"/>
              </a:spcBef>
              <a:spcAft>
                <a:spcPts val="0"/>
              </a:spcAft>
              <a:buSzPts val="5938"/>
              <a:buNone/>
              <a:defRPr sz="5938"/>
            </a:lvl8pPr>
            <a:lvl9pPr lvl="8" algn="l">
              <a:lnSpc>
                <a:spcPct val="100000"/>
              </a:lnSpc>
              <a:spcBef>
                <a:spcPts val="0"/>
              </a:spcBef>
              <a:spcAft>
                <a:spcPts val="0"/>
              </a:spcAft>
              <a:buSzPts val="5938"/>
              <a:buNone/>
              <a:defRPr sz="5938"/>
            </a:lvl9pPr>
          </a:lstStyle>
          <a:p/>
        </p:txBody>
      </p:sp>
      <p:sp>
        <p:nvSpPr>
          <p:cNvPr id="34" name="Google Shape;34;p8"/>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029200" y="-189"/>
            <a:ext cx="5029200" cy="7772400"/>
          </a:xfrm>
          <a:prstGeom prst="rect">
            <a:avLst/>
          </a:prstGeom>
          <a:solidFill>
            <a:schemeClr val="lt2"/>
          </a:solidFill>
          <a:ln>
            <a:noFill/>
          </a:ln>
        </p:spPr>
        <p:txBody>
          <a:bodyPr anchorCtr="0" anchor="ctr" bIns="113100" lIns="113100" spcFirstLastPara="1" rIns="113100" wrap="square" tIns="1131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92050" y="1863464"/>
            <a:ext cx="4449600" cy="22398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5196"/>
              <a:buNone/>
              <a:defRPr sz="5196"/>
            </a:lvl1pPr>
            <a:lvl2pPr lvl="1" algn="ctr">
              <a:lnSpc>
                <a:spcPct val="100000"/>
              </a:lnSpc>
              <a:spcBef>
                <a:spcPts val="0"/>
              </a:spcBef>
              <a:spcAft>
                <a:spcPts val="0"/>
              </a:spcAft>
              <a:buSzPts val="5196"/>
              <a:buNone/>
              <a:defRPr sz="5196"/>
            </a:lvl2pPr>
            <a:lvl3pPr lvl="2" algn="ctr">
              <a:lnSpc>
                <a:spcPct val="100000"/>
              </a:lnSpc>
              <a:spcBef>
                <a:spcPts val="0"/>
              </a:spcBef>
              <a:spcAft>
                <a:spcPts val="0"/>
              </a:spcAft>
              <a:buSzPts val="5196"/>
              <a:buNone/>
              <a:defRPr sz="5196"/>
            </a:lvl3pPr>
            <a:lvl4pPr lvl="3" algn="ctr">
              <a:lnSpc>
                <a:spcPct val="100000"/>
              </a:lnSpc>
              <a:spcBef>
                <a:spcPts val="0"/>
              </a:spcBef>
              <a:spcAft>
                <a:spcPts val="0"/>
              </a:spcAft>
              <a:buSzPts val="5196"/>
              <a:buNone/>
              <a:defRPr sz="5196"/>
            </a:lvl4pPr>
            <a:lvl5pPr lvl="4" algn="ctr">
              <a:lnSpc>
                <a:spcPct val="100000"/>
              </a:lnSpc>
              <a:spcBef>
                <a:spcPts val="0"/>
              </a:spcBef>
              <a:spcAft>
                <a:spcPts val="0"/>
              </a:spcAft>
              <a:buSzPts val="5196"/>
              <a:buNone/>
              <a:defRPr sz="5196"/>
            </a:lvl5pPr>
            <a:lvl6pPr lvl="5" algn="ctr">
              <a:lnSpc>
                <a:spcPct val="100000"/>
              </a:lnSpc>
              <a:spcBef>
                <a:spcPts val="0"/>
              </a:spcBef>
              <a:spcAft>
                <a:spcPts val="0"/>
              </a:spcAft>
              <a:buSzPts val="5196"/>
              <a:buNone/>
              <a:defRPr sz="5196"/>
            </a:lvl6pPr>
            <a:lvl7pPr lvl="6" algn="ctr">
              <a:lnSpc>
                <a:spcPct val="100000"/>
              </a:lnSpc>
              <a:spcBef>
                <a:spcPts val="0"/>
              </a:spcBef>
              <a:spcAft>
                <a:spcPts val="0"/>
              </a:spcAft>
              <a:buSzPts val="5196"/>
              <a:buNone/>
              <a:defRPr sz="5196"/>
            </a:lvl7pPr>
            <a:lvl8pPr lvl="7" algn="ctr">
              <a:lnSpc>
                <a:spcPct val="100000"/>
              </a:lnSpc>
              <a:spcBef>
                <a:spcPts val="0"/>
              </a:spcBef>
              <a:spcAft>
                <a:spcPts val="0"/>
              </a:spcAft>
              <a:buSzPts val="5196"/>
              <a:buNone/>
              <a:defRPr sz="5196"/>
            </a:lvl8pPr>
            <a:lvl9pPr lvl="8" algn="ctr">
              <a:lnSpc>
                <a:spcPct val="100000"/>
              </a:lnSpc>
              <a:spcBef>
                <a:spcPts val="0"/>
              </a:spcBef>
              <a:spcAft>
                <a:spcPts val="0"/>
              </a:spcAft>
              <a:buSzPts val="5196"/>
              <a:buNone/>
              <a:defRPr sz="5196"/>
            </a:lvl9pPr>
          </a:lstStyle>
          <a:p/>
        </p:txBody>
      </p:sp>
      <p:sp>
        <p:nvSpPr>
          <p:cNvPr id="38" name="Google Shape;38;p9"/>
          <p:cNvSpPr txBox="1"/>
          <p:nvPr>
            <p:ph idx="1" type="subTitle"/>
          </p:nvPr>
        </p:nvSpPr>
        <p:spPr>
          <a:xfrm>
            <a:off x="292050" y="4235758"/>
            <a:ext cx="4449600" cy="1866300"/>
          </a:xfrm>
          <a:prstGeom prst="rect">
            <a:avLst/>
          </a:prstGeom>
          <a:noFill/>
          <a:ln>
            <a:noFill/>
          </a:ln>
        </p:spPr>
        <p:txBody>
          <a:bodyPr anchorCtr="0" anchor="t" bIns="113100" lIns="113100" spcFirstLastPara="1" rIns="113100" wrap="square" tIns="113100">
            <a:spAutoFit/>
          </a:bodyPr>
          <a:lstStyle>
            <a:lvl1pPr lvl="0" algn="ctr">
              <a:lnSpc>
                <a:spcPct val="100000"/>
              </a:lnSpc>
              <a:spcBef>
                <a:spcPts val="0"/>
              </a:spcBef>
              <a:spcAft>
                <a:spcPts val="0"/>
              </a:spcAft>
              <a:buSzPts val="2598"/>
              <a:buNone/>
              <a:defRPr sz="2598"/>
            </a:lvl1pPr>
            <a:lvl2pPr lvl="1" algn="ctr">
              <a:lnSpc>
                <a:spcPct val="100000"/>
              </a:lnSpc>
              <a:spcBef>
                <a:spcPts val="0"/>
              </a:spcBef>
              <a:spcAft>
                <a:spcPts val="0"/>
              </a:spcAft>
              <a:buSzPts val="2598"/>
              <a:buNone/>
              <a:defRPr sz="2598"/>
            </a:lvl2pPr>
            <a:lvl3pPr lvl="2" algn="ctr">
              <a:lnSpc>
                <a:spcPct val="100000"/>
              </a:lnSpc>
              <a:spcBef>
                <a:spcPts val="0"/>
              </a:spcBef>
              <a:spcAft>
                <a:spcPts val="0"/>
              </a:spcAft>
              <a:buSzPts val="2598"/>
              <a:buNone/>
              <a:defRPr sz="2598"/>
            </a:lvl3pPr>
            <a:lvl4pPr lvl="3" algn="ctr">
              <a:lnSpc>
                <a:spcPct val="100000"/>
              </a:lnSpc>
              <a:spcBef>
                <a:spcPts val="0"/>
              </a:spcBef>
              <a:spcAft>
                <a:spcPts val="0"/>
              </a:spcAft>
              <a:buSzPts val="2598"/>
              <a:buNone/>
              <a:defRPr sz="2598"/>
            </a:lvl4pPr>
            <a:lvl5pPr lvl="4" algn="ctr">
              <a:lnSpc>
                <a:spcPct val="100000"/>
              </a:lnSpc>
              <a:spcBef>
                <a:spcPts val="0"/>
              </a:spcBef>
              <a:spcAft>
                <a:spcPts val="0"/>
              </a:spcAft>
              <a:buSzPts val="2598"/>
              <a:buNone/>
              <a:defRPr sz="2598"/>
            </a:lvl5pPr>
            <a:lvl6pPr lvl="5" algn="ctr">
              <a:lnSpc>
                <a:spcPct val="100000"/>
              </a:lnSpc>
              <a:spcBef>
                <a:spcPts val="0"/>
              </a:spcBef>
              <a:spcAft>
                <a:spcPts val="0"/>
              </a:spcAft>
              <a:buSzPts val="2598"/>
              <a:buNone/>
              <a:defRPr sz="2598"/>
            </a:lvl6pPr>
            <a:lvl7pPr lvl="6" algn="ctr">
              <a:lnSpc>
                <a:spcPct val="100000"/>
              </a:lnSpc>
              <a:spcBef>
                <a:spcPts val="0"/>
              </a:spcBef>
              <a:spcAft>
                <a:spcPts val="0"/>
              </a:spcAft>
              <a:buSzPts val="2598"/>
              <a:buNone/>
              <a:defRPr sz="2598"/>
            </a:lvl7pPr>
            <a:lvl8pPr lvl="7" algn="ctr">
              <a:lnSpc>
                <a:spcPct val="100000"/>
              </a:lnSpc>
              <a:spcBef>
                <a:spcPts val="0"/>
              </a:spcBef>
              <a:spcAft>
                <a:spcPts val="0"/>
              </a:spcAft>
              <a:buSzPts val="2598"/>
              <a:buNone/>
              <a:defRPr sz="2598"/>
            </a:lvl8pPr>
            <a:lvl9pPr lvl="8" algn="ctr">
              <a:lnSpc>
                <a:spcPct val="100000"/>
              </a:lnSpc>
              <a:spcBef>
                <a:spcPts val="0"/>
              </a:spcBef>
              <a:spcAft>
                <a:spcPts val="0"/>
              </a:spcAft>
              <a:buSzPts val="2598"/>
              <a:buNone/>
              <a:defRPr sz="2598"/>
            </a:lvl9pPr>
          </a:lstStyle>
          <a:p/>
        </p:txBody>
      </p:sp>
      <p:sp>
        <p:nvSpPr>
          <p:cNvPr id="39" name="Google Shape;39;p9"/>
          <p:cNvSpPr txBox="1"/>
          <p:nvPr>
            <p:ph idx="2" type="body"/>
          </p:nvPr>
        </p:nvSpPr>
        <p:spPr>
          <a:xfrm>
            <a:off x="5433450" y="1094158"/>
            <a:ext cx="4220700" cy="5583600"/>
          </a:xfrm>
          <a:prstGeom prst="rect">
            <a:avLst/>
          </a:prstGeom>
          <a:noFill/>
          <a:ln>
            <a:noFill/>
          </a:ln>
        </p:spPr>
        <p:txBody>
          <a:bodyPr anchorCtr="0" anchor="ctr" bIns="113100" lIns="113100" spcFirstLastPara="1" rIns="113100" wrap="square" tIns="113100">
            <a:spAutoFit/>
          </a:bodyPr>
          <a:lstStyle>
            <a:lvl1pPr indent="-370015" lvl="0" marL="457200" algn="l">
              <a:lnSpc>
                <a:spcPct val="115000"/>
              </a:lnSpc>
              <a:spcBef>
                <a:spcPts val="0"/>
              </a:spcBef>
              <a:spcAft>
                <a:spcPts val="0"/>
              </a:spcAft>
              <a:buSzPts val="2227"/>
              <a:buChar char="●"/>
              <a:defRPr sz="2227"/>
            </a:lvl1pPr>
            <a:lvl2pPr indent="-338582" lvl="1" marL="914400" algn="l">
              <a:lnSpc>
                <a:spcPct val="115000"/>
              </a:lnSpc>
              <a:spcBef>
                <a:spcPts val="0"/>
              </a:spcBef>
              <a:spcAft>
                <a:spcPts val="0"/>
              </a:spcAft>
              <a:buSzPts val="1732"/>
              <a:buChar char="○"/>
              <a:defRPr sz="1732"/>
            </a:lvl2pPr>
            <a:lvl3pPr indent="-338582" lvl="2" marL="1371600" algn="l">
              <a:lnSpc>
                <a:spcPct val="115000"/>
              </a:lnSpc>
              <a:spcBef>
                <a:spcPts val="0"/>
              </a:spcBef>
              <a:spcAft>
                <a:spcPts val="0"/>
              </a:spcAft>
              <a:buSzPts val="1732"/>
              <a:buChar char="■"/>
              <a:defRPr sz="1732"/>
            </a:lvl3pPr>
            <a:lvl4pPr indent="-338582" lvl="3" marL="1828800" algn="l">
              <a:lnSpc>
                <a:spcPct val="115000"/>
              </a:lnSpc>
              <a:spcBef>
                <a:spcPts val="0"/>
              </a:spcBef>
              <a:spcAft>
                <a:spcPts val="0"/>
              </a:spcAft>
              <a:buSzPts val="1732"/>
              <a:buChar char="●"/>
              <a:defRPr sz="1732"/>
            </a:lvl4pPr>
            <a:lvl5pPr indent="-338582" lvl="4" marL="2286000" algn="l">
              <a:lnSpc>
                <a:spcPct val="115000"/>
              </a:lnSpc>
              <a:spcBef>
                <a:spcPts val="0"/>
              </a:spcBef>
              <a:spcAft>
                <a:spcPts val="0"/>
              </a:spcAft>
              <a:buSzPts val="1732"/>
              <a:buChar char="○"/>
              <a:defRPr sz="1732"/>
            </a:lvl5pPr>
            <a:lvl6pPr indent="-338582" lvl="5" marL="2743200" algn="l">
              <a:lnSpc>
                <a:spcPct val="115000"/>
              </a:lnSpc>
              <a:spcBef>
                <a:spcPts val="0"/>
              </a:spcBef>
              <a:spcAft>
                <a:spcPts val="0"/>
              </a:spcAft>
              <a:buSzPts val="1732"/>
              <a:buChar char="■"/>
              <a:defRPr sz="1732"/>
            </a:lvl6pPr>
            <a:lvl7pPr indent="-338582" lvl="6" marL="3200400" algn="l">
              <a:lnSpc>
                <a:spcPct val="115000"/>
              </a:lnSpc>
              <a:spcBef>
                <a:spcPts val="0"/>
              </a:spcBef>
              <a:spcAft>
                <a:spcPts val="0"/>
              </a:spcAft>
              <a:buSzPts val="1732"/>
              <a:buChar char="●"/>
              <a:defRPr sz="1732"/>
            </a:lvl7pPr>
            <a:lvl8pPr indent="-338582" lvl="7" marL="3657600" algn="l">
              <a:lnSpc>
                <a:spcPct val="115000"/>
              </a:lnSpc>
              <a:spcBef>
                <a:spcPts val="0"/>
              </a:spcBef>
              <a:spcAft>
                <a:spcPts val="0"/>
              </a:spcAft>
              <a:buSzPts val="1732"/>
              <a:buChar char="○"/>
              <a:defRPr sz="1732"/>
            </a:lvl8pPr>
            <a:lvl9pPr indent="-338582" lvl="8" marL="4114800" algn="l">
              <a:lnSpc>
                <a:spcPct val="115000"/>
              </a:lnSpc>
              <a:spcBef>
                <a:spcPts val="0"/>
              </a:spcBef>
              <a:spcAft>
                <a:spcPts val="0"/>
              </a:spcAft>
              <a:buSzPts val="1732"/>
              <a:buChar char="■"/>
              <a:defRPr sz="1732"/>
            </a:lvl9pPr>
          </a:lstStyle>
          <a:p/>
        </p:txBody>
      </p:sp>
      <p:sp>
        <p:nvSpPr>
          <p:cNvPr id="40" name="Google Shape;40;p9"/>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42870" y="6392869"/>
            <a:ext cx="6598800" cy="914400"/>
          </a:xfrm>
          <a:prstGeom prst="rect">
            <a:avLst/>
          </a:prstGeom>
          <a:noFill/>
          <a:ln>
            <a:noFill/>
          </a:ln>
        </p:spPr>
        <p:txBody>
          <a:bodyPr anchorCtr="0" anchor="ctr" bIns="113100" lIns="113100" spcFirstLastPara="1" rIns="113100" wrap="square" tIns="113100">
            <a:spAutoFit/>
          </a:bodyPr>
          <a:lstStyle>
            <a:lvl1pPr indent="-228600" lvl="0" marL="457200" algn="l">
              <a:lnSpc>
                <a:spcPct val="100000"/>
              </a:lnSpc>
              <a:spcBef>
                <a:spcPts val="0"/>
              </a:spcBef>
              <a:spcAft>
                <a:spcPts val="0"/>
              </a:spcAft>
              <a:buSzPts val="2227"/>
              <a:buNone/>
              <a:defRPr sz="2227"/>
            </a:lvl1pPr>
          </a:lstStyle>
          <a:p/>
        </p:txBody>
      </p:sp>
      <p:sp>
        <p:nvSpPr>
          <p:cNvPr id="43" name="Google Shape;43;p10"/>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42870" y="1671478"/>
            <a:ext cx="9372600" cy="2967000"/>
          </a:xfrm>
          <a:prstGeom prst="rect">
            <a:avLst/>
          </a:prstGeom>
          <a:noFill/>
          <a:ln>
            <a:noFill/>
          </a:ln>
        </p:spPr>
        <p:txBody>
          <a:bodyPr anchorCtr="0" anchor="b" bIns="113100" lIns="113100" spcFirstLastPara="1" rIns="113100" wrap="square" tIns="113100">
            <a:spAutoFit/>
          </a:bodyPr>
          <a:lstStyle>
            <a:lvl1pPr lvl="0" algn="ctr">
              <a:lnSpc>
                <a:spcPct val="100000"/>
              </a:lnSpc>
              <a:spcBef>
                <a:spcPts val="0"/>
              </a:spcBef>
              <a:spcAft>
                <a:spcPts val="0"/>
              </a:spcAft>
              <a:buSzPts val="14844"/>
              <a:buNone/>
              <a:defRPr sz="14844"/>
            </a:lvl1pPr>
            <a:lvl2pPr lvl="1" algn="ctr">
              <a:lnSpc>
                <a:spcPct val="100000"/>
              </a:lnSpc>
              <a:spcBef>
                <a:spcPts val="0"/>
              </a:spcBef>
              <a:spcAft>
                <a:spcPts val="0"/>
              </a:spcAft>
              <a:buSzPts val="14844"/>
              <a:buNone/>
              <a:defRPr sz="14844"/>
            </a:lvl2pPr>
            <a:lvl3pPr lvl="2" algn="ctr">
              <a:lnSpc>
                <a:spcPct val="100000"/>
              </a:lnSpc>
              <a:spcBef>
                <a:spcPts val="0"/>
              </a:spcBef>
              <a:spcAft>
                <a:spcPts val="0"/>
              </a:spcAft>
              <a:buSzPts val="14844"/>
              <a:buNone/>
              <a:defRPr sz="14844"/>
            </a:lvl3pPr>
            <a:lvl4pPr lvl="3" algn="ctr">
              <a:lnSpc>
                <a:spcPct val="100000"/>
              </a:lnSpc>
              <a:spcBef>
                <a:spcPts val="0"/>
              </a:spcBef>
              <a:spcAft>
                <a:spcPts val="0"/>
              </a:spcAft>
              <a:buSzPts val="14844"/>
              <a:buNone/>
              <a:defRPr sz="14844"/>
            </a:lvl4pPr>
            <a:lvl5pPr lvl="4" algn="ctr">
              <a:lnSpc>
                <a:spcPct val="100000"/>
              </a:lnSpc>
              <a:spcBef>
                <a:spcPts val="0"/>
              </a:spcBef>
              <a:spcAft>
                <a:spcPts val="0"/>
              </a:spcAft>
              <a:buSzPts val="14844"/>
              <a:buNone/>
              <a:defRPr sz="14844"/>
            </a:lvl5pPr>
            <a:lvl6pPr lvl="5" algn="ctr">
              <a:lnSpc>
                <a:spcPct val="100000"/>
              </a:lnSpc>
              <a:spcBef>
                <a:spcPts val="0"/>
              </a:spcBef>
              <a:spcAft>
                <a:spcPts val="0"/>
              </a:spcAft>
              <a:buSzPts val="14844"/>
              <a:buNone/>
              <a:defRPr sz="14844"/>
            </a:lvl6pPr>
            <a:lvl7pPr lvl="6" algn="ctr">
              <a:lnSpc>
                <a:spcPct val="100000"/>
              </a:lnSpc>
              <a:spcBef>
                <a:spcPts val="0"/>
              </a:spcBef>
              <a:spcAft>
                <a:spcPts val="0"/>
              </a:spcAft>
              <a:buSzPts val="14844"/>
              <a:buNone/>
              <a:defRPr sz="14844"/>
            </a:lvl7pPr>
            <a:lvl8pPr lvl="7" algn="ctr">
              <a:lnSpc>
                <a:spcPct val="100000"/>
              </a:lnSpc>
              <a:spcBef>
                <a:spcPts val="0"/>
              </a:spcBef>
              <a:spcAft>
                <a:spcPts val="0"/>
              </a:spcAft>
              <a:buSzPts val="14844"/>
              <a:buNone/>
              <a:defRPr sz="14844"/>
            </a:lvl8pPr>
            <a:lvl9pPr lvl="8" algn="ctr">
              <a:lnSpc>
                <a:spcPct val="100000"/>
              </a:lnSpc>
              <a:spcBef>
                <a:spcPts val="0"/>
              </a:spcBef>
              <a:spcAft>
                <a:spcPts val="0"/>
              </a:spcAft>
              <a:buSzPts val="14844"/>
              <a:buNone/>
              <a:defRPr sz="14844"/>
            </a:lvl9pPr>
          </a:lstStyle>
          <a:p>
            <a:r>
              <a:t>xx%</a:t>
            </a:r>
          </a:p>
        </p:txBody>
      </p:sp>
      <p:sp>
        <p:nvSpPr>
          <p:cNvPr id="46" name="Google Shape;46;p11"/>
          <p:cNvSpPr txBox="1"/>
          <p:nvPr>
            <p:ph idx="1" type="body"/>
          </p:nvPr>
        </p:nvSpPr>
        <p:spPr>
          <a:xfrm>
            <a:off x="342870" y="4763362"/>
            <a:ext cx="9372600" cy="1965600"/>
          </a:xfrm>
          <a:prstGeom prst="rect">
            <a:avLst/>
          </a:prstGeom>
          <a:noFill/>
          <a:ln>
            <a:noFill/>
          </a:ln>
        </p:spPr>
        <p:txBody>
          <a:bodyPr anchorCtr="0" anchor="t" bIns="113100" lIns="113100" spcFirstLastPara="1" rIns="113100" wrap="square" tIns="113100">
            <a:spAutoFit/>
          </a:bodyPr>
          <a:lstStyle>
            <a:lvl1pPr indent="-370015" lvl="0" marL="457200" algn="ctr">
              <a:lnSpc>
                <a:spcPct val="115000"/>
              </a:lnSpc>
              <a:spcBef>
                <a:spcPts val="0"/>
              </a:spcBef>
              <a:spcAft>
                <a:spcPts val="0"/>
              </a:spcAft>
              <a:buSzPts val="2227"/>
              <a:buChar char="●"/>
              <a:defRPr sz="2227"/>
            </a:lvl1pPr>
            <a:lvl2pPr indent="-338582" lvl="1" marL="914400" algn="ctr">
              <a:lnSpc>
                <a:spcPct val="115000"/>
              </a:lnSpc>
              <a:spcBef>
                <a:spcPts val="0"/>
              </a:spcBef>
              <a:spcAft>
                <a:spcPts val="0"/>
              </a:spcAft>
              <a:buSzPts val="1732"/>
              <a:buChar char="○"/>
              <a:defRPr sz="1732"/>
            </a:lvl2pPr>
            <a:lvl3pPr indent="-338582" lvl="2" marL="1371600" algn="ctr">
              <a:lnSpc>
                <a:spcPct val="115000"/>
              </a:lnSpc>
              <a:spcBef>
                <a:spcPts val="0"/>
              </a:spcBef>
              <a:spcAft>
                <a:spcPts val="0"/>
              </a:spcAft>
              <a:buSzPts val="1732"/>
              <a:buChar char="■"/>
              <a:defRPr sz="1732"/>
            </a:lvl3pPr>
            <a:lvl4pPr indent="-338582" lvl="3" marL="1828800" algn="ctr">
              <a:lnSpc>
                <a:spcPct val="115000"/>
              </a:lnSpc>
              <a:spcBef>
                <a:spcPts val="0"/>
              </a:spcBef>
              <a:spcAft>
                <a:spcPts val="0"/>
              </a:spcAft>
              <a:buSzPts val="1732"/>
              <a:buChar char="●"/>
              <a:defRPr sz="1732"/>
            </a:lvl4pPr>
            <a:lvl5pPr indent="-338582" lvl="4" marL="2286000" algn="ctr">
              <a:lnSpc>
                <a:spcPct val="115000"/>
              </a:lnSpc>
              <a:spcBef>
                <a:spcPts val="0"/>
              </a:spcBef>
              <a:spcAft>
                <a:spcPts val="0"/>
              </a:spcAft>
              <a:buSzPts val="1732"/>
              <a:buChar char="○"/>
              <a:defRPr sz="1732"/>
            </a:lvl5pPr>
            <a:lvl6pPr indent="-338582" lvl="5" marL="2743200" algn="ctr">
              <a:lnSpc>
                <a:spcPct val="115000"/>
              </a:lnSpc>
              <a:spcBef>
                <a:spcPts val="0"/>
              </a:spcBef>
              <a:spcAft>
                <a:spcPts val="0"/>
              </a:spcAft>
              <a:buSzPts val="1732"/>
              <a:buChar char="■"/>
              <a:defRPr sz="1732"/>
            </a:lvl6pPr>
            <a:lvl7pPr indent="-338582" lvl="6" marL="3200400" algn="ctr">
              <a:lnSpc>
                <a:spcPct val="115000"/>
              </a:lnSpc>
              <a:spcBef>
                <a:spcPts val="0"/>
              </a:spcBef>
              <a:spcAft>
                <a:spcPts val="0"/>
              </a:spcAft>
              <a:buSzPts val="1732"/>
              <a:buChar char="●"/>
              <a:defRPr sz="1732"/>
            </a:lvl7pPr>
            <a:lvl8pPr indent="-338582" lvl="7" marL="3657600" algn="ctr">
              <a:lnSpc>
                <a:spcPct val="115000"/>
              </a:lnSpc>
              <a:spcBef>
                <a:spcPts val="0"/>
              </a:spcBef>
              <a:spcAft>
                <a:spcPts val="0"/>
              </a:spcAft>
              <a:buSzPts val="1732"/>
              <a:buChar char="○"/>
              <a:defRPr sz="1732"/>
            </a:lvl8pPr>
            <a:lvl9pPr indent="-338582" lvl="8" marL="4114800" algn="ctr">
              <a:lnSpc>
                <a:spcPct val="115000"/>
              </a:lnSpc>
              <a:spcBef>
                <a:spcPts val="0"/>
              </a:spcBef>
              <a:spcAft>
                <a:spcPts val="0"/>
              </a:spcAft>
              <a:buSzPts val="1732"/>
              <a:buChar char="■"/>
              <a:defRPr sz="1732"/>
            </a:lvl9pPr>
          </a:lstStyle>
          <a:p/>
        </p:txBody>
      </p:sp>
      <p:sp>
        <p:nvSpPr>
          <p:cNvPr id="47" name="Google Shape;47;p1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1" name="Shape 5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E338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42870" y="672482"/>
            <a:ext cx="9372600" cy="865500"/>
          </a:xfrm>
          <a:prstGeom prst="rect">
            <a:avLst/>
          </a:prstGeom>
          <a:noFill/>
          <a:ln>
            <a:noFill/>
          </a:ln>
        </p:spPr>
        <p:txBody>
          <a:bodyPr anchorCtr="0" anchor="t" bIns="113100" lIns="113100" spcFirstLastPara="1" rIns="113100" wrap="square" tIns="113100">
            <a:spAutoFit/>
          </a:bodyPr>
          <a:lstStyle>
            <a:lvl1pPr lvl="0"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3464"/>
              <a:buFont typeface="Arial"/>
              <a:buNone/>
              <a:defRPr b="0" i="0" sz="3464"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42870" y="1741518"/>
            <a:ext cx="9372600" cy="5162700"/>
          </a:xfrm>
          <a:prstGeom prst="rect">
            <a:avLst/>
          </a:prstGeom>
          <a:noFill/>
          <a:ln>
            <a:noFill/>
          </a:ln>
        </p:spPr>
        <p:txBody>
          <a:bodyPr anchorCtr="0" anchor="t" bIns="113100" lIns="113100" spcFirstLastPara="1" rIns="113100" wrap="square" tIns="113100">
            <a:spAutoFit/>
          </a:bodyPr>
          <a:lstStyle>
            <a:lvl1pPr indent="-370015" lvl="0" marL="457200" marR="0" rtl="0" algn="l">
              <a:lnSpc>
                <a:spcPct val="115000"/>
              </a:lnSpc>
              <a:spcBef>
                <a:spcPts val="0"/>
              </a:spcBef>
              <a:spcAft>
                <a:spcPts val="0"/>
              </a:spcAft>
              <a:buClr>
                <a:schemeClr val="dk2"/>
              </a:buClr>
              <a:buSzPts val="2227"/>
              <a:buFont typeface="Arial"/>
              <a:buChar char="●"/>
              <a:defRPr b="0" i="0" sz="2227" u="none" cap="none" strike="noStrike">
                <a:solidFill>
                  <a:schemeClr val="dk2"/>
                </a:solidFill>
                <a:latin typeface="Arial"/>
                <a:ea typeface="Arial"/>
                <a:cs typeface="Arial"/>
                <a:sym typeface="Arial"/>
              </a:defRPr>
            </a:lvl1pPr>
            <a:lvl2pPr indent="-338582" lvl="1" marL="914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2pPr>
            <a:lvl3pPr indent="-338582" lvl="2" marL="1371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3pPr>
            <a:lvl4pPr indent="-338582" lvl="3" marL="1828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4pPr>
            <a:lvl5pPr indent="-338582" lvl="4" marL="22860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5pPr>
            <a:lvl6pPr indent="-338582" lvl="5" marL="27432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6pPr>
            <a:lvl7pPr indent="-338582" lvl="6" marL="32004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7pPr>
            <a:lvl8pPr indent="-338582" lvl="7" marL="36576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8pPr>
            <a:lvl9pPr indent="-338582" lvl="8" marL="4114800" marR="0" rtl="0" algn="l">
              <a:lnSpc>
                <a:spcPct val="115000"/>
              </a:lnSpc>
              <a:spcBef>
                <a:spcPts val="0"/>
              </a:spcBef>
              <a:spcAft>
                <a:spcPts val="0"/>
              </a:spcAft>
              <a:buClr>
                <a:schemeClr val="dk2"/>
              </a:buClr>
              <a:buSzPts val="1732"/>
              <a:buFont typeface="Arial"/>
              <a:buChar char="■"/>
              <a:defRPr b="0" i="0" sz="1732"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9319704" y="7046639"/>
            <a:ext cx="603600" cy="418800"/>
          </a:xfrm>
          <a:prstGeom prst="rect">
            <a:avLst/>
          </a:prstGeom>
          <a:noFill/>
          <a:ln>
            <a:noFill/>
          </a:ln>
        </p:spPr>
        <p:txBody>
          <a:bodyPr anchorCtr="0" anchor="ctr" bIns="113100" lIns="113100" spcFirstLastPara="1" rIns="113100" wrap="square" tIns="113100">
            <a:spAutoFit/>
          </a:bodyPr>
          <a:lstStyle>
            <a:lvl1pPr indent="0" lvl="0"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37"/>
              <a:buFont typeface="Arial"/>
              <a:buNone/>
              <a:defRPr b="0" i="0" sz="1237"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5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1.png"/>
          <p:cNvPicPr>
            <a:picLocks noChangeAspect="1"/>
          </p:cNvPicPr>
          <p:nvPr/>
        </p:nvPicPr>
        <p:blipFill>
          <a:blip r:embed="rId2"/>
          <a:stretch>
            <a:fillRect/>
          </a:stretch>
        </p:blipFill>
        <p:spPr>
          <a:xfrm>
            <a:off x="6260400" y="1371600"/>
            <a:ext cx="4024800" cy="4096800"/>
          </a:xfrm>
          <a:prstGeom prst="rect">
            <a:avLst/>
          </a:prstGeom>
        </p:spPr>
      </p:pic>
      <p:pic>
        <p:nvPicPr>
          <p:cNvPr id="3" name="Picture 2" descr="image2.png"/>
          <p:cNvPicPr>
            <a:picLocks noChangeAspect="1"/>
          </p:cNvPicPr>
          <p:nvPr/>
        </p:nvPicPr>
        <p:blipFill>
          <a:blip r:embed="rId3"/>
          <a:stretch>
            <a:fillRect/>
          </a:stretch>
        </p:blipFill>
        <p:spPr>
          <a:xfrm>
            <a:off x="687600" y="914400"/>
            <a:ext cx="3484800" cy="1080000"/>
          </a:xfrm>
          <a:prstGeom prst="rect">
            <a:avLst/>
          </a:prstGeom>
        </p:spPr>
      </p:pic>
      <p:sp>
        <p:nvSpPr>
          <p:cNvPr id="4" name="TextBox 3"/>
          <p:cNvSpPr txBox="1"/>
          <p:nvPr/>
        </p:nvSpPr>
        <p:spPr>
          <a:xfrm>
            <a:off x="684000" y="4575600"/>
            <a:ext cx="8802000" cy="2512800"/>
          </a:xfrm>
          <a:prstGeom prst="rect">
            <a:avLst/>
          </a:prstGeom>
          <a:noFill/>
        </p:spPr>
        <p:txBody>
          <a:bodyPr wrap="square" anchor="ctr" lIns="0" rIns="0" tIns="0" bIns="0">
            <a:noAutofit/>
          </a:bodyPr>
          <a:lstStyle/>
          <a:p>
            <a:pPr algn="l">
              <a:lnSpc>
                <a:spcPct val="100000"/>
              </a:lnSpc>
            </a:pPr>
            <a:r>
              <a:rPr sz="4400" b="0" i="0">
                <a:solidFill>
                  <a:srgbClr val="FFFFFF"/>
                </a:solidFill>
                <a:latin typeface="Bungee"/>
                <a:ea typeface="Bungee"/>
                <a:cs typeface="Bungee"/>
                <a:sym typeface="Bungee"/>
              </a:rPr>
              <a:t>Introduction to</a:t>
            </a:r>
          </a:p>
          <a:p>
            <a:pPr algn="l">
              <a:lnSpc>
                <a:spcPct val="100000"/>
              </a:lnSpc>
            </a:pPr>
            <a:r>
              <a:rPr sz="4400" b="0" i="0">
                <a:solidFill>
                  <a:srgbClr val="FFFFFF"/>
                </a:solidFill>
                <a:latin typeface="Bungee"/>
                <a:ea typeface="Bungee"/>
                <a:cs typeface="Bungee"/>
                <a:sym typeface="Bungee"/>
              </a:rPr>
              <a:t>Advanced Robotics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Project 4</a:t>
            </a:r>
          </a:p>
          <a:p>
            <a:pPr algn="l">
              <a:lnSpc>
                <a:spcPct val="100000"/>
              </a:lnSpc>
            </a:pPr>
            <a:r>
              <a:rPr sz="4400" b="0" i="0">
                <a:solidFill>
                  <a:srgbClr val="FFFFFF"/>
                </a:solidFill>
                <a:latin typeface="Bungee"/>
                <a:ea typeface="Bungee"/>
                <a:cs typeface="Bungee"/>
                <a:sym typeface="Bungee"/>
              </a:rPr>
              <a:t>Copying Your Hand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is different about Project 4</a:t>
            </a:r>
          </a:p>
        </p:txBody>
      </p:sp>
      <p:sp>
        <p:nvSpPr>
          <p:cNvPr id="3" name="blk000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three projects all ended the same way. Look at the board, decide something, draw a box, stop. Do it once and you are finished.</a:t>
            </a:r>
          </a:p>
          <a:p>
            <a:pPr algn="l">
              <a:lnSpc>
                <a:spcPct val="100000"/>
              </a:lnSpc>
            </a:pPr>
            <a:r>
              <a:rPr sz="2027" b="0" i="0">
                <a:solidFill>
                  <a:srgbClr val="FFFFFF"/>
                </a:solidFill>
                <a:latin typeface="Avenir"/>
                <a:ea typeface="Avenir"/>
                <a:cs typeface="Avenir"/>
                <a:sym typeface="Avenir"/>
              </a:rPr>
              <a:t>This project has no finish. The camera looks at your hand, the arm moves to match it, the camera looks again, and that happens sixty times a second until you press </a:t>
            </a:r>
            <a:r>
              <a:rPr sz="1743" b="0" i="0">
                <a:solidFill>
                  <a:srgbClr val="FFFFFF"/>
                </a:solidFill>
                <a:latin typeface="Courier New"/>
                <a:ea typeface="Courier New"/>
                <a:cs typeface="Courier New"/>
                <a:sym typeface="Courier New"/>
              </a:rPr>
              <a:t>q</a:t>
            </a:r>
            <a:r>
              <a:rPr sz="2027" b="0" i="0">
                <a:solidFill>
                  <a:srgbClr val="FFFFFF"/>
                </a:solidFill>
                <a:latin typeface="Avenir"/>
                <a:ea typeface="Avenir"/>
                <a:cs typeface="Avenir"/>
                <a:sym typeface="Avenir"/>
              </a:rPr>
              <a:t>.</a:t>
            </a:r>
          </a:p>
        </p:txBody>
      </p:sp>
      <p:sp>
        <p:nvSpPr>
          <p:cNvPr id="4" name="blk0003"/>
          <p:cNvSpPr/>
          <p:nvPr/>
        </p:nvSpPr>
        <p:spPr>
          <a:xfrm>
            <a:off x="687600" y="367199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3"/>
          <p:cNvSpPr/>
          <p:nvPr/>
        </p:nvSpPr>
        <p:spPr>
          <a:xfrm>
            <a:off x="885600" y="4123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03"/>
          <p:cNvSpPr txBox="1"/>
          <p:nvPr/>
        </p:nvSpPr>
        <p:spPr>
          <a:xfrm>
            <a:off x="1162800" y="3816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is the whole difference, and it changes how you write the code. A one-shot program has one answer to get right. A control loop has to be right sixty times a second, forever, while a real arm is attached.</a:t>
            </a:r>
          </a:p>
        </p:txBody>
      </p:sp>
      <p:sp>
        <p:nvSpPr>
          <p:cNvPr id="7" name="blk0004"/>
          <p:cNvSpPr txBox="1"/>
          <p:nvPr/>
        </p:nvSpPr>
        <p:spPr>
          <a:xfrm>
            <a:off x="687600" y="518400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first project where the arm actually moves while you watch. In Projects 1 to 3 a bug meant a wrong number on the screen. In Project 4 a bug can mean the arm drives into a limit while you are standing next to it. Every safety habit in this module was built for this week.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0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loop that never finishes</a:t>
            </a:r>
          </a:p>
        </p:txBody>
      </p:sp>
      <p:sp>
        <p:nvSpPr>
          <p:cNvPr id="3" name="blk000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3 had a helper that captured frames in the background. This project does not need one. The loop is short enough to sit in the foreground, and the arm commands have to be issued from the same place as the decisions that cause them.</a:t>
            </a:r>
          </a:p>
        </p:txBody>
      </p:sp>
      <p:sp>
        <p:nvSpPr>
          <p:cNvPr id="4" name="blk0007"/>
          <p:cNvSpPr/>
          <p:nvPr/>
        </p:nvSpPr>
        <p:spPr>
          <a:xfrm>
            <a:off x="687600" y="3024000"/>
            <a:ext cx="8686800" cy="230936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07"/>
          <p:cNvSpPr txBox="1"/>
          <p:nvPr/>
        </p:nvSpPr>
        <p:spPr>
          <a:xfrm>
            <a:off x="910799" y="3186000"/>
            <a:ext cx="8240400" cy="1985367"/>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try:</a:t>
            </a:r>
          </a:p>
          <a:p>
            <a:pPr algn="l">
              <a:lnSpc>
                <a:spcPct val="115000"/>
              </a:lnSpc>
            </a:pPr>
            <a:r>
              <a:rPr sz="1500" b="0" i="0">
                <a:solidFill>
                  <a:srgbClr val="FFFFFF"/>
                </a:solidFill>
                <a:latin typeface="Courier New"/>
                <a:ea typeface="Courier New"/>
                <a:cs typeface="Courier New"/>
                <a:sym typeface="Courier New"/>
              </a:rPr>
              <a:t>    while cap.isOpened():</a:t>
            </a:r>
          </a:p>
          <a:p>
            <a:pPr algn="l">
              <a:lnSpc>
                <a:spcPct val="115000"/>
              </a:lnSpc>
            </a:pPr>
            <a:r>
              <a:rPr sz="1500" b="0" i="0">
                <a:solidFill>
                  <a:srgbClr val="FFFFFF"/>
                </a:solidFill>
                <a:latin typeface="Courier New"/>
                <a:ea typeface="Courier New"/>
                <a:cs typeface="Courier New"/>
                <a:sym typeface="Courier New"/>
              </a:rPr>
              <a:t>        ...                      # look, decide, move, repeat</a:t>
            </a:r>
          </a:p>
          <a:p>
            <a:pPr algn="l">
              <a:lnSpc>
                <a:spcPct val="115000"/>
              </a:lnSpc>
            </a:pPr>
            <a:r>
              <a:rPr sz="1500" b="0" i="0">
                <a:solidFill>
                  <a:srgbClr val="FFFFFF"/>
                </a:solidFill>
                <a:latin typeface="Courier New"/>
                <a:ea typeface="Courier New"/>
                <a:cs typeface="Courier New"/>
                <a:sym typeface="Courier New"/>
              </a:rPr>
              <a:t/>
            </a:r>
          </a:p>
          <a:p>
            <a:pPr algn="l">
              <a:lnSpc>
                <a:spcPct val="115000"/>
              </a:lnSpc>
            </a:pPr>
            <a:r>
              <a:rPr sz="1500" b="0" i="0">
                <a:solidFill>
                  <a:srgbClr val="FFFFFF"/>
                </a:solidFill>
                <a:latin typeface="Courier New"/>
                <a:ea typeface="Courier New"/>
                <a:cs typeface="Courier New"/>
                <a:sym typeface="Courier New"/>
              </a:rPr>
              <a:t>finally:</a:t>
            </a:r>
          </a:p>
          <a:p>
            <a:pPr algn="l">
              <a:lnSpc>
                <a:spcPct val="115000"/>
              </a:lnSpc>
            </a:pPr>
            <a:r>
              <a:rPr sz="1500" b="0" i="0">
                <a:solidFill>
                  <a:srgbClr val="FFFFFF"/>
                </a:solidFill>
                <a:latin typeface="Courier New"/>
                <a:ea typeface="Courier New"/>
                <a:cs typeface="Courier New"/>
                <a:sym typeface="Courier New"/>
              </a:rPr>
              <a:t>    cap.release()</a:t>
            </a:r>
          </a:p>
          <a:p>
            <a:pPr algn="l">
              <a:lnSpc>
                <a:spcPct val="115000"/>
              </a:lnSpc>
            </a:pPr>
            <a:r>
              <a:rPr sz="1500" b="0" i="0">
                <a:solidFill>
                  <a:srgbClr val="FFFFFF"/>
                </a:solidFill>
                <a:latin typeface="Courier New"/>
                <a:ea typeface="Courier New"/>
                <a:cs typeface="Courier New"/>
                <a:sym typeface="Courier New"/>
              </a:rPr>
              <a:t>    cv2.destroyAllWindows()</a:t>
            </a:r>
          </a:p>
          <a:p>
            <a:pPr algn="l">
              <a:lnSpc>
                <a:spcPct val="115000"/>
              </a:lnSpc>
            </a:pPr>
            <a:r>
              <a:rPr sz="1500" b="0" i="0">
                <a:solidFill>
                  <a:srgbClr val="FFFFFF"/>
                </a:solidFill>
                <a:latin typeface="Courier New"/>
                <a:ea typeface="Courier New"/>
                <a:cs typeface="Courier New"/>
                <a:sym typeface="Courier New"/>
              </a:rPr>
              <a:t>    mc.release_all_servos()</a:t>
            </a:r>
          </a:p>
        </p:txBody>
      </p:sp>
      <p:sp>
        <p:nvSpPr>
          <p:cNvPr id="6" name="blk0008"/>
          <p:cNvSpPr txBox="1"/>
          <p:nvPr/>
        </p:nvSpPr>
        <p:spPr>
          <a:xfrm>
            <a:off x="687600" y="5544000"/>
            <a:ext cx="7542000" cy="20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 that </a:t>
            </a:r>
            <a:r>
              <a:rPr sz="1743" b="0" i="0">
                <a:solidFill>
                  <a:srgbClr val="FFFFFF"/>
                </a:solidFill>
                <a:latin typeface="Courier New"/>
                <a:ea typeface="Courier New"/>
                <a:cs typeface="Courier New"/>
                <a:sym typeface="Courier New"/>
              </a:rPr>
              <a:t>finally</a:t>
            </a:r>
            <a:r>
              <a:rPr sz="2027" b="0" i="0">
                <a:solidFill>
                  <a:srgbClr val="FFFFFF"/>
                </a:solidFill>
                <a:latin typeface="Avenir"/>
                <a:ea typeface="Avenir"/>
                <a:cs typeface="Avenir"/>
                <a:sym typeface="Avenir"/>
              </a:rPr>
              <a:t> carefully. There is no </a:t>
            </a:r>
            <a:r>
              <a:rPr sz="1743" b="0" i="0">
                <a:solidFill>
                  <a:srgbClr val="FFFFFF"/>
                </a:solidFill>
                <a:latin typeface="Courier New"/>
                <a:ea typeface="Courier New"/>
                <a:cs typeface="Courier New"/>
                <a:sym typeface="Courier New"/>
              </a:rPr>
              <a:t>except</a:t>
            </a:r>
            <a:r>
              <a:rPr sz="2027" b="0" i="0">
                <a:solidFill>
                  <a:srgbClr val="FFFFFF"/>
                </a:solidFill>
                <a:latin typeface="Avenir"/>
                <a:ea typeface="Avenir"/>
                <a:cs typeface="Avenir"/>
                <a:sym typeface="Avenir"/>
              </a:rPr>
              <a:t> in this program at all. It is not handling errors — it is guaranteeing that the arm lets go no matter how the program ends, including </a:t>
            </a:r>
            <a:r>
              <a:rPr sz="1743" b="0" i="0">
                <a:solidFill>
                  <a:srgbClr val="FFFFFF"/>
                </a:solidFill>
                <a:latin typeface="Courier New"/>
                <a:ea typeface="Courier New"/>
                <a:cs typeface="Courier New"/>
                <a:sym typeface="Courier New"/>
              </a:rPr>
              <a:t>Ctrl+C</a:t>
            </a:r>
            <a:r>
              <a:rPr sz="2027" b="0" i="0">
                <a:solidFill>
                  <a:srgbClr val="FFFFFF"/>
                </a:solidFill>
                <a:latin typeface="Avenir"/>
                <a:ea typeface="Avenir"/>
                <a:cs typeface="Avenir"/>
                <a:sym typeface="Avenir"/>
              </a:rPr>
              <a:t>.</a:t>
            </a:r>
          </a:p>
        </p:txBody>
      </p:sp>
      <p:sp>
        <p:nvSpPr>
          <p:cNvPr id="7" name="blk0009"/>
          <p:cNvSpPr txBox="1"/>
          <p:nvPr/>
        </p:nvSpPr>
        <p:spPr>
          <a:xfrm>
            <a:off x="687600" y="6887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That is the difference: an except swallows a mistake and carries on; a finally runs on the way out, always.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Put the arm on first</a:t>
            </a:r>
          </a:p>
        </p:txBody>
      </p:sp>
      <p:sp>
        <p:nvSpPr>
          <p:cNvPr id="3" name="blk001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4 is the first project that will not run at all without the robot. Look at where the arm is created:</a:t>
            </a:r>
          </a:p>
        </p:txBody>
      </p:sp>
      <p:sp>
        <p:nvSpPr>
          <p:cNvPr id="4" name="blk0012"/>
          <p:cNvSpPr/>
          <p:nvPr/>
        </p:nvSpPr>
        <p:spPr>
          <a:xfrm>
            <a:off x="687600" y="2736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12"/>
          <p:cNvSpPr txBox="1"/>
          <p:nvPr/>
        </p:nvSpPr>
        <p:spPr>
          <a:xfrm>
            <a:off x="910799" y="2897999"/>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mc = MyCobot280('/dev/ttyAMA0', 1000000)</a:t>
            </a:r>
          </a:p>
          <a:p>
            <a:pPr algn="l">
              <a:lnSpc>
                <a:spcPct val="115000"/>
              </a:lnSpc>
            </a:pPr>
            <a:r>
              <a:rPr sz="1500" b="0" i="0">
                <a:solidFill>
                  <a:srgbClr val="FFFFFF"/>
                </a:solidFill>
                <a:latin typeface="Courier New"/>
                <a:ea typeface="Courier New"/>
                <a:cs typeface="Courier New"/>
                <a:sym typeface="Courier New"/>
              </a:rPr>
              <a:t>time.sleep(0.5)</a:t>
            </a:r>
          </a:p>
        </p:txBody>
      </p:sp>
      <p:sp>
        <p:nvSpPr>
          <p:cNvPr id="6" name="blk0013"/>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That is line 16. It sits at the top level of the file, outside the </a:t>
            </a:r>
            <a:r>
              <a:rPr sz="1743" b="0" i="0">
                <a:solidFill>
                  <a:srgbClr val="FFFFFF"/>
                </a:solidFill>
                <a:latin typeface="Courier New"/>
                <a:ea typeface="Courier New"/>
                <a:cs typeface="Courier New"/>
                <a:sym typeface="Courier New"/>
              </a:rPr>
              <a:t>try</a:t>
            </a:r>
            <a:r>
              <a:rPr sz="2027" b="0" i="0">
                <a:solidFill>
                  <a:srgbClr val="FFFFFF"/>
                </a:solidFill>
                <a:latin typeface="Avenir"/>
                <a:ea typeface="Avenir"/>
                <a:cs typeface="Avenir"/>
                <a:sym typeface="Avenir"/>
              </a:rPr>
              <a:t> block, and outside any function. Nothing in it is a TODO. So it runs before you have written a single line of your own work.</a:t>
            </a:r>
          </a:p>
        </p:txBody>
      </p:sp>
      <p:sp>
        <p:nvSpPr>
          <p:cNvPr id="7" name="blk0014"/>
          <p:cNvSpPr/>
          <p:nvPr/>
        </p:nvSpPr>
        <p:spPr>
          <a:xfrm>
            <a:off x="687600" y="508765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14"/>
          <p:cNvSpPr/>
          <p:nvPr/>
        </p:nvSpPr>
        <p:spPr>
          <a:xfrm>
            <a:off x="885600" y="553873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14"/>
          <p:cNvSpPr txBox="1"/>
          <p:nvPr/>
        </p:nvSpPr>
        <p:spPr>
          <a:xfrm>
            <a:off x="1162800" y="523165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No arm connected means no program. If the arm is off or unplugged you get a </a:t>
            </a:r>
            <a:r>
              <a:rPr sz="1290" b="0" i="1">
                <a:solidFill>
                  <a:srgbClr val="FFCF08"/>
                </a:solidFill>
                <a:latin typeface="Courier New"/>
                <a:ea typeface="Courier New"/>
                <a:cs typeface="Courier New"/>
                <a:sym typeface="Courier New"/>
              </a:rPr>
              <a:t>serial error at line 16</a:t>
            </a:r>
            <a:r>
              <a:rPr sz="1500" b="0" i="1">
                <a:solidFill>
                  <a:srgbClr val="FFCF08"/>
                </a:solidFill>
                <a:latin typeface="Avenir"/>
                <a:ea typeface="Avenir"/>
                <a:cs typeface="Avenir"/>
                <a:sym typeface="Avenir"/>
              </a:rPr>
              <a:t> and you will never reach any of the code you actually came to write. Power the arm on, plug the cable in, then start typing.</a:t>
            </a:r>
          </a:p>
        </p:txBody>
      </p:sp>
      <p:sp>
        <p:nvSpPr>
          <p:cNvPr id="10" name="blk0015"/>
          <p:cNvSpPr txBox="1"/>
          <p:nvPr/>
        </p:nvSpPr>
        <p:spPr>
          <a:xfrm>
            <a:off x="687600" y="6234618"/>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Compare Projects 1 to 3: the arm was created inside main() behind a try/except, so a missing robot printed a friendly message. Project 4 deliberately does not — it assumes real hardware is present.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1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A hand is 21 numbers</a:t>
            </a:r>
          </a:p>
        </p:txBody>
      </p:sp>
      <p:sp>
        <p:nvSpPr>
          <p:cNvPr id="3" name="blk001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MediaPipe is not OpenCV. In Project 3 you loaded a YOLO model and it handed back boxes and class names. MediaPipe has a model built in, trained on hands, and it hands back </a:t>
            </a:r>
            <a:r>
              <a:rPr sz="1743" b="0" i="0">
                <a:solidFill>
                  <a:srgbClr val="FFFFFF"/>
                </a:solidFill>
                <a:latin typeface="Courier New"/>
                <a:ea typeface="Courier New"/>
                <a:cs typeface="Courier New"/>
                <a:sym typeface="Courier New"/>
              </a:rPr>
              <a:t>21 landmarks</a:t>
            </a:r>
            <a:r>
              <a:rPr sz="2027" b="0" i="0">
                <a:solidFill>
                  <a:srgbClr val="FFFFFF"/>
                </a:solidFill>
                <a:latin typeface="Avenir"/>
                <a:ea typeface="Avenir"/>
                <a:cs typeface="Avenir"/>
                <a:sym typeface="Avenir"/>
              </a:rPr>
              <a:t> — one point per joint, from wrist to fingertip.</a:t>
            </a:r>
          </a:p>
        </p:txBody>
      </p:sp>
      <p:sp>
        <p:nvSpPr>
          <p:cNvPr id="4" name="blk0018"/>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Every landmark carries three numbers:</a:t>
            </a:r>
          </a:p>
          <a:p>
            <a:pPr algn="l">
              <a:lnSpc>
                <a:spcPct val="100000"/>
              </a:lnSpc>
            </a:pP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how far across the picture, </a:t>
            </a:r>
            <a:r>
              <a:rPr sz="1743" b="0" i="0">
                <a:solidFill>
                  <a:srgbClr val="FFFFFF"/>
                </a:solidFill>
                <a:latin typeface="Courier New"/>
                <a:ea typeface="Courier New"/>
                <a:cs typeface="Courier New"/>
                <a:sym typeface="Courier New"/>
              </a:rPr>
              <a:t>0.0</a:t>
            </a:r>
            <a:r>
              <a:rPr sz="2027" b="0" i="0">
                <a:solidFill>
                  <a:srgbClr val="FFFFFF"/>
                </a:solidFill>
                <a:latin typeface="Avenir"/>
                <a:ea typeface="Avenir"/>
                <a:cs typeface="Avenir"/>
                <a:sym typeface="Avenir"/>
              </a:rPr>
              <a:t> at the left edge to </a:t>
            </a:r>
            <a:r>
              <a:rPr sz="1743" b="0" i="0">
                <a:solidFill>
                  <a:srgbClr val="FFFFFF"/>
                </a:solidFill>
                <a:latin typeface="Courier New"/>
                <a:ea typeface="Courier New"/>
                <a:cs typeface="Courier New"/>
                <a:sym typeface="Courier New"/>
              </a:rPr>
              <a:t>1.0</a:t>
            </a:r>
            <a:r>
              <a:rPr sz="2027" b="0" i="0">
                <a:solidFill>
                  <a:srgbClr val="FFFFFF"/>
                </a:solidFill>
                <a:latin typeface="Avenir"/>
                <a:ea typeface="Avenir"/>
                <a:cs typeface="Avenir"/>
                <a:sym typeface="Avenir"/>
              </a:rPr>
              <a:t> at the right edge</a:t>
            </a:r>
          </a:p>
          <a:p>
            <a:pPr algn="l">
              <a:lnSpc>
                <a:spcPct val="100000"/>
              </a:lnSpc>
            </a:pP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how far down the picture, </a:t>
            </a:r>
            <a:r>
              <a:rPr sz="1743" b="0" i="0">
                <a:solidFill>
                  <a:srgbClr val="FFFFFF"/>
                </a:solidFill>
                <a:latin typeface="Courier New"/>
                <a:ea typeface="Courier New"/>
                <a:cs typeface="Courier New"/>
                <a:sym typeface="Courier New"/>
              </a:rPr>
              <a:t>0.0</a:t>
            </a:r>
            <a:r>
              <a:rPr sz="2027" b="0" i="0">
                <a:solidFill>
                  <a:srgbClr val="FFFFFF"/>
                </a:solidFill>
                <a:latin typeface="Avenir"/>
                <a:ea typeface="Avenir"/>
                <a:cs typeface="Avenir"/>
                <a:sym typeface="Avenir"/>
              </a:rPr>
              <a:t> at the top to </a:t>
            </a:r>
            <a:r>
              <a:rPr sz="1743" b="0" i="0">
                <a:solidFill>
                  <a:srgbClr val="FFFFFF"/>
                </a:solidFill>
                <a:latin typeface="Courier New"/>
                <a:ea typeface="Courier New"/>
                <a:cs typeface="Courier New"/>
                <a:sym typeface="Courier New"/>
              </a:rPr>
              <a:t>1.0</a:t>
            </a:r>
            <a:r>
              <a:rPr sz="2027" b="0" i="0">
                <a:solidFill>
                  <a:srgbClr val="FFFFFF"/>
                </a:solidFill>
                <a:latin typeface="Avenir"/>
                <a:ea typeface="Avenir"/>
                <a:cs typeface="Avenir"/>
                <a:sym typeface="Avenir"/>
              </a:rPr>
              <a:t> at the bottom</a:t>
            </a:r>
          </a:p>
          <a:p>
            <a:pPr algn="l">
              <a:lnSpc>
                <a:spcPct val="100000"/>
              </a:lnSpc>
            </a:pPr>
            <a:r>
              <a:rPr sz="1743" b="0" i="0">
                <a:solidFill>
                  <a:srgbClr val="FFFFFF"/>
                </a:solidFill>
                <a:latin typeface="Courier New"/>
                <a:ea typeface="Courier New"/>
                <a:cs typeface="Courier New"/>
                <a:sym typeface="Courier New"/>
              </a:rPr>
              <a:t>.z</a:t>
            </a:r>
            <a:r>
              <a:rPr sz="2027" b="0" i="0">
                <a:solidFill>
                  <a:srgbClr val="FFFFFF"/>
                </a:solidFill>
                <a:latin typeface="Avenir"/>
                <a:ea typeface="Avenir"/>
                <a:cs typeface="Avenir"/>
                <a:sym typeface="Avenir"/>
              </a:rPr>
              <a:t>  roughly how far the joint is from the camera, in the same 0.0 to 1.0 units</a:t>
            </a:r>
          </a:p>
        </p:txBody>
      </p:sp>
      <p:sp>
        <p:nvSpPr>
          <p:cNvPr id="5" name="blk0019"/>
          <p:cNvSpPr txBox="1"/>
          <p:nvPr/>
        </p:nvSpPr>
        <p:spPr>
          <a:xfrm>
            <a:off x="687600" y="6086403"/>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bundle of 21 is what MediaPipe calls a hand landmark set, and in this program it arrives as results.multi_hand_landmarks — a list of hands, each one a list of 21 landmarks. Two lists deep before you get to any real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Names instead of counting</a:t>
            </a:r>
          </a:p>
        </p:txBody>
      </p:sp>
      <p:sp>
        <p:nvSpPr>
          <p:cNvPr id="3" name="blk002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You could reach the fingertip with hand_landmarks.landmark[8]. It works. It also means that if your memory of which finger is number 8 is wrong, the arm will do something baffling.</a:t>
            </a:r>
          </a:p>
          <a:p>
            <a:pPr algn="l">
              <a:lnSpc>
                <a:spcPct val="100000"/>
              </a:lnSpc>
            </a:pPr>
            <a:r>
              <a:rPr sz="2027" b="0" i="0">
                <a:solidFill>
                  <a:srgbClr val="FFFFFF"/>
                </a:solidFill>
                <a:latin typeface="Avenir"/>
                <a:ea typeface="Avenir"/>
                <a:cs typeface="Avenir"/>
                <a:sym typeface="Avenir"/>
              </a:rPr>
              <a:t>MediaPipe ships a list of names instead, and this project uses it:</a:t>
            </a:r>
          </a:p>
        </p:txBody>
      </p:sp>
      <p:sp>
        <p:nvSpPr>
          <p:cNvPr id="4" name="blk0022"/>
          <p:cNvSpPr/>
          <p:nvPr/>
        </p:nvSpPr>
        <p:spPr>
          <a:xfrm>
            <a:off x="687600" y="3671999"/>
            <a:ext cx="8686800" cy="70452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2"/>
          <p:cNvSpPr txBox="1"/>
          <p:nvPr/>
        </p:nvSpPr>
        <p:spPr>
          <a:xfrm>
            <a:off x="910799" y="3833999"/>
            <a:ext cx="8240400" cy="380528"/>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index_tip = hand_landmarks.landmark[mp_hands.HandLandmark.INDEX_FINGER_TIP]</a:t>
            </a:r>
          </a:p>
          <a:p>
            <a:pPr algn="l">
              <a:lnSpc>
                <a:spcPct val="115000"/>
              </a:lnSpc>
            </a:pPr>
            <a:r>
              <a:rPr sz="1150" b="0" i="0">
                <a:solidFill>
                  <a:srgbClr val="FFFFFF"/>
                </a:solidFill>
                <a:latin typeface="Courier New"/>
                <a:ea typeface="Courier New"/>
                <a:cs typeface="Courier New"/>
                <a:sym typeface="Courier New"/>
              </a:rPr>
              <a:t>                thumb_tip = hand_landmarks.landmark[mp_hands.HandLandmark.THUMB_TIP]</a:t>
            </a:r>
          </a:p>
        </p:txBody>
      </p:sp>
      <p:sp>
        <p:nvSpPr>
          <p:cNvPr id="6" name="blk0023"/>
          <p:cNvSpPr txBox="1"/>
          <p:nvPr/>
        </p:nvSpPr>
        <p:spPr>
          <a:xfrm>
            <a:off x="687600" y="5040000"/>
            <a:ext cx="7542000" cy="2588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INDEX_FINGER_TIP</a:t>
            </a:r>
            <a:r>
              <a:rPr sz="2027" b="0" i="0">
                <a:solidFill>
                  <a:srgbClr val="FFFFFF"/>
                </a:solidFill>
                <a:latin typeface="Avenir"/>
                <a:ea typeface="Avenir"/>
                <a:cs typeface="Avenir"/>
                <a:sym typeface="Avenir"/>
              </a:rPr>
              <a:t> says exactly what it is. When the arm moves the wrong way in Project 4, this is the first place to look, because the alternative — a bare </a:t>
            </a:r>
            <a:r>
              <a:rPr sz="1743" b="0" i="0">
                <a:solidFill>
                  <a:srgbClr val="FFFFFF"/>
                </a:solidFill>
                <a:latin typeface="Courier New"/>
                <a:ea typeface="Courier New"/>
                <a:cs typeface="Courier New"/>
                <a:sym typeface="Courier New"/>
              </a:rPr>
              <a:t>8</a:t>
            </a:r>
            <a:r>
              <a:rPr sz="2027" b="0" i="0">
                <a:solidFill>
                  <a:srgbClr val="FFFFFF"/>
                </a:solidFill>
                <a:latin typeface="Avenir"/>
                <a:ea typeface="Avenir"/>
                <a:cs typeface="Avenir"/>
                <a:sym typeface="Avenir"/>
              </a:rPr>
              <a:t> — tells you nothing about which finger you actually grabbed.</a:t>
            </a:r>
          </a:p>
        </p:txBody>
      </p:sp>
      <p:sp>
        <p:nvSpPr>
          <p:cNvPr id="7" name="blk0024"/>
          <p:cNvSpPr txBox="1"/>
          <p:nvPr/>
        </p:nvSpPr>
        <p:spPr>
          <a:xfrm>
            <a:off x="687600" y="6383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Note the attribute name: hand_landmarks.landmark is singular even though it holds 21 of them. That is not a typo in your file, and it is not a typo in this slide. Typing .landmarks there is the single most common error in this project and the error message will tell you nothing helpful.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Fractions, not pixels</a:t>
            </a:r>
          </a:p>
        </p:txBody>
      </p:sp>
      <p:sp>
        <p:nvSpPr>
          <p:cNvPr id="3" name="blk002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change that catches people who are comfortable with Project 3. In Project 3 the ArUco corners gave you pixel coordinates: 640 by 480, big numbers, easy to reason about.</a:t>
            </a:r>
          </a:p>
          <a:p>
            <a:pPr algn="l">
              <a:lnSpc>
                <a:spcPct val="100000"/>
              </a:lnSpc>
            </a:pPr>
            <a:r>
              <a:rPr sz="2027" b="0" i="0">
                <a:solidFill>
                  <a:srgbClr val="FFFFFF"/>
                </a:solidFill>
                <a:latin typeface="Avenir"/>
                <a:ea typeface="Avenir"/>
                <a:cs typeface="Avenir"/>
                <a:sym typeface="Avenir"/>
              </a:rPr>
              <a:t>MediaPipe gives you fractions of the picture instead. </a:t>
            </a:r>
            <a:r>
              <a:rPr sz="1743" b="0" i="0">
                <a:solidFill>
                  <a:srgbClr val="FFFFFF"/>
                </a:solidFill>
                <a:latin typeface="Courier New"/>
                <a:ea typeface="Courier New"/>
                <a:cs typeface="Courier New"/>
                <a:sym typeface="Courier New"/>
              </a:rPr>
              <a:t>index_tip.x</a:t>
            </a:r>
            <a:r>
              <a:rPr sz="2027" b="0" i="0">
                <a:solidFill>
                  <a:srgbClr val="FFFFFF"/>
                </a:solidFill>
                <a:latin typeface="Avenir"/>
                <a:ea typeface="Avenir"/>
                <a:cs typeface="Avenir"/>
                <a:sym typeface="Avenir"/>
              </a:rPr>
              <a:t> of </a:t>
            </a:r>
            <a:r>
              <a:rPr sz="1743" b="0" i="0">
                <a:solidFill>
                  <a:srgbClr val="FFFFFF"/>
                </a:solidFill>
                <a:latin typeface="Courier New"/>
                <a:ea typeface="Courier New"/>
                <a:cs typeface="Courier New"/>
                <a:sym typeface="Courier New"/>
              </a:rPr>
              <a:t>0.5</a:t>
            </a:r>
            <a:r>
              <a:rPr sz="2027" b="0" i="0">
                <a:solidFill>
                  <a:srgbClr val="FFFFFF"/>
                </a:solidFill>
                <a:latin typeface="Avenir"/>
                <a:ea typeface="Avenir"/>
                <a:cs typeface="Avenir"/>
                <a:sym typeface="Avenir"/>
              </a:rPr>
              <a:t> means the fingertip is halfway across the frame, whatever resolution the camera happens to be running at.</a:t>
            </a:r>
          </a:p>
        </p:txBody>
      </p:sp>
      <p:sp>
        <p:nvSpPr>
          <p:cNvPr id="4" name="blk0027"/>
          <p:cNvSpPr/>
          <p:nvPr/>
        </p:nvSpPr>
        <p:spPr>
          <a:xfrm>
            <a:off x="687600" y="4536000"/>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27"/>
          <p:cNvSpPr/>
          <p:nvPr/>
        </p:nvSpPr>
        <p:spPr>
          <a:xfrm>
            <a:off x="885600" y="51242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27"/>
          <p:cNvSpPr txBox="1"/>
          <p:nvPr/>
        </p:nvSpPr>
        <p:spPr>
          <a:xfrm>
            <a:off x="1162800" y="4680000"/>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matters for two reasons. It works at any camera size, and it means you never have to divide by the frame width yourself. It also means a distance like the pinch threshold is a fraction of the picture, not a count of pixels — </a:t>
            </a:r>
            <a:r>
              <a:rPr sz="1290" b="0" i="1">
                <a:solidFill>
                  <a:srgbClr val="FFCF08"/>
                </a:solidFill>
                <a:latin typeface="Courier New"/>
                <a:ea typeface="Courier New"/>
                <a:cs typeface="Courier New"/>
                <a:sym typeface="Courier New"/>
              </a:rPr>
              <a:t>a fact you will want again in two slides.</a:t>
            </a:r>
          </a:p>
        </p:txBody>
      </p:sp>
      <p:sp>
        <p:nvSpPr>
          <p:cNvPr id="7" name="blk0028"/>
          <p:cNvSpPr txBox="1"/>
          <p:nvPr/>
        </p:nvSpPr>
        <p:spPr>
          <a:xfrm>
            <a:off x="687600" y="595728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One consequence worth noticing now: because these are fractions rather than pixels, moving your hand towards the camera makes your fingers look further apart on screen even though your pinch is identical. Nothing has gone wrong. The measurement changed with the distance.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2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mirror</a:t>
            </a:r>
          </a:p>
        </p:txBody>
      </p:sp>
      <p:sp>
        <p:nvSpPr>
          <p:cNvPr id="3" name="blk003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camera sees you. You see the picture.</a:t>
            </a:r>
          </a:p>
          <a:p>
            <a:pPr algn="l">
              <a:lnSpc>
                <a:spcPct val="100000"/>
              </a:lnSpc>
            </a:pPr>
            <a:r>
              <a:rPr sz="2027" b="0" i="0">
                <a:solidFill>
                  <a:srgbClr val="FFFFFF"/>
                </a:solidFill>
                <a:latin typeface="Avenir"/>
                <a:ea typeface="Avenir"/>
                <a:cs typeface="Avenir"/>
                <a:sym typeface="Avenir"/>
              </a:rPr>
              <a:t>The two are opposite. If the picture is not flipped, moving your hand to your right moves it to the left of the screen, and the arm — which faithfully copies what it sees — moves to your left instead of your right. Everything is working perfectly and feels broken.</a:t>
            </a:r>
          </a:p>
        </p:txBody>
      </p:sp>
      <p:sp>
        <p:nvSpPr>
          <p:cNvPr id="4" name="blk0031"/>
          <p:cNvSpPr/>
          <p:nvPr/>
        </p:nvSpPr>
        <p:spPr>
          <a:xfrm>
            <a:off x="687600" y="3888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1"/>
          <p:cNvSpPr txBox="1"/>
          <p:nvPr/>
        </p:nvSpPr>
        <p:spPr>
          <a:xfrm>
            <a:off x="910799" y="4050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frame = cv2.flip(frame, 1)</a:t>
            </a:r>
          </a:p>
        </p:txBody>
      </p:sp>
      <p:sp>
        <p:nvSpPr>
          <p:cNvPr id="6" name="blk0032"/>
          <p:cNvSpPr txBox="1"/>
          <p:nvPr/>
        </p:nvSpPr>
        <p:spPr>
          <a:xfrm>
            <a:off x="687600" y="4608000"/>
            <a:ext cx="7542000" cy="302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1</a:t>
            </a:r>
            <a:r>
              <a:rPr sz="2027" b="0" i="0">
                <a:solidFill>
                  <a:srgbClr val="FFFFFF"/>
                </a:solidFill>
                <a:latin typeface="Avenir"/>
                <a:ea typeface="Avenir"/>
                <a:cs typeface="Avenir"/>
                <a:sym typeface="Avenir"/>
              </a:rPr>
              <a:t> means flip horizontally. No vertical flip, so up is still up.</a:t>
            </a:r>
          </a:p>
        </p:txBody>
      </p:sp>
      <p:sp>
        <p:nvSpPr>
          <p:cNvPr id="7" name="blk0033"/>
          <p:cNvSpPr txBox="1"/>
          <p:nvPr/>
        </p:nvSpPr>
        <p:spPr>
          <a:xfrm>
            <a:off x="687600" y="533382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one line is the difference between the arm feeling like a mirror and feeling like it is arguing with you. If the arm responds but the wrong way along one axis, check this line before you check the map values — and remember this flip happens after the read and before the colour conversion, so everything downstream sees the flipped picture.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Wrong order, wrong colours</a:t>
            </a:r>
          </a:p>
        </p:txBody>
      </p:sp>
      <p:sp>
        <p:nvSpPr>
          <p:cNvPr id="3" name="blk003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3 also converted colour, for the same reason. OpenCV reads pictures as blue, green, red. MediaPipe was trained on red, green, blue.</a:t>
            </a:r>
          </a:p>
        </p:txBody>
      </p:sp>
      <p:sp>
        <p:nvSpPr>
          <p:cNvPr id="4" name="blk0036"/>
          <p:cNvSpPr/>
          <p:nvPr/>
        </p:nvSpPr>
        <p:spPr>
          <a:xfrm>
            <a:off x="687600" y="2951999"/>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36"/>
          <p:cNvSpPr txBox="1"/>
          <p:nvPr/>
        </p:nvSpPr>
        <p:spPr>
          <a:xfrm>
            <a:off x="910799" y="3113999"/>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rgb_frame = cv2.cvtColor(frame, cv2.COLOR_BGR2RGB)</a:t>
            </a:r>
          </a:p>
          <a:p>
            <a:pPr algn="l">
              <a:lnSpc>
                <a:spcPct val="115000"/>
              </a:lnSpc>
            </a:pPr>
            <a:r>
              <a:rPr sz="1300" b="0" i="0">
                <a:solidFill>
                  <a:srgbClr val="FFFFFF"/>
                </a:solidFill>
                <a:latin typeface="Courier New"/>
                <a:ea typeface="Courier New"/>
                <a:cs typeface="Courier New"/>
                <a:sym typeface="Courier New"/>
              </a:rPr>
              <a:t>        results = hands.process(rgb_frame)</a:t>
            </a:r>
          </a:p>
        </p:txBody>
      </p:sp>
      <p:sp>
        <p:nvSpPr>
          <p:cNvPr id="6" name="blk0037"/>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separate jobs on two lines, and the order is fixed. Convert first, then process the converted picture.</a:t>
            </a:r>
          </a:p>
          <a:p>
            <a:pPr algn="l">
              <a:lnSpc>
                <a:spcPct val="100000"/>
              </a:lnSpc>
            </a:pPr>
            <a:r>
              <a:rPr sz="2027" b="0" i="0">
                <a:solidFill>
                  <a:srgbClr val="FFFFFF"/>
                </a:solidFill>
                <a:latin typeface="Avenir"/>
                <a:ea typeface="Avenir"/>
                <a:cs typeface="Avenir"/>
                <a:sym typeface="Avenir"/>
              </a:rPr>
              <a:t>You are also about to draw the skeleton back onto </a:t>
            </a:r>
            <a:r>
              <a:rPr sz="1743" b="0" i="0">
                <a:solidFill>
                  <a:srgbClr val="FFFFFF"/>
                </a:solidFill>
                <a:latin typeface="Courier New"/>
                <a:ea typeface="Courier New"/>
                <a:cs typeface="Courier New"/>
                <a:sym typeface="Courier New"/>
              </a:rPr>
              <a:t>frame</a:t>
            </a:r>
            <a:r>
              <a:rPr sz="2027" b="0" i="0">
                <a:solidFill>
                  <a:srgbClr val="FFFFFF"/>
                </a:solidFill>
                <a:latin typeface="Avenir"/>
                <a:ea typeface="Avenir"/>
                <a:cs typeface="Avenir"/>
                <a:sym typeface="Avenir"/>
              </a:rPr>
              <a:t>, which is still blue-green-red — so the drawing code later in the loop wants </a:t>
            </a:r>
            <a:r>
              <a:rPr sz="1743" b="0" i="0">
                <a:solidFill>
                  <a:srgbClr val="FFFFFF"/>
                </a:solidFill>
                <a:latin typeface="Courier New"/>
                <a:ea typeface="Courier New"/>
                <a:cs typeface="Courier New"/>
                <a:sym typeface="Courier New"/>
              </a:rPr>
              <a:t>frame</a:t>
            </a:r>
            <a:r>
              <a:rPr sz="2027" b="0" i="0">
                <a:solidFill>
                  <a:srgbClr val="FFFFFF"/>
                </a:solidFill>
                <a:latin typeface="Avenir"/>
                <a:ea typeface="Avenir"/>
                <a:cs typeface="Avenir"/>
                <a:sym typeface="Avenir"/>
              </a:rPr>
              <a:t> and the detection code here wants </a:t>
            </a:r>
            <a:r>
              <a:rPr sz="1743" b="0" i="0">
                <a:solidFill>
                  <a:srgbClr val="FFFFFF"/>
                </a:solidFill>
                <a:latin typeface="Courier New"/>
                <a:ea typeface="Courier New"/>
                <a:cs typeface="Courier New"/>
                <a:sym typeface="Courier New"/>
              </a:rPr>
              <a:t>rgb_frame</a:t>
            </a:r>
            <a:r>
              <a:rPr sz="2027" b="0" i="0">
                <a:solidFill>
                  <a:srgbClr val="FFFFFF"/>
                </a:solidFill>
                <a:latin typeface="Avenir"/>
                <a:ea typeface="Avenir"/>
                <a:cs typeface="Avenir"/>
                <a:sym typeface="Avenir"/>
              </a:rPr>
              <a:t>. Both names are in the file for a reason.</a:t>
            </a:r>
          </a:p>
        </p:txBody>
      </p:sp>
      <p:sp>
        <p:nvSpPr>
          <p:cNvPr id="7" name="blk0038"/>
          <p:cNvSpPr txBox="1"/>
          <p:nvPr/>
        </p:nvSpPr>
        <p:spPr>
          <a:xfrm>
            <a:off x="687600" y="6065488"/>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swapped colour order does not crash. It quietly makes the model worse at its job, so this is the kind of mistake that looks like bad lighting rather than like a bug. If the skeleton is found but the detection is odd, swap the order back and watch what changes.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3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Watching beats looking</a:t>
            </a:r>
          </a:p>
        </p:txBody>
      </p:sp>
      <p:sp>
        <p:nvSpPr>
          <p:cNvPr id="3" name="blk004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MediaPipe can treat every frame as a fresh photograph, or as the next frame in a video. Project 4 asks for the second one:</a:t>
            </a:r>
          </a:p>
        </p:txBody>
      </p:sp>
      <p:sp>
        <p:nvSpPr>
          <p:cNvPr id="4" name="blk0041"/>
          <p:cNvSpPr/>
          <p:nvPr/>
        </p:nvSpPr>
        <p:spPr>
          <a:xfrm>
            <a:off x="687600" y="2880000"/>
            <a:ext cx="8686800" cy="161448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1"/>
          <p:cNvSpPr txBox="1"/>
          <p:nvPr/>
        </p:nvSpPr>
        <p:spPr>
          <a:xfrm>
            <a:off x="910799" y="3041999"/>
            <a:ext cx="8240400" cy="1290488"/>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hands = mp_hands.Hands(</a:t>
            </a:r>
          </a:p>
          <a:p>
            <a:pPr algn="l">
              <a:lnSpc>
                <a:spcPct val="115000"/>
              </a:lnSpc>
            </a:pPr>
            <a:r>
              <a:rPr sz="1300" b="0" i="0">
                <a:solidFill>
                  <a:srgbClr val="FFFFFF"/>
                </a:solidFill>
                <a:latin typeface="Courier New"/>
                <a:ea typeface="Courier New"/>
                <a:cs typeface="Courier New"/>
                <a:sym typeface="Courier New"/>
              </a:rPr>
              <a:t>    static_image_mode=False,</a:t>
            </a:r>
          </a:p>
          <a:p>
            <a:pPr algn="l">
              <a:lnSpc>
                <a:spcPct val="115000"/>
              </a:lnSpc>
            </a:pPr>
            <a:r>
              <a:rPr sz="1300" b="0" i="0">
                <a:solidFill>
                  <a:srgbClr val="FFFFFF"/>
                </a:solidFill>
                <a:latin typeface="Courier New"/>
                <a:ea typeface="Courier New"/>
                <a:cs typeface="Courier New"/>
                <a:sym typeface="Courier New"/>
              </a:rPr>
              <a:t>    max_num_hands=1,</a:t>
            </a:r>
          </a:p>
          <a:p>
            <a:pPr algn="l">
              <a:lnSpc>
                <a:spcPct val="115000"/>
              </a:lnSpc>
            </a:pPr>
            <a:r>
              <a:rPr sz="1300" b="0" i="0">
                <a:solidFill>
                  <a:srgbClr val="FFFFFF"/>
                </a:solidFill>
                <a:latin typeface="Courier New"/>
                <a:ea typeface="Courier New"/>
                <a:cs typeface="Courier New"/>
                <a:sym typeface="Courier New"/>
              </a:rPr>
              <a:t>    min_detection_confidence=0.7,</a:t>
            </a:r>
          </a:p>
          <a:p>
            <a:pPr algn="l">
              <a:lnSpc>
                <a:spcPct val="115000"/>
              </a:lnSpc>
            </a:pPr>
            <a:r>
              <a:rPr sz="1300" b="0" i="0">
                <a:solidFill>
                  <a:srgbClr val="FFFFFF"/>
                </a:solidFill>
                <a:latin typeface="Courier New"/>
                <a:ea typeface="Courier New"/>
                <a:cs typeface="Courier New"/>
                <a:sym typeface="Courier New"/>
              </a:rPr>
              <a:t>    min_tracking_confidence=0.7</a:t>
            </a:r>
          </a:p>
          <a:p>
            <a:pPr algn="l">
              <a:lnSpc>
                <a:spcPct val="115000"/>
              </a:lnSpc>
            </a:pPr>
            <a:r>
              <a:rPr sz="1300" b="0" i="0">
                <a:solidFill>
                  <a:srgbClr val="FFFFFF"/>
                </a:solidFill>
                <a:latin typeface="Courier New"/>
                <a:ea typeface="Courier New"/>
                <a:cs typeface="Courier New"/>
                <a:sym typeface="Courier New"/>
              </a:rPr>
              <a:t>)</a:t>
            </a:r>
          </a:p>
        </p:txBody>
      </p:sp>
      <p:sp>
        <p:nvSpPr>
          <p:cNvPr id="6" name="blk0042"/>
          <p:cNvSpPr txBox="1"/>
          <p:nvPr/>
        </p:nvSpPr>
        <p:spPr>
          <a:xfrm>
            <a:off x="687600" y="5040000"/>
            <a:ext cx="7542000" cy="2588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static_image_mode</a:t>
            </a:r>
            <a:r>
              <a:rPr sz="2027" b="0" i="0">
                <a:solidFill>
                  <a:srgbClr val="FFFFFF"/>
                </a:solidFill>
                <a:latin typeface="Avenir"/>
                <a:ea typeface="Avenir"/>
                <a:cs typeface="Avenir"/>
                <a:sym typeface="Avenir"/>
              </a:rPr>
              <a:t> set to </a:t>
            </a:r>
            <a:r>
              <a:rPr sz="1743" b="0" i="0">
                <a:solidFill>
                  <a:srgbClr val="FFFFFF"/>
                </a:solidFill>
                <a:latin typeface="Courier New"/>
                <a:ea typeface="Courier New"/>
                <a:cs typeface="Courier New"/>
                <a:sym typeface="Courier New"/>
              </a:rPr>
              <a:t>False</a:t>
            </a:r>
            <a:r>
              <a:rPr sz="2027" b="0" i="0">
                <a:solidFill>
                  <a:srgbClr val="FFFFFF"/>
                </a:solidFill>
                <a:latin typeface="Avenir"/>
                <a:ea typeface="Avenir"/>
                <a:cs typeface="Avenir"/>
                <a:sym typeface="Avenir"/>
              </a:rPr>
              <a:t> means the first frame is expensive — it looks for a hand from scratch — and every frame after that is cheap, because it only has to follow the hand it already found.</a:t>
            </a:r>
          </a:p>
        </p:txBody>
      </p:sp>
      <p:sp>
        <p:nvSpPr>
          <p:cNvPr id="7" name="blk0043"/>
          <p:cNvSpPr txBox="1"/>
          <p:nvPr/>
        </p:nvSpPr>
        <p:spPr>
          <a:xfrm>
            <a:off x="687600" y="6383659"/>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same idea as the threaded camera in Project 3, aimed at the model instead of the sensor. Switch it to True and the program still works, just several times slower, which for a program that has to keep up with a hand is not fast enough.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Only one hand</a:t>
            </a:r>
          </a:p>
        </p:txBody>
      </p:sp>
      <p:sp>
        <p:nvSpPr>
          <p:cNvPr id="3" name="blk004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max_num_hands=1</a:t>
            </a:r>
            <a:r>
              <a:rPr sz="2027" b="0" i="0">
                <a:solidFill>
                  <a:srgbClr val="FFFFFF"/>
                </a:solidFill>
                <a:latin typeface="Avenir"/>
                <a:ea typeface="Avenir"/>
                <a:cs typeface="Avenir"/>
                <a:sym typeface="Avenir"/>
              </a:rPr>
              <a:t> is a safety limit wearing a disguise. It looks like a setting, and it is, but read it as a promise: this program will never be confused about whose hand it is copying.</a:t>
            </a:r>
          </a:p>
          <a:p>
            <a:pPr algn="l">
              <a:lnSpc>
                <a:spcPct val="100000"/>
              </a:lnSpc>
            </a:pPr>
            <a:r>
              <a:rPr sz="2027" b="0" i="0">
                <a:solidFill>
                  <a:srgbClr val="FFFFFF"/>
                </a:solidFill>
                <a:latin typeface="Avenir"/>
                <a:ea typeface="Avenir"/>
                <a:cs typeface="Avenir"/>
                <a:sym typeface="Avenir"/>
              </a:rPr>
              <a:t>The loop agrees. Even if MediaPipe did report two hands, the code walks through them one at a time and the last one wins — which would be a terrible way to control a real arm.</a:t>
            </a:r>
          </a:p>
        </p:txBody>
      </p:sp>
      <p:sp>
        <p:nvSpPr>
          <p:cNvPr id="4" name="blk0046"/>
          <p:cNvSpPr/>
          <p:nvPr/>
        </p:nvSpPr>
        <p:spPr>
          <a:xfrm>
            <a:off x="687600" y="4320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46"/>
          <p:cNvSpPr/>
          <p:nvPr/>
        </p:nvSpPr>
        <p:spPr>
          <a:xfrm>
            <a:off x="885600" y="4771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46"/>
          <p:cNvSpPr txBox="1"/>
          <p:nvPr/>
        </p:nvSpPr>
        <p:spPr>
          <a:xfrm>
            <a:off x="1162800" y="4464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Two people in front of the camera is a genuinely dangerous situation for this program, and the setting is the only thing standing between them and a fight over who the arm is listening to. </a:t>
            </a:r>
            <a:r>
              <a:rPr sz="1290" b="0" i="1">
                <a:solidFill>
                  <a:srgbClr val="FFCF08"/>
                </a:solidFill>
                <a:latin typeface="Courier New"/>
                <a:ea typeface="Courier New"/>
                <a:cs typeface="Courier New"/>
                <a:sym typeface="Courier New"/>
              </a:rPr>
              <a:t>Keep it at 1.</a:t>
            </a:r>
          </a:p>
        </p:txBody>
      </p:sp>
      <p:sp>
        <p:nvSpPr>
          <p:cNvPr id="7" name="blk0047"/>
          <p:cNvSpPr txBox="1"/>
          <p:nvPr/>
        </p:nvSpPr>
        <p:spPr>
          <a:xfrm>
            <a:off x="687600" y="5472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Both confidences sit at 0.7. Lower them and the program becomes  twitchier and more likely to invent a hand that is not there; raise them and it stops tracking when your hand moves quickly. 0.7 is a reasonable middle, and it is a value you will be asked to justify in the debrief.</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4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From fractions to millimetres</a:t>
            </a:r>
          </a:p>
        </p:txBody>
      </p:sp>
      <p:sp>
        <p:nvSpPr>
          <p:cNvPr id="3" name="blk004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does not want 0.5. It wants 190 millimetres. This is the job of the mapping function, and it is the single idea holding this project together.</a:t>
            </a:r>
          </a:p>
        </p:txBody>
      </p:sp>
      <p:sp>
        <p:nvSpPr>
          <p:cNvPr id="4" name="blk0050"/>
          <p:cNvSpPr/>
          <p:nvPr/>
        </p:nvSpPr>
        <p:spPr>
          <a:xfrm>
            <a:off x="687600" y="2664000"/>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0"/>
          <p:cNvSpPr txBox="1"/>
          <p:nvPr/>
        </p:nvSpPr>
        <p:spPr>
          <a:xfrm>
            <a:off x="910799" y="2826000"/>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map_value(value, in_min, in_max, out_min, out_max):</a:t>
            </a:r>
          </a:p>
          <a:p>
            <a:pPr algn="l">
              <a:lnSpc>
                <a:spcPct val="115000"/>
              </a:lnSpc>
            </a:pPr>
            <a:r>
              <a:rPr sz="1250" b="0" i="0">
                <a:solidFill>
                  <a:srgbClr val="FFFFFF"/>
                </a:solidFill>
                <a:latin typeface="Courier New"/>
                <a:ea typeface="Courier New"/>
                <a:cs typeface="Courier New"/>
                <a:sym typeface="Courier New"/>
              </a:rPr>
              <a:t>    """Maps a value from one range to another and clamps it."""</a:t>
            </a:r>
          </a:p>
          <a:p>
            <a:pPr algn="l">
              <a:lnSpc>
                <a:spcPct val="115000"/>
              </a:lnSpc>
            </a:pPr>
            <a:r>
              <a:rPr sz="1250" b="0" i="0">
                <a:solidFill>
                  <a:srgbClr val="FFFFFF"/>
                </a:solidFill>
                <a:latin typeface="Courier New"/>
                <a:ea typeface="Courier New"/>
                <a:cs typeface="Courier New"/>
                <a:sym typeface="Courier New"/>
              </a:rPr>
              <a:t>    clamped_val = max(in_min, min(in_max, value))</a:t>
            </a:r>
          </a:p>
          <a:p>
            <a:pPr algn="l">
              <a:lnSpc>
                <a:spcPct val="115000"/>
              </a:lnSpc>
            </a:pPr>
            <a:r>
              <a:rPr sz="1250" b="0" i="0">
                <a:solidFill>
                  <a:srgbClr val="FFFFFF"/>
                </a:solidFill>
                <a:latin typeface="Courier New"/>
                <a:ea typeface="Courier New"/>
                <a:cs typeface="Courier New"/>
                <a:sym typeface="Courier New"/>
              </a:rPr>
              <a:t>    return out_min + (clamped_val - in_min) * (out_max - out_min) / (in_max - in_min)</a:t>
            </a:r>
          </a:p>
        </p:txBody>
      </p:sp>
      <p:sp>
        <p:nvSpPr>
          <p:cNvPr id="6" name="blk0051"/>
          <p:cNvSpPr txBox="1"/>
          <p:nvPr/>
        </p:nvSpPr>
        <p:spPr>
          <a:xfrm>
            <a:off x="687600" y="4824000"/>
            <a:ext cx="7542000" cy="28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Five arguments, and the last two are allowed to be backwards. Read the middle of the return line as </a:t>
            </a:r>
            <a:r>
              <a:rPr sz="1743" b="0" i="0">
                <a:solidFill>
                  <a:srgbClr val="FFFFFF"/>
                </a:solidFill>
                <a:latin typeface="Courier New"/>
                <a:ea typeface="Courier New"/>
                <a:cs typeface="Courier New"/>
                <a:sym typeface="Courier New"/>
              </a:rPr>
              <a:t>how far through the input range am I, times the output range, plus the output minimum</a:t>
            </a:r>
            <a:r>
              <a:rPr sz="2027" b="0" i="0">
                <a:solidFill>
                  <a:srgbClr val="FFFFFF"/>
                </a:solidFill>
                <a:latin typeface="Avenir"/>
                <a:ea typeface="Avenir"/>
                <a:cs typeface="Avenir"/>
                <a:sym typeface="Avenir"/>
              </a:rPr>
              <a:t>.</a:t>
            </a:r>
          </a:p>
        </p:txBody>
      </p:sp>
      <p:sp>
        <p:nvSpPr>
          <p:cNvPr id="7" name="blk0052"/>
          <p:cNvSpPr txBox="1"/>
          <p:nvPr/>
        </p:nvSpPr>
        <p:spPr>
          <a:xfrm>
            <a:off x="687600" y="616765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out_min and out_max can be in either order, the same function maps forwards and backwards. That is not a trick, it is just arithmetic — a negative range flips the direction. Step 10 needs both directions on the same axis.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clamp is the safety</a:t>
            </a:r>
          </a:p>
        </p:txBody>
      </p:sp>
      <p:sp>
        <p:nvSpPr>
          <p:cNvPr id="3" name="blk005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Look again at that function and find the line that is not arithmetic:</a:t>
            </a:r>
          </a:p>
        </p:txBody>
      </p:sp>
      <p:sp>
        <p:nvSpPr>
          <p:cNvPr id="4" name="blk0055"/>
          <p:cNvSpPr/>
          <p:nvPr/>
        </p:nvSpPr>
        <p:spPr>
          <a:xfrm>
            <a:off x="687600" y="266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55"/>
          <p:cNvSpPr txBox="1"/>
          <p:nvPr/>
        </p:nvSpPr>
        <p:spPr>
          <a:xfrm>
            <a:off x="910799" y="282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    clamped_val = max(in_min, min(in_max, value))</a:t>
            </a:r>
          </a:p>
        </p:txBody>
      </p:sp>
      <p:sp>
        <p:nvSpPr>
          <p:cNvPr id="6" name="blk0056"/>
          <p:cNvSpPr txBox="1"/>
          <p:nvPr/>
        </p:nvSpPr>
        <p:spPr>
          <a:xfrm>
            <a:off x="687600" y="3384000"/>
            <a:ext cx="7542000" cy="42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pulls </a:t>
            </a:r>
            <a:r>
              <a:rPr sz="1743" b="0" i="0">
                <a:solidFill>
                  <a:srgbClr val="FFFFFF"/>
                </a:solidFill>
                <a:latin typeface="Courier New"/>
                <a:ea typeface="Courier New"/>
                <a:cs typeface="Courier New"/>
                <a:sym typeface="Courier New"/>
              </a:rPr>
              <a:t>value</a:t>
            </a:r>
            <a:r>
              <a:rPr sz="2027" b="0" i="0">
                <a:solidFill>
                  <a:srgbClr val="FFFFFF"/>
                </a:solidFill>
                <a:latin typeface="Avenir"/>
                <a:ea typeface="Avenir"/>
                <a:cs typeface="Avenir"/>
                <a:sym typeface="Avenir"/>
              </a:rPr>
              <a:t> inside </a:t>
            </a:r>
            <a:r>
              <a:rPr sz="1743" b="0" i="0">
                <a:solidFill>
                  <a:srgbClr val="FFFFFF"/>
                </a:solidFill>
                <a:latin typeface="Courier New"/>
                <a:ea typeface="Courier New"/>
                <a:cs typeface="Courier New"/>
                <a:sym typeface="Courier New"/>
              </a:rPr>
              <a:t>[in_min, in_max]</a:t>
            </a:r>
            <a:r>
              <a:rPr sz="2027" b="0" i="0">
                <a:solidFill>
                  <a:srgbClr val="FFFFFF"/>
                </a:solidFill>
                <a:latin typeface="Avenir"/>
                <a:ea typeface="Avenir"/>
                <a:cs typeface="Avenir"/>
                <a:sym typeface="Avenir"/>
              </a:rPr>
              <a:t> before doing anything else. If a landmark ever reports 1.4 or -0.3 or something absurd, this function cannot pass that on.</a:t>
            </a:r>
          </a:p>
        </p:txBody>
      </p:sp>
      <p:sp>
        <p:nvSpPr>
          <p:cNvPr id="7" name="blk0057"/>
          <p:cNvSpPr/>
          <p:nvPr/>
        </p:nvSpPr>
        <p:spPr>
          <a:xfrm>
            <a:off x="687600" y="4536000"/>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57"/>
          <p:cNvSpPr/>
          <p:nvPr/>
        </p:nvSpPr>
        <p:spPr>
          <a:xfrm>
            <a:off x="885600" y="51242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57"/>
          <p:cNvSpPr txBox="1"/>
          <p:nvPr/>
        </p:nvSpPr>
        <p:spPr>
          <a:xfrm>
            <a:off x="1162800" y="4680000"/>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one line is what stops the arm being told to go somewhere it must never go. The workspace limits in this file are X between 130 and 250, Y between -160 and 160, and a fixed 180 of height. The clamp is what turns those four numbers into </a:t>
            </a:r>
            <a:r>
              <a:rPr sz="1290" b="0" i="1">
                <a:solidFill>
                  <a:srgbClr val="FFCF08"/>
                </a:solidFill>
                <a:latin typeface="Courier New"/>
                <a:ea typeface="Courier New"/>
                <a:cs typeface="Courier New"/>
                <a:sym typeface="Courier New"/>
              </a:rPr>
              <a:t>a guarantee rather than a suggestion.</a:t>
            </a:r>
          </a:p>
        </p:txBody>
      </p:sp>
      <p:sp>
        <p:nvSpPr>
          <p:cNvPr id="10" name="blk0058"/>
          <p:cNvSpPr txBox="1"/>
          <p:nvPr/>
        </p:nvSpPr>
        <p:spPr>
          <a:xfrm>
            <a:off x="687600" y="5957280"/>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the order inside: min first, then max. min(in_max, value) can only be at or below in_max; max lifts it back to in_min. Written the other way round, the two bounds would be supplied opposite.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5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Only the middle sixty percent</a:t>
            </a:r>
          </a:p>
        </p:txBody>
      </p:sp>
      <p:sp>
        <p:nvSpPr>
          <p:cNvPr id="3" name="blk006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watch the numbers that get passed in during Step 10. The input range is not 0.0 to 1.0. It is 0.2 to 0.8.</a:t>
            </a:r>
          </a:p>
        </p:txBody>
      </p:sp>
      <p:sp>
        <p:nvSpPr>
          <p:cNvPr id="4" name="blk0061"/>
          <p:cNvSpPr/>
          <p:nvPr/>
        </p:nvSpPr>
        <p:spPr>
          <a:xfrm>
            <a:off x="687600" y="3024000"/>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1"/>
          <p:cNvSpPr/>
          <p:nvPr/>
        </p:nvSpPr>
        <p:spPr>
          <a:xfrm>
            <a:off x="885600" y="361224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061"/>
          <p:cNvSpPr txBox="1"/>
          <p:nvPr/>
        </p:nvSpPr>
        <p:spPr>
          <a:xfrm>
            <a:off x="1162800" y="3168000"/>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So the top fifth and bottom fifth of your picture do nothing at all. Your hand has to be inside the middle sixty percent before the arm moves, and anywhere in that dead band the arm sits at its limit and stays there. This is deliberate: </a:t>
            </a:r>
            <a:r>
              <a:rPr sz="1290" b="0" i="1">
                <a:solidFill>
                  <a:srgbClr val="FFCF08"/>
                </a:solidFill>
                <a:latin typeface="Courier New"/>
                <a:ea typeface="Courier New"/>
                <a:cs typeface="Courier New"/>
                <a:sym typeface="Courier New"/>
              </a:rPr>
              <a:t>you cannot drive the arm to either end of its travel by accident.</a:t>
            </a:r>
          </a:p>
        </p:txBody>
      </p:sp>
      <p:sp>
        <p:nvSpPr>
          <p:cNvPr id="7" name="blk0062"/>
          <p:cNvSpPr txBox="1"/>
          <p:nvPr/>
        </p:nvSpPr>
        <p:spPr>
          <a:xfrm>
            <a:off x="687600" y="4445280"/>
            <a:ext cx="7542000" cy="323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It also makes the control feel better. Without the dead band, the arm would creep very slowly near the top and bottom of the range, because small hand movements map to large arm movements when you are near a limit.</a:t>
            </a:r>
          </a:p>
        </p:txBody>
      </p:sp>
      <p:sp>
        <p:nvSpPr>
          <p:cNvPr id="8" name="blk0063"/>
          <p:cNvSpPr txBox="1"/>
          <p:nvPr/>
        </p:nvSpPr>
        <p:spPr>
          <a:xfrm>
            <a:off x="687600" y="5788939"/>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You can change 0.2 and 0.8 later and the arm will still work, which is exactly why they are worth writing down before you start. In the debrief you should be able to say what they buy you.</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Two points make a pinch</a:t>
            </a:r>
          </a:p>
        </p:txBody>
      </p:sp>
      <p:sp>
        <p:nvSpPr>
          <p:cNvPr id="3" name="blk006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pinch has no key to press. It has a distance: thumb tip to index tip. That is all the information a pinch is.</a:t>
            </a:r>
          </a:p>
        </p:txBody>
      </p:sp>
      <p:sp>
        <p:nvSpPr>
          <p:cNvPr id="4" name="blk0066"/>
          <p:cNvSpPr/>
          <p:nvPr/>
        </p:nvSpPr>
        <p:spPr>
          <a:xfrm>
            <a:off x="687600" y="3024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66"/>
          <p:cNvSpPr txBox="1"/>
          <p:nvPr/>
        </p:nvSpPr>
        <p:spPr>
          <a:xfrm>
            <a:off x="910799" y="3186000"/>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calculate_distance(p1, p2):</a:t>
            </a:r>
          </a:p>
          <a:p>
            <a:pPr algn="l">
              <a:lnSpc>
                <a:spcPct val="115000"/>
              </a:lnSpc>
            </a:pPr>
            <a:r>
              <a:rPr sz="1250" b="0" i="0">
                <a:solidFill>
                  <a:srgbClr val="FFFFFF"/>
                </a:solidFill>
                <a:latin typeface="Courier New"/>
                <a:ea typeface="Courier New"/>
                <a:cs typeface="Courier New"/>
                <a:sym typeface="Courier New"/>
              </a:rPr>
              <a:t>    """Calculates 2D Euclidean distance between two MediaPipe landmarks."""</a:t>
            </a:r>
          </a:p>
          <a:p>
            <a:pPr algn="l">
              <a:lnSpc>
                <a:spcPct val="115000"/>
              </a:lnSpc>
            </a:pPr>
            <a:r>
              <a:rPr sz="1250" b="0" i="0">
                <a:solidFill>
                  <a:srgbClr val="FFFFFF"/>
                </a:solidFill>
                <a:latin typeface="Courier New"/>
                <a:ea typeface="Courier New"/>
                <a:cs typeface="Courier New"/>
                <a:sym typeface="Courier New"/>
              </a:rPr>
              <a:t>    return math.hypot(p1.x - p2.x, p1.y - p2.y)</a:t>
            </a:r>
          </a:p>
        </p:txBody>
      </p:sp>
      <p:sp>
        <p:nvSpPr>
          <p:cNvPr id="6" name="blk0067"/>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landmarks in, one number out. </a:t>
            </a:r>
            <a:r>
              <a:rPr sz="1743" b="0" i="0">
                <a:solidFill>
                  <a:srgbClr val="FFFFFF"/>
                </a:solidFill>
                <a:latin typeface="Courier New"/>
                <a:ea typeface="Courier New"/>
                <a:cs typeface="Courier New"/>
                <a:sym typeface="Courier New"/>
              </a:rPr>
              <a:t>math.hypot</a:t>
            </a:r>
            <a:r>
              <a:rPr sz="2027" b="0" i="0">
                <a:solidFill>
                  <a:srgbClr val="FFFFFF"/>
                </a:solidFill>
                <a:latin typeface="Avenir"/>
                <a:ea typeface="Avenir"/>
                <a:cs typeface="Avenir"/>
                <a:sym typeface="Avenir"/>
              </a:rPr>
              <a:t> is the straight-line distance between two points, and it saves you writing the square-root-of-the-squares yourself.</a:t>
            </a:r>
          </a:p>
          <a:p>
            <a:pPr algn="l">
              <a:lnSpc>
                <a:spcPct val="100000"/>
              </a:lnSpc>
            </a:pPr>
            <a:r>
              <a:rPr sz="2027" b="0" i="0">
                <a:solidFill>
                  <a:srgbClr val="FFFFFF"/>
                </a:solidFill>
                <a:latin typeface="Avenir"/>
                <a:ea typeface="Avenir"/>
                <a:cs typeface="Avenir"/>
                <a:sym typeface="Avenir"/>
              </a:rPr>
              <a:t>The result is in fractions of the picture, not pixels — because the inputs were fractions.</a:t>
            </a:r>
          </a:p>
        </p:txBody>
      </p:sp>
      <p:sp>
        <p:nvSpPr>
          <p:cNvPr id="7" name="blk0068"/>
          <p:cNvSpPr txBox="1"/>
          <p:nvPr/>
        </p:nvSpPr>
        <p:spPr>
          <a:xfrm>
            <a:off x="687600" y="6188574"/>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Only two dimensions are used. The z value of each landmark is ignored, which means this measures how close the fingers look on screen rather than how close they are in the room. That is a deliberate simplification, and for a hand held roughly upright in front of a camera it behaves well.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6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One number decides</a:t>
            </a:r>
          </a:p>
        </p:txBody>
      </p:sp>
      <p:sp>
        <p:nvSpPr>
          <p:cNvPr id="3" name="blk007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gesture itself is a comparison and nothing else:</a:t>
            </a:r>
          </a:p>
        </p:txBody>
      </p:sp>
      <p:sp>
        <p:nvSpPr>
          <p:cNvPr id="4" name="blk0071"/>
          <p:cNvSpPr/>
          <p:nvPr/>
        </p:nvSpPr>
        <p:spPr>
          <a:xfrm>
            <a:off x="687600" y="2664000"/>
            <a:ext cx="8686800" cy="72107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1"/>
          <p:cNvSpPr txBox="1"/>
          <p:nvPr/>
        </p:nvSpPr>
        <p:spPr>
          <a:xfrm>
            <a:off x="910799" y="2826000"/>
            <a:ext cx="8240400" cy="39707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pinch_distance = calculate_distance(thumb_tip, index_tip)</a:t>
            </a:r>
          </a:p>
          <a:p>
            <a:pPr algn="l">
              <a:lnSpc>
                <a:spcPct val="115000"/>
              </a:lnSpc>
            </a:pPr>
            <a:r>
              <a:rPr sz="1200" b="0" i="0">
                <a:solidFill>
                  <a:srgbClr val="FFFFFF"/>
                </a:solidFill>
                <a:latin typeface="Courier New"/>
                <a:ea typeface="Courier New"/>
                <a:cs typeface="Courier New"/>
                <a:sym typeface="Courier New"/>
              </a:rPr>
              <a:t>                is_pinching = pinch_distance &lt; 0.08  # Threshold for closed pinch</a:t>
            </a:r>
          </a:p>
        </p:txBody>
      </p:sp>
      <p:sp>
        <p:nvSpPr>
          <p:cNvPr id="6" name="blk0072"/>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boolean. Every later decision in this program hangs off </a:t>
            </a:r>
            <a:r>
              <a:rPr sz="1743" b="0" i="0">
                <a:solidFill>
                  <a:srgbClr val="FFFFFF"/>
                </a:solidFill>
                <a:latin typeface="Courier New"/>
                <a:ea typeface="Courier New"/>
                <a:cs typeface="Courier New"/>
                <a:sym typeface="Courier New"/>
              </a:rPr>
              <a:t>is_pinching</a:t>
            </a:r>
            <a:r>
              <a:rPr sz="2027" b="0" i="0">
                <a:solidFill>
                  <a:srgbClr val="FFFFFF"/>
                </a:solidFill>
                <a:latin typeface="Avenir"/>
                <a:ea typeface="Avenir"/>
                <a:cs typeface="Avenir"/>
                <a:sym typeface="Avenir"/>
              </a:rPr>
              <a:t> — the gripper command, the colour of the circle, and the colour of the text on screen. Set it once and three things follow.</a:t>
            </a:r>
          </a:p>
        </p:txBody>
      </p:sp>
      <p:sp>
        <p:nvSpPr>
          <p:cNvPr id="7" name="blk0073"/>
          <p:cNvSpPr txBox="1"/>
          <p:nvPr/>
        </p:nvSpPr>
        <p:spPr>
          <a:xfrm>
            <a:off x="687600" y="5159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0.08 is a fraction of the picture, so it is roughly eight percent of the frame. Because it is measured in fractions and not pixels, moving your hand closer to the camera shrinks the apparent distance and the same physical pinch stops registering — you have to pinch tighter. Keep your hand at a roughly constant distance from the camera and this behaves predictably.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Six numbers move the arm</a:t>
            </a:r>
          </a:p>
        </p:txBody>
      </p:sp>
      <p:sp>
        <p:nvSpPr>
          <p:cNvPr id="3" name="blk007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is told where to go with one call carrying six values:</a:t>
            </a:r>
          </a:p>
        </p:txBody>
      </p:sp>
      <p:sp>
        <p:nvSpPr>
          <p:cNvPr id="4" name="blk0076"/>
          <p:cNvSpPr/>
          <p:nvPr/>
        </p:nvSpPr>
        <p:spPr>
          <a:xfrm>
            <a:off x="687600" y="2736000"/>
            <a:ext cx="8686800" cy="48944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76"/>
          <p:cNvSpPr txBox="1"/>
          <p:nvPr/>
        </p:nvSpPr>
        <p:spPr>
          <a:xfrm>
            <a:off x="910799" y="2897999"/>
            <a:ext cx="8240400" cy="165447"/>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mc.send_coords([robot_x, robot_y, Z_HEIGHT, -180, 0, -135], ARM_SPEED, 0)</a:t>
            </a:r>
          </a:p>
        </p:txBody>
      </p:sp>
      <p:sp>
        <p:nvSpPr>
          <p:cNvPr id="6" name="blk0077"/>
          <p:cNvSpPr txBox="1"/>
          <p:nvPr/>
        </p:nvSpPr>
        <p:spPr>
          <a:xfrm>
            <a:off x="687600" y="3600000"/>
            <a:ext cx="7542000" cy="402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X, Y and Z are millimetres from the base of the arm. The other three are degrees of wrist rotation, and in this program </a:t>
            </a:r>
            <a:r>
              <a:rPr sz="1743" b="0" i="0">
                <a:solidFill>
                  <a:srgbClr val="FFFFFF"/>
                </a:solidFill>
                <a:latin typeface="Courier New"/>
                <a:ea typeface="Courier New"/>
                <a:cs typeface="Courier New"/>
                <a:sym typeface="Courier New"/>
              </a:rPr>
              <a:t>they never change</a:t>
            </a:r>
            <a:r>
              <a:rPr sz="2027" b="0" i="0">
                <a:solidFill>
                  <a:srgbClr val="FFFFFF"/>
                </a:solidFill>
                <a:latin typeface="Avenir"/>
                <a:ea typeface="Avenir"/>
                <a:cs typeface="Avenir"/>
                <a:sym typeface="Avenir"/>
              </a:rPr>
              <a:t>. Only two numbers in the whole list are ever anything else.</a:t>
            </a:r>
          </a:p>
          <a:p>
            <a:pPr algn="l">
              <a:lnSpc>
                <a:spcPct val="100000"/>
              </a:lnSpc>
            </a:pPr>
            <a:r>
              <a:rPr sz="2027" b="0" i="0">
                <a:solidFill>
                  <a:srgbClr val="FFFFFF"/>
                </a:solidFill>
                <a:latin typeface="Avenir"/>
                <a:ea typeface="Avenir"/>
                <a:cs typeface="Avenir"/>
                <a:sym typeface="Avenir"/>
              </a:rPr>
              <a:t>The last argument is 0, meaning move there now. </a:t>
            </a:r>
            <a:r>
              <a:rPr sz="1743" b="0" i="0">
                <a:solidFill>
                  <a:srgbClr val="FFFFFF"/>
                </a:solidFill>
                <a:latin typeface="Courier New"/>
                <a:ea typeface="Courier New"/>
                <a:cs typeface="Courier New"/>
                <a:sym typeface="Courier New"/>
              </a:rPr>
              <a:t>ARM_SPEED</a:t>
            </a:r>
            <a:r>
              <a:rPr sz="2027" b="0" i="0">
                <a:solidFill>
                  <a:srgbClr val="FFFFFF"/>
                </a:solidFill>
                <a:latin typeface="Avenir"/>
                <a:ea typeface="Avenir"/>
                <a:cs typeface="Avenir"/>
                <a:sym typeface="Avenir"/>
              </a:rPr>
              <a:t> of 50 out of 100 is a deliberate middle — fast enough to feel responsive, slow enough that a mistake does not become an incident.</a:t>
            </a:r>
          </a:p>
        </p:txBody>
      </p:sp>
      <p:sp>
        <p:nvSpPr>
          <p:cNvPr id="7" name="blk0078"/>
          <p:cNvSpPr txBox="1"/>
          <p:nvPr/>
        </p:nvSpPr>
        <p:spPr>
          <a:xfrm>
            <a:off x="687600" y="6179318"/>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X, Y and Z arrive as a list of plain numbers, the arm is given an absolute destination rather than a nudge. There is no memory between commands — move your hand and the next command describes the new place entirely.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7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Open and closed</a:t>
            </a:r>
          </a:p>
        </p:txBody>
      </p:sp>
      <p:sp>
        <p:nvSpPr>
          <p:cNvPr id="3" name="blk008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gripper is two commands, both inside the rate-limited block:</a:t>
            </a:r>
          </a:p>
        </p:txBody>
      </p:sp>
      <p:sp>
        <p:nvSpPr>
          <p:cNvPr id="4" name="blk0081"/>
          <p:cNvSpPr/>
          <p:nvPr/>
        </p:nvSpPr>
        <p:spPr>
          <a:xfrm>
            <a:off x="687600" y="2736000"/>
            <a:ext cx="8686800" cy="146558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1"/>
          <p:cNvSpPr txBox="1"/>
          <p:nvPr/>
        </p:nvSpPr>
        <p:spPr>
          <a:xfrm>
            <a:off x="910799" y="2897999"/>
            <a:ext cx="8240400" cy="1141586"/>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if is_pinching:</a:t>
            </a:r>
          </a:p>
          <a:p>
            <a:pPr algn="l">
              <a:lnSpc>
                <a:spcPct val="115000"/>
              </a:lnSpc>
            </a:pPr>
            <a:r>
              <a:rPr sz="1150" b="0" i="0">
                <a:solidFill>
                  <a:srgbClr val="FFFFFF"/>
                </a:solidFill>
                <a:latin typeface="Courier New"/>
                <a:ea typeface="Courier New"/>
                <a:cs typeface="Courier New"/>
                <a:sym typeface="Courier New"/>
              </a:rPr>
              <a:t>                        mc.set_gripper_state(1, 80) # Close gripper / activate pump</a:t>
            </a:r>
          </a:p>
          <a:p>
            <a:pPr algn="l">
              <a:lnSpc>
                <a:spcPct val="115000"/>
              </a:lnSpc>
            </a:pPr>
            <a:r>
              <a:rPr sz="1150" b="0" i="0">
                <a:solidFill>
                  <a:srgbClr val="FFFFFF"/>
                </a:solidFill>
                <a:latin typeface="Courier New"/>
                <a:ea typeface="Courier New"/>
                <a:cs typeface="Courier New"/>
                <a:sym typeface="Courier New"/>
              </a:rPr>
              <a:t>                        status_text = "Pinch Active (GRIP)"</a:t>
            </a:r>
          </a:p>
          <a:p>
            <a:pPr algn="l">
              <a:lnSpc>
                <a:spcPct val="115000"/>
              </a:lnSpc>
            </a:pPr>
            <a:r>
              <a:rPr sz="1150" b="0" i="0">
                <a:solidFill>
                  <a:srgbClr val="FFFFFF"/>
                </a:solidFill>
                <a:latin typeface="Courier New"/>
                <a:ea typeface="Courier New"/>
                <a:cs typeface="Courier New"/>
                <a:sym typeface="Courier New"/>
              </a:rPr>
              <a:t>                    else:</a:t>
            </a:r>
          </a:p>
          <a:p>
            <a:pPr algn="l">
              <a:lnSpc>
                <a:spcPct val="115000"/>
              </a:lnSpc>
            </a:pPr>
            <a:r>
              <a:rPr sz="1150" b="0" i="0">
                <a:solidFill>
                  <a:srgbClr val="FFFFFF"/>
                </a:solidFill>
                <a:latin typeface="Courier New"/>
                <a:ea typeface="Courier New"/>
                <a:cs typeface="Courier New"/>
                <a:sym typeface="Courier New"/>
              </a:rPr>
              <a:t>                        mc.set_gripper_state(0, 80) # Open gripper / deactivate pump</a:t>
            </a:r>
          </a:p>
          <a:p>
            <a:pPr algn="l">
              <a:lnSpc>
                <a:spcPct val="115000"/>
              </a:lnSpc>
            </a:pPr>
            <a:r>
              <a:rPr sz="1150" b="0" i="0">
                <a:solidFill>
                  <a:srgbClr val="FFFFFF"/>
                </a:solidFill>
                <a:latin typeface="Courier New"/>
                <a:ea typeface="Courier New"/>
                <a:cs typeface="Courier New"/>
                <a:sym typeface="Courier New"/>
              </a:rPr>
              <a:t>                        status_text = "Tracking (OPEN)"</a:t>
            </a:r>
          </a:p>
        </p:txBody>
      </p:sp>
      <p:sp>
        <p:nvSpPr>
          <p:cNvPr id="6" name="blk0082"/>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argument is the state — 1 for closed, 0 for open. The second is a speed. The comments mention a pump because the same command drives one, and reading the comments is how you know that.</a:t>
            </a:r>
          </a:p>
        </p:txBody>
      </p:sp>
      <p:sp>
        <p:nvSpPr>
          <p:cNvPr id="7" name="blk0083"/>
          <p:cNvSpPr txBox="1"/>
          <p:nvPr/>
        </p:nvSpPr>
        <p:spPr>
          <a:xfrm>
            <a:off x="687600" y="5807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Notice that this block sends a gripper command every time the rate limit allows, whether or not the pinch state has changed. Sending close twenty times when you have not moved is wasteful, but it is also simple and it is safe: the arm cannot be left gripping by accident if you shake your hand open. Simplicity wins here.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The arm is slower than the camera</a:t>
            </a:r>
          </a:p>
        </p:txBody>
      </p:sp>
      <p:sp>
        <p:nvSpPr>
          <p:cNvPr id="3" name="blk008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produces about thirty frames a second. The serial cable to the arm is far slower than that, and if you ask it for a move on every single frame the queue behind it grows until the program stalls.</a:t>
            </a:r>
          </a:p>
        </p:txBody>
      </p:sp>
      <p:sp>
        <p:nvSpPr>
          <p:cNvPr id="4" name="blk0086"/>
          <p:cNvSpPr/>
          <p:nvPr/>
        </p:nvSpPr>
        <p:spPr>
          <a:xfrm>
            <a:off x="687600" y="3240000"/>
            <a:ext cx="8686800" cy="82034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86"/>
          <p:cNvSpPr txBox="1"/>
          <p:nvPr/>
        </p:nvSpPr>
        <p:spPr>
          <a:xfrm>
            <a:off x="910799" y="3401999"/>
            <a:ext cx="8240400" cy="496341"/>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last_command_time = 0</a:t>
            </a:r>
          </a:p>
          <a:p>
            <a:pPr algn="l">
              <a:lnSpc>
                <a:spcPct val="115000"/>
              </a:lnSpc>
            </a:pPr>
            <a:r>
              <a:rPr sz="1500" b="0" i="0">
                <a:solidFill>
                  <a:srgbClr val="FFFFFF"/>
                </a:solidFill>
                <a:latin typeface="Courier New"/>
                <a:ea typeface="Courier New"/>
                <a:cs typeface="Courier New"/>
                <a:sym typeface="Courier New"/>
              </a:rPr>
              <a:t>COMMAND_INTERVAL = 0.15  # Send move command every 150ms</a:t>
            </a:r>
          </a:p>
        </p:txBody>
      </p:sp>
      <p:sp>
        <p:nvSpPr>
          <p:cNvPr id="6" name="blk0087"/>
          <p:cNvSpPr txBox="1"/>
          <p:nvPr/>
        </p:nvSpPr>
        <p:spPr>
          <a:xfrm>
            <a:off x="687600" y="4248000"/>
            <a:ext cx="7542000" cy="338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tenth of a second between commands means the arm is told where to go at most six or seven times a second, while the picture is still examined thirty times a second.</a:t>
            </a:r>
          </a:p>
        </p:txBody>
      </p:sp>
      <p:sp>
        <p:nvSpPr>
          <p:cNvPr id="7" name="blk0088"/>
          <p:cNvSpPr/>
          <p:nvPr/>
        </p:nvSpPr>
        <p:spPr>
          <a:xfrm>
            <a:off x="687600" y="5282744"/>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88"/>
          <p:cNvSpPr/>
          <p:nvPr/>
        </p:nvSpPr>
        <p:spPr>
          <a:xfrm>
            <a:off x="885600" y="573382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88"/>
          <p:cNvSpPr txBox="1"/>
          <p:nvPr/>
        </p:nvSpPr>
        <p:spPr>
          <a:xfrm>
            <a:off x="1162800" y="5426744"/>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This is the fix for a problem you have not hit yet, and it is the reason the program feels smooth rather than twitchy. Notice also where the telemetry drawing sits — outside this rate limit. </a:t>
            </a:r>
            <a:r>
              <a:rPr sz="1290" b="0" i="1">
                <a:solidFill>
                  <a:srgbClr val="FFCF08"/>
                </a:solidFill>
                <a:latin typeface="Courier New"/>
                <a:ea typeface="Courier New"/>
                <a:cs typeface="Courier New"/>
                <a:sym typeface="Courier New"/>
              </a:rPr>
              <a:t>Drawing is free; moving the arm is not.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8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Rate limiting, honestly</a:t>
            </a:r>
          </a:p>
        </p:txBody>
      </p:sp>
      <p:sp>
        <p:nvSpPr>
          <p:cNvPr id="3" name="blk009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is the whole mechanism:</a:t>
            </a:r>
          </a:p>
        </p:txBody>
      </p:sp>
      <p:sp>
        <p:nvSpPr>
          <p:cNvPr id="4" name="blk0091"/>
          <p:cNvSpPr/>
          <p:nvPr/>
        </p:nvSpPr>
        <p:spPr>
          <a:xfrm>
            <a:off x="687600" y="2448000"/>
            <a:ext cx="8686800" cy="280570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1"/>
          <p:cNvSpPr txBox="1"/>
          <p:nvPr/>
        </p:nvSpPr>
        <p:spPr>
          <a:xfrm>
            <a:off x="910799" y="2610000"/>
            <a:ext cx="8240400" cy="2481708"/>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current_time = time.time()</a:t>
            </a:r>
          </a:p>
          <a:p>
            <a:pPr algn="l">
              <a:lnSpc>
                <a:spcPct val="115000"/>
              </a:lnSpc>
            </a:pPr>
            <a:r>
              <a:rPr sz="1000" b="0" i="0">
                <a:solidFill>
                  <a:srgbClr val="FFFFFF"/>
                </a:solidFill>
                <a:latin typeface="Courier New"/>
                <a:ea typeface="Courier New"/>
                <a:cs typeface="Courier New"/>
                <a:sym typeface="Courier New"/>
              </a:rPr>
              <a:t>                if current_time - last_command_time &gt; COMMAND_INTERVAL:</a:t>
            </a:r>
          </a:p>
          <a:p>
            <a:pPr algn="l">
              <a:lnSpc>
                <a:spcPct val="115000"/>
              </a:lnSpc>
            </a:pPr>
            <a:r>
              <a:rPr sz="1000" b="0" i="0">
                <a:solidFill>
                  <a:srgbClr val="FFFFFF"/>
                </a:solidFill>
                <a:latin typeface="Courier New"/>
                <a:ea typeface="Courier New"/>
                <a:cs typeface="Courier New"/>
                <a:sym typeface="Courier New"/>
              </a:rPr>
              <a:t>                    # Send position command: [X, Y, Z, Rx, Ry, Rz]</a:t>
            </a:r>
          </a:p>
          <a:p>
            <a:pPr algn="l">
              <a:lnSpc>
                <a:spcPct val="115000"/>
              </a:lnSpc>
            </a:pPr>
            <a:r>
              <a:rPr sz="1000" b="0" i="0">
                <a:solidFill>
                  <a:srgbClr val="FFFFFF"/>
                </a:solidFill>
                <a:latin typeface="Courier New"/>
                <a:ea typeface="Courier New"/>
                <a:cs typeface="Courier New"/>
                <a:sym typeface="Courier New"/>
              </a:rPr>
              <a:t>                    print(f"Target: X={robot_x:.1f}, Y={robot_y:.1f}, Z={Z_HEIGHT}")</a:t>
            </a:r>
          </a:p>
          <a:p>
            <a:pPr algn="l">
              <a:lnSpc>
                <a:spcPct val="115000"/>
              </a:lnSpc>
            </a:pPr>
            <a:r>
              <a:rPr sz="1000" b="0" i="0">
                <a:solidFill>
                  <a:srgbClr val="FFFFFF"/>
                </a:solidFill>
                <a:latin typeface="Courier New"/>
                <a:ea typeface="Courier New"/>
                <a:cs typeface="Courier New"/>
                <a:sym typeface="Courier New"/>
              </a:rPr>
              <a:t>                    mc.send_coords([robot_x, robot_y, Z_HEIGHT, -180, 0, -135], ARM_SPEED, 0)</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 Control end-effector based on pinch state</a:t>
            </a:r>
          </a:p>
          <a:p>
            <a:pPr algn="l">
              <a:lnSpc>
                <a:spcPct val="115000"/>
              </a:lnSpc>
            </a:pPr>
            <a:r>
              <a:rPr sz="1000" b="0" i="0">
                <a:solidFill>
                  <a:srgbClr val="FFFFFF"/>
                </a:solidFill>
                <a:latin typeface="Courier New"/>
                <a:ea typeface="Courier New"/>
                <a:cs typeface="Courier New"/>
                <a:sym typeface="Courier New"/>
              </a:rPr>
              <a:t>                    if is_pinching:</a:t>
            </a:r>
          </a:p>
          <a:p>
            <a:pPr algn="l">
              <a:lnSpc>
                <a:spcPct val="115000"/>
              </a:lnSpc>
            </a:pPr>
            <a:r>
              <a:rPr sz="1000" b="0" i="0">
                <a:solidFill>
                  <a:srgbClr val="FFFFFF"/>
                </a:solidFill>
                <a:latin typeface="Courier New"/>
                <a:ea typeface="Courier New"/>
                <a:cs typeface="Courier New"/>
                <a:sym typeface="Courier New"/>
              </a:rPr>
              <a:t>                        mc.set_gripper_state(1, 80) # Close gripper / activate pump</a:t>
            </a:r>
          </a:p>
          <a:p>
            <a:pPr algn="l">
              <a:lnSpc>
                <a:spcPct val="115000"/>
              </a:lnSpc>
            </a:pPr>
            <a:r>
              <a:rPr sz="1000" b="0" i="0">
                <a:solidFill>
                  <a:srgbClr val="FFFFFF"/>
                </a:solidFill>
                <a:latin typeface="Courier New"/>
                <a:ea typeface="Courier New"/>
                <a:cs typeface="Courier New"/>
                <a:sym typeface="Courier New"/>
              </a:rPr>
              <a:t>                        status_text = "Pinch Active (GRIP)"</a:t>
            </a:r>
          </a:p>
          <a:p>
            <a:pPr algn="l">
              <a:lnSpc>
                <a:spcPct val="115000"/>
              </a:lnSpc>
            </a:pPr>
            <a:r>
              <a:rPr sz="1000" b="0" i="0">
                <a:solidFill>
                  <a:srgbClr val="FFFFFF"/>
                </a:solidFill>
                <a:latin typeface="Courier New"/>
                <a:ea typeface="Courier New"/>
                <a:cs typeface="Courier New"/>
                <a:sym typeface="Courier New"/>
              </a:rPr>
              <a:t>                    else:</a:t>
            </a:r>
          </a:p>
          <a:p>
            <a:pPr algn="l">
              <a:lnSpc>
                <a:spcPct val="115000"/>
              </a:lnSpc>
            </a:pPr>
            <a:r>
              <a:rPr sz="1000" b="0" i="0">
                <a:solidFill>
                  <a:srgbClr val="FFFFFF"/>
                </a:solidFill>
                <a:latin typeface="Courier New"/>
                <a:ea typeface="Courier New"/>
                <a:cs typeface="Courier New"/>
                <a:sym typeface="Courier New"/>
              </a:rPr>
              <a:t>                        mc.set_gripper_state(0, 80) # Open gripper / deactivate pump</a:t>
            </a:r>
          </a:p>
          <a:p>
            <a:pPr algn="l">
              <a:lnSpc>
                <a:spcPct val="115000"/>
              </a:lnSpc>
            </a:pPr>
            <a:r>
              <a:rPr sz="1000" b="0" i="0">
                <a:solidFill>
                  <a:srgbClr val="FFFFFF"/>
                </a:solidFill>
                <a:latin typeface="Courier New"/>
                <a:ea typeface="Courier New"/>
                <a:cs typeface="Courier New"/>
                <a:sym typeface="Courier New"/>
              </a:rPr>
              <a:t>                        status_text = "Tracking (OPEN)"</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last_command_time = current_time</a:t>
            </a:r>
          </a:p>
        </p:txBody>
      </p:sp>
      <p:sp>
        <p:nvSpPr>
          <p:cNvPr id="6" name="blk0092"/>
          <p:cNvSpPr txBox="1"/>
          <p:nvPr/>
        </p:nvSpPr>
        <p:spPr>
          <a:xfrm>
            <a:off x="687600" y="5380878"/>
            <a:ext cx="7542000" cy="3308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Compare, act, then update the record. On the very first frame the stored time is 0, so the difference is enormous and the block always runs at least once.</a:t>
            </a:r>
          </a:p>
        </p:txBody>
      </p:sp>
      <p:sp>
        <p:nvSpPr>
          <p:cNvPr id="7" name="blk0093"/>
          <p:cNvSpPr txBox="1"/>
          <p:nvPr/>
        </p:nvSpPr>
        <p:spPr>
          <a:xfrm>
            <a:off x="687600" y="6415622"/>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status_text looks like a bug: assigned inside the if block, read far below it. It works because the block runs on the first frame, so the name always exists from then 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094"/>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Letting go at the end</a:t>
            </a:r>
          </a:p>
        </p:txBody>
      </p:sp>
      <p:sp>
        <p:nvSpPr>
          <p:cNvPr id="3" name="blk0095"/>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three lines of the file are the ones that matter when something has gone wrong:</a:t>
            </a:r>
          </a:p>
        </p:txBody>
      </p:sp>
      <p:sp>
        <p:nvSpPr>
          <p:cNvPr id="4" name="blk0096"/>
          <p:cNvSpPr/>
          <p:nvPr/>
        </p:nvSpPr>
        <p:spPr>
          <a:xfrm>
            <a:off x="687600" y="2880000"/>
            <a:ext cx="8686800" cy="131668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096"/>
          <p:cNvSpPr txBox="1"/>
          <p:nvPr/>
        </p:nvSpPr>
        <p:spPr>
          <a:xfrm>
            <a:off x="910799" y="3041999"/>
            <a:ext cx="8240400" cy="992683"/>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finally:</a:t>
            </a:r>
          </a:p>
          <a:p>
            <a:pPr algn="l">
              <a:lnSpc>
                <a:spcPct val="115000"/>
              </a:lnSpc>
            </a:pPr>
            <a:r>
              <a:rPr sz="1500" b="0" i="0">
                <a:solidFill>
                  <a:srgbClr val="FFFFFF"/>
                </a:solidFill>
                <a:latin typeface="Courier New"/>
                <a:ea typeface="Courier New"/>
                <a:cs typeface="Courier New"/>
                <a:sym typeface="Courier New"/>
              </a:rPr>
              <a:t>    cap.release()</a:t>
            </a:r>
          </a:p>
          <a:p>
            <a:pPr algn="l">
              <a:lnSpc>
                <a:spcPct val="115000"/>
              </a:lnSpc>
            </a:pPr>
            <a:r>
              <a:rPr sz="1500" b="0" i="0">
                <a:solidFill>
                  <a:srgbClr val="FFFFFF"/>
                </a:solidFill>
                <a:latin typeface="Courier New"/>
                <a:ea typeface="Courier New"/>
                <a:cs typeface="Courier New"/>
                <a:sym typeface="Courier New"/>
              </a:rPr>
              <a:t>    cv2.destroyAllWindows()</a:t>
            </a:r>
          </a:p>
          <a:p>
            <a:pPr algn="l">
              <a:lnSpc>
                <a:spcPct val="115000"/>
              </a:lnSpc>
            </a:pPr>
            <a:r>
              <a:rPr sz="1500" b="0" i="0">
                <a:solidFill>
                  <a:srgbClr val="FFFFFF"/>
                </a:solidFill>
                <a:latin typeface="Courier New"/>
                <a:ea typeface="Courier New"/>
                <a:cs typeface="Courier New"/>
                <a:sym typeface="Courier New"/>
              </a:rPr>
              <a:t>    mc.release_all_servos()</a:t>
            </a:r>
          </a:p>
        </p:txBody>
      </p:sp>
      <p:sp>
        <p:nvSpPr>
          <p:cNvPr id="6" name="blk0097"/>
          <p:cNvSpPr txBox="1"/>
          <p:nvPr/>
        </p:nvSpPr>
        <p:spPr>
          <a:xfrm>
            <a:off x="687600" y="4320000"/>
            <a:ext cx="7542000" cy="3308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cap.release()</a:t>
            </a:r>
            <a:r>
              <a:rPr sz="2027" b="0" i="0">
                <a:solidFill>
                  <a:srgbClr val="FFFFFF"/>
                </a:solidFill>
                <a:latin typeface="Avenir"/>
                <a:ea typeface="Avenir"/>
                <a:cs typeface="Avenir"/>
                <a:sym typeface="Avenir"/>
              </a:rPr>
              <a:t> hands the camera back so the next program can have it. </a:t>
            </a:r>
            <a:r>
              <a:rPr sz="1743" b="0" i="0">
                <a:solidFill>
                  <a:srgbClr val="FFFFFF"/>
                </a:solidFill>
                <a:latin typeface="Courier New"/>
                <a:ea typeface="Courier New"/>
                <a:cs typeface="Courier New"/>
                <a:sym typeface="Courier New"/>
              </a:rPr>
              <a:t>destroyAllWindows()</a:t>
            </a:r>
            <a:r>
              <a:rPr sz="2027" b="0" i="0">
                <a:solidFill>
                  <a:srgbClr val="FFFFFF"/>
                </a:solidFill>
                <a:latin typeface="Avenir"/>
                <a:ea typeface="Avenir"/>
                <a:cs typeface="Avenir"/>
                <a:sym typeface="Avenir"/>
              </a:rPr>
              <a:t> closes the window. And </a:t>
            </a:r>
            <a:r>
              <a:rPr sz="1743" b="0" i="0">
                <a:solidFill>
                  <a:srgbClr val="FFFFFF"/>
                </a:solidFill>
                <a:latin typeface="Courier New"/>
                <a:ea typeface="Courier New"/>
                <a:cs typeface="Courier New"/>
                <a:sym typeface="Courier New"/>
              </a:rPr>
              <a:t>release_all_servos()</a:t>
            </a:r>
            <a:r>
              <a:rPr sz="2027" b="0" i="0">
                <a:solidFill>
                  <a:srgbClr val="FFFFFF"/>
                </a:solidFill>
                <a:latin typeface="Avenir"/>
                <a:ea typeface="Avenir"/>
                <a:cs typeface="Avenir"/>
                <a:sym typeface="Avenir"/>
              </a:rPr>
              <a:t> lets the arm go limp.</a:t>
            </a:r>
          </a:p>
        </p:txBody>
      </p:sp>
      <p:sp>
        <p:nvSpPr>
          <p:cNvPr id="7" name="blk0098"/>
          <p:cNvSpPr/>
          <p:nvPr/>
        </p:nvSpPr>
        <p:spPr>
          <a:xfrm>
            <a:off x="687600" y="5354744"/>
            <a:ext cx="8686800" cy="131328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098"/>
          <p:cNvSpPr/>
          <p:nvPr/>
        </p:nvSpPr>
        <p:spPr>
          <a:xfrm>
            <a:off x="885600" y="5942984"/>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098"/>
          <p:cNvSpPr txBox="1"/>
          <p:nvPr/>
        </p:nvSpPr>
        <p:spPr>
          <a:xfrm>
            <a:off x="1162800" y="5498744"/>
            <a:ext cx="7956000" cy="1025280"/>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Limp means you can move the arm by hand afterwards, and it means the motors are not holding position against your fingers while you reach in to unplug something. If the servos buzz or the arm will not budge after the program exits, </a:t>
            </a:r>
            <a:r>
              <a:rPr sz="1290" b="0" i="1">
                <a:solidFill>
                  <a:srgbClr val="FFCF08"/>
                </a:solidFill>
                <a:latin typeface="Courier New"/>
                <a:ea typeface="Courier New"/>
                <a:cs typeface="Courier New"/>
                <a:sym typeface="Courier New"/>
              </a:rPr>
              <a:t>this line has been deleted or skipped.</a:t>
            </a:r>
          </a:p>
        </p:txBody>
      </p:sp>
      <p:sp>
        <p:nvSpPr>
          <p:cNvPr id="10" name="blk0099"/>
          <p:cNvSpPr txBox="1"/>
          <p:nvPr/>
        </p:nvSpPr>
        <p:spPr>
          <a:xfrm>
            <a:off x="687600" y="6776024"/>
            <a:ext cx="7542000" cy="72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Because it is a finally block, it runs even when the program crashes — the entire reason the cleanup lines live here.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could actually hurt someone</a:t>
            </a:r>
          </a:p>
        </p:txBody>
      </p:sp>
      <p:sp>
        <p:nvSpPr>
          <p:cNvPr id="3" name="blk010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Before any code, the list of things standing between this program and an injury. Every one of them is a decision already made for you:</a:t>
            </a:r>
          </a:p>
        </p:txBody>
      </p:sp>
      <p:sp>
        <p:nvSpPr>
          <p:cNvPr id="4" name="blk0102"/>
          <p:cNvSpPr/>
          <p:nvPr/>
        </p:nvSpPr>
        <p:spPr>
          <a:xfrm>
            <a:off x="705600" y="30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02"/>
          <p:cNvSpPr txBox="1"/>
          <p:nvPr/>
        </p:nvSpPr>
        <p:spPr>
          <a:xfrm>
            <a:off x="1252800" y="3074399"/>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mapping is clamped to 0.2–0.8 before it becomes millimetres.</a:t>
            </a:r>
          </a:p>
        </p:txBody>
      </p:sp>
      <p:sp>
        <p:nvSpPr>
          <p:cNvPr id="6" name="blk0103"/>
          <p:cNvSpPr/>
          <p:nvPr/>
        </p:nvSpPr>
        <p:spPr>
          <a:xfrm>
            <a:off x="705600" y="381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03"/>
          <p:cNvSpPr txBox="1"/>
          <p:nvPr/>
        </p:nvSpPr>
        <p:spPr>
          <a:xfrm>
            <a:off x="1252800" y="3794399"/>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arm is confined to X 130–250, Y -160–160, and a fixed height of 180.</a:t>
            </a:r>
          </a:p>
        </p:txBody>
      </p:sp>
      <p:sp>
        <p:nvSpPr>
          <p:cNvPr id="8" name="blk0104"/>
          <p:cNvSpPr/>
          <p:nvPr/>
        </p:nvSpPr>
        <p:spPr>
          <a:xfrm>
            <a:off x="705600" y="453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04"/>
          <p:cNvSpPr txBox="1"/>
          <p:nvPr/>
        </p:nvSpPr>
        <p:spPr>
          <a:xfrm>
            <a:off x="1252800" y="451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Only one hand is ever listened to.</a:t>
            </a:r>
          </a:p>
        </p:txBody>
      </p:sp>
      <p:sp>
        <p:nvSpPr>
          <p:cNvPr id="10" name="blk0105"/>
          <p:cNvSpPr/>
          <p:nvPr/>
        </p:nvSpPr>
        <p:spPr>
          <a:xfrm>
            <a:off x="705600" y="525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05"/>
          <p:cNvSpPr txBox="1"/>
          <p:nvPr/>
        </p:nvSpPr>
        <p:spPr>
          <a:xfrm>
            <a:off x="1252800" y="523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arm moves at half speed, six times a second, never faster.</a:t>
            </a:r>
          </a:p>
        </p:txBody>
      </p:sp>
      <p:sp>
        <p:nvSpPr>
          <p:cNvPr id="12" name="blk0106"/>
          <p:cNvSpPr/>
          <p:nvPr/>
        </p:nvSpPr>
        <p:spPr>
          <a:xfrm>
            <a:off x="705600" y="597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106"/>
          <p:cNvSpPr txBox="1"/>
          <p:nvPr/>
        </p:nvSpPr>
        <p:spPr>
          <a:xfrm>
            <a:off x="1252800" y="595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If the hand leaves the picture the arm is not given any new instruction at all.</a:t>
            </a:r>
          </a:p>
        </p:txBody>
      </p:sp>
      <p:sp>
        <p:nvSpPr>
          <p:cNvPr id="14" name="blk0107"/>
          <p:cNvSpPr/>
          <p:nvPr/>
        </p:nvSpPr>
        <p:spPr>
          <a:xfrm>
            <a:off x="705600" y="66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107"/>
          <p:cNvSpPr txBox="1"/>
          <p:nvPr/>
        </p:nvSpPr>
        <p:spPr>
          <a:xfrm>
            <a:off x="1252800" y="6674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And if you stop the program, the servos are released.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08"/>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a:t>
            </a:r>
          </a:p>
        </p:txBody>
      </p:sp>
      <p:sp>
        <p:nvSpPr>
          <p:cNvPr id="3" name="blk0109"/>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module’s standard import block, with two additions for this project:</a:t>
            </a:r>
          </a:p>
        </p:txBody>
      </p:sp>
      <p:sp>
        <p:nvSpPr>
          <p:cNvPr id="4" name="blk0110"/>
          <p:cNvSpPr/>
          <p:nvPr/>
        </p:nvSpPr>
        <p:spPr>
          <a:xfrm>
            <a:off x="687600" y="2736000"/>
            <a:ext cx="8686800" cy="156485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0"/>
          <p:cNvSpPr txBox="1"/>
          <p:nvPr/>
        </p:nvSpPr>
        <p:spPr>
          <a:xfrm>
            <a:off x="910799" y="2897999"/>
            <a:ext cx="8240400" cy="1240854"/>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import cv2</a:t>
            </a:r>
          </a:p>
          <a:p>
            <a:pPr algn="l">
              <a:lnSpc>
                <a:spcPct val="115000"/>
              </a:lnSpc>
            </a:pPr>
            <a:r>
              <a:rPr sz="1500" b="0" i="0">
                <a:solidFill>
                  <a:srgbClr val="FFFFFF"/>
                </a:solidFill>
                <a:latin typeface="Courier New"/>
                <a:ea typeface="Courier New"/>
                <a:cs typeface="Courier New"/>
                <a:sym typeface="Courier New"/>
              </a:rPr>
              <a:t>import mediapipe as mp</a:t>
            </a:r>
          </a:p>
          <a:p>
            <a:pPr algn="l">
              <a:lnSpc>
                <a:spcPct val="115000"/>
              </a:lnSpc>
            </a:pPr>
            <a:r>
              <a:rPr sz="1500" b="0" i="0">
                <a:solidFill>
                  <a:srgbClr val="FFFFFF"/>
                </a:solidFill>
                <a:latin typeface="Courier New"/>
                <a:ea typeface="Courier New"/>
                <a:cs typeface="Courier New"/>
                <a:sym typeface="Courier New"/>
              </a:rPr>
              <a:t>import math</a:t>
            </a:r>
          </a:p>
          <a:p>
            <a:pPr algn="l">
              <a:lnSpc>
                <a:spcPct val="115000"/>
              </a:lnSpc>
            </a:pPr>
            <a:r>
              <a:rPr sz="1500" b="0" i="0">
                <a:solidFill>
                  <a:srgbClr val="FFFFFF"/>
                </a:solidFill>
                <a:latin typeface="Courier New"/>
                <a:ea typeface="Courier New"/>
                <a:cs typeface="Courier New"/>
                <a:sym typeface="Courier New"/>
              </a:rPr>
              <a:t>import time</a:t>
            </a:r>
          </a:p>
          <a:p>
            <a:pPr algn="l">
              <a:lnSpc>
                <a:spcPct val="115000"/>
              </a:lnSpc>
            </a:pPr>
            <a:r>
              <a:rPr sz="1500" b="0" i="0">
                <a:solidFill>
                  <a:srgbClr val="FFFFFF"/>
                </a:solidFill>
                <a:latin typeface="Courier New"/>
                <a:ea typeface="Courier New"/>
                <a:cs typeface="Courier New"/>
                <a:sym typeface="Courier New"/>
              </a:rPr>
              <a:t>import numpy as np</a:t>
            </a:r>
          </a:p>
        </p:txBody>
      </p:sp>
      <p:sp>
        <p:nvSpPr>
          <p:cNvPr id="6" name="blk0111"/>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1743" b="0" i="0">
                <a:solidFill>
                  <a:srgbClr val="FFFFFF"/>
                </a:solidFill>
                <a:latin typeface="Courier New"/>
                <a:ea typeface="Courier New"/>
                <a:cs typeface="Courier New"/>
                <a:sym typeface="Courier New"/>
              </a:rPr>
              <a:t>cv2</a:t>
            </a:r>
            <a:r>
              <a:rPr sz="2027" b="0" i="0">
                <a:solidFill>
                  <a:srgbClr val="FFFFFF"/>
                </a:solidFill>
                <a:latin typeface="Avenir"/>
                <a:ea typeface="Avenir"/>
                <a:cs typeface="Avenir"/>
                <a:sym typeface="Avenir"/>
              </a:rPr>
              <a:t> is the camera, the drawing and the colour conversion. </a:t>
            </a:r>
            <a:r>
              <a:rPr sz="1743" b="0" i="0">
                <a:solidFill>
                  <a:srgbClr val="FFFFFF"/>
                </a:solidFill>
                <a:latin typeface="Courier New"/>
                <a:ea typeface="Courier New"/>
                <a:cs typeface="Courier New"/>
                <a:sym typeface="Courier New"/>
              </a:rPr>
              <a:t>math</a:t>
            </a:r>
            <a:r>
              <a:rPr sz="2027" b="0" i="0">
                <a:solidFill>
                  <a:srgbClr val="FFFFFF"/>
                </a:solidFill>
                <a:latin typeface="Avenir"/>
                <a:ea typeface="Avenir"/>
                <a:cs typeface="Avenir"/>
                <a:sym typeface="Avenir"/>
              </a:rPr>
              <a:t> is for one function. </a:t>
            </a:r>
            <a:r>
              <a:rPr sz="1743" b="0" i="0">
                <a:solidFill>
                  <a:srgbClr val="FFFFFF"/>
                </a:solidFill>
                <a:latin typeface="Courier New"/>
                <a:ea typeface="Courier New"/>
                <a:cs typeface="Courier New"/>
                <a:sym typeface="Courier New"/>
              </a:rPr>
              <a:t>time</a:t>
            </a:r>
            <a:r>
              <a:rPr sz="2027" b="0" i="0">
                <a:solidFill>
                  <a:srgbClr val="FFFFFF"/>
                </a:solidFill>
                <a:latin typeface="Avenir"/>
                <a:ea typeface="Avenir"/>
                <a:cs typeface="Avenir"/>
                <a:sym typeface="Avenir"/>
              </a:rPr>
              <a:t> does the rate limiting. </a:t>
            </a:r>
            <a:r>
              <a:rPr sz="1743" b="0" i="0">
                <a:solidFill>
                  <a:srgbClr val="FFFFFF"/>
                </a:solidFill>
                <a:latin typeface="Courier New"/>
                <a:ea typeface="Courier New"/>
                <a:cs typeface="Courier New"/>
                <a:sym typeface="Courier New"/>
              </a:rPr>
              <a:t>mediapipe</a:t>
            </a:r>
            <a:r>
              <a:rPr sz="2027" b="0" i="0">
                <a:solidFill>
                  <a:srgbClr val="FFFFFF"/>
                </a:solidFill>
                <a:latin typeface="Avenir"/>
                <a:ea typeface="Avenir"/>
                <a:cs typeface="Avenir"/>
                <a:sym typeface="Avenir"/>
              </a:rPr>
              <a:t> is the new one.</a:t>
            </a:r>
          </a:p>
        </p:txBody>
      </p:sp>
      <p:sp>
        <p:nvSpPr>
          <p:cNvPr id="7" name="blk0112"/>
          <p:cNvSpPr txBox="1"/>
          <p:nvPr/>
        </p:nvSpPr>
        <p:spPr>
          <a:xfrm>
            <a:off x="687600" y="5570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numpy is in this list and is not used anywhere in Project 4 — not once. It is in the import block of every project in this module, and it earns its place in Projects 1, 2 and 3. Here it does nothing. That is harmless, and it is also a clue: if you are wondering why your frame shape behaves as an object rather than a list, this is where that comes from.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3"/>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2</a:t>
            </a:r>
          </a:p>
        </p:txBody>
      </p:sp>
      <p:sp>
        <p:nvSpPr>
          <p:cNvPr id="3" name="blk0114"/>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arm, exactly as in the previous three projects:</a:t>
            </a:r>
          </a:p>
        </p:txBody>
      </p:sp>
      <p:sp>
        <p:nvSpPr>
          <p:cNvPr id="4" name="blk0115"/>
          <p:cNvSpPr/>
          <p:nvPr/>
        </p:nvSpPr>
        <p:spPr>
          <a:xfrm>
            <a:off x="687600" y="2304000"/>
            <a:ext cx="8686800" cy="572170"/>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15"/>
          <p:cNvSpPr txBox="1"/>
          <p:nvPr/>
        </p:nvSpPr>
        <p:spPr>
          <a:xfrm>
            <a:off x="910799" y="2466000"/>
            <a:ext cx="8240400" cy="248170"/>
          </a:xfrm>
          <a:prstGeom prst="rect">
            <a:avLst/>
          </a:prstGeom>
          <a:noFill/>
        </p:spPr>
        <p:txBody>
          <a:bodyPr wrap="square" anchor="t" lIns="0" rIns="0" tIns="0" bIns="0">
            <a:noAutofit/>
          </a:bodyPr>
          <a:lstStyle/>
          <a:p>
            <a:pPr algn="l">
              <a:lnSpc>
                <a:spcPct val="115000"/>
              </a:lnSpc>
            </a:pPr>
            <a:r>
              <a:rPr sz="1500" b="0" i="0">
                <a:solidFill>
                  <a:srgbClr val="FFFFFF"/>
                </a:solidFill>
                <a:latin typeface="Courier New"/>
                <a:ea typeface="Courier New"/>
                <a:cs typeface="Courier New"/>
                <a:sym typeface="Courier New"/>
              </a:rPr>
              <a:t>from pymycobot.mycobot280 import MyCobot280</a:t>
            </a:r>
          </a:p>
        </p:txBody>
      </p:sp>
      <p:sp>
        <p:nvSpPr>
          <p:cNvPr id="6" name="blk0116"/>
          <p:cNvSpPr txBox="1"/>
          <p:nvPr/>
        </p:nvSpPr>
        <p:spPr>
          <a:xfrm>
            <a:off x="687600" y="3024000"/>
            <a:ext cx="7542000" cy="460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Then the two lines of setup that are not a TODO but which you should read carefully anyway:</a:t>
            </a:r>
          </a:p>
        </p:txBody>
      </p:sp>
      <p:sp>
        <p:nvSpPr>
          <p:cNvPr id="7" name="blk0117"/>
          <p:cNvSpPr/>
          <p:nvPr/>
        </p:nvSpPr>
        <p:spPr>
          <a:xfrm>
            <a:off x="687600" y="3960000"/>
            <a:ext cx="8686800" cy="177166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17"/>
          <p:cNvSpPr txBox="1"/>
          <p:nvPr/>
        </p:nvSpPr>
        <p:spPr>
          <a:xfrm>
            <a:off x="910799" y="4121999"/>
            <a:ext cx="8240400" cy="1447663"/>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mc = MyCobot280('/dev/ttyAMA0', 1000000)</a:t>
            </a:r>
          </a:p>
          <a:p>
            <a:pPr algn="l">
              <a:lnSpc>
                <a:spcPct val="115000"/>
              </a:lnSpc>
            </a:pPr>
            <a:r>
              <a:rPr sz="1250" b="0" i="0">
                <a:solidFill>
                  <a:srgbClr val="FFFFFF"/>
                </a:solidFill>
                <a:latin typeface="Courier New"/>
                <a:ea typeface="Courier New"/>
                <a:cs typeface="Courier New"/>
                <a:sym typeface="Courier New"/>
              </a:rPr>
              <a:t>time.sleep(0.5)</a:t>
            </a:r>
          </a:p>
          <a:p>
            <a:pPr algn="l">
              <a:lnSpc>
                <a:spcPct val="115000"/>
              </a:lnSpc>
            </a:pPr>
            <a:r>
              <a:rPr sz="1250" b="0" i="0">
                <a:solidFill>
                  <a:srgbClr val="FFFFFF"/>
                </a:solidFill>
                <a:latin typeface="Courier New"/>
                <a:ea typeface="Courier New"/>
                <a:cs typeface="Courier New"/>
                <a:sym typeface="Courier New"/>
              </a:rPr>
              <a:t/>
            </a:r>
          </a:p>
          <a:p>
            <a:pPr algn="l">
              <a:lnSpc>
                <a:spcPct val="115000"/>
              </a:lnSpc>
            </a:pPr>
            <a:r>
              <a:rPr sz="1250" b="0" i="0">
                <a:solidFill>
                  <a:srgbClr val="FFFFFF"/>
                </a:solidFill>
                <a:latin typeface="Courier New"/>
                <a:ea typeface="Courier New"/>
                <a:cs typeface="Courier New"/>
                <a:sym typeface="Courier New"/>
              </a:rPr>
              <a:t>X_MIN, X_MAX = 130, 250   # Forward / Backward range</a:t>
            </a:r>
          </a:p>
          <a:p>
            <a:pPr algn="l">
              <a:lnSpc>
                <a:spcPct val="115000"/>
              </a:lnSpc>
            </a:pPr>
            <a:r>
              <a:rPr sz="1250" b="0" i="0">
                <a:solidFill>
                  <a:srgbClr val="FFFFFF"/>
                </a:solidFill>
                <a:latin typeface="Courier New"/>
                <a:ea typeface="Courier New"/>
                <a:cs typeface="Courier New"/>
                <a:sym typeface="Courier New"/>
              </a:rPr>
              <a:t>Y_MIN, Y_MAX = -160, 160  # Left / Right range</a:t>
            </a:r>
          </a:p>
          <a:p>
            <a:pPr algn="l">
              <a:lnSpc>
                <a:spcPct val="115000"/>
              </a:lnSpc>
            </a:pPr>
            <a:r>
              <a:rPr sz="1250" b="0" i="0">
                <a:solidFill>
                  <a:srgbClr val="FFFFFF"/>
                </a:solidFill>
                <a:latin typeface="Courier New"/>
                <a:ea typeface="Courier New"/>
                <a:cs typeface="Courier New"/>
                <a:sym typeface="Courier New"/>
              </a:rPr>
              <a:t>Z_HEIGHT = 180            # Fixed height above surface (mm)</a:t>
            </a:r>
          </a:p>
          <a:p>
            <a:pPr algn="l">
              <a:lnSpc>
                <a:spcPct val="115000"/>
              </a:lnSpc>
            </a:pPr>
            <a:r>
              <a:rPr sz="1250" b="0" i="0">
                <a:solidFill>
                  <a:srgbClr val="FFFFFF"/>
                </a:solidFill>
                <a:latin typeface="Courier New"/>
                <a:ea typeface="Courier New"/>
                <a:cs typeface="Courier New"/>
                <a:sym typeface="Courier New"/>
              </a:rPr>
              <a:t>ARM_SPEED = 50            # Movement speed (1-100)</a:t>
            </a:r>
          </a:p>
        </p:txBody>
      </p:sp>
      <p:sp>
        <p:nvSpPr>
          <p:cNvPr id="9" name="blk0118"/>
          <p:cNvSpPr txBox="1"/>
          <p:nvPr/>
        </p:nvSpPr>
        <p:spPr>
          <a:xfrm>
            <a:off x="687600" y="6263999"/>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workspace numbers sit at the top so every later calculation uses them once. The half-second sleep lets the arm finish booting after the serial port opens — a command to a still-starting robot is a classic lost first command.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1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Copy it, and start it once</a:t>
            </a:r>
          </a:p>
        </p:txBody>
      </p:sp>
      <p:sp>
        <p:nvSpPr>
          <p:cNvPr id="3" name="blk0120"/>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One file this time — but the arm must be powered on and plugged in before you run anything:</a:t>
            </a:r>
          </a:p>
        </p:txBody>
      </p:sp>
      <p:sp>
        <p:nvSpPr>
          <p:cNvPr id="4" name="blk0121"/>
          <p:cNvSpPr txBox="1"/>
          <p:nvPr/>
        </p:nvSpPr>
        <p:spPr>
          <a:xfrm>
            <a:off x="687600" y="2448000"/>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scp M2-P4-Starter.py er@192.168.1.149:Documents</a:t>
            </a:r>
          </a:p>
        </p:txBody>
      </p:sp>
      <p:sp>
        <p:nvSpPr>
          <p:cNvPr id="5" name="blk0122"/>
          <p:cNvSpPr txBox="1"/>
          <p:nvPr/>
        </p:nvSpPr>
        <p:spPr>
          <a:xfrm>
            <a:off x="687600" y="3311999"/>
            <a:ext cx="8686800" cy="324000"/>
          </a:xfrm>
          <a:prstGeom prst="rect">
            <a:avLst/>
          </a:prstGeom>
          <a:noFill/>
        </p:spPr>
        <p:txBody>
          <a:bodyPr wrap="square" anchor="t" lIns="0" rIns="0" tIns="0" bIns="0">
            <a:noAutofit/>
          </a:bodyPr>
          <a:lstStyle/>
          <a:p>
            <a:pPr algn="l">
              <a:lnSpc>
                <a:spcPct val="115000"/>
              </a:lnSpc>
            </a:pPr>
            <a:r>
              <a:rPr sz="2000" b="0" i="0">
                <a:solidFill>
                  <a:srgbClr val="FFFFFF"/>
                </a:solidFill>
                <a:latin typeface="Courier New"/>
                <a:ea typeface="Courier New"/>
                <a:cs typeface="Courier New"/>
                <a:sym typeface="Courier New"/>
              </a:rPr>
              <a:t>python M2-P4-Starter.py</a:t>
            </a:r>
          </a:p>
        </p:txBody>
      </p:sp>
      <p:sp>
        <p:nvSpPr>
          <p:cNvPr id="6" name="blk0123"/>
          <p:cNvSpPr txBox="1"/>
          <p:nvPr/>
        </p:nvSpPr>
        <p:spPr>
          <a:xfrm>
            <a:off x="687600" y="4176000"/>
            <a:ext cx="7542000" cy="345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Run it now, with every vision TODO still empty. Expect this:</a:t>
            </a:r>
          </a:p>
        </p:txBody>
      </p:sp>
      <p:sp>
        <p:nvSpPr>
          <p:cNvPr id="7" name="blk0124"/>
          <p:cNvSpPr/>
          <p:nvPr/>
        </p:nvSpPr>
        <p:spPr>
          <a:xfrm>
            <a:off x="687600" y="4901829"/>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24"/>
          <p:cNvSpPr txBox="1"/>
          <p:nvPr/>
        </p:nvSpPr>
        <p:spPr>
          <a:xfrm>
            <a:off x="910799" y="5063828"/>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Traceback (most recent call last):</a:t>
            </a:r>
          </a:p>
          <a:p>
            <a:pPr algn="l">
              <a:lnSpc>
                <a:spcPct val="115000"/>
              </a:lnSpc>
            </a:pPr>
            <a:r>
              <a:rPr sz="1250" b="0" i="0">
                <a:solidFill>
                  <a:srgbClr val="FFFFFF"/>
                </a:solidFill>
                <a:latin typeface="Courier New"/>
                <a:ea typeface="Courier New"/>
                <a:cs typeface="Courier New"/>
                <a:sym typeface="Courier New"/>
              </a:rPr>
              <a:t>  File "M2-P4-Starter.py", line 63, in &lt;module&gt;</a:t>
            </a:r>
          </a:p>
          <a:p>
            <a:pPr algn="l">
              <a:lnSpc>
                <a:spcPct val="115000"/>
              </a:lnSpc>
            </a:pPr>
            <a:r>
              <a:rPr sz="1250" b="0" i="0">
                <a:solidFill>
                  <a:srgbClr val="FFFFFF"/>
                </a:solidFill>
                <a:latin typeface="Courier New"/>
                <a:ea typeface="Courier New"/>
                <a:cs typeface="Courier New"/>
                <a:sym typeface="Courier New"/>
              </a:rPr>
              <a:t>    while cap.isOpened():</a:t>
            </a:r>
          </a:p>
          <a:p>
            <a:pPr algn="l">
              <a:lnSpc>
                <a:spcPct val="115000"/>
              </a:lnSpc>
            </a:pPr>
            <a:r>
              <a:rPr sz="1250" b="0" i="0">
                <a:solidFill>
                  <a:srgbClr val="FFFFFF"/>
                </a:solidFill>
                <a:latin typeface="Courier New"/>
                <a:ea typeface="Courier New"/>
                <a:cs typeface="Courier New"/>
                <a:sym typeface="Courier New"/>
              </a:rPr>
              <a:t>NameError: name 'cap' is not defined</a:t>
            </a:r>
          </a:p>
        </p:txBody>
      </p:sp>
      <p:sp>
        <p:nvSpPr>
          <p:cNvPr id="9" name="blk0125"/>
          <p:cNvSpPr txBox="1"/>
          <p:nvPr/>
        </p:nvSpPr>
        <p:spPr>
          <a:xfrm>
            <a:off x="687600" y="6161065"/>
            <a:ext cx="7542000" cy="179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TODO stayed empty, so </a:t>
            </a:r>
            <a:r>
              <a:rPr sz="1743" b="0" i="0">
                <a:solidFill>
                  <a:srgbClr val="FFFFFF"/>
                </a:solidFill>
                <a:latin typeface="Courier New"/>
                <a:ea typeface="Courier New"/>
                <a:cs typeface="Courier New"/>
                <a:sym typeface="Courier New"/>
              </a:rPr>
              <a:t>cap</a:t>
            </a:r>
            <a:r>
              <a:rPr sz="2027" b="0" i="0">
                <a:solidFill>
                  <a:srgbClr val="FFFFFF"/>
                </a:solidFill>
                <a:latin typeface="Avenir"/>
                <a:ea typeface="Avenir"/>
                <a:cs typeface="Avenir"/>
                <a:sym typeface="Avenir"/>
              </a:rPr>
              <a:t> was never created and the loop asked for it anyway.</a:t>
            </a:r>
          </a:p>
        </p:txBody>
      </p:sp>
      <p:sp>
        <p:nvSpPr>
          <p:cNvPr id="10" name="blk0126"/>
          <p:cNvSpPr txBox="1"/>
          <p:nvPr/>
        </p:nvSpPr>
        <p:spPr>
          <a:xfrm>
            <a:off x="687600" y="6886895"/>
            <a:ext cx="7542000" cy="648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A serial error at line 16 means the arm is not there. Power it on and run again before changing any code.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27"/>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3</a:t>
            </a:r>
          </a:p>
        </p:txBody>
      </p:sp>
      <p:sp>
        <p:nvSpPr>
          <p:cNvPr id="3" name="blk0128"/>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lines to name the parts of MediaPipe you will use, then the model itself:</a:t>
            </a:r>
          </a:p>
        </p:txBody>
      </p:sp>
      <p:sp>
        <p:nvSpPr>
          <p:cNvPr id="4" name="blk0129"/>
          <p:cNvSpPr/>
          <p:nvPr/>
        </p:nvSpPr>
        <p:spPr>
          <a:xfrm>
            <a:off x="687600" y="2664000"/>
            <a:ext cx="8686800" cy="21852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29"/>
          <p:cNvSpPr txBox="1"/>
          <p:nvPr/>
        </p:nvSpPr>
        <p:spPr>
          <a:xfrm>
            <a:off x="910799" y="2826000"/>
            <a:ext cx="8240400" cy="1861281"/>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mp_hands = mp.solutions.hands</a:t>
            </a:r>
          </a:p>
          <a:p>
            <a:pPr algn="l">
              <a:lnSpc>
                <a:spcPct val="115000"/>
              </a:lnSpc>
            </a:pPr>
            <a:r>
              <a:rPr sz="1250" b="0" i="0">
                <a:solidFill>
                  <a:srgbClr val="FFFFFF"/>
                </a:solidFill>
                <a:latin typeface="Courier New"/>
                <a:ea typeface="Courier New"/>
                <a:cs typeface="Courier New"/>
                <a:sym typeface="Courier New"/>
              </a:rPr>
              <a:t>mp_drawing = mp.solutions.drawing_utils</a:t>
            </a:r>
          </a:p>
          <a:p>
            <a:pPr algn="l">
              <a:lnSpc>
                <a:spcPct val="115000"/>
              </a:lnSpc>
            </a:pPr>
            <a:r>
              <a:rPr sz="1250" b="0" i="0">
                <a:solidFill>
                  <a:srgbClr val="FFFFFF"/>
                </a:solidFill>
                <a:latin typeface="Courier New"/>
                <a:ea typeface="Courier New"/>
                <a:cs typeface="Courier New"/>
                <a:sym typeface="Courier New"/>
              </a:rPr>
              <a:t/>
            </a:r>
          </a:p>
          <a:p>
            <a:pPr algn="l">
              <a:lnSpc>
                <a:spcPct val="115000"/>
              </a:lnSpc>
            </a:pPr>
            <a:r>
              <a:rPr sz="1250" b="0" i="0">
                <a:solidFill>
                  <a:srgbClr val="FFFFFF"/>
                </a:solidFill>
                <a:latin typeface="Courier New"/>
                <a:ea typeface="Courier New"/>
                <a:cs typeface="Courier New"/>
                <a:sym typeface="Courier New"/>
              </a:rPr>
              <a:t>hands = mp_hands.Hands(</a:t>
            </a:r>
          </a:p>
          <a:p>
            <a:pPr algn="l">
              <a:lnSpc>
                <a:spcPct val="115000"/>
              </a:lnSpc>
            </a:pPr>
            <a:r>
              <a:rPr sz="1250" b="0" i="0">
                <a:solidFill>
                  <a:srgbClr val="FFFFFF"/>
                </a:solidFill>
                <a:latin typeface="Courier New"/>
                <a:ea typeface="Courier New"/>
                <a:cs typeface="Courier New"/>
                <a:sym typeface="Courier New"/>
              </a:rPr>
              <a:t>    static_image_mode=False,</a:t>
            </a:r>
          </a:p>
          <a:p>
            <a:pPr algn="l">
              <a:lnSpc>
                <a:spcPct val="115000"/>
              </a:lnSpc>
            </a:pPr>
            <a:r>
              <a:rPr sz="1250" b="0" i="0">
                <a:solidFill>
                  <a:srgbClr val="FFFFFF"/>
                </a:solidFill>
                <a:latin typeface="Courier New"/>
                <a:ea typeface="Courier New"/>
                <a:cs typeface="Courier New"/>
                <a:sym typeface="Courier New"/>
              </a:rPr>
              <a:t>    max_num_hands=1,</a:t>
            </a:r>
          </a:p>
          <a:p>
            <a:pPr algn="l">
              <a:lnSpc>
                <a:spcPct val="115000"/>
              </a:lnSpc>
            </a:pPr>
            <a:r>
              <a:rPr sz="1250" b="0" i="0">
                <a:solidFill>
                  <a:srgbClr val="FFFFFF"/>
                </a:solidFill>
                <a:latin typeface="Courier New"/>
                <a:ea typeface="Courier New"/>
                <a:cs typeface="Courier New"/>
                <a:sym typeface="Courier New"/>
              </a:rPr>
              <a:t>    min_detection_confidence=0.7,</a:t>
            </a:r>
          </a:p>
          <a:p>
            <a:pPr algn="l">
              <a:lnSpc>
                <a:spcPct val="115000"/>
              </a:lnSpc>
            </a:pPr>
            <a:r>
              <a:rPr sz="1250" b="0" i="0">
                <a:solidFill>
                  <a:srgbClr val="FFFFFF"/>
                </a:solidFill>
                <a:latin typeface="Courier New"/>
                <a:ea typeface="Courier New"/>
                <a:cs typeface="Courier New"/>
                <a:sym typeface="Courier New"/>
              </a:rPr>
              <a:t>    min_tracking_confidence=0.7</a:t>
            </a:r>
          </a:p>
          <a:p>
            <a:pPr algn="l">
              <a:lnSpc>
                <a:spcPct val="115000"/>
              </a:lnSpc>
            </a:pPr>
            <a:r>
              <a:rPr sz="1250" b="0" i="0">
                <a:solidFill>
                  <a:srgbClr val="FFFFFF"/>
                </a:solidFill>
                <a:latin typeface="Courier New"/>
                <a:ea typeface="Courier New"/>
                <a:cs typeface="Courier New"/>
                <a:sym typeface="Courier New"/>
              </a:rPr>
              <a:t>)</a:t>
            </a:r>
          </a:p>
        </p:txBody>
      </p:sp>
      <p:sp>
        <p:nvSpPr>
          <p:cNvPr id="6" name="blk0130"/>
          <p:cNvSpPr txBox="1"/>
          <p:nvPr/>
        </p:nvSpPr>
        <p:spPr>
          <a:xfrm>
            <a:off x="687600" y="5184000"/>
            <a:ext cx="7542000" cy="244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first two lines are shortcuts so the rest of the file can say </a:t>
            </a:r>
            <a:r>
              <a:rPr sz="1743" b="0" i="0">
                <a:solidFill>
                  <a:srgbClr val="FFFFFF"/>
                </a:solidFill>
                <a:latin typeface="Courier New"/>
                <a:ea typeface="Courier New"/>
                <a:cs typeface="Courier New"/>
                <a:sym typeface="Courier New"/>
              </a:rPr>
              <a:t>mp_hands</a:t>
            </a:r>
            <a:r>
              <a:rPr sz="2027" b="0" i="0">
                <a:solidFill>
                  <a:srgbClr val="FFFFFF"/>
                </a:solidFill>
                <a:latin typeface="Avenir"/>
                <a:ea typeface="Avenir"/>
                <a:cs typeface="Avenir"/>
                <a:sym typeface="Avenir"/>
              </a:rPr>
              <a:t> instead of </a:t>
            </a:r>
            <a:r>
              <a:rPr sz="1743" b="0" i="0">
                <a:solidFill>
                  <a:srgbClr val="FFFFFF"/>
                </a:solidFill>
                <a:latin typeface="Courier New"/>
                <a:ea typeface="Courier New"/>
                <a:cs typeface="Courier New"/>
                <a:sym typeface="Courier New"/>
              </a:rPr>
              <a:t>mp.solutions.hands</a:t>
            </a:r>
            <a:r>
              <a:rPr sz="2027" b="0" i="0">
                <a:solidFill>
                  <a:srgbClr val="FFFFFF"/>
                </a:solidFill>
                <a:latin typeface="Avenir"/>
                <a:ea typeface="Avenir"/>
                <a:cs typeface="Avenir"/>
                <a:sym typeface="Avenir"/>
              </a:rPr>
              <a:t>. This is the first project in the module to use MediaPipe, and Project 6 will use it again the same way.</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4</a:t>
            </a:r>
          </a:p>
        </p:txBody>
      </p:sp>
      <p:sp>
        <p:nvSpPr>
          <p:cNvPr id="3" name="blk013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camera, the same three lines as Project 3:</a:t>
            </a:r>
          </a:p>
        </p:txBody>
      </p:sp>
      <p:sp>
        <p:nvSpPr>
          <p:cNvPr id="4" name="blk0133"/>
          <p:cNvSpPr/>
          <p:nvPr/>
        </p:nvSpPr>
        <p:spPr>
          <a:xfrm>
            <a:off x="687600" y="2304000"/>
            <a:ext cx="8686800" cy="96924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3"/>
          <p:cNvSpPr txBox="1"/>
          <p:nvPr/>
        </p:nvSpPr>
        <p:spPr>
          <a:xfrm>
            <a:off x="910799" y="2466000"/>
            <a:ext cx="8240400" cy="645244"/>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cap = cv2.VideoCapture(0)</a:t>
            </a:r>
          </a:p>
          <a:p>
            <a:pPr algn="l">
              <a:lnSpc>
                <a:spcPct val="115000"/>
              </a:lnSpc>
            </a:pPr>
            <a:r>
              <a:rPr sz="1300" b="0" i="0">
                <a:solidFill>
                  <a:srgbClr val="FFFFFF"/>
                </a:solidFill>
                <a:latin typeface="Courier New"/>
                <a:ea typeface="Courier New"/>
                <a:cs typeface="Courier New"/>
                <a:sym typeface="Courier New"/>
              </a:rPr>
              <a:t>cap.set(cv2.CAP_PROP_FRAME_WIDTH, 640)</a:t>
            </a:r>
          </a:p>
          <a:p>
            <a:pPr algn="l">
              <a:lnSpc>
                <a:spcPct val="115000"/>
              </a:lnSpc>
            </a:pPr>
            <a:r>
              <a:rPr sz="1300" b="0" i="0">
                <a:solidFill>
                  <a:srgbClr val="FFFFFF"/>
                </a:solidFill>
                <a:latin typeface="Courier New"/>
                <a:ea typeface="Courier New"/>
                <a:cs typeface="Courier New"/>
                <a:sym typeface="Courier New"/>
              </a:rPr>
              <a:t>cap.set(cv2.CAP_PROP_FRAME_HEIGHT, 480)</a:t>
            </a:r>
          </a:p>
        </p:txBody>
      </p:sp>
      <p:sp>
        <p:nvSpPr>
          <p:cNvPr id="6" name="blk0134"/>
          <p:cNvSpPr txBox="1"/>
          <p:nvPr/>
        </p:nvSpPr>
        <p:spPr>
          <a:xfrm>
            <a:off x="687600" y="3671999"/>
            <a:ext cx="7542000" cy="39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Nothing to think about here beyond one point: the resolution you ask for is not a promise. Some cameras give you 640 by 480, some ignore the request, and that is fine.</a:t>
            </a:r>
          </a:p>
          <a:p>
            <a:pPr algn="l">
              <a:lnSpc>
                <a:spcPct val="100000"/>
              </a:lnSpc>
            </a:pPr>
            <a:r>
              <a:rPr sz="2027" b="0" i="0">
                <a:solidFill>
                  <a:srgbClr val="FFFFFF"/>
                </a:solidFill>
                <a:latin typeface="Avenir"/>
                <a:ea typeface="Avenir"/>
                <a:cs typeface="Avenir"/>
                <a:sym typeface="Avenir"/>
              </a:rPr>
              <a:t>It is fine because everything downstream works in fractions. MediaPipe does not care what the frame is called, and the code never multiplies a landmark by a width.</a:t>
            </a:r>
          </a:p>
        </p:txBody>
      </p:sp>
      <p:sp>
        <p:nvSpPr>
          <p:cNvPr id="7" name="blk0135"/>
          <p:cNvSpPr txBox="1"/>
          <p:nvPr/>
        </p:nvSpPr>
        <p:spPr>
          <a:xfrm>
            <a:off x="687600" y="5633487"/>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That is the payoff for the choice on slide eight. In Project 3 you had to know the pixel size, because the detector returned pixel coordinates. Here you never do, so this step cannot be the reason the program fails later.</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3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5</a:t>
            </a:r>
          </a:p>
        </p:txBody>
      </p:sp>
      <p:sp>
        <p:nvSpPr>
          <p:cNvPr id="3" name="blk013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mapping function, the whole of it:</a:t>
            </a:r>
          </a:p>
        </p:txBody>
      </p:sp>
      <p:sp>
        <p:nvSpPr>
          <p:cNvPr id="4" name="blk0138"/>
          <p:cNvSpPr/>
          <p:nvPr/>
        </p:nvSpPr>
        <p:spPr>
          <a:xfrm>
            <a:off x="687600" y="2304000"/>
            <a:ext cx="8686800" cy="1151236"/>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38"/>
          <p:cNvSpPr txBox="1"/>
          <p:nvPr/>
        </p:nvSpPr>
        <p:spPr>
          <a:xfrm>
            <a:off x="910799" y="2466000"/>
            <a:ext cx="8240400" cy="827236"/>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map_value(value, in_min, in_max, out_min, out_max):</a:t>
            </a:r>
          </a:p>
          <a:p>
            <a:pPr algn="l">
              <a:lnSpc>
                <a:spcPct val="115000"/>
              </a:lnSpc>
            </a:pPr>
            <a:r>
              <a:rPr sz="1250" b="0" i="0">
                <a:solidFill>
                  <a:srgbClr val="FFFFFF"/>
                </a:solidFill>
                <a:latin typeface="Courier New"/>
                <a:ea typeface="Courier New"/>
                <a:cs typeface="Courier New"/>
                <a:sym typeface="Courier New"/>
              </a:rPr>
              <a:t>    """Maps a value from one range to another and clamps it."""</a:t>
            </a:r>
          </a:p>
          <a:p>
            <a:pPr algn="l">
              <a:lnSpc>
                <a:spcPct val="115000"/>
              </a:lnSpc>
            </a:pPr>
            <a:r>
              <a:rPr sz="1250" b="0" i="0">
                <a:solidFill>
                  <a:srgbClr val="FFFFFF"/>
                </a:solidFill>
                <a:latin typeface="Courier New"/>
                <a:ea typeface="Courier New"/>
                <a:cs typeface="Courier New"/>
                <a:sym typeface="Courier New"/>
              </a:rPr>
              <a:t>    clamped_val = max(in_min, min(in_max, value))</a:t>
            </a:r>
          </a:p>
          <a:p>
            <a:pPr algn="l">
              <a:lnSpc>
                <a:spcPct val="115000"/>
              </a:lnSpc>
            </a:pPr>
            <a:r>
              <a:rPr sz="1250" b="0" i="0">
                <a:solidFill>
                  <a:srgbClr val="FFFFFF"/>
                </a:solidFill>
                <a:latin typeface="Courier New"/>
                <a:ea typeface="Courier New"/>
                <a:cs typeface="Courier New"/>
                <a:sym typeface="Courier New"/>
              </a:rPr>
              <a:t>    return out_min + (clamped_val - in_min) * (out_max - out_min) / (in_max - in_min)</a:t>
            </a:r>
          </a:p>
        </p:txBody>
      </p:sp>
      <p:sp>
        <p:nvSpPr>
          <p:cNvPr id="6" name="blk0139"/>
          <p:cNvSpPr txBox="1"/>
          <p:nvPr/>
        </p:nvSpPr>
        <p:spPr>
          <a:xfrm>
            <a:off x="687600" y="4464000"/>
            <a:ext cx="7542000" cy="316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Do not simplify the return line. The whole expression is one line in the file and it is worth typing exactly.</a:t>
            </a:r>
          </a:p>
        </p:txBody>
      </p:sp>
      <p:sp>
        <p:nvSpPr>
          <p:cNvPr id="7" name="blk0140"/>
          <p:cNvSpPr txBox="1"/>
          <p:nvPr/>
        </p:nvSpPr>
        <p:spPr>
          <a:xfrm>
            <a:off x="687600" y="518982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If you want to be sure it is right, test it away from the robot: map_value(0.5, 0.2, 0.8, 130, 250) is 190, the middle of the range. map_value(0.9, 0.2, 0.8, 130, 250) is still 250, because of the clamp. Those two numbers are worth being able to produce on request.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6</a:t>
            </a:r>
          </a:p>
        </p:txBody>
      </p:sp>
      <p:sp>
        <p:nvSpPr>
          <p:cNvPr id="3" name="blk014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distance function. Three lines, and the middle one is a docstring that you should keep:</a:t>
            </a:r>
          </a:p>
        </p:txBody>
      </p:sp>
      <p:sp>
        <p:nvSpPr>
          <p:cNvPr id="4" name="blk0143"/>
          <p:cNvSpPr/>
          <p:nvPr/>
        </p:nvSpPr>
        <p:spPr>
          <a:xfrm>
            <a:off x="687600" y="3024000"/>
            <a:ext cx="8686800" cy="944427"/>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3"/>
          <p:cNvSpPr txBox="1"/>
          <p:nvPr/>
        </p:nvSpPr>
        <p:spPr>
          <a:xfrm>
            <a:off x="910799" y="3186000"/>
            <a:ext cx="8240400" cy="620427"/>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def calculate_distance(p1, p2):</a:t>
            </a:r>
          </a:p>
          <a:p>
            <a:pPr algn="l">
              <a:lnSpc>
                <a:spcPct val="115000"/>
              </a:lnSpc>
            </a:pPr>
            <a:r>
              <a:rPr sz="1250" b="0" i="0">
                <a:solidFill>
                  <a:srgbClr val="FFFFFF"/>
                </a:solidFill>
                <a:latin typeface="Courier New"/>
                <a:ea typeface="Courier New"/>
                <a:cs typeface="Courier New"/>
                <a:sym typeface="Courier New"/>
              </a:rPr>
              <a:t>    """Calculates 2D Euclidean distance between two MediaPipe landmarks."""</a:t>
            </a:r>
          </a:p>
          <a:p>
            <a:pPr algn="l">
              <a:lnSpc>
                <a:spcPct val="115000"/>
              </a:lnSpc>
            </a:pPr>
            <a:r>
              <a:rPr sz="1250" b="0" i="0">
                <a:solidFill>
                  <a:srgbClr val="FFFFFF"/>
                </a:solidFill>
                <a:latin typeface="Courier New"/>
                <a:ea typeface="Courier New"/>
                <a:cs typeface="Courier New"/>
                <a:sym typeface="Courier New"/>
              </a:rPr>
              <a:t>    return math.hypot(p1.x - p2.x, p1.y - p2.y)</a:t>
            </a:r>
          </a:p>
        </p:txBody>
      </p:sp>
      <p:sp>
        <p:nvSpPr>
          <p:cNvPr id="6" name="blk0144"/>
          <p:cNvSpPr txBox="1"/>
          <p:nvPr/>
        </p:nvSpPr>
        <p:spPr>
          <a:xfrm>
            <a:off x="687600" y="4536000"/>
            <a:ext cx="7542000" cy="309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This is the first project where a helper takes MediaPipe objects as arguments. It works because a landmark has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and </a:t>
            </a:r>
            <a:r>
              <a:rPr sz="1743" b="0" i="0">
                <a:solidFill>
                  <a:srgbClr val="FFFFFF"/>
                </a:solidFill>
                <a:latin typeface="Courier New"/>
                <a:ea typeface="Courier New"/>
                <a:cs typeface="Courier New"/>
                <a:sym typeface="Courier New"/>
              </a:rPr>
              <a:t>.y</a:t>
            </a:r>
            <a:r>
              <a:rPr sz="2027" b="0" i="0">
                <a:solidFill>
                  <a:srgbClr val="FFFFFF"/>
                </a:solidFill>
                <a:latin typeface="Avenir"/>
                <a:ea typeface="Avenir"/>
                <a:cs typeface="Avenir"/>
                <a:sym typeface="Avenir"/>
              </a:rPr>
              <a:t> on it, so this function never needs to know what it is measuring.</a:t>
            </a:r>
          </a:p>
        </p:txBody>
      </p:sp>
      <p:sp>
        <p:nvSpPr>
          <p:cNvPr id="7" name="blk0145"/>
          <p:cNvSpPr txBox="1"/>
          <p:nvPr/>
        </p:nvSpPr>
        <p:spPr>
          <a:xfrm>
            <a:off x="687600" y="587965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independent guesses about what the arguments are will both fail loudly and differently: forget the parentheses and you get a TypeError about missing arguments; pass two whole hands instead of two landmarks and you get an AttributeError about .x. Both messages point straight at this function.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4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7</a:t>
            </a:r>
          </a:p>
        </p:txBody>
      </p:sp>
      <p:sp>
        <p:nvSpPr>
          <p:cNvPr id="3" name="blk014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Reading the frame, flipping it, converting it, and asking MediaPipe. Five lines, in that order:</a:t>
            </a:r>
          </a:p>
        </p:txBody>
      </p:sp>
      <p:sp>
        <p:nvSpPr>
          <p:cNvPr id="4" name="blk0148"/>
          <p:cNvSpPr/>
          <p:nvPr/>
        </p:nvSpPr>
        <p:spPr>
          <a:xfrm>
            <a:off x="687600" y="2880000"/>
            <a:ext cx="8686800" cy="21852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48"/>
          <p:cNvSpPr txBox="1"/>
          <p:nvPr/>
        </p:nvSpPr>
        <p:spPr>
          <a:xfrm>
            <a:off x="910799" y="3041999"/>
            <a:ext cx="8240400" cy="1861281"/>
          </a:xfrm>
          <a:prstGeom prst="rect">
            <a:avLst/>
          </a:prstGeom>
          <a:noFill/>
        </p:spPr>
        <p:txBody>
          <a:bodyPr wrap="square" anchor="t" lIns="0" rIns="0" tIns="0" bIns="0">
            <a:noAutofit/>
          </a:bodyPr>
          <a:lstStyle/>
          <a:p>
            <a:pPr algn="l">
              <a:lnSpc>
                <a:spcPct val="115000"/>
              </a:lnSpc>
            </a:pPr>
            <a:r>
              <a:rPr sz="1250" b="0" i="0">
                <a:solidFill>
                  <a:srgbClr val="FFFFFF"/>
                </a:solidFill>
                <a:latin typeface="Courier New"/>
                <a:ea typeface="Courier New"/>
                <a:cs typeface="Courier New"/>
                <a:sym typeface="Courier New"/>
              </a:rPr>
              <a:t>        success, frame = cap.read()</a:t>
            </a:r>
          </a:p>
          <a:p>
            <a:pPr algn="l">
              <a:lnSpc>
                <a:spcPct val="115000"/>
              </a:lnSpc>
            </a:pPr>
            <a:r>
              <a:rPr sz="1250" b="0" i="0">
                <a:solidFill>
                  <a:srgbClr val="FFFFFF"/>
                </a:solidFill>
                <a:latin typeface="Courier New"/>
                <a:ea typeface="Courier New"/>
                <a:cs typeface="Courier New"/>
                <a:sym typeface="Courier New"/>
              </a:rPr>
              <a:t>        if not success:</a:t>
            </a:r>
          </a:p>
          <a:p>
            <a:pPr algn="l">
              <a:lnSpc>
                <a:spcPct val="115000"/>
              </a:lnSpc>
            </a:pPr>
            <a:r>
              <a:rPr sz="1250" b="0" i="0">
                <a:solidFill>
                  <a:srgbClr val="FFFFFF"/>
                </a:solidFill>
                <a:latin typeface="Courier New"/>
                <a:ea typeface="Courier New"/>
                <a:cs typeface="Courier New"/>
                <a:sym typeface="Courier New"/>
              </a:rPr>
              <a:t>            continue</a:t>
            </a:r>
          </a:p>
          <a:p>
            <a:pPr algn="l">
              <a:lnSpc>
                <a:spcPct val="115000"/>
              </a:lnSpc>
            </a:pPr>
            <a:r>
              <a:rPr sz="1250" b="0" i="0">
                <a:solidFill>
                  <a:srgbClr val="FFFFFF"/>
                </a:solidFill>
                <a:latin typeface="Courier New"/>
                <a:ea typeface="Courier New"/>
                <a:cs typeface="Courier New"/>
                <a:sym typeface="Courier New"/>
              </a:rPr>
              <a:t/>
            </a:r>
          </a:p>
          <a:p>
            <a:pPr algn="l">
              <a:lnSpc>
                <a:spcPct val="115000"/>
              </a:lnSpc>
            </a:pPr>
            <a:r>
              <a:rPr sz="1250" b="0" i="0">
                <a:solidFill>
                  <a:srgbClr val="FFFFFF"/>
                </a:solidFill>
                <a:latin typeface="Courier New"/>
                <a:ea typeface="Courier New"/>
                <a:cs typeface="Courier New"/>
                <a:sym typeface="Courier New"/>
              </a:rPr>
              <a:t>        # Flip horizontally for intuitive mirror view</a:t>
            </a:r>
          </a:p>
          <a:p>
            <a:pPr algn="l">
              <a:lnSpc>
                <a:spcPct val="115000"/>
              </a:lnSpc>
            </a:pPr>
            <a:r>
              <a:rPr sz="1250" b="0" i="0">
                <a:solidFill>
                  <a:srgbClr val="FFFFFF"/>
                </a:solidFill>
                <a:latin typeface="Courier New"/>
                <a:ea typeface="Courier New"/>
                <a:cs typeface="Courier New"/>
                <a:sym typeface="Courier New"/>
              </a:rPr>
              <a:t>        frame = cv2.flip(frame, 1)</a:t>
            </a:r>
          </a:p>
          <a:p>
            <a:pPr algn="l">
              <a:lnSpc>
                <a:spcPct val="115000"/>
              </a:lnSpc>
            </a:pPr>
            <a:r>
              <a:rPr sz="1250" b="0" i="0">
                <a:solidFill>
                  <a:srgbClr val="FFFFFF"/>
                </a:solidFill>
                <a:latin typeface="Courier New"/>
                <a:ea typeface="Courier New"/>
                <a:cs typeface="Courier New"/>
                <a:sym typeface="Courier New"/>
              </a:rPr>
              <a:t>        h, w, _ = frame.shape</a:t>
            </a:r>
          </a:p>
          <a:p>
            <a:pPr algn="l">
              <a:lnSpc>
                <a:spcPct val="115000"/>
              </a:lnSpc>
            </a:pPr>
            <a:r>
              <a:rPr sz="1250" b="0" i="0">
                <a:solidFill>
                  <a:srgbClr val="FFFFFF"/>
                </a:solidFill>
                <a:latin typeface="Courier New"/>
                <a:ea typeface="Courier New"/>
                <a:cs typeface="Courier New"/>
                <a:sym typeface="Courier New"/>
              </a:rPr>
              <a:t>        rgb_frame = cv2.cvtColor(frame, cv2.COLOR_BGR2RGB)</a:t>
            </a:r>
          </a:p>
          <a:p>
            <a:pPr algn="l">
              <a:lnSpc>
                <a:spcPct val="115000"/>
              </a:lnSpc>
            </a:pPr>
            <a:r>
              <a:rPr sz="1250" b="0" i="0">
                <a:solidFill>
                  <a:srgbClr val="FFFFFF"/>
                </a:solidFill>
                <a:latin typeface="Courier New"/>
                <a:ea typeface="Courier New"/>
                <a:cs typeface="Courier New"/>
                <a:sym typeface="Courier New"/>
              </a:rPr>
              <a:t>        results = hands.process(rgb_frame)</a:t>
            </a:r>
          </a:p>
        </p:txBody>
      </p:sp>
      <p:sp>
        <p:nvSpPr>
          <p:cNvPr id="6" name="blk0149"/>
          <p:cNvSpPr txBox="1"/>
          <p:nvPr/>
        </p:nvSpPr>
        <p:spPr>
          <a:xfrm>
            <a:off x="687600" y="5472000"/>
            <a:ext cx="7542000" cy="2156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a:t>
            </a:r>
            <a:r>
              <a:rPr sz="1743" b="0" i="0">
                <a:solidFill>
                  <a:srgbClr val="FFFFFF"/>
                </a:solidFill>
                <a:latin typeface="Courier New"/>
                <a:ea typeface="Courier New"/>
                <a:cs typeface="Courier New"/>
                <a:sym typeface="Courier New"/>
              </a:rPr>
              <a:t>continue</a:t>
            </a:r>
            <a:r>
              <a:rPr sz="2027" b="0" i="0">
                <a:solidFill>
                  <a:srgbClr val="FFFFFF"/>
                </a:solidFill>
                <a:latin typeface="Avenir"/>
                <a:ea typeface="Avenir"/>
                <a:cs typeface="Avenir"/>
                <a:sym typeface="Avenir"/>
              </a:rPr>
              <a:t> matters more than it looks: it skips the rest of the loop body and goes straight back for another frame, rather than carrying on with a frame that was never filled in.</a:t>
            </a:r>
          </a:p>
        </p:txBody>
      </p:sp>
      <p:sp>
        <p:nvSpPr>
          <p:cNvPr id="7" name="blk0150"/>
          <p:cNvSpPr txBox="1"/>
          <p:nvPr/>
        </p:nvSpPr>
        <p:spPr>
          <a:xfrm>
            <a:off x="687600" y="6815659"/>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h, w, _ = frame.shape is the Project 1 unpacking, read here because it is the first line in the loop with a frame to measure.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8</a:t>
            </a:r>
          </a:p>
        </p:txBody>
      </p:sp>
      <p:sp>
        <p:nvSpPr>
          <p:cNvPr id="3" name="blk015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Draw the skeleton. One line, and it draws onto </a:t>
            </a:r>
            <a:r>
              <a:rPr sz="1743" b="0" i="0">
                <a:solidFill>
                  <a:srgbClr val="FFFFFF"/>
                </a:solidFill>
                <a:latin typeface="Courier New"/>
                <a:ea typeface="Courier New"/>
                <a:cs typeface="Courier New"/>
                <a:sym typeface="Courier New"/>
              </a:rPr>
              <a:t>frame</a:t>
            </a:r>
            <a:r>
              <a:rPr sz="2027" b="0" i="0">
                <a:solidFill>
                  <a:srgbClr val="FFFFFF"/>
                </a:solidFill>
                <a:latin typeface="Avenir"/>
                <a:ea typeface="Avenir"/>
                <a:cs typeface="Avenir"/>
                <a:sym typeface="Avenir"/>
              </a:rPr>
              <a:t> — not onto </a:t>
            </a:r>
            <a:r>
              <a:rPr sz="1743" b="0" i="0">
                <a:solidFill>
                  <a:srgbClr val="FFFFFF"/>
                </a:solidFill>
                <a:latin typeface="Courier New"/>
                <a:ea typeface="Courier New"/>
                <a:cs typeface="Courier New"/>
                <a:sym typeface="Courier New"/>
              </a:rPr>
              <a:t>rgb_frame</a:t>
            </a:r>
            <a:r>
              <a:rPr sz="2027" b="0" i="0">
                <a:solidFill>
                  <a:srgbClr val="FFFFFF"/>
                </a:solidFill>
                <a:latin typeface="Avenir"/>
                <a:ea typeface="Avenir"/>
                <a:cs typeface="Avenir"/>
                <a:sym typeface="Avenir"/>
              </a:rPr>
              <a:t>:</a:t>
            </a:r>
          </a:p>
        </p:txBody>
      </p:sp>
      <p:sp>
        <p:nvSpPr>
          <p:cNvPr id="4" name="blk0153"/>
          <p:cNvSpPr/>
          <p:nvPr/>
        </p:nvSpPr>
        <p:spPr>
          <a:xfrm>
            <a:off x="687600" y="2736000"/>
            <a:ext cx="8686800" cy="51426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3"/>
          <p:cNvSpPr txBox="1"/>
          <p:nvPr/>
        </p:nvSpPr>
        <p:spPr>
          <a:xfrm>
            <a:off x="910799" y="2897999"/>
            <a:ext cx="8240400" cy="190264"/>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mp_drawing.draw_landmarks(frame, hand_landmarks, mp_hands.HAND_CONNECTIONS)</a:t>
            </a:r>
          </a:p>
        </p:txBody>
      </p:sp>
      <p:sp>
        <p:nvSpPr>
          <p:cNvPr id="6" name="blk0154"/>
          <p:cNvSpPr txBox="1"/>
          <p:nvPr/>
        </p:nvSpPr>
        <p:spPr>
          <a:xfrm>
            <a:off x="687600" y="3744000"/>
            <a:ext cx="7542000" cy="388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Three arguments: the image to draw on, the landmarks, and the list of pairs describing which joints connect to which. The connections list is part of MediaPipe, which is why it is reached through </a:t>
            </a:r>
            <a:r>
              <a:rPr sz="1743" b="0" i="0">
                <a:solidFill>
                  <a:srgbClr val="FFFFFF"/>
                </a:solidFill>
                <a:latin typeface="Courier New"/>
                <a:ea typeface="Courier New"/>
                <a:cs typeface="Courier New"/>
                <a:sym typeface="Courier New"/>
              </a:rPr>
              <a:t>mp_hands</a:t>
            </a:r>
            <a:r>
              <a:rPr sz="2027" b="0" i="0">
                <a:solidFill>
                  <a:srgbClr val="FFFFFF"/>
                </a:solidFill>
                <a:latin typeface="Avenir"/>
                <a:ea typeface="Avenir"/>
                <a:cs typeface="Avenir"/>
                <a:sym typeface="Avenir"/>
              </a:rPr>
              <a:t> rather than being written out here.</a:t>
            </a:r>
          </a:p>
        </p:txBody>
      </p:sp>
      <p:sp>
        <p:nvSpPr>
          <p:cNvPr id="7" name="blk0155"/>
          <p:cNvSpPr txBox="1"/>
          <p:nvPr/>
        </p:nvSpPr>
        <p:spPr>
          <a:xfrm>
            <a:off x="687600" y="5396574"/>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line runs before the landmarks are extracted on the next step, and that is fine — drawing does not need to know which two joints you are about to use. Read the loop as: draw everything, then use what you need. If the skeleton appears but the circle does not, this step is done and Step 13 is not.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5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9</a:t>
            </a:r>
          </a:p>
        </p:txBody>
      </p:sp>
      <p:sp>
        <p:nvSpPr>
          <p:cNvPr id="3" name="blk015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Now pick out the two joints the rest of the program cares about:</a:t>
            </a:r>
          </a:p>
        </p:txBody>
      </p:sp>
      <p:sp>
        <p:nvSpPr>
          <p:cNvPr id="4" name="blk0158"/>
          <p:cNvSpPr/>
          <p:nvPr/>
        </p:nvSpPr>
        <p:spPr>
          <a:xfrm>
            <a:off x="687600" y="2664000"/>
            <a:ext cx="8686800" cy="70452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58"/>
          <p:cNvSpPr txBox="1"/>
          <p:nvPr/>
        </p:nvSpPr>
        <p:spPr>
          <a:xfrm>
            <a:off x="910799" y="2826000"/>
            <a:ext cx="8240400" cy="380528"/>
          </a:xfrm>
          <a:prstGeom prst="rect">
            <a:avLst/>
          </a:prstGeom>
          <a:noFill/>
        </p:spPr>
        <p:txBody>
          <a:bodyPr wrap="square" anchor="t" lIns="0" rIns="0" tIns="0" bIns="0">
            <a:noAutofit/>
          </a:bodyPr>
          <a:lstStyle/>
          <a:p>
            <a:pPr algn="l">
              <a:lnSpc>
                <a:spcPct val="115000"/>
              </a:lnSpc>
            </a:pPr>
            <a:r>
              <a:rPr sz="1150" b="0" i="0">
                <a:solidFill>
                  <a:srgbClr val="FFFFFF"/>
                </a:solidFill>
                <a:latin typeface="Courier New"/>
                <a:ea typeface="Courier New"/>
                <a:cs typeface="Courier New"/>
                <a:sym typeface="Courier New"/>
              </a:rPr>
              <a:t>                index_tip = hand_landmarks.landmark[mp_hands.HandLandmark.INDEX_FINGER_TIP]</a:t>
            </a:r>
          </a:p>
          <a:p>
            <a:pPr algn="l">
              <a:lnSpc>
                <a:spcPct val="115000"/>
              </a:lnSpc>
            </a:pPr>
            <a:r>
              <a:rPr sz="1150" b="0" i="0">
                <a:solidFill>
                  <a:srgbClr val="FFFFFF"/>
                </a:solidFill>
                <a:latin typeface="Courier New"/>
                <a:ea typeface="Courier New"/>
                <a:cs typeface="Courier New"/>
                <a:sym typeface="Courier New"/>
              </a:rPr>
              <a:t>                thumb_tip = hand_landmarks.landmark[mp_hands.HandLandmark.THUMB_TIP]</a:t>
            </a:r>
          </a:p>
        </p:txBody>
      </p:sp>
      <p:sp>
        <p:nvSpPr>
          <p:cNvPr id="6" name="blk0159"/>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Two names, and from here on the program stops thinking about hands entirely. It has an </a:t>
            </a:r>
            <a:r>
              <a:rPr sz="1743" b="0" i="0">
                <a:solidFill>
                  <a:srgbClr val="FFFFFF"/>
                </a:solidFill>
                <a:latin typeface="Courier New"/>
                <a:ea typeface="Courier New"/>
                <a:cs typeface="Courier New"/>
                <a:sym typeface="Courier New"/>
              </a:rPr>
              <a:t>index_tip</a:t>
            </a:r>
            <a:r>
              <a:rPr sz="2027" b="0" i="0">
                <a:solidFill>
                  <a:srgbClr val="FFFFFF"/>
                </a:solidFill>
                <a:latin typeface="Avenir"/>
                <a:ea typeface="Avenir"/>
                <a:cs typeface="Avenir"/>
                <a:sym typeface="Avenir"/>
              </a:rPr>
              <a:t> and a </a:t>
            </a:r>
            <a:r>
              <a:rPr sz="1743" b="0" i="0">
                <a:solidFill>
                  <a:srgbClr val="FFFFFF"/>
                </a:solidFill>
                <a:latin typeface="Courier New"/>
                <a:ea typeface="Courier New"/>
                <a:cs typeface="Courier New"/>
                <a:sym typeface="Courier New"/>
              </a:rPr>
              <a:t>thumb_tip</a:t>
            </a:r>
            <a:r>
              <a:rPr sz="2027" b="0" i="0">
                <a:solidFill>
                  <a:srgbClr val="FFFFFF"/>
                </a:solidFill>
                <a:latin typeface="Avenir"/>
                <a:ea typeface="Avenir"/>
                <a:cs typeface="Avenir"/>
                <a:sym typeface="Avenir"/>
              </a:rPr>
              <a:t>, and it never needs the other nineteen landmarks again.</a:t>
            </a:r>
          </a:p>
        </p:txBody>
      </p:sp>
      <p:sp>
        <p:nvSpPr>
          <p:cNvPr id="7" name="blk0160"/>
          <p:cNvSpPr txBox="1"/>
          <p:nvPr/>
        </p:nvSpPr>
        <p:spPr>
          <a:xfrm>
            <a:off x="687600" y="4968000"/>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of twenty-one landmarks is all this project uses. Project 6 counts fingers instead, and needs rather more of them. It is worth noticing how little of the model output Project 4 actually touches — the hard part was never the landmarks, it was the millimetres.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10</a:t>
            </a:r>
          </a:p>
        </p:txBody>
      </p:sp>
      <p:sp>
        <p:nvSpPr>
          <p:cNvPr id="3" name="blk016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heart of the project. Two lines, one per axis:</a:t>
            </a:r>
          </a:p>
        </p:txBody>
      </p:sp>
      <p:sp>
        <p:nvSpPr>
          <p:cNvPr id="4" name="blk0163"/>
          <p:cNvSpPr/>
          <p:nvPr/>
        </p:nvSpPr>
        <p:spPr>
          <a:xfrm>
            <a:off x="687600" y="2448000"/>
            <a:ext cx="8686800" cy="1184325"/>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3"/>
          <p:cNvSpPr txBox="1"/>
          <p:nvPr/>
        </p:nvSpPr>
        <p:spPr>
          <a:xfrm>
            <a:off x="910799" y="2610000"/>
            <a:ext cx="8240400" cy="860325"/>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robot_x = map_value(index_tip.y, 0.2, 0.8, X_MAX, X_MIN)</a:t>
            </a:r>
          </a:p>
          <a:p>
            <a:pPr algn="l">
              <a:lnSpc>
                <a:spcPct val="115000"/>
              </a:lnSpc>
            </a:pPr>
            <a:r>
              <a:rPr sz="1300" b="0" i="0">
                <a:solidFill>
                  <a:srgbClr val="FFFFFF"/>
                </a:solidFill>
                <a:latin typeface="Courier New"/>
                <a:ea typeface="Courier New"/>
                <a:cs typeface="Courier New"/>
                <a:sym typeface="Courier New"/>
              </a:rPr>
              <a:t>                # Vertical hand position -&gt; Robot Forward/Back</a:t>
            </a:r>
          </a:p>
          <a:p>
            <a:pPr algn="l">
              <a:lnSpc>
                <a:spcPct val="115000"/>
              </a:lnSpc>
            </a:pPr>
            <a:r>
              <a:rPr sz="1300" b="0" i="0">
                <a:solidFill>
                  <a:srgbClr val="FFFFFF"/>
                </a:solidFill>
                <a:latin typeface="Courier New"/>
                <a:ea typeface="Courier New"/>
                <a:cs typeface="Courier New"/>
                <a:sym typeface="Courier New"/>
              </a:rPr>
              <a:t>                robot_y = map_value(index_tip.x, 0.2, 0.8, Y_MIN, Y_MAX)</a:t>
            </a:r>
          </a:p>
          <a:p>
            <a:pPr algn="l">
              <a:lnSpc>
                <a:spcPct val="115000"/>
              </a:lnSpc>
            </a:pPr>
            <a:r>
              <a:rPr sz="1300" b="0" i="0">
                <a:solidFill>
                  <a:srgbClr val="FFFFFF"/>
                </a:solidFill>
                <a:latin typeface="Courier New"/>
                <a:ea typeface="Courier New"/>
                <a:cs typeface="Courier New"/>
                <a:sym typeface="Courier New"/>
              </a:rPr>
              <a:t>                # Horizontal hand position -&gt; Robot Left/Right</a:t>
            </a:r>
          </a:p>
        </p:txBody>
      </p:sp>
      <p:sp>
        <p:nvSpPr>
          <p:cNvPr id="6" name="blk0164"/>
          <p:cNvSpPr txBox="1"/>
          <p:nvPr/>
        </p:nvSpPr>
        <p:spPr>
          <a:xfrm>
            <a:off x="687600" y="4104000"/>
            <a:ext cx="7542000" cy="3524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Both lines are wrapped here so they fit the screen — in your file each is one long line with its comment at the end. Every character is the same.</a:t>
            </a:r>
          </a:p>
          <a:p>
            <a:pPr algn="l">
              <a:lnSpc>
                <a:spcPct val="100000"/>
              </a:lnSpc>
            </a:pPr>
            <a:r>
              <a:rPr sz="2027" b="0" i="0">
                <a:solidFill>
                  <a:srgbClr val="FFFFFF"/>
                </a:solidFill>
                <a:latin typeface="Avenir"/>
                <a:ea typeface="Avenir"/>
                <a:cs typeface="Avenir"/>
                <a:sym typeface="Avenir"/>
              </a:rPr>
              <a:t>Look at the </a:t>
            </a:r>
            <a:r>
              <a:rPr sz="1743" b="0" i="0">
                <a:solidFill>
                  <a:srgbClr val="FFFFFF"/>
                </a:solidFill>
                <a:latin typeface="Courier New"/>
                <a:ea typeface="Courier New"/>
                <a:cs typeface="Courier New"/>
                <a:sym typeface="Courier New"/>
              </a:rPr>
              <a:t>X</a:t>
            </a:r>
            <a:r>
              <a:rPr sz="2027" b="0" i="0">
                <a:solidFill>
                  <a:srgbClr val="FFFFFF"/>
                </a:solidFill>
                <a:latin typeface="Avenir"/>
                <a:ea typeface="Avenir"/>
                <a:cs typeface="Avenir"/>
                <a:sym typeface="Avenir"/>
              </a:rPr>
              <a:t> line carefully. The finger’s </a:t>
            </a:r>
            <a:r>
              <a:rPr sz="2027" b="1" i="0">
                <a:solidFill>
                  <a:srgbClr val="FFFFFF"/>
                </a:solidFill>
                <a:latin typeface="Google Sans"/>
                <a:ea typeface="Google Sans"/>
                <a:cs typeface="Google Sans"/>
                <a:sym typeface="Google Sans"/>
              </a:rPr>
              <a:t>height</a:t>
            </a:r>
            <a:r>
              <a:rPr sz="2027" b="0" i="0">
                <a:solidFill>
                  <a:srgbClr val="FFFFFF"/>
                </a:solidFill>
                <a:latin typeface="Avenir"/>
                <a:ea typeface="Avenir"/>
                <a:cs typeface="Avenir"/>
                <a:sym typeface="Avenir"/>
              </a:rPr>
              <a:t> sets how far forward the arm reaches, and the output range is given as </a:t>
            </a:r>
            <a:r>
              <a:rPr sz="1743" b="0" i="0">
                <a:solidFill>
                  <a:srgbClr val="FFFFFF"/>
                </a:solidFill>
                <a:latin typeface="Courier New"/>
                <a:ea typeface="Courier New"/>
                <a:cs typeface="Courier New"/>
                <a:sym typeface="Courier New"/>
              </a:rPr>
              <a:t>X_MAX, X_MIN</a:t>
            </a:r>
            <a:r>
              <a:rPr sz="2027" b="0" i="0">
                <a:solidFill>
                  <a:srgbClr val="FFFFFF"/>
                </a:solidFill>
                <a:latin typeface="Avenir"/>
                <a:ea typeface="Avenir"/>
                <a:cs typeface="Avenir"/>
                <a:sym typeface="Avenir"/>
              </a:rPr>
              <a:t> — backwards.</a:t>
            </a:r>
          </a:p>
        </p:txBody>
      </p:sp>
      <p:sp>
        <p:nvSpPr>
          <p:cNvPr id="7" name="blk0165"/>
          <p:cNvSpPr txBox="1"/>
          <p:nvPr/>
        </p:nvSpPr>
        <p:spPr>
          <a:xfrm>
            <a:off x="687600" y="6065488"/>
            <a:ext cx="7542000" cy="1080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Backwards on purpose. y is small at the top of the picture, so raising your hand maps to X_MAX and the arm reaches forward. Combined with the mirror flip, that is the behaviour you want; if the arm goes the other way, swap those two arguments.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6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11</a:t>
            </a:r>
          </a:p>
        </p:txBody>
      </p:sp>
      <p:sp>
        <p:nvSpPr>
          <p:cNvPr id="3" name="blk0167"/>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pinch. Call the function you wrote, then compare:</a:t>
            </a:r>
          </a:p>
        </p:txBody>
      </p:sp>
      <p:sp>
        <p:nvSpPr>
          <p:cNvPr id="4" name="blk0168"/>
          <p:cNvSpPr/>
          <p:nvPr/>
        </p:nvSpPr>
        <p:spPr>
          <a:xfrm>
            <a:off x="687600" y="2448000"/>
            <a:ext cx="8686800" cy="721073"/>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68"/>
          <p:cNvSpPr txBox="1"/>
          <p:nvPr/>
        </p:nvSpPr>
        <p:spPr>
          <a:xfrm>
            <a:off x="910799" y="2610000"/>
            <a:ext cx="8240400" cy="397073"/>
          </a:xfrm>
          <a:prstGeom prst="rect">
            <a:avLst/>
          </a:prstGeom>
          <a:noFill/>
        </p:spPr>
        <p:txBody>
          <a:bodyPr wrap="square" anchor="t" lIns="0" rIns="0" tIns="0" bIns="0">
            <a:noAutofit/>
          </a:bodyPr>
          <a:lstStyle/>
          <a:p>
            <a:pPr algn="l">
              <a:lnSpc>
                <a:spcPct val="115000"/>
              </a:lnSpc>
            </a:pPr>
            <a:r>
              <a:rPr sz="1200" b="0" i="0">
                <a:solidFill>
                  <a:srgbClr val="FFFFFF"/>
                </a:solidFill>
                <a:latin typeface="Courier New"/>
                <a:ea typeface="Courier New"/>
                <a:cs typeface="Courier New"/>
                <a:sym typeface="Courier New"/>
              </a:rPr>
              <a:t>                pinch_distance = calculate_distance(thumb_tip, index_tip)</a:t>
            </a:r>
          </a:p>
          <a:p>
            <a:pPr algn="l">
              <a:lnSpc>
                <a:spcPct val="115000"/>
              </a:lnSpc>
            </a:pPr>
            <a:r>
              <a:rPr sz="1200" b="0" i="0">
                <a:solidFill>
                  <a:srgbClr val="FFFFFF"/>
                </a:solidFill>
                <a:latin typeface="Courier New"/>
                <a:ea typeface="Courier New"/>
                <a:cs typeface="Courier New"/>
                <a:sym typeface="Courier New"/>
              </a:rPr>
              <a:t>                is_pinching = pinch_distance &lt; 0.08  # Threshold for closed pinch</a:t>
            </a:r>
          </a:p>
        </p:txBody>
      </p:sp>
      <p:sp>
        <p:nvSpPr>
          <p:cNvPr id="6" name="blk0169"/>
          <p:cNvSpPr txBox="1"/>
          <p:nvPr/>
        </p:nvSpPr>
        <p:spPr>
          <a:xfrm>
            <a:off x="687600" y="3528000"/>
            <a:ext cx="7542000" cy="410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Nothing here is new — Step 6 built the measurement and slide seventeen explained the comparison. What is new is that this boolean now decides whether the gripper closes.</a:t>
            </a:r>
          </a:p>
        </p:txBody>
      </p:sp>
      <p:sp>
        <p:nvSpPr>
          <p:cNvPr id="7" name="blk0170"/>
          <p:cNvSpPr txBox="1"/>
          <p:nvPr/>
        </p:nvSpPr>
        <p:spPr>
          <a:xfrm>
            <a:off x="687600" y="456274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Change 0.08 too early and you will spend an afternoon convinced the gripper is broken. Leave it exactly as it is until the whole program runs, then tune it once with the telemetry on screen. There is a slide on the cost of moving it near the end.</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1"/>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12</a:t>
            </a:r>
          </a:p>
        </p:txBody>
      </p:sp>
      <p:sp>
        <p:nvSpPr>
          <p:cNvPr id="3" name="blk0172"/>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longest block in the project, and the one that moves the arm:</a:t>
            </a:r>
          </a:p>
        </p:txBody>
      </p:sp>
      <p:sp>
        <p:nvSpPr>
          <p:cNvPr id="4" name="blk0173"/>
          <p:cNvSpPr/>
          <p:nvPr/>
        </p:nvSpPr>
        <p:spPr>
          <a:xfrm>
            <a:off x="687600" y="2376000"/>
            <a:ext cx="8686800" cy="2805708"/>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3"/>
          <p:cNvSpPr txBox="1"/>
          <p:nvPr/>
        </p:nvSpPr>
        <p:spPr>
          <a:xfrm>
            <a:off x="910799" y="2538000"/>
            <a:ext cx="8240400" cy="2481708"/>
          </a:xfrm>
          <a:prstGeom prst="rect">
            <a:avLst/>
          </a:prstGeom>
          <a:noFill/>
        </p:spPr>
        <p:txBody>
          <a:bodyPr wrap="square" anchor="t" lIns="0" rIns="0" tIns="0" bIns="0">
            <a:noAutofit/>
          </a:bodyPr>
          <a:lstStyle/>
          <a:p>
            <a:pPr algn="l">
              <a:lnSpc>
                <a:spcPct val="115000"/>
              </a:lnSpc>
            </a:pPr>
            <a:r>
              <a:rPr sz="1000" b="0" i="0">
                <a:solidFill>
                  <a:srgbClr val="FFFFFF"/>
                </a:solidFill>
                <a:latin typeface="Courier New"/>
                <a:ea typeface="Courier New"/>
                <a:cs typeface="Courier New"/>
                <a:sym typeface="Courier New"/>
              </a:rPr>
              <a:t>                current_time = time.time()</a:t>
            </a:r>
          </a:p>
          <a:p>
            <a:pPr algn="l">
              <a:lnSpc>
                <a:spcPct val="115000"/>
              </a:lnSpc>
            </a:pPr>
            <a:r>
              <a:rPr sz="1000" b="0" i="0">
                <a:solidFill>
                  <a:srgbClr val="FFFFFF"/>
                </a:solidFill>
                <a:latin typeface="Courier New"/>
                <a:ea typeface="Courier New"/>
                <a:cs typeface="Courier New"/>
                <a:sym typeface="Courier New"/>
              </a:rPr>
              <a:t>                if current_time - last_command_time &gt; COMMAND_INTERVAL:</a:t>
            </a:r>
          </a:p>
          <a:p>
            <a:pPr algn="l">
              <a:lnSpc>
                <a:spcPct val="115000"/>
              </a:lnSpc>
            </a:pPr>
            <a:r>
              <a:rPr sz="1000" b="0" i="0">
                <a:solidFill>
                  <a:srgbClr val="FFFFFF"/>
                </a:solidFill>
                <a:latin typeface="Courier New"/>
                <a:ea typeface="Courier New"/>
                <a:cs typeface="Courier New"/>
                <a:sym typeface="Courier New"/>
              </a:rPr>
              <a:t>                    # Send position command: [X, Y, Z, Rx, Ry, Rz]</a:t>
            </a:r>
          </a:p>
          <a:p>
            <a:pPr algn="l">
              <a:lnSpc>
                <a:spcPct val="115000"/>
              </a:lnSpc>
            </a:pPr>
            <a:r>
              <a:rPr sz="1000" b="0" i="0">
                <a:solidFill>
                  <a:srgbClr val="FFFFFF"/>
                </a:solidFill>
                <a:latin typeface="Courier New"/>
                <a:ea typeface="Courier New"/>
                <a:cs typeface="Courier New"/>
                <a:sym typeface="Courier New"/>
              </a:rPr>
              <a:t>                    print(f"Target: X={robot_x:.1f}, Y={robot_y:.1f}, Z={Z_HEIGHT}")</a:t>
            </a:r>
          </a:p>
          <a:p>
            <a:pPr algn="l">
              <a:lnSpc>
                <a:spcPct val="115000"/>
              </a:lnSpc>
            </a:pPr>
            <a:r>
              <a:rPr sz="1000" b="0" i="0">
                <a:solidFill>
                  <a:srgbClr val="FFFFFF"/>
                </a:solidFill>
                <a:latin typeface="Courier New"/>
                <a:ea typeface="Courier New"/>
                <a:cs typeface="Courier New"/>
                <a:sym typeface="Courier New"/>
              </a:rPr>
              <a:t>                    mc.send_coords([robot_x, robot_y, Z_HEIGHT, -180, 0, -135], ARM_SPEED, 0)</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 Control end-effector based on pinch state</a:t>
            </a:r>
          </a:p>
          <a:p>
            <a:pPr algn="l">
              <a:lnSpc>
                <a:spcPct val="115000"/>
              </a:lnSpc>
            </a:pPr>
            <a:r>
              <a:rPr sz="1000" b="0" i="0">
                <a:solidFill>
                  <a:srgbClr val="FFFFFF"/>
                </a:solidFill>
                <a:latin typeface="Courier New"/>
                <a:ea typeface="Courier New"/>
                <a:cs typeface="Courier New"/>
                <a:sym typeface="Courier New"/>
              </a:rPr>
              <a:t>                    if is_pinching:</a:t>
            </a:r>
          </a:p>
          <a:p>
            <a:pPr algn="l">
              <a:lnSpc>
                <a:spcPct val="115000"/>
              </a:lnSpc>
            </a:pPr>
            <a:r>
              <a:rPr sz="1000" b="0" i="0">
                <a:solidFill>
                  <a:srgbClr val="FFFFFF"/>
                </a:solidFill>
                <a:latin typeface="Courier New"/>
                <a:ea typeface="Courier New"/>
                <a:cs typeface="Courier New"/>
                <a:sym typeface="Courier New"/>
              </a:rPr>
              <a:t>                        mc.set_gripper_state(1, 80) # Close gripper / activate pump</a:t>
            </a:r>
          </a:p>
          <a:p>
            <a:pPr algn="l">
              <a:lnSpc>
                <a:spcPct val="115000"/>
              </a:lnSpc>
            </a:pPr>
            <a:r>
              <a:rPr sz="1000" b="0" i="0">
                <a:solidFill>
                  <a:srgbClr val="FFFFFF"/>
                </a:solidFill>
                <a:latin typeface="Courier New"/>
                <a:ea typeface="Courier New"/>
                <a:cs typeface="Courier New"/>
                <a:sym typeface="Courier New"/>
              </a:rPr>
              <a:t>                        status_text = "Pinch Active (GRIP)"</a:t>
            </a:r>
          </a:p>
          <a:p>
            <a:pPr algn="l">
              <a:lnSpc>
                <a:spcPct val="115000"/>
              </a:lnSpc>
            </a:pPr>
            <a:r>
              <a:rPr sz="1000" b="0" i="0">
                <a:solidFill>
                  <a:srgbClr val="FFFFFF"/>
                </a:solidFill>
                <a:latin typeface="Courier New"/>
                <a:ea typeface="Courier New"/>
                <a:cs typeface="Courier New"/>
                <a:sym typeface="Courier New"/>
              </a:rPr>
              <a:t>                    else:</a:t>
            </a:r>
          </a:p>
          <a:p>
            <a:pPr algn="l">
              <a:lnSpc>
                <a:spcPct val="115000"/>
              </a:lnSpc>
            </a:pPr>
            <a:r>
              <a:rPr sz="1000" b="0" i="0">
                <a:solidFill>
                  <a:srgbClr val="FFFFFF"/>
                </a:solidFill>
                <a:latin typeface="Courier New"/>
                <a:ea typeface="Courier New"/>
                <a:cs typeface="Courier New"/>
                <a:sym typeface="Courier New"/>
              </a:rPr>
              <a:t>                        mc.set_gripper_state(0, 80) # Open gripper / deactivate pump</a:t>
            </a:r>
          </a:p>
          <a:p>
            <a:pPr algn="l">
              <a:lnSpc>
                <a:spcPct val="115000"/>
              </a:lnSpc>
            </a:pPr>
            <a:r>
              <a:rPr sz="1000" b="0" i="0">
                <a:solidFill>
                  <a:srgbClr val="FFFFFF"/>
                </a:solidFill>
                <a:latin typeface="Courier New"/>
                <a:ea typeface="Courier New"/>
                <a:cs typeface="Courier New"/>
                <a:sym typeface="Courier New"/>
              </a:rPr>
              <a:t>                        status_text = "Tracking (OPEN)"</a:t>
            </a:r>
          </a:p>
          <a:p>
            <a:pPr algn="l">
              <a:lnSpc>
                <a:spcPct val="115000"/>
              </a:lnSpc>
            </a:pPr>
            <a:r>
              <a:rPr sz="1000" b="0" i="0">
                <a:solidFill>
                  <a:srgbClr val="FFFFFF"/>
                </a:solidFill>
                <a:latin typeface="Courier New"/>
                <a:ea typeface="Courier New"/>
                <a:cs typeface="Courier New"/>
                <a:sym typeface="Courier New"/>
              </a:rPr>
              <a:t/>
            </a:r>
          </a:p>
          <a:p>
            <a:pPr algn="l">
              <a:lnSpc>
                <a:spcPct val="115000"/>
              </a:lnSpc>
            </a:pPr>
            <a:r>
              <a:rPr sz="1000" b="0" i="0">
                <a:solidFill>
                  <a:srgbClr val="FFFFFF"/>
                </a:solidFill>
                <a:latin typeface="Courier New"/>
                <a:ea typeface="Courier New"/>
                <a:cs typeface="Courier New"/>
                <a:sym typeface="Courier New"/>
              </a:rPr>
              <a:t>                    last_command_time = current_time</a:t>
            </a:r>
          </a:p>
        </p:txBody>
      </p:sp>
      <p:sp>
        <p:nvSpPr>
          <p:cNvPr id="6" name="blk0174"/>
          <p:cNvSpPr txBox="1"/>
          <p:nvPr/>
        </p:nvSpPr>
        <p:spPr>
          <a:xfrm>
            <a:off x="687600" y="5308878"/>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details to get right. Everything that touches the arm sits inside the if, including the gripper calls and the assignment to last_command_time. And the print comes before the move, so if the arm is not moving at all but numbers are appearing in the terminal, the program has already calculated a target and failed to deliver it — which is a different fault from producing no numbers at all.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7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a:t>
            </a:r>
          </a:p>
        </p:txBody>
      </p:sp>
      <p:sp>
        <p:nvSpPr>
          <p:cNvPr id="3" name="blk017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Telemetry, part one: the circle, and the position readout.</a:t>
            </a:r>
          </a:p>
        </p:txBody>
      </p:sp>
      <p:sp>
        <p:nvSpPr>
          <p:cNvPr id="4" name="blk0177"/>
          <p:cNvSpPr/>
          <p:nvPr/>
        </p:nvSpPr>
        <p:spPr>
          <a:xfrm>
            <a:off x="687600" y="2304000"/>
            <a:ext cx="8686800" cy="1109874"/>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77"/>
          <p:cNvSpPr txBox="1"/>
          <p:nvPr/>
        </p:nvSpPr>
        <p:spPr>
          <a:xfrm>
            <a:off x="910799" y="2466000"/>
            <a:ext cx="8240400" cy="785874"/>
          </a:xfrm>
          <a:prstGeom prst="rect">
            <a:avLst/>
          </a:prstGeom>
          <a:noFill/>
        </p:spPr>
        <p:txBody>
          <a:bodyPr wrap="square" anchor="t" lIns="0" rIns="0" tIns="0" bIns="0">
            <a:noAutofit/>
          </a:bodyPr>
          <a:lstStyle/>
          <a:p>
            <a:pPr algn="l">
              <a:lnSpc>
                <a:spcPct val="115000"/>
              </a:lnSpc>
            </a:pPr>
            <a:r>
              <a:rPr sz="950" b="0" i="0">
                <a:solidFill>
                  <a:srgbClr val="FFFFFF"/>
                </a:solidFill>
                <a:latin typeface="Courier New"/>
                <a:ea typeface="Courier New"/>
                <a:cs typeface="Courier New"/>
                <a:sym typeface="Courier New"/>
              </a:rPr>
              <a:t>                cx, cy = int(index_tip.x * w), int(index_tip.y * h)</a:t>
            </a:r>
          </a:p>
          <a:p>
            <a:pPr algn="l">
              <a:lnSpc>
                <a:spcPct val="115000"/>
              </a:lnSpc>
            </a:pPr>
            <a:r>
              <a:rPr sz="950" b="0" i="0">
                <a:solidFill>
                  <a:srgbClr val="FFFFFF"/>
                </a:solidFill>
                <a:latin typeface="Courier New"/>
                <a:ea typeface="Courier New"/>
                <a:cs typeface="Courier New"/>
                <a:sym typeface="Courier New"/>
              </a:rPr>
              <a:t>                cv2.circle(frame, (cx, cy), 10, (0, 255, 0) if not is_pinching else (0, 0, 255), -1)</a:t>
            </a:r>
          </a:p>
          <a:p>
            <a:pPr algn="l">
              <a:lnSpc>
                <a:spcPct val="115000"/>
              </a:lnSpc>
            </a:pPr>
            <a:r>
              <a:rPr sz="950" b="0" i="0">
                <a:solidFill>
                  <a:srgbClr val="FFFFFF"/>
                </a:solidFill>
                <a:latin typeface="Courier New"/>
                <a:ea typeface="Courier New"/>
                <a:cs typeface="Courier New"/>
                <a:sym typeface="Courier New"/>
              </a:rPr>
              <a:t/>
            </a:r>
          </a:p>
          <a:p>
            <a:pPr algn="l">
              <a:lnSpc>
                <a:spcPct val="115000"/>
              </a:lnSpc>
            </a:pPr>
            <a:r>
              <a:rPr sz="950" b="0" i="0">
                <a:solidFill>
                  <a:srgbClr val="FFFFFF"/>
                </a:solidFill>
                <a:latin typeface="Courier New"/>
                <a:ea typeface="Courier New"/>
                <a:cs typeface="Courier New"/>
                <a:sym typeface="Courier New"/>
              </a:rPr>
              <a:t>                telemetry = f"Robot Target -&gt; X: {int(robot_x)}mm | Y: {int(robot_y)}mm"</a:t>
            </a:r>
          </a:p>
          <a:p>
            <a:pPr algn="l">
              <a:lnSpc>
                <a:spcPct val="115000"/>
              </a:lnSpc>
            </a:pPr>
            <a:r>
              <a:rPr sz="950" b="0" i="0">
                <a:solidFill>
                  <a:srgbClr val="FFFFFF"/>
                </a:solidFill>
                <a:latin typeface="Courier New"/>
                <a:ea typeface="Courier New"/>
                <a:cs typeface="Courier New"/>
                <a:sym typeface="Courier New"/>
              </a:rPr>
              <a:t>                cv2.putText(frame, telemetry, (10, 30), cv2.FONT_HERSHEY_SIMPLEX, 0.6, (255, 255, 255), 2)</a:t>
            </a:r>
          </a:p>
        </p:txBody>
      </p:sp>
      <p:sp>
        <p:nvSpPr>
          <p:cNvPr id="6" name="blk0178"/>
          <p:cNvSpPr txBox="1"/>
          <p:nvPr/>
        </p:nvSpPr>
        <p:spPr>
          <a:xfrm>
            <a:off x="687600" y="4608000"/>
            <a:ext cx="7542000" cy="3020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Here the fractions finally become pixels. </a:t>
            </a:r>
            <a:r>
              <a:rPr sz="1743" b="0" i="0">
                <a:solidFill>
                  <a:srgbClr val="FFFFFF"/>
                </a:solidFill>
                <a:latin typeface="Courier New"/>
                <a:ea typeface="Courier New"/>
                <a:cs typeface="Courier New"/>
                <a:sym typeface="Courier New"/>
              </a:rPr>
              <a:t>index_tip.x * w</a:t>
            </a:r>
            <a:r>
              <a:rPr sz="2027" b="0" i="0">
                <a:solidFill>
                  <a:srgbClr val="FFFFFF"/>
                </a:solidFill>
                <a:latin typeface="Avenir"/>
                <a:ea typeface="Avenir"/>
                <a:cs typeface="Avenir"/>
                <a:sym typeface="Avenir"/>
              </a:rPr>
              <a:t> turns "halfway across" into an actual column number, which is the only kind of thing </a:t>
            </a:r>
            <a:r>
              <a:rPr sz="1743" b="0" i="0">
                <a:solidFill>
                  <a:srgbClr val="FFFFFF"/>
                </a:solidFill>
                <a:latin typeface="Courier New"/>
                <a:ea typeface="Courier New"/>
                <a:cs typeface="Courier New"/>
                <a:sym typeface="Courier New"/>
              </a:rPr>
              <a:t>cv2.circle</a:t>
            </a:r>
            <a:r>
              <a:rPr sz="2027" b="0" i="0">
                <a:solidFill>
                  <a:srgbClr val="FFFFFF"/>
                </a:solidFill>
                <a:latin typeface="Avenir"/>
                <a:ea typeface="Avenir"/>
                <a:cs typeface="Avenir"/>
                <a:sym typeface="Avenir"/>
              </a:rPr>
              <a:t> can use.</a:t>
            </a:r>
          </a:p>
          <a:p>
            <a:pPr algn="l">
              <a:lnSpc>
                <a:spcPct val="100000"/>
              </a:lnSpc>
            </a:pPr>
            <a:r>
              <a:rPr sz="2027" b="0" i="0">
                <a:solidFill>
                  <a:srgbClr val="FFFFFF"/>
                </a:solidFill>
                <a:latin typeface="Avenir"/>
                <a:ea typeface="Avenir"/>
                <a:cs typeface="Avenir"/>
                <a:sym typeface="Avenir"/>
              </a:rPr>
              <a:t>Green circle means open, red means pinching — the same condition as the gripper, read one more time.</a:t>
            </a:r>
          </a:p>
        </p:txBody>
      </p:sp>
      <p:sp>
        <p:nvSpPr>
          <p:cNvPr id="7" name="blk0179"/>
          <p:cNvSpPr txBox="1"/>
          <p:nvPr/>
        </p:nvSpPr>
        <p:spPr>
          <a:xfrm>
            <a:off x="687600" y="6260574"/>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whole block sits outside the rate limit on purpose, so the overlay updates smoothly even though the arm is commanded only seven times a second. The screen rounds with int() and the terminal prints one decimal — neither is wrong; do not be surprised they differ.</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0"/>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13, continued</a:t>
            </a:r>
          </a:p>
        </p:txBody>
      </p:sp>
      <p:sp>
        <p:nvSpPr>
          <p:cNvPr id="3" name="blk0181"/>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And the state readout, which is the longest line in the project:</a:t>
            </a:r>
          </a:p>
        </p:txBody>
      </p:sp>
      <p:sp>
        <p:nvSpPr>
          <p:cNvPr id="4" name="blk0182"/>
          <p:cNvSpPr/>
          <p:nvPr/>
        </p:nvSpPr>
        <p:spPr>
          <a:xfrm>
            <a:off x="687600" y="2664000"/>
            <a:ext cx="8686800" cy="67143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2"/>
          <p:cNvSpPr txBox="1"/>
          <p:nvPr/>
        </p:nvSpPr>
        <p:spPr>
          <a:xfrm>
            <a:off x="910799" y="2826000"/>
            <a:ext cx="8240400" cy="347439"/>
          </a:xfrm>
          <a:prstGeom prst="rect">
            <a:avLst/>
          </a:prstGeom>
          <a:noFill/>
        </p:spPr>
        <p:txBody>
          <a:bodyPr wrap="square" anchor="t" lIns="0" rIns="0" tIns="0" bIns="0">
            <a:noAutofit/>
          </a:bodyPr>
          <a:lstStyle/>
          <a:p>
            <a:pPr algn="l">
              <a:lnSpc>
                <a:spcPct val="115000"/>
              </a:lnSpc>
            </a:pPr>
            <a:r>
              <a:rPr sz="1050" b="0" i="0">
                <a:solidFill>
                  <a:srgbClr val="FFFFFF"/>
                </a:solidFill>
                <a:latin typeface="Courier New"/>
                <a:ea typeface="Courier New"/>
                <a:cs typeface="Courier New"/>
                <a:sym typeface="Courier New"/>
              </a:rPr>
              <a:t>                cv2.putText(frame, f"State: {status_text}", (10, 60), cv2.FONT_HERSHEY_SIMPLEX, 0.6, </a:t>
            </a:r>
          </a:p>
          <a:p>
            <a:pPr algn="l">
              <a:lnSpc>
                <a:spcPct val="115000"/>
              </a:lnSpc>
            </a:pPr>
            <a:r>
              <a:rPr sz="1050" b="0" i="0">
                <a:solidFill>
                  <a:srgbClr val="FFFFFF"/>
                </a:solidFill>
                <a:latin typeface="Courier New"/>
                <a:ea typeface="Courier New"/>
                <a:cs typeface="Courier New"/>
                <a:sym typeface="Courier New"/>
              </a:rPr>
              <a:t>                (0, 255, 0) if not is_pinching else (0, 0, 255), 2)</a:t>
            </a:r>
          </a:p>
        </p:txBody>
      </p:sp>
      <p:sp>
        <p:nvSpPr>
          <p:cNvPr id="6" name="blk0183"/>
          <p:cNvSpPr txBox="1"/>
          <p:nvPr/>
        </p:nvSpPr>
        <p:spPr>
          <a:xfrm>
            <a:off x="687600" y="3816000"/>
            <a:ext cx="7542000" cy="381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Wrapped across two lines here for the same reason as Step 10 — in the file it is a single line of 152 characters. The colour is chosen the same way as the circle: green while open, red while pinching.</a:t>
            </a:r>
          </a:p>
        </p:txBody>
      </p:sp>
      <p:sp>
        <p:nvSpPr>
          <p:cNvPr id="7" name="blk0184"/>
          <p:cNvSpPr txBox="1"/>
          <p:nvPr/>
        </p:nvSpPr>
        <p:spPr>
          <a:xfrm>
            <a:off x="687600" y="5159659"/>
            <a:ext cx="7542000" cy="1007999"/>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This is the third and last read of is_pinching in one loop: the gripper command, the circle colour, and now this text. One boolean, three consequences. If you ever find yourself writing the pinch test a fourth time, something has gone wrong with your plan rather than your typing.</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8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Step 14</a:t>
            </a:r>
          </a:p>
        </p:txBody>
      </p:sp>
      <p:sp>
        <p:nvSpPr>
          <p:cNvPr id="3" name="blk018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last TODO. Show the picture:</a:t>
            </a:r>
          </a:p>
        </p:txBody>
      </p:sp>
      <p:sp>
        <p:nvSpPr>
          <p:cNvPr id="4" name="blk0187"/>
          <p:cNvSpPr/>
          <p:nvPr/>
        </p:nvSpPr>
        <p:spPr>
          <a:xfrm>
            <a:off x="687600" y="2304000"/>
            <a:ext cx="8686800" cy="539081"/>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87"/>
          <p:cNvSpPr txBox="1"/>
          <p:nvPr/>
        </p:nvSpPr>
        <p:spPr>
          <a:xfrm>
            <a:off x="910799" y="2466000"/>
            <a:ext cx="8240400" cy="215081"/>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cv2.imshow("Mission 2 - Project 04: Hand Control", frame)</a:t>
            </a:r>
          </a:p>
        </p:txBody>
      </p:sp>
      <p:sp>
        <p:nvSpPr>
          <p:cNvPr id="6" name="blk0188"/>
          <p:cNvSpPr txBox="1"/>
          <p:nvPr/>
        </p:nvSpPr>
        <p:spPr>
          <a:xfrm>
            <a:off x="687600" y="3096000"/>
            <a:ext cx="7542000" cy="45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That is the whole of it. The exit check was already written for you:</a:t>
            </a:r>
          </a:p>
        </p:txBody>
      </p:sp>
      <p:sp>
        <p:nvSpPr>
          <p:cNvPr id="7" name="blk0189"/>
          <p:cNvSpPr/>
          <p:nvPr/>
        </p:nvSpPr>
        <p:spPr>
          <a:xfrm>
            <a:off x="687600" y="3888000"/>
            <a:ext cx="8686800" cy="754162"/>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189"/>
          <p:cNvSpPr txBox="1"/>
          <p:nvPr/>
        </p:nvSpPr>
        <p:spPr>
          <a:xfrm>
            <a:off x="910799" y="4050000"/>
            <a:ext cx="8240400" cy="430162"/>
          </a:xfrm>
          <a:prstGeom prst="rect">
            <a:avLst/>
          </a:prstGeom>
          <a:noFill/>
        </p:spPr>
        <p:txBody>
          <a:bodyPr wrap="square" anchor="t" lIns="0" rIns="0" tIns="0" bIns="0">
            <a:noAutofit/>
          </a:bodyPr>
          <a:lstStyle/>
          <a:p>
            <a:pPr algn="l">
              <a:lnSpc>
                <a:spcPct val="115000"/>
              </a:lnSpc>
            </a:pPr>
            <a:r>
              <a:rPr sz="1300" b="0" i="0">
                <a:solidFill>
                  <a:srgbClr val="FFFFFF"/>
                </a:solidFill>
                <a:latin typeface="Courier New"/>
                <a:ea typeface="Courier New"/>
                <a:cs typeface="Courier New"/>
                <a:sym typeface="Courier New"/>
              </a:rPr>
              <a:t>        if cv2.waitKey(1) &amp; 0xFF == ord('q'):</a:t>
            </a:r>
          </a:p>
          <a:p>
            <a:pPr algn="l">
              <a:lnSpc>
                <a:spcPct val="115000"/>
              </a:lnSpc>
            </a:pPr>
            <a:r>
              <a:rPr sz="1300" b="0" i="0">
                <a:solidFill>
                  <a:srgbClr val="FFFFFF"/>
                </a:solidFill>
                <a:latin typeface="Courier New"/>
                <a:ea typeface="Courier New"/>
                <a:cs typeface="Courier New"/>
                <a:sym typeface="Courier New"/>
              </a:rPr>
              <a:t>            break</a:t>
            </a:r>
          </a:p>
        </p:txBody>
      </p:sp>
      <p:sp>
        <p:nvSpPr>
          <p:cNvPr id="9" name="blk0190"/>
          <p:cNvSpPr txBox="1"/>
          <p:nvPr/>
        </p:nvSpPr>
        <p:spPr>
          <a:xfrm>
            <a:off x="687600" y="4896000"/>
            <a:ext cx="7542000" cy="27324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The window title is not decoration. It is how you know which program has the camera, and in a lab where four of these are running it is the only honest answer to "why can I not see anything".</a:t>
            </a:r>
          </a:p>
        </p:txBody>
      </p:sp>
      <p:sp>
        <p:nvSpPr>
          <p:cNvPr id="10" name="blk0191"/>
          <p:cNvSpPr txBox="1"/>
          <p:nvPr/>
        </p:nvSpPr>
        <p:spPr>
          <a:xfrm>
            <a:off x="687600" y="623965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Wait, then show, then go round again. The order matters: waitKey(1) keeps the window responsive, imshow puts the picture in it, and the loop condition re-checks that the camera is still open. Press q and the loop breaks, the finally block runs, and the arm lets go.</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Reading the screen</a:t>
            </a:r>
          </a:p>
        </p:txBody>
      </p:sp>
      <p:sp>
        <p:nvSpPr>
          <p:cNvPr id="3" name="blk019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Four things on the window at once, and each one tells you something:</a:t>
            </a:r>
          </a:p>
        </p:txBody>
      </p:sp>
      <p:sp>
        <p:nvSpPr>
          <p:cNvPr id="4" name="blk0194"/>
          <p:cNvSpPr/>
          <p:nvPr/>
        </p:nvSpPr>
        <p:spPr>
          <a:xfrm>
            <a:off x="741600" y="312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194"/>
          <p:cNvSpPr txBox="1"/>
          <p:nvPr/>
        </p:nvSpPr>
        <p:spPr>
          <a:xfrm>
            <a:off x="1252800" y="3096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skeleton</a:t>
            </a:r>
            <a:r>
              <a:rPr sz="1600" b="0" i="0">
                <a:solidFill>
                  <a:srgbClr val="FFFFFF"/>
                </a:solidFill>
                <a:latin typeface="Avenir"/>
                <a:ea typeface="Avenir"/>
                <a:cs typeface="Avenir"/>
                <a:sym typeface="Avenir"/>
              </a:rPr>
              <a:t> — MediaPipe found a hand. No skeleton means the problem is lighting, distance, or confidence, not your mapping code.</a:t>
            </a:r>
          </a:p>
        </p:txBody>
      </p:sp>
      <p:sp>
        <p:nvSpPr>
          <p:cNvPr id="6" name="blk0195"/>
          <p:cNvSpPr/>
          <p:nvPr/>
        </p:nvSpPr>
        <p:spPr>
          <a:xfrm>
            <a:off x="741600" y="391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195"/>
          <p:cNvSpPr txBox="1"/>
          <p:nvPr/>
        </p:nvSpPr>
        <p:spPr>
          <a:xfrm>
            <a:off x="1252800" y="3888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circle</a:t>
            </a:r>
            <a:r>
              <a:rPr sz="1600" b="0" i="0">
                <a:solidFill>
                  <a:srgbClr val="FFFFFF"/>
                </a:solidFill>
                <a:latin typeface="Avenir"/>
                <a:ea typeface="Avenir"/>
                <a:cs typeface="Avenir"/>
                <a:sym typeface="Avenir"/>
              </a:rPr>
              <a:t> — green while the gripper is open, red while it is closed. If it never turns red, your pinch threshold or your hand distance is wrong.</a:t>
            </a:r>
          </a:p>
        </p:txBody>
      </p:sp>
      <p:sp>
        <p:nvSpPr>
          <p:cNvPr id="8" name="blk0196"/>
          <p:cNvSpPr/>
          <p:nvPr/>
        </p:nvSpPr>
        <p:spPr>
          <a:xfrm>
            <a:off x="741600" y="470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196"/>
          <p:cNvSpPr txBox="1"/>
          <p:nvPr/>
        </p:nvSpPr>
        <p:spPr>
          <a:xfrm>
            <a:off x="1252800" y="4680000"/>
            <a:ext cx="8118000" cy="792000"/>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X and Y in millimetres</a:t>
            </a:r>
            <a:r>
              <a:rPr sz="1600" b="0" i="0">
                <a:solidFill>
                  <a:srgbClr val="FFFFFF"/>
                </a:solidFill>
                <a:latin typeface="Avenir"/>
                <a:ea typeface="Avenir"/>
                <a:cs typeface="Avenir"/>
                <a:sym typeface="Avenir"/>
              </a:rPr>
              <a:t> — the numbers the arm was last told. They should move as you move your hand, and they should never leave 130–250 or -160–160.</a:t>
            </a:r>
          </a:p>
        </p:txBody>
      </p:sp>
      <p:sp>
        <p:nvSpPr>
          <p:cNvPr id="10" name="blk0197"/>
          <p:cNvSpPr/>
          <p:nvPr/>
        </p:nvSpPr>
        <p:spPr>
          <a:xfrm>
            <a:off x="741600" y="5694624"/>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197"/>
          <p:cNvSpPr txBox="1"/>
          <p:nvPr/>
        </p:nvSpPr>
        <p:spPr>
          <a:xfrm>
            <a:off x="1252800" y="5665824"/>
            <a:ext cx="8118000" cy="503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The state line</a:t>
            </a:r>
            <a:r>
              <a:rPr sz="1600" b="0" i="0">
                <a:solidFill>
                  <a:srgbClr val="FFFFFF"/>
                </a:solidFill>
                <a:latin typeface="Avenir"/>
                <a:ea typeface="Avenir"/>
                <a:cs typeface="Avenir"/>
                <a:sym typeface="Avenir"/>
              </a:rPr>
              <a:t> — the same pinch, in words.</a:t>
            </a:r>
          </a:p>
        </p:txBody>
      </p:sp>
      <p:sp>
        <p:nvSpPr>
          <p:cNvPr id="12" name="blk0198"/>
          <p:cNvSpPr txBox="1"/>
          <p:nvPr/>
        </p:nvSpPr>
        <p:spPr>
          <a:xfrm>
            <a:off x="687600" y="6120000"/>
            <a:ext cx="7542000" cy="792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Read them in that order when something is wrong. No skeleton rules out every step after Step 9. A skeleton but a still circle rules out Steps 10 and 11. Numbers on screen but a motionless arm means Step 12.</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199"/>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Before you tune anything</a:t>
            </a:r>
          </a:p>
        </p:txBody>
      </p:sp>
      <p:graphicFrame>
        <p:nvGraphicFramePr>
          <p:cNvPr id="3" name="blk0200"/>
          <p:cNvGraphicFramePr>
            <a:graphicFrameLocks noGrp="1"/>
          </p:cNvGraphicFramePr>
          <p:nvPr/>
        </p:nvGraphicFramePr>
        <p:xfrm>
          <a:off x="687600" y="1512000"/>
          <a:ext cx="8686800" cy="3272400"/>
        </p:xfrm>
        <a:graphic>
          <a:graphicData uri="http://schemas.openxmlformats.org/drawingml/2006/table">
            <a:tbl>
              <a:tblPr firstRow="0" bandRow="0"/>
              <a:tblGrid>
                <a:gridCol w="2376000"/>
                <a:gridCol w="2592000"/>
                <a:gridCol w="3718800"/>
              </a:tblGrid>
              <a:tr h="450000">
                <a:tc>
                  <a:txBody>
                    <a:bodyPr wrap="square"/>
                    <a:lstStyle/>
                    <a:p>
                      <a:pPr algn="l">
                        <a:lnSpc>
                          <a:spcPct val="100000"/>
                        </a:lnSpc>
                      </a:pPr>
                      <a:r>
                        <a:rPr sz="1250" b="1" i="0">
                          <a:solidFill>
                            <a:srgbClr val="FFCF08"/>
                          </a:solidFill>
                          <a:latin typeface="Avenir"/>
                          <a:ea typeface="Avenir"/>
                          <a:cs typeface="Avenir"/>
                          <a:sym typeface="Avenir"/>
                        </a:rPr>
                        <a:t>What you see</a:t>
                      </a:r>
                    </a:p>
                  </a:txBody>
                  <a:tcPr marL="72000" marR="72000" marT="36000" marB="36000" anchor="ctr">
                    <a:solidFill>
                      <a:srgbClr val="3B41A0"/>
                    </a:solidFill>
                  </a:tcPr>
                </a:tc>
                <a:tc>
                  <a:txBody>
                    <a:bodyPr wrap="square"/>
                    <a:lstStyle/>
                    <a:p>
                      <a:pPr algn="ctr">
                        <a:lnSpc>
                          <a:spcPct val="100000"/>
                        </a:lnSpc>
                      </a:pPr>
                      <a:r>
                        <a:rPr sz="1250" b="1" i="0">
                          <a:solidFill>
                            <a:srgbClr val="FFCF08"/>
                          </a:solidFill>
                          <a:latin typeface="Avenir"/>
                          <a:ea typeface="Avenir"/>
                          <a:cs typeface="Avenir"/>
                          <a:sym typeface="Avenir"/>
                        </a:rPr>
                        <a:t>What it means</a:t>
                      </a:r>
                    </a:p>
                  </a:txBody>
                  <a:tcPr marL="72000" marR="72000" marT="36000" marB="36000" anchor="ctr">
                    <a:solidFill>
                      <a:srgbClr val="3B41A0"/>
                    </a:solidFill>
                  </a:tcPr>
                </a:tc>
                <a:tc>
                  <a:txBody>
                    <a:bodyPr wrap="square"/>
                    <a:lstStyle/>
                    <a:p>
                      <a:pPr algn="ctr">
                        <a:lnSpc>
                          <a:spcPct val="100000"/>
                        </a:lnSpc>
                      </a:pPr>
                      <a:r>
                        <a:rPr sz="1250" b="1" i="0">
                          <a:solidFill>
                            <a:srgbClr val="FFCF08"/>
                          </a:solidFill>
                          <a:latin typeface="Avenir"/>
                          <a:ea typeface="Avenir"/>
                          <a:cs typeface="Avenir"/>
                          <a:sym typeface="Avenir"/>
                        </a:rPr>
                        <a:t>What to do</a:t>
                      </a:r>
                    </a:p>
                  </a:txBody>
                  <a:tcPr marL="72000" marR="72000" marT="36000" marB="36000" anchor="ctr">
                    <a:solidFill>
                      <a:srgbClr val="3B41A0"/>
                    </a:solidFill>
                  </a:tcPr>
                </a:tc>
              </a:tr>
              <a:tr h="403200">
                <a:tc>
                  <a:txBody>
                    <a:bodyPr wrap="square"/>
                    <a:lstStyle/>
                    <a:p>
                      <a:pPr algn="l">
                        <a:lnSpc>
                          <a:spcPct val="100000"/>
                        </a:lnSpc>
                      </a:pPr>
                      <a:r>
                        <a:rPr sz="1250" b="0" i="0">
                          <a:solidFill>
                            <a:srgbClr val="FFFFFF"/>
                          </a:solidFill>
                          <a:latin typeface="Avenir"/>
                          <a:ea typeface="Avenir"/>
                          <a:cs typeface="Avenir"/>
                          <a:sym typeface="Avenir"/>
                        </a:rPr>
                        <a:t>Serial error at line 16</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The arm is not connected</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Power it on, check the cable, run again</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NameError: name 'cap'</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Camera TODO still empty</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Finish Step 4 before debugging</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No window at all</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Program died before imshow</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Read the traceback from the bottom up</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No skeleton on screen</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No hand found in frame</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Check lighting and hand distance</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Skeleton, circle never red</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Pinch not reaching 0.08</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Tighten the pinch, move the hand closer</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Arm moves the wrong way</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Axis inverted on one direction</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Swap X_MAX and X_MIN, not the function</a:t>
                      </a:r>
                    </a:p>
                  </a:txBody>
                  <a:tcPr marL="72000" marR="72000" marT="36000" marB="36000" anchor="ctr">
                    <a:solidFill>
                      <a:srgbClr val="2E338C"/>
                    </a:solidFill>
                  </a:tcPr>
                </a:tc>
              </a:tr>
              <a:tr h="403200">
                <a:tc>
                  <a:txBody>
                    <a:bodyPr wrap="square"/>
                    <a:lstStyle/>
                    <a:p>
                      <a:pPr algn="l">
                        <a:lnSpc>
                          <a:spcPct val="100000"/>
                        </a:lnSpc>
                      </a:pPr>
                      <a:r>
                        <a:rPr sz="1250" b="0" i="0">
                          <a:solidFill>
                            <a:srgbClr val="FFFFFF"/>
                          </a:solidFill>
                          <a:latin typeface="Avenir"/>
                          <a:ea typeface="Avenir"/>
                          <a:cs typeface="Avenir"/>
                          <a:sym typeface="Avenir"/>
                        </a:rPr>
                        <a:t>Arm will not budge afterwards</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Servos never released</a:t>
                      </a:r>
                    </a:p>
                  </a:txBody>
                  <a:tcPr marL="72000" marR="72000" marT="36000" marB="36000" anchor="ctr">
                    <a:solidFill>
                      <a:srgbClr val="2E338C"/>
                    </a:solidFill>
                  </a:tcPr>
                </a:tc>
                <a:tc>
                  <a:txBody>
                    <a:bodyPr wrap="square"/>
                    <a:lstStyle/>
                    <a:p>
                      <a:pPr algn="ctr">
                        <a:lnSpc>
                          <a:spcPct val="100000"/>
                        </a:lnSpc>
                      </a:pPr>
                      <a:r>
                        <a:rPr sz="1250" b="0" i="0">
                          <a:solidFill>
                            <a:srgbClr val="FFFFFF"/>
                          </a:solidFill>
                          <a:latin typeface="Avenir"/>
                          <a:ea typeface="Avenir"/>
                          <a:cs typeface="Avenir"/>
                          <a:sym typeface="Avenir"/>
                        </a:rPr>
                        <a:t>Put release_all_servos() back</a:t>
                      </a:r>
                    </a:p>
                  </a:txBody>
                  <a:tcPr marL="72000" marR="72000" marT="36000" marB="36000" anchor="ctr">
                    <a:solidFill>
                      <a:srgbClr val="2E338C"/>
                    </a:solidFill>
                  </a:tcPr>
                </a:tc>
              </a:tr>
            </a:tbl>
          </a:graphicData>
        </a:graphic>
      </p:graphicFrame>
      <p:sp>
        <p:nvSpPr>
          <p:cNvPr id="4" name="blk0201"/>
          <p:cNvSpPr txBox="1"/>
          <p:nvPr/>
        </p:nvSpPr>
        <p:spPr>
          <a:xfrm>
            <a:off x="687600" y="5976000"/>
            <a:ext cx="7542000" cy="864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Two of these are not really faults. A silent program with no window is a TODO you have not filled in yet, and an arm that will not move by hand is the servos doing exactly what they were told. Everything else in that table is a real fault, and each one points at a single step.</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0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What the thresholds actually cost</a:t>
            </a:r>
          </a:p>
        </p:txBody>
      </p:sp>
      <p:sp>
        <p:nvSpPr>
          <p:cNvPr id="3" name="blk0203"/>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Project 3 had three thresholds and no way to reason about them. You have four, and you can now say what each one trades away.</a:t>
            </a:r>
          </a:p>
        </p:txBody>
      </p:sp>
      <p:sp>
        <p:nvSpPr>
          <p:cNvPr id="4" name="blk0204"/>
          <p:cNvSpPr/>
          <p:nvPr/>
        </p:nvSpPr>
        <p:spPr>
          <a:xfrm>
            <a:off x="687600" y="338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04"/>
          <p:cNvSpPr txBox="1"/>
          <p:nvPr/>
        </p:nvSpPr>
        <p:spPr>
          <a:xfrm>
            <a:off x="687600" y="338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204"/>
          <p:cNvSpPr txBox="1"/>
          <p:nvPr/>
        </p:nvSpPr>
        <p:spPr>
          <a:xfrm>
            <a:off x="1252800" y="336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0.7 detection confidence</a:t>
            </a:r>
          </a:p>
        </p:txBody>
      </p:sp>
      <p:sp>
        <p:nvSpPr>
          <p:cNvPr id="7" name="blk0204"/>
          <p:cNvSpPr txBox="1"/>
          <p:nvPr/>
        </p:nvSpPr>
        <p:spPr>
          <a:xfrm>
            <a:off x="1252800" y="368280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too low and it invents hands that are not there</a:t>
            </a:r>
          </a:p>
        </p:txBody>
      </p:sp>
      <p:sp>
        <p:nvSpPr>
          <p:cNvPr id="8" name="blk0205"/>
          <p:cNvSpPr/>
          <p:nvPr/>
        </p:nvSpPr>
        <p:spPr>
          <a:xfrm>
            <a:off x="687600" y="408672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05"/>
          <p:cNvSpPr txBox="1"/>
          <p:nvPr/>
        </p:nvSpPr>
        <p:spPr>
          <a:xfrm>
            <a:off x="687600" y="408672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205"/>
          <p:cNvSpPr txBox="1"/>
          <p:nvPr/>
        </p:nvSpPr>
        <p:spPr>
          <a:xfrm>
            <a:off x="1252800" y="406512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0.2 and 0.8 mapping range</a:t>
            </a:r>
          </a:p>
        </p:txBody>
      </p:sp>
      <p:sp>
        <p:nvSpPr>
          <p:cNvPr id="11" name="blk0205"/>
          <p:cNvSpPr txBox="1"/>
          <p:nvPr/>
        </p:nvSpPr>
        <p:spPr>
          <a:xfrm>
            <a:off x="1252800" y="438552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too wide and the arm can be driven to either limit by accident</a:t>
            </a:r>
          </a:p>
        </p:txBody>
      </p:sp>
      <p:sp>
        <p:nvSpPr>
          <p:cNvPr id="12" name="blk0206"/>
          <p:cNvSpPr/>
          <p:nvPr/>
        </p:nvSpPr>
        <p:spPr>
          <a:xfrm>
            <a:off x="687600" y="478944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06"/>
          <p:cNvSpPr txBox="1"/>
          <p:nvPr/>
        </p:nvSpPr>
        <p:spPr>
          <a:xfrm>
            <a:off x="687600" y="478944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206"/>
          <p:cNvSpPr txBox="1"/>
          <p:nvPr/>
        </p:nvSpPr>
        <p:spPr>
          <a:xfrm>
            <a:off x="1252800" y="476784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0.08 pinch distance</a:t>
            </a:r>
          </a:p>
        </p:txBody>
      </p:sp>
      <p:sp>
        <p:nvSpPr>
          <p:cNvPr id="15" name="blk0206"/>
          <p:cNvSpPr txBox="1"/>
          <p:nvPr/>
        </p:nvSpPr>
        <p:spPr>
          <a:xfrm>
            <a:off x="1252800" y="508824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too tight and the gripper will not close on a real object</a:t>
            </a:r>
          </a:p>
        </p:txBody>
      </p:sp>
      <p:sp>
        <p:nvSpPr>
          <p:cNvPr id="16" name="blk0207"/>
          <p:cNvSpPr/>
          <p:nvPr/>
        </p:nvSpPr>
        <p:spPr>
          <a:xfrm>
            <a:off x="687600" y="549216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207"/>
          <p:cNvSpPr txBox="1"/>
          <p:nvPr/>
        </p:nvSpPr>
        <p:spPr>
          <a:xfrm>
            <a:off x="687600" y="549216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207"/>
          <p:cNvSpPr txBox="1"/>
          <p:nvPr/>
        </p:nvSpPr>
        <p:spPr>
          <a:xfrm>
            <a:off x="1252800" y="547056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0.15 command interval</a:t>
            </a:r>
          </a:p>
        </p:txBody>
      </p:sp>
      <p:sp>
        <p:nvSpPr>
          <p:cNvPr id="19" name="blk0207"/>
          <p:cNvSpPr txBox="1"/>
          <p:nvPr/>
        </p:nvSpPr>
        <p:spPr>
          <a:xfrm>
            <a:off x="1252800" y="5790960"/>
            <a:ext cx="8118000" cy="684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too tight and the arm stutters or stops responding entirely</a:t>
            </a:r>
          </a:p>
        </p:txBody>
      </p:sp>
      <p:sp>
        <p:nvSpPr>
          <p:cNvPr id="20" name="blk0208"/>
          <p:cNvSpPr txBox="1"/>
          <p:nvPr/>
        </p:nvSpPr>
        <p:spPr>
          <a:xfrm>
            <a:off x="687600" y="6263999"/>
            <a:ext cx="7542000" cy="93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Every one of them is a trade, not a setting to maximise. A threshold is a decision about which mistake you would rather make — different for a gripper that must not drop something and a display that must not flicker.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547600"/>
            <a:ext cx="8686800" cy="15408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Challenge</a:t>
            </a:r>
          </a:p>
          <a:p>
            <a:pPr algn="l">
              <a:lnSpc>
                <a:spcPct val="100000"/>
              </a:lnSpc>
            </a:pPr>
            <a:r>
              <a:rPr sz="4400" b="0" i="0">
                <a:solidFill>
                  <a:srgbClr val="FFFFFF"/>
                </a:solidFill>
                <a:latin typeface="Bungee"/>
                <a:ea typeface="Bungee"/>
                <a:cs typeface="Bungee"/>
                <a:sym typeface="Bungee"/>
              </a:rPr>
              <a:t>YOUR MOVE</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pic>
        <p:nvPicPr>
          <p:cNvPr id="2" name="Picture 1" descr="image2.png"/>
          <p:cNvPicPr>
            <a:picLocks noChangeAspect="1"/>
          </p:cNvPicPr>
          <p:nvPr/>
        </p:nvPicPr>
        <p:blipFill>
          <a:blip r:embed="rId2"/>
          <a:stretch>
            <a:fillRect/>
          </a:stretch>
        </p:blipFill>
        <p:spPr>
          <a:xfrm>
            <a:off x="6260400" y="1371600"/>
            <a:ext cx="3369600" cy="3434399"/>
          </a:xfrm>
          <a:prstGeom prst="rect">
            <a:avLst/>
          </a:prstGeom>
        </p:spPr>
      </p:pic>
      <p:sp>
        <p:nvSpPr>
          <p:cNvPr id="3" name="blk0209"/>
          <p:cNvSpPr txBox="1"/>
          <p:nvPr/>
        </p:nvSpPr>
        <p:spPr>
          <a:xfrm>
            <a:off x="687600" y="529200"/>
            <a:ext cx="8686800" cy="565200"/>
          </a:xfrm>
          <a:prstGeom prst="rect">
            <a:avLst/>
          </a:prstGeom>
          <a:noFill/>
        </p:spPr>
        <p:txBody>
          <a:bodyPr wrap="square" anchor="t" lIns="0" rIns="0" tIns="0" bIns="0">
            <a:noAutofit/>
          </a:bodyPr>
          <a:lstStyle/>
          <a:p>
            <a:pPr algn="l"/>
            <a:r>
              <a:rPr sz="2400" b="0" i="0">
                <a:solidFill>
                  <a:srgbClr val="FFFFFF"/>
                </a:solidFill>
                <a:latin typeface="Bungee"/>
                <a:ea typeface="Bungee"/>
                <a:cs typeface="Bungee"/>
                <a:sym typeface="Bungee"/>
              </a:rPr>
              <a:t>The Brief</a:t>
            </a:r>
          </a:p>
        </p:txBody>
      </p:sp>
      <p:sp>
        <p:nvSpPr>
          <p:cNvPr id="4" name="blk0210"/>
          <p:cNvSpPr txBox="1"/>
          <p:nvPr/>
        </p:nvSpPr>
        <p:spPr>
          <a:xfrm>
            <a:off x="687600" y="13356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Make the arm copy your hand.</a:t>
            </a:r>
          </a:p>
          <a:p>
            <a:pPr algn="l">
              <a:lnSpc>
                <a:spcPct val="100000"/>
              </a:lnSpc>
            </a:pPr>
            <a:r>
              <a:rPr sz="2027" b="0" i="0">
                <a:solidFill>
                  <a:srgbClr val="FFFFFF"/>
                </a:solidFill>
                <a:latin typeface="Avenir"/>
                <a:ea typeface="Avenir"/>
                <a:cs typeface="Avenir"/>
                <a:sym typeface="Avenir"/>
              </a:rPr>
              <a:t>Move your hand and the arm follows. Pinch and the gripper closes. Keep it smooth, keep it safe, and keep it inside the workspace.</a:t>
            </a:r>
          </a:p>
          <a:p>
            <a:pPr algn="l">
              <a:lnSpc>
                <a:spcPct val="100000"/>
              </a:lnSpc>
            </a:pPr>
            <a:r>
              <a:rPr sz="2027" b="0" i="0">
                <a:solidFill>
                  <a:srgbClr val="FFFFFF"/>
                </a:solidFill>
                <a:latin typeface="Avenir"/>
                <a:ea typeface="Avenir"/>
                <a:cs typeface="Avenir"/>
                <a:sym typeface="Avenir"/>
              </a:rPr>
              <a:t>Every decision is already made for you in the constants at the top of the file. Your job is not to choose safety — it is to understand why it was chosen, well enough to explain it.</a:t>
            </a:r>
          </a:p>
        </p:txBody>
      </p:sp>
      <p:sp>
        <p:nvSpPr>
          <p:cNvPr id="5" name="blk0211"/>
          <p:cNvSpPr/>
          <p:nvPr/>
        </p:nvSpPr>
        <p:spPr>
          <a:xfrm>
            <a:off x="705600" y="4752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11"/>
          <p:cNvSpPr txBox="1"/>
          <p:nvPr/>
        </p:nvSpPr>
        <p:spPr>
          <a:xfrm>
            <a:off x="1252800" y="4730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arm tracks a single hand, in two axes, at a fixed height.</a:t>
            </a:r>
          </a:p>
        </p:txBody>
      </p:sp>
      <p:sp>
        <p:nvSpPr>
          <p:cNvPr id="7" name="blk0212"/>
          <p:cNvSpPr/>
          <p:nvPr/>
        </p:nvSpPr>
        <p:spPr>
          <a:xfrm>
            <a:off x="705600" y="540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lk0212"/>
          <p:cNvSpPr txBox="1"/>
          <p:nvPr/>
        </p:nvSpPr>
        <p:spPr>
          <a:xfrm>
            <a:off x="1252800" y="5378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gripper responds to a pinch, and nothing else.</a:t>
            </a:r>
          </a:p>
        </p:txBody>
      </p:sp>
      <p:sp>
        <p:nvSpPr>
          <p:cNvPr id="9" name="blk0213"/>
          <p:cNvSpPr/>
          <p:nvPr/>
        </p:nvSpPr>
        <p:spPr>
          <a:xfrm>
            <a:off x="705600" y="6048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blk0213"/>
          <p:cNvSpPr txBox="1"/>
          <p:nvPr/>
        </p:nvSpPr>
        <p:spPr>
          <a:xfrm>
            <a:off x="1252800" y="6026400"/>
            <a:ext cx="8118000" cy="648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arm never leaves the workspace, whatever your hand does.</a:t>
            </a:r>
          </a:p>
        </p:txBody>
      </p:sp>
      <p:sp>
        <p:nvSpPr>
          <p:cNvPr id="11" name="blk0214"/>
          <p:cNvSpPr/>
          <p:nvPr/>
        </p:nvSpPr>
        <p:spPr>
          <a:xfrm>
            <a:off x="705600" y="6696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blk0214"/>
          <p:cNvSpPr txBox="1"/>
          <p:nvPr/>
        </p:nvSpPr>
        <p:spPr>
          <a:xfrm>
            <a:off x="1252800" y="6674400"/>
            <a:ext cx="8118000" cy="503999"/>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The servos are released when you stop.</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1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MISSION: </a:t>
            </a:r>
            <a:r>
              <a:rPr sz="2827" b="0" i="0">
                <a:solidFill>
                  <a:srgbClr val="FFFFFF"/>
                </a:solidFill>
                <a:latin typeface="Bungee"/>
                <a:ea typeface="Bungee"/>
                <a:cs typeface="Bungee"/>
                <a:sym typeface="Bungee"/>
              </a:rPr>
              <a:t>SMOOTH OR IT DOES NOT COUNT</a:t>
            </a:r>
          </a:p>
        </p:txBody>
      </p:sp>
      <p:sp>
        <p:nvSpPr>
          <p:cNvPr id="3" name="blk0216"/>
          <p:cNvSpPr txBox="1"/>
          <p:nvPr/>
        </p:nvSpPr>
        <p:spPr>
          <a:xfrm>
            <a:off x="687600" y="1657269"/>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A control loop is judged on how it behaves while nothing is wrong. Get these four and the project is finished:</a:t>
            </a:r>
          </a:p>
        </p:txBody>
      </p:sp>
      <p:sp>
        <p:nvSpPr>
          <p:cNvPr id="4" name="blk0217"/>
          <p:cNvSpPr/>
          <p:nvPr/>
        </p:nvSpPr>
        <p:spPr>
          <a:xfrm>
            <a:off x="687600" y="3168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17"/>
          <p:cNvSpPr txBox="1"/>
          <p:nvPr/>
        </p:nvSpPr>
        <p:spPr>
          <a:xfrm>
            <a:off x="687600" y="3168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1</a:t>
            </a:r>
          </a:p>
        </p:txBody>
      </p:sp>
      <p:sp>
        <p:nvSpPr>
          <p:cNvPr id="6" name="blk0217"/>
          <p:cNvSpPr txBox="1"/>
          <p:nvPr/>
        </p:nvSpPr>
        <p:spPr>
          <a:xfrm>
            <a:off x="1252800" y="3146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your hand left. The arm moves left.</a:t>
            </a:r>
          </a:p>
        </p:txBody>
      </p:sp>
      <p:sp>
        <p:nvSpPr>
          <p:cNvPr id="7" name="blk0217"/>
          <p:cNvSpPr txBox="1"/>
          <p:nvPr/>
        </p:nvSpPr>
        <p:spPr>
          <a:xfrm>
            <a:off x="1252800" y="3466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Not right. If it is inverted, fix the map, not the flip.</a:t>
            </a:r>
          </a:p>
        </p:txBody>
      </p:sp>
      <p:sp>
        <p:nvSpPr>
          <p:cNvPr id="8" name="blk0218"/>
          <p:cNvSpPr/>
          <p:nvPr/>
        </p:nvSpPr>
        <p:spPr>
          <a:xfrm>
            <a:off x="687600" y="3924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18"/>
          <p:cNvSpPr txBox="1"/>
          <p:nvPr/>
        </p:nvSpPr>
        <p:spPr>
          <a:xfrm>
            <a:off x="687600" y="3924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2</a:t>
            </a:r>
          </a:p>
        </p:txBody>
      </p:sp>
      <p:sp>
        <p:nvSpPr>
          <p:cNvPr id="10" name="blk0218"/>
          <p:cNvSpPr txBox="1"/>
          <p:nvPr/>
        </p:nvSpPr>
        <p:spPr>
          <a:xfrm>
            <a:off x="1252800" y="3902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Raise your hand. The arm reaches forward.</a:t>
            </a:r>
          </a:p>
        </p:txBody>
      </p:sp>
      <p:sp>
        <p:nvSpPr>
          <p:cNvPr id="11" name="blk0218"/>
          <p:cNvSpPr txBox="1"/>
          <p:nvPr/>
        </p:nvSpPr>
        <p:spPr>
          <a:xfrm>
            <a:off x="1252800" y="4222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X_MAX and X_MIN in that order, on purpose.</a:t>
            </a:r>
          </a:p>
        </p:txBody>
      </p:sp>
      <p:sp>
        <p:nvSpPr>
          <p:cNvPr id="12" name="blk0219"/>
          <p:cNvSpPr/>
          <p:nvPr/>
        </p:nvSpPr>
        <p:spPr>
          <a:xfrm>
            <a:off x="687600" y="4680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19"/>
          <p:cNvSpPr txBox="1"/>
          <p:nvPr/>
        </p:nvSpPr>
        <p:spPr>
          <a:xfrm>
            <a:off x="687600" y="4680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3</a:t>
            </a:r>
          </a:p>
        </p:txBody>
      </p:sp>
      <p:sp>
        <p:nvSpPr>
          <p:cNvPr id="14" name="blk0219"/>
          <p:cNvSpPr txBox="1"/>
          <p:nvPr/>
        </p:nvSpPr>
        <p:spPr>
          <a:xfrm>
            <a:off x="1252800" y="4658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Pinch. The gripper closes. Open. It releases.</a:t>
            </a:r>
          </a:p>
        </p:txBody>
      </p:sp>
      <p:sp>
        <p:nvSpPr>
          <p:cNvPr id="15" name="blk0219"/>
          <p:cNvSpPr txBox="1"/>
          <p:nvPr/>
        </p:nvSpPr>
        <p:spPr>
          <a:xfrm>
            <a:off x="1252800" y="4978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Green circle to red circle, no drift in between.</a:t>
            </a:r>
          </a:p>
        </p:txBody>
      </p:sp>
      <p:sp>
        <p:nvSpPr>
          <p:cNvPr id="16" name="blk0220"/>
          <p:cNvSpPr/>
          <p:nvPr/>
        </p:nvSpPr>
        <p:spPr>
          <a:xfrm>
            <a:off x="687600" y="5436000"/>
            <a:ext cx="385200" cy="3852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lk0220"/>
          <p:cNvSpPr txBox="1"/>
          <p:nvPr/>
        </p:nvSpPr>
        <p:spPr>
          <a:xfrm>
            <a:off x="687600" y="5436000"/>
            <a:ext cx="385200" cy="385200"/>
          </a:xfrm>
          <a:prstGeom prst="rect">
            <a:avLst/>
          </a:prstGeom>
          <a:noFill/>
        </p:spPr>
        <p:txBody>
          <a:bodyPr wrap="square" anchor="ctr" lIns="0" rIns="0" tIns="0" bIns="0">
            <a:noAutofit/>
          </a:bodyPr>
          <a:lstStyle/>
          <a:p>
            <a:pPr algn="ctr"/>
            <a:r>
              <a:rPr sz="1300" b="0" i="0">
                <a:solidFill>
                  <a:srgbClr val="2E338C"/>
                </a:solidFill>
                <a:latin typeface="Bungee"/>
                <a:ea typeface="Bungee"/>
                <a:cs typeface="Bungee"/>
                <a:sym typeface="Bungee"/>
              </a:rPr>
              <a:t>4</a:t>
            </a:r>
          </a:p>
        </p:txBody>
      </p:sp>
      <p:sp>
        <p:nvSpPr>
          <p:cNvPr id="18" name="blk0220"/>
          <p:cNvSpPr txBox="1"/>
          <p:nvPr/>
        </p:nvSpPr>
        <p:spPr>
          <a:xfrm>
            <a:off x="1252800" y="5414400"/>
            <a:ext cx="8118000" cy="342000"/>
          </a:xfrm>
          <a:prstGeom prst="rect">
            <a:avLst/>
          </a:prstGeom>
          <a:noFill/>
        </p:spPr>
        <p:txBody>
          <a:bodyPr wrap="square" anchor="t" lIns="0" rIns="0" tIns="0" bIns="0">
            <a:noAutofit/>
          </a:bodyPr>
          <a:lstStyle/>
          <a:p>
            <a:pPr algn="l"/>
            <a:r>
              <a:rPr sz="1650" b="1" i="0">
                <a:solidFill>
                  <a:srgbClr val="FFCF08"/>
                </a:solidFill>
                <a:latin typeface="Avenir"/>
                <a:ea typeface="Avenir"/>
                <a:cs typeface="Avenir"/>
                <a:sym typeface="Avenir"/>
              </a:rPr>
              <a:t>Move fast. The arm does not stutter.</a:t>
            </a:r>
          </a:p>
        </p:txBody>
      </p:sp>
      <p:sp>
        <p:nvSpPr>
          <p:cNvPr id="19" name="blk0220"/>
          <p:cNvSpPr txBox="1"/>
          <p:nvPr/>
        </p:nvSpPr>
        <p:spPr>
          <a:xfrm>
            <a:off x="1252800" y="5734800"/>
            <a:ext cx="8118000" cy="756000"/>
          </a:xfrm>
          <a:prstGeom prst="rect">
            <a:avLst/>
          </a:prstGeom>
          <a:noFill/>
        </p:spPr>
        <p:txBody>
          <a:bodyPr wrap="square" anchor="t" lIns="0" rIns="0" tIns="0" bIns="0">
            <a:noAutofit/>
          </a:bodyPr>
          <a:lstStyle/>
          <a:p>
            <a:pPr algn="l">
              <a:lnSpc>
                <a:spcPct val="120000"/>
              </a:lnSpc>
            </a:pPr>
            <a:r>
              <a:rPr sz="1500" b="0" i="0">
                <a:solidFill>
                  <a:srgbClr val="FFFFFF"/>
                </a:solidFill>
                <a:latin typeface="Avenir"/>
                <a:ea typeface="Avenir"/>
                <a:cs typeface="Avenir"/>
                <a:sym typeface="Avenir"/>
              </a:rPr>
              <a:t>If it judders, COMMAND_INTERVAL is too small.</a:t>
            </a:r>
          </a:p>
        </p:txBody>
      </p:sp>
      <p:sp>
        <p:nvSpPr>
          <p:cNvPr id="20" name="blk0221"/>
          <p:cNvSpPr/>
          <p:nvPr/>
        </p:nvSpPr>
        <p:spPr>
          <a:xfrm>
            <a:off x="687600" y="6336000"/>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lk0221"/>
          <p:cNvSpPr/>
          <p:nvPr/>
        </p:nvSpPr>
        <p:spPr>
          <a:xfrm>
            <a:off x="885600" y="6787080"/>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blk0221"/>
          <p:cNvSpPr txBox="1"/>
          <p:nvPr/>
        </p:nvSpPr>
        <p:spPr>
          <a:xfrm>
            <a:off x="1162800" y="6480000"/>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Take your hand out of frame. The arm must stay exactly where it was and say nothing new. If it keeps moving, </a:t>
            </a:r>
            <a:r>
              <a:rPr sz="1290" b="0" i="1">
                <a:solidFill>
                  <a:srgbClr val="FFCF08"/>
                </a:solidFill>
                <a:latin typeface="Courier New"/>
                <a:ea typeface="Courier New"/>
                <a:cs typeface="Courier New"/>
                <a:sym typeface="Courier New"/>
              </a:rPr>
              <a:t>you have given it an instruction during a frame with no hand in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2"/>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YOUR DATA LOG</a:t>
            </a:r>
          </a:p>
        </p:txBody>
      </p:sp>
      <p:sp>
        <p:nvSpPr>
          <p:cNvPr id="3" name="blk0223"/>
          <p:cNvSpPr txBox="1"/>
          <p:nvPr/>
        </p:nvSpPr>
        <p:spPr>
          <a:xfrm>
            <a:off x="687600" y="144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Fill this in before you change any threshold. Every row should be a measurement, not a guess.</a:t>
            </a:r>
          </a:p>
        </p:txBody>
      </p:sp>
      <p:graphicFrame>
        <p:nvGraphicFramePr>
          <p:cNvPr id="4" name="blk0224"/>
          <p:cNvGraphicFramePr>
            <a:graphicFrameLocks noGrp="1"/>
          </p:cNvGraphicFramePr>
          <p:nvPr/>
        </p:nvGraphicFramePr>
        <p:xfrm>
          <a:off x="687600" y="2165829"/>
          <a:ext cx="8686800" cy="3383993"/>
        </p:xfrm>
        <a:graphic>
          <a:graphicData uri="http://schemas.openxmlformats.org/drawingml/2006/table">
            <a:tbl>
              <a:tblPr firstRow="0" bandRow="0"/>
              <a:tblGrid>
                <a:gridCol w="2160000"/>
                <a:gridCol w="1260000"/>
                <a:gridCol w="1260000"/>
                <a:gridCol w="1080000"/>
                <a:gridCol w="2926800"/>
              </a:tblGrid>
              <a:tr h="486000">
                <a:tc>
                  <a:txBody>
                    <a:bodyPr wrap="square"/>
                    <a:lstStyle/>
                    <a:p>
                      <a:pPr algn="l">
                        <a:lnSpc>
                          <a:spcPct val="100000"/>
                        </a:lnSpc>
                      </a:pPr>
                      <a:r>
                        <a:rPr sz="1200" b="1" i="0">
                          <a:solidFill>
                            <a:srgbClr val="FFCF08"/>
                          </a:solidFill>
                          <a:latin typeface="Avenir"/>
                          <a:ea typeface="Avenir"/>
                          <a:cs typeface="Avenir"/>
                          <a:sym typeface="Avenir"/>
                        </a:rPr>
                        <a:t>Where your hand is</a:t>
                      </a:r>
                    </a:p>
                  </a:txBody>
                  <a:tcPr marL="72000" marR="72000" marT="36000" marB="36000" anchor="ctr">
                    <a:solidFill>
                      <a:srgbClr val="3B41A0"/>
                    </a:solidFill>
                  </a:tcPr>
                </a:tc>
                <a:tc>
                  <a:txBody>
                    <a:bodyPr wrap="square"/>
                    <a:lstStyle/>
                    <a:p>
                      <a:pPr algn="ctr">
                        <a:lnSpc>
                          <a:spcPct val="100000"/>
                        </a:lnSpc>
                      </a:pPr>
                      <a:r>
                        <a:rPr sz="1200" b="1" i="0">
                          <a:solidFill>
                            <a:srgbClr val="FFCF08"/>
                          </a:solidFill>
                          <a:latin typeface="Avenir"/>
                          <a:ea typeface="Avenir"/>
                          <a:cs typeface="Avenir"/>
                          <a:sym typeface="Avenir"/>
                        </a:rPr>
                        <a:t>X commanded</a:t>
                      </a:r>
                    </a:p>
                  </a:txBody>
                  <a:tcPr marL="72000" marR="72000" marT="36000" marB="36000" anchor="ctr">
                    <a:solidFill>
                      <a:srgbClr val="3B41A0"/>
                    </a:solidFill>
                  </a:tcPr>
                </a:tc>
                <a:tc>
                  <a:txBody>
                    <a:bodyPr wrap="square"/>
                    <a:lstStyle/>
                    <a:p>
                      <a:pPr algn="ctr">
                        <a:lnSpc>
                          <a:spcPct val="100000"/>
                        </a:lnSpc>
                      </a:pPr>
                      <a:r>
                        <a:rPr sz="1200" b="1" i="0">
                          <a:solidFill>
                            <a:srgbClr val="FFCF08"/>
                          </a:solidFill>
                          <a:latin typeface="Avenir"/>
                          <a:ea typeface="Avenir"/>
                          <a:cs typeface="Avenir"/>
                          <a:sym typeface="Avenir"/>
                        </a:rPr>
                        <a:t>Y commanded</a:t>
                      </a:r>
                    </a:p>
                  </a:txBody>
                  <a:tcPr marL="72000" marR="72000" marT="36000" marB="36000" anchor="ctr">
                    <a:solidFill>
                      <a:srgbClr val="3B41A0"/>
                    </a:solidFill>
                  </a:tcPr>
                </a:tc>
                <a:tc>
                  <a:txBody>
                    <a:bodyPr wrap="square"/>
                    <a:lstStyle/>
                    <a:p>
                      <a:pPr algn="ctr">
                        <a:lnSpc>
                          <a:spcPct val="100000"/>
                        </a:lnSpc>
                      </a:pPr>
                      <a:r>
                        <a:rPr sz="1200" b="1" i="0">
                          <a:solidFill>
                            <a:srgbClr val="FFCF08"/>
                          </a:solidFill>
                          <a:latin typeface="Avenir"/>
                          <a:ea typeface="Avenir"/>
                          <a:cs typeface="Avenir"/>
                          <a:sym typeface="Avenir"/>
                        </a:rPr>
                        <a:t>Gripper</a:t>
                      </a:r>
                    </a:p>
                  </a:txBody>
                  <a:tcPr marL="72000" marR="72000" marT="36000" marB="36000" anchor="ctr">
                    <a:solidFill>
                      <a:srgbClr val="3B41A0"/>
                    </a:solidFill>
                  </a:tcPr>
                </a:tc>
                <a:tc>
                  <a:txBody>
                    <a:bodyPr wrap="square"/>
                    <a:lstStyle/>
                    <a:p>
                      <a:pPr algn="ctr">
                        <a:lnSpc>
                          <a:spcPct val="100000"/>
                        </a:lnSpc>
                      </a:pPr>
                      <a:r>
                        <a:rPr sz="1200" b="1" i="0">
                          <a:solidFill>
                            <a:srgbClr val="FFCF08"/>
                          </a:solidFill>
                          <a:latin typeface="Avenir"/>
                          <a:ea typeface="Avenir"/>
                          <a:cs typeface="Avenir"/>
                          <a:sym typeface="Avenir"/>
                        </a:rPr>
                        <a:t>Did it feel right?</a:t>
                      </a:r>
                    </a:p>
                  </a:txBody>
                  <a:tcPr marL="72000" marR="72000" marT="36000" marB="36000" anchor="ctr">
                    <a:solidFill>
                      <a:srgbClr val="3B41A0"/>
                    </a:solidFill>
                  </a:tcPr>
                </a:tc>
              </a:tr>
              <a:tr h="413999">
                <a:tc>
                  <a:txBody>
                    <a:bodyPr wrap="square"/>
                    <a:lstStyle/>
                    <a:p>
                      <a:pPr algn="l">
                        <a:lnSpc>
                          <a:spcPct val="100000"/>
                        </a:lnSpc>
                      </a:pPr>
                      <a:r>
                        <a:rPr sz="1200" b="0" i="0">
                          <a:solidFill>
                            <a:srgbClr val="FFFFFF"/>
                          </a:solidFill>
                          <a:latin typeface="Avenir"/>
                          <a:ea typeface="Avenir"/>
                          <a:cs typeface="Avenir"/>
                          <a:sym typeface="Avenir"/>
                        </a:rPr>
                        <a:t>Low and centred</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Middle and centred</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High and centred</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Middle and far left</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Middle and far right</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Pinched, hand still</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r h="413999">
                <a:tc>
                  <a:txBody>
                    <a:bodyPr wrap="square"/>
                    <a:lstStyle/>
                    <a:p>
                      <a:pPr algn="l">
                        <a:lnSpc>
                          <a:spcPct val="100000"/>
                        </a:lnSpc>
                      </a:pPr>
                      <a:r>
                        <a:rPr sz="1200" b="0" i="0">
                          <a:solidFill>
                            <a:srgbClr val="FFFFFF"/>
                          </a:solidFill>
                          <a:latin typeface="Avenir"/>
                          <a:ea typeface="Avenir"/>
                          <a:cs typeface="Avenir"/>
                          <a:sym typeface="Avenir"/>
                        </a:rPr>
                        <a:t>Hand leaves the frame</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a:t>
                      </a:r>
                    </a:p>
                  </a:txBody>
                  <a:tcPr marL="72000" marR="72000" marT="36000" marB="36000" anchor="ctr">
                    <a:solidFill>
                      <a:srgbClr val="2E338C"/>
                    </a:solidFill>
                  </a:tcPr>
                </a:tc>
                <a:tc>
                  <a:txBody>
                    <a:bodyPr wrap="square"/>
                    <a:lstStyle/>
                    <a:p>
                      <a:pPr algn="ctr">
                        <a:lnSpc>
                          <a:spcPct val="100000"/>
                        </a:lnSpc>
                      </a:pPr>
                      <a:r>
                        <a:rPr sz="1200" b="0" i="0">
                          <a:solidFill>
                            <a:srgbClr val="FFFFFF"/>
                          </a:solidFill>
                          <a:latin typeface="Avenir"/>
                          <a:ea typeface="Avenir"/>
                          <a:cs typeface="Avenir"/>
                          <a:sym typeface="Avenir"/>
                        </a:rPr>
                        <a:t>________________</a:t>
                      </a:r>
                    </a:p>
                  </a:txBody>
                  <a:tcPr marL="72000" marR="72000" marT="36000" marB="36000" anchor="ctr">
                    <a:solidFill>
                      <a:srgbClr val="2E338C"/>
                    </a:solidFill>
                  </a:tcPr>
                </a:tc>
              </a:tr>
            </a:tbl>
          </a:graphicData>
        </a:graphic>
      </p:graphicFrame>
      <p:sp>
        <p:nvSpPr>
          <p:cNvPr id="5" name="blk0225"/>
          <p:cNvSpPr/>
          <p:nvPr/>
        </p:nvSpPr>
        <p:spPr>
          <a:xfrm>
            <a:off x="687600" y="5903999"/>
            <a:ext cx="8686800" cy="1038959"/>
          </a:xfrm>
          <a:prstGeom prst="roundRect">
            <a:avLst>
              <a:gd name="adj" fmla="val 8319"/>
            </a:avLst>
          </a:prstGeom>
          <a:solidFill>
            <a:srgbClr val="3B41A0"/>
          </a:solidFill>
          <a:ln w="12700">
            <a:solidFill>
              <a:srgbClr val="3B41A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blk0225"/>
          <p:cNvSpPr/>
          <p:nvPr/>
        </p:nvSpPr>
        <p:spPr>
          <a:xfrm>
            <a:off x="885600" y="6355079"/>
            <a:ext cx="136800" cy="1368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25"/>
          <p:cNvSpPr txBox="1"/>
          <p:nvPr/>
        </p:nvSpPr>
        <p:spPr>
          <a:xfrm>
            <a:off x="1162800" y="6047999"/>
            <a:ext cx="7956000" cy="750959"/>
          </a:xfrm>
          <a:prstGeom prst="rect">
            <a:avLst/>
          </a:prstGeom>
          <a:noFill/>
        </p:spPr>
        <p:txBody>
          <a:bodyPr wrap="square" anchor="ctr" lIns="0" rIns="0" tIns="0" bIns="0">
            <a:noAutofit/>
          </a:bodyPr>
          <a:lstStyle/>
          <a:p>
            <a:pPr algn="l">
              <a:lnSpc>
                <a:spcPct val="120000"/>
              </a:lnSpc>
            </a:pPr>
            <a:r>
              <a:rPr sz="1500" b="0" i="1">
                <a:solidFill>
                  <a:srgbClr val="FFCF08"/>
                </a:solidFill>
                <a:latin typeface="Avenir"/>
                <a:ea typeface="Avenir"/>
                <a:cs typeface="Avenir"/>
                <a:sym typeface="Avenir"/>
              </a:rPr>
              <a:t>That last row is the one to get right. Write what the arm actually did, not what you hoped it did. If the X and Y cells in that row contain new numbers, </a:t>
            </a:r>
            <a:r>
              <a:rPr sz="1290" b="0" i="1">
                <a:solidFill>
                  <a:srgbClr val="FFCF08"/>
                </a:solidFill>
                <a:latin typeface="Courier New"/>
                <a:ea typeface="Courier New"/>
                <a:cs typeface="Courier New"/>
                <a:sym typeface="Courier New"/>
              </a:rPr>
              <a:t>your program is still instructing the arm with no hand in view.</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26"/>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DEFINITION OF DONE</a:t>
            </a:r>
          </a:p>
        </p:txBody>
      </p:sp>
      <p:sp>
        <p:nvSpPr>
          <p:cNvPr id="3" name="blk0227"/>
          <p:cNvSpPr txBox="1"/>
          <p:nvPr/>
        </p:nvSpPr>
        <p:spPr>
          <a:xfrm>
            <a:off x="687600" y="1512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Tick every line. A project is not finished because the window opens.</a:t>
            </a:r>
          </a:p>
        </p:txBody>
      </p:sp>
      <p:sp>
        <p:nvSpPr>
          <p:cNvPr id="4" name="blk0228"/>
          <p:cNvSpPr/>
          <p:nvPr/>
        </p:nvSpPr>
        <p:spPr>
          <a:xfrm>
            <a:off x="705600" y="252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28"/>
          <p:cNvSpPr txBox="1"/>
          <p:nvPr/>
        </p:nvSpPr>
        <p:spPr>
          <a:xfrm>
            <a:off x="1252800" y="249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All 14 TODOs filled in, with the comments copied as written.</a:t>
            </a:r>
          </a:p>
        </p:txBody>
      </p:sp>
      <p:sp>
        <p:nvSpPr>
          <p:cNvPr id="6" name="blk0229"/>
          <p:cNvSpPr/>
          <p:nvPr/>
        </p:nvSpPr>
        <p:spPr>
          <a:xfrm>
            <a:off x="705600" y="324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29"/>
          <p:cNvSpPr txBox="1"/>
          <p:nvPr/>
        </p:nvSpPr>
        <p:spPr>
          <a:xfrm>
            <a:off x="1252800" y="321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Every threshold in the file explained in one sentence each.</a:t>
            </a:r>
          </a:p>
        </p:txBody>
      </p:sp>
      <p:sp>
        <p:nvSpPr>
          <p:cNvPr id="8" name="blk0230"/>
          <p:cNvSpPr/>
          <p:nvPr/>
        </p:nvSpPr>
        <p:spPr>
          <a:xfrm>
            <a:off x="705600" y="396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0"/>
          <p:cNvSpPr txBox="1"/>
          <p:nvPr/>
        </p:nvSpPr>
        <p:spPr>
          <a:xfrm>
            <a:off x="1252800" y="393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Data log complete for all seven rows.</a:t>
            </a:r>
          </a:p>
        </p:txBody>
      </p:sp>
      <p:sp>
        <p:nvSpPr>
          <p:cNvPr id="10" name="blk0231"/>
          <p:cNvSpPr/>
          <p:nvPr/>
        </p:nvSpPr>
        <p:spPr>
          <a:xfrm>
            <a:off x="705600" y="468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31"/>
          <p:cNvSpPr txBox="1"/>
          <p:nvPr/>
        </p:nvSpPr>
        <p:spPr>
          <a:xfrm>
            <a:off x="1252800" y="465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Hand leaves frame three times: arm holds position, every time.</a:t>
            </a:r>
          </a:p>
        </p:txBody>
      </p:sp>
      <p:sp>
        <p:nvSpPr>
          <p:cNvPr id="12" name="blk0232"/>
          <p:cNvSpPr/>
          <p:nvPr/>
        </p:nvSpPr>
        <p:spPr>
          <a:xfrm>
            <a:off x="705600" y="540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32"/>
          <p:cNvSpPr txBox="1"/>
          <p:nvPr/>
        </p:nvSpPr>
        <p:spPr>
          <a:xfrm>
            <a:off x="1252800" y="537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q exits cleanly, window closes, servos released, arm moves by hand.</a:t>
            </a:r>
          </a:p>
        </p:txBody>
      </p:sp>
      <p:sp>
        <p:nvSpPr>
          <p:cNvPr id="14" name="blk0233"/>
          <p:cNvSpPr/>
          <p:nvPr/>
        </p:nvSpPr>
        <p:spPr>
          <a:xfrm>
            <a:off x="705600" y="6120000"/>
            <a:ext cx="237600" cy="237600"/>
          </a:xfrm>
          <a:prstGeom prst="roundRect">
            <a:avLst>
              <a:gd name="adj" fmla="val 19231"/>
            </a:avLst>
          </a:prstGeom>
          <a:solidFill>
            <a:srgbClr val="2E338C"/>
          </a:solidFill>
          <a:ln w="22225">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blk0233"/>
          <p:cNvSpPr txBox="1"/>
          <p:nvPr/>
        </p:nvSpPr>
        <p:spPr>
          <a:xfrm>
            <a:off x="1252800" y="6098400"/>
            <a:ext cx="8118000" cy="720000"/>
          </a:xfrm>
          <a:prstGeom prst="rect">
            <a:avLst/>
          </a:prstGeom>
          <a:noFill/>
        </p:spPr>
        <p:txBody>
          <a:bodyPr wrap="square" anchor="t" lIns="0" rIns="0" tIns="0" bIns="0">
            <a:noAutofit/>
          </a:bodyPr>
          <a:lstStyle/>
          <a:p>
            <a:pPr algn="l">
              <a:lnSpc>
                <a:spcPct val="120000"/>
              </a:lnSpc>
            </a:pPr>
            <a:r>
              <a:rPr sz="1600" b="0" i="0">
                <a:solidFill>
                  <a:srgbClr val="FFFFFF"/>
                </a:solidFill>
                <a:latin typeface="Avenir"/>
                <a:ea typeface="Avenir"/>
                <a:cs typeface="Avenir"/>
                <a:sym typeface="Avenir"/>
              </a:rPr>
              <a:t>One person’s hand at a time. No exceptions during testing.</a:t>
            </a:r>
          </a:p>
        </p:txBody>
      </p:sp>
      <p:sp>
        <p:nvSpPr>
          <p:cNvPr id="16" name="blk0234"/>
          <p:cNvSpPr txBox="1"/>
          <p:nvPr/>
        </p:nvSpPr>
        <p:spPr>
          <a:xfrm>
            <a:off x="687600" y="6588000"/>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second line is the one that separates someone who ran this once from someone who understands it. The first four are only finished when you can say what each number is for without looking.</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blk0235"/>
          <p:cNvSpPr txBox="1"/>
          <p:nvPr/>
        </p:nvSpPr>
        <p:spPr>
          <a:xfrm>
            <a:off x="687600" y="687600"/>
            <a:ext cx="8686800" cy="435600"/>
          </a:xfrm>
          <a:prstGeom prst="rect">
            <a:avLst/>
          </a:prstGeom>
          <a:noFill/>
        </p:spPr>
        <p:txBody>
          <a:bodyPr wrap="square" anchor="t" lIns="0" rIns="0" tIns="0" bIns="0">
            <a:noAutofit/>
          </a:bodyPr>
          <a:lstStyle/>
          <a:p>
            <a:pPr algn="l"/>
            <a:r>
              <a:rPr sz="2827" b="0" i="0">
                <a:solidFill>
                  <a:srgbClr val="FFFFFF"/>
                </a:solidFill>
                <a:latin typeface="Bungee"/>
                <a:ea typeface="Bungee"/>
                <a:cs typeface="Bungee"/>
                <a:sym typeface="Bungee"/>
              </a:rPr>
              <a:t>GO FURTHER</a:t>
            </a:r>
          </a:p>
        </p:txBody>
      </p:sp>
      <p:sp>
        <p:nvSpPr>
          <p:cNvPr id="3" name="blk0236"/>
          <p:cNvSpPr txBox="1"/>
          <p:nvPr/>
        </p:nvSpPr>
        <p:spPr>
          <a:xfrm>
            <a:off x="687600" y="1350000"/>
            <a:ext cx="7542000" cy="5040000"/>
          </a:xfrm>
          <a:prstGeom prst="rect">
            <a:avLst/>
          </a:prstGeom>
          <a:noFill/>
        </p:spPr>
        <p:txBody>
          <a:bodyPr wrap="square" anchor="t" lIns="0" rIns="0" tIns="0" bIns="0">
            <a:noAutofit/>
          </a:bodyPr>
          <a:lstStyle/>
          <a:p>
            <a:pPr algn="l">
              <a:lnSpc>
                <a:spcPct val="100000"/>
              </a:lnSpc>
            </a:pPr>
            <a:r>
              <a:rPr sz="2027" b="0" i="0">
                <a:solidFill>
                  <a:srgbClr val="FFFFFF"/>
                </a:solidFill>
                <a:latin typeface="Avenir"/>
                <a:ea typeface="Avenir"/>
                <a:cs typeface="Avenir"/>
                <a:sym typeface="Avenir"/>
              </a:rPr>
              <a:t>Each of these is a small change to code you have already written.</a:t>
            </a:r>
          </a:p>
        </p:txBody>
      </p:sp>
      <p:sp>
        <p:nvSpPr>
          <p:cNvPr id="4" name="blk0237"/>
          <p:cNvSpPr/>
          <p:nvPr/>
        </p:nvSpPr>
        <p:spPr>
          <a:xfrm>
            <a:off x="741600" y="2764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blk0237"/>
          <p:cNvSpPr txBox="1"/>
          <p:nvPr/>
        </p:nvSpPr>
        <p:spPr>
          <a:xfrm>
            <a:off x="1252800" y="2736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Smooth it.</a:t>
            </a:r>
            <a:r>
              <a:rPr sz="1600" b="0" i="0">
                <a:solidFill>
                  <a:srgbClr val="FFFFFF"/>
                </a:solidFill>
                <a:latin typeface="Avenir"/>
                <a:ea typeface="Avenir"/>
                <a:cs typeface="Avenir"/>
                <a:sym typeface="Avenir"/>
              </a:rPr>
              <a:t>  Average the last few index_tip values before mapping them, and watch the arm stop trembling. A short list and a sum() will do it.</a:t>
            </a:r>
          </a:p>
        </p:txBody>
      </p:sp>
      <p:sp>
        <p:nvSpPr>
          <p:cNvPr id="6" name="blk0238"/>
          <p:cNvSpPr/>
          <p:nvPr/>
        </p:nvSpPr>
        <p:spPr>
          <a:xfrm>
            <a:off x="741600" y="3592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lk0238"/>
          <p:cNvSpPr txBox="1"/>
          <p:nvPr/>
        </p:nvSpPr>
        <p:spPr>
          <a:xfrm>
            <a:off x="1252800" y="3564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Two hands.</a:t>
            </a:r>
            <a:r>
              <a:rPr sz="1600" b="0" i="0">
                <a:solidFill>
                  <a:srgbClr val="FFFFFF"/>
                </a:solidFill>
                <a:latin typeface="Avenir"/>
                <a:ea typeface="Avenir"/>
                <a:cs typeface="Avenir"/>
                <a:sym typeface="Avenir"/>
              </a:rPr>
              <a:t>  Raise max_num_hands and average both index tips. Now decide what should happen when they disagree.</a:t>
            </a:r>
          </a:p>
        </p:txBody>
      </p:sp>
      <p:sp>
        <p:nvSpPr>
          <p:cNvPr id="8" name="blk0239"/>
          <p:cNvSpPr/>
          <p:nvPr/>
        </p:nvSpPr>
        <p:spPr>
          <a:xfrm>
            <a:off x="741600" y="4420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blk0239"/>
          <p:cNvSpPr txBox="1"/>
          <p:nvPr/>
        </p:nvSpPr>
        <p:spPr>
          <a:xfrm>
            <a:off x="1252800" y="4392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Fingers instead of pinch.</a:t>
            </a:r>
            <a:r>
              <a:rPr sz="1600" b="0" i="0">
                <a:solidFill>
                  <a:srgbClr val="FFFFFF"/>
                </a:solidFill>
                <a:latin typeface="Avenir"/>
                <a:ea typeface="Avenir"/>
                <a:cs typeface="Avenir"/>
                <a:sym typeface="Avenir"/>
              </a:rPr>
              <a:t>  Count how many fingertips sit above the wrist and use that as the gripper command. You already have all 21 landmarks.</a:t>
            </a:r>
          </a:p>
        </p:txBody>
      </p:sp>
      <p:sp>
        <p:nvSpPr>
          <p:cNvPr id="10" name="blk0240"/>
          <p:cNvSpPr/>
          <p:nvPr/>
        </p:nvSpPr>
        <p:spPr>
          <a:xfrm>
            <a:off x="741600" y="5248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blk0240"/>
          <p:cNvSpPr txBox="1"/>
          <p:nvPr/>
        </p:nvSpPr>
        <p:spPr>
          <a:xfrm>
            <a:off x="1252800" y="5220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Record and replay.</a:t>
            </a:r>
            <a:r>
              <a:rPr sz="1600" b="0" i="0">
                <a:solidFill>
                  <a:srgbClr val="FFFFFF"/>
                </a:solidFill>
                <a:latin typeface="Avenir"/>
                <a:ea typeface="Avenir"/>
                <a:cs typeface="Avenir"/>
                <a:sym typeface="Avenir"/>
              </a:rPr>
              <a:t>  Log the X and Y values to a file, then drive the arm from the file instead of from the camera.</a:t>
            </a:r>
          </a:p>
        </p:txBody>
      </p:sp>
      <p:sp>
        <p:nvSpPr>
          <p:cNvPr id="12" name="blk0241"/>
          <p:cNvSpPr/>
          <p:nvPr/>
        </p:nvSpPr>
        <p:spPr>
          <a:xfrm>
            <a:off x="741600" y="6076800"/>
            <a:ext cx="129600" cy="129600"/>
          </a:xfrm>
          <a:prstGeom prst="ellipse">
            <a:avLst/>
          </a:prstGeom>
          <a:solidFill>
            <a:srgbClr val="FFCF08"/>
          </a:solidFill>
          <a:ln w="12700">
            <a:solidFill>
              <a:srgbClr val="FFCF0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lk0241"/>
          <p:cNvSpPr txBox="1"/>
          <p:nvPr/>
        </p:nvSpPr>
        <p:spPr>
          <a:xfrm>
            <a:off x="1252800" y="6048000"/>
            <a:ext cx="8118000" cy="827999"/>
          </a:xfrm>
          <a:prstGeom prst="rect">
            <a:avLst/>
          </a:prstGeom>
          <a:noFill/>
        </p:spPr>
        <p:txBody>
          <a:bodyPr wrap="square" anchor="t" lIns="0" rIns="0" tIns="0" bIns="0">
            <a:noAutofit/>
          </a:bodyPr>
          <a:lstStyle/>
          <a:p>
            <a:pPr algn="l">
              <a:lnSpc>
                <a:spcPct val="120000"/>
              </a:lnSpc>
            </a:pPr>
            <a:r>
              <a:rPr sz="1600" b="1" i="0">
                <a:solidFill>
                  <a:srgbClr val="FFFFFF"/>
                </a:solidFill>
                <a:latin typeface="Google Sans"/>
                <a:ea typeface="Google Sans"/>
                <a:cs typeface="Google Sans"/>
                <a:sym typeface="Google Sans"/>
              </a:rPr>
              <a:t>Make it stop safely.</a:t>
            </a:r>
            <a:r>
              <a:rPr sz="1600" b="0" i="0">
                <a:solidFill>
                  <a:srgbClr val="FFFFFF"/>
                </a:solidFill>
                <a:latin typeface="Avenir"/>
                <a:ea typeface="Avenir"/>
                <a:cs typeface="Avenir"/>
                <a:sym typeface="Avenir"/>
              </a:rPr>
              <a:t>  Have the program return the arm to a home position when it loses the hand, rather than holding still forever.</a:t>
            </a:r>
          </a:p>
        </p:txBody>
      </p:sp>
      <p:sp>
        <p:nvSpPr>
          <p:cNvPr id="14" name="blk0242"/>
          <p:cNvSpPr txBox="1"/>
          <p:nvPr/>
        </p:nvSpPr>
        <p:spPr>
          <a:xfrm>
            <a:off x="687600" y="6741216"/>
            <a:ext cx="7542000" cy="576000"/>
          </a:xfrm>
          <a:prstGeom prst="rect">
            <a:avLst/>
          </a:prstGeom>
          <a:noFill/>
        </p:spPr>
        <p:txBody>
          <a:bodyPr wrap="square" anchor="t" lIns="0" rIns="0" tIns="0" bIns="0">
            <a:noAutofit/>
          </a:bodyPr>
          <a:lstStyle/>
          <a:p>
            <a:pPr algn="l">
              <a:lnSpc>
                <a:spcPct val="120000"/>
              </a:lnSpc>
            </a:pPr>
            <a:r>
              <a:rPr sz="1650" b="0" i="0">
                <a:solidFill>
                  <a:srgbClr val="FFFFFF"/>
                </a:solidFill>
                <a:latin typeface="Avenir"/>
                <a:ea typeface="Avenir"/>
                <a:cs typeface="Avenir"/>
                <a:sym typeface="Avenir"/>
              </a:rPr>
              <a:t>The first one is the most valuable and the least dramatic. Most of the work is deciding how much of the noise to believe.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2E338C"/>
        </a:solidFill>
        <a:effectLst/>
      </p:bgPr>
    </p:bg>
    <p:spTree>
      <p:nvGrpSpPr>
        <p:cNvPr id="1" name=""/>
        <p:cNvGrpSpPr/>
        <p:nvPr/>
      </p:nvGrpSpPr>
      <p:grpSpPr/>
      <p:sp>
        <p:nvSpPr>
          <p:cNvPr id="2" name="TextBox 1"/>
          <p:cNvSpPr txBox="1"/>
          <p:nvPr/>
        </p:nvSpPr>
        <p:spPr>
          <a:xfrm>
            <a:off x="687600" y="5040000"/>
            <a:ext cx="8686800" cy="1980000"/>
          </a:xfrm>
          <a:prstGeom prst="rect">
            <a:avLst/>
          </a:prstGeom>
          <a:noFill/>
        </p:spPr>
        <p:txBody>
          <a:bodyPr wrap="square" anchor="ctr" lIns="0" rIns="0" tIns="0" bIns="0">
            <a:noAutofit/>
          </a:bodyPr>
          <a:lstStyle/>
          <a:p>
            <a:pPr algn="l">
              <a:lnSpc>
                <a:spcPct val="100000"/>
              </a:lnSpc>
            </a:pPr>
            <a:r>
              <a:rPr sz="4400" b="0" i="0">
                <a:solidFill>
                  <a:srgbClr val="FFCF08"/>
                </a:solidFill>
                <a:latin typeface="Bungee"/>
                <a:ea typeface="Bungee"/>
                <a:cs typeface="Bungee"/>
                <a:sym typeface="Bungee"/>
              </a:rPr>
              <a:t>MISSION</a:t>
            </a:r>
          </a:p>
          <a:p>
            <a:pPr algn="l">
              <a:lnSpc>
                <a:spcPct val="100000"/>
              </a:lnSpc>
            </a:pPr>
            <a:r>
              <a:rPr sz="4400" b="0" i="0">
                <a:solidFill>
                  <a:srgbClr val="FFFFFF"/>
                </a:solidFill>
                <a:latin typeface="Bungee"/>
                <a:ea typeface="Bungee"/>
                <a:cs typeface="Bungee"/>
                <a:sym typeface="Bungee"/>
              </a:rPr>
              <a:t>DEBRIEF</a:t>
            </a: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