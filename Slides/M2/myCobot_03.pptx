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3</a:t>
            </a:r>
          </a:p>
          <a:p>
            <a:pPr algn="l">
              <a:lnSpc>
                <a:spcPct val="100000"/>
              </a:lnSpc>
            </a:pPr>
            <a:r>
              <a:rPr sz="4400" b="0" i="0">
                <a:solidFill>
                  <a:srgbClr val="FFFFFF"/>
                </a:solidFill>
                <a:latin typeface="Bungee"/>
                <a:ea typeface="Bungee"/>
                <a:cs typeface="Bungee"/>
                <a:sym typeface="Bungee"/>
              </a:rPr>
              <a:t>Recognising Objects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What’s </a:t>
            </a:r>
            <a:r>
              <a:rPr sz="2827" b="0" i="0">
                <a:solidFill>
                  <a:srgbClr val="FFFFFF"/>
                </a:solidFill>
                <a:latin typeface="Bungee"/>
                <a:ea typeface="Bungee"/>
                <a:cs typeface="Bungee"/>
                <a:sym typeface="Bungee"/>
              </a:rPr>
              <a:t>next</a:t>
            </a:r>
            <a:r>
              <a:rPr sz="2827" b="0" i="0">
                <a:solidFill>
                  <a:srgbClr val="FFFFFF"/>
                </a:solidFill>
                <a:latin typeface="Bungee"/>
                <a:ea typeface="Bungee"/>
                <a:cs typeface="Bungee"/>
                <a:sym typeface="Bungee"/>
              </a:rPr>
              <a:t>?</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1 taught the computer to measure a shape. Project 2 taught it to measure a </a:t>
            </a:r>
            <a:r>
              <a:rPr sz="2027" b="1" i="0">
                <a:solidFill>
                  <a:srgbClr val="FFFFFF"/>
                </a:solidFill>
                <a:latin typeface="Google Sans"/>
                <a:ea typeface="Google Sans"/>
                <a:cs typeface="Google Sans"/>
                <a:sym typeface="Google Sans"/>
              </a:rPr>
              <a:t>position</a:t>
            </a:r>
            <a:r>
              <a:rPr sz="2027" b="0" i="0">
                <a:solidFill>
                  <a:srgbClr val="FFFFFF"/>
                </a:solidFill>
                <a:latin typeface="Avenir"/>
                <a:ea typeface="Avenir"/>
                <a:cs typeface="Avenir"/>
                <a:sym typeface="Avenir"/>
              </a:rPr>
              <a:t> in millimetres. Both of those were things </a:t>
            </a:r>
            <a:r>
              <a:rPr sz="2027" b="0" i="1">
                <a:solidFill>
                  <a:srgbClr val="FFCF08"/>
                </a:solidFill>
                <a:latin typeface="Avenir"/>
                <a:ea typeface="Avenir"/>
                <a:cs typeface="Avenir"/>
                <a:sym typeface="Avenir"/>
              </a:rPr>
              <a:t>you</a:t>
            </a:r>
            <a:r>
              <a:rPr sz="2027" b="0" i="0">
                <a:solidFill>
                  <a:srgbClr val="FFFFFF"/>
                </a:solidFill>
                <a:latin typeface="Avenir"/>
                <a:ea typeface="Avenir"/>
                <a:cs typeface="Avenir"/>
                <a:sym typeface="Avenir"/>
              </a:rPr>
              <a:t> told it how to look for.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project is different in kind. You are not writing the rules any more. You are loading a model that somebody else trained on hundreds of thousands of labelled photographs, and asking it what it can see.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rules now live in a file called </a:t>
            </a:r>
            <a:r>
              <a:rPr sz="1743" b="0" i="0">
                <a:solidFill>
                  <a:srgbClr val="FFFFFF"/>
                </a:solidFill>
                <a:latin typeface="Courier New"/>
                <a:ea typeface="Courier New"/>
                <a:cs typeface="Courier New"/>
                <a:sym typeface="Courier New"/>
              </a:rPr>
              <a:t>yolov5s.onnx</a:t>
            </a:r>
            <a:r>
              <a:rPr sz="2027" b="0" i="0">
                <a:solidFill>
                  <a:srgbClr val="FFFFFF"/>
                </a:solidFill>
                <a:latin typeface="Avenir"/>
                <a:ea typeface="Avenir"/>
                <a:cs typeface="Avenir"/>
                <a:sym typeface="Avenir"/>
              </a:rPr>
              <a:t>, twenty-nine megabytes of arithmetic. Your program’s job is to feed it a picture, read the answer back out, and decide what to do with it.</a:t>
            </a:r>
          </a:p>
        </p:txBody>
      </p:sp>
      <p:sp>
        <p:nvSpPr>
          <p:cNvPr id="4" name="blk0003"/>
          <p:cNvSpPr txBox="1"/>
          <p:nvPr/>
        </p:nvSpPr>
        <p:spPr>
          <a:xfrm>
            <a:off x="687600" y="5472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first project in the module where the interesting decisions are about trust rather than accuracy. A neural network will always answer, even when it is guessing. Learning to tell the difference is the real skill.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YOLO will </a:t>
            </a:r>
            <a:r>
              <a:rPr sz="2827" b="0" i="0">
                <a:solidFill>
                  <a:srgbClr val="FFFFFF"/>
                </a:solidFill>
                <a:latin typeface="Bungee"/>
                <a:ea typeface="Bungee"/>
                <a:cs typeface="Bungee"/>
                <a:sym typeface="Bungee"/>
              </a:rPr>
              <a:t>not</a:t>
            </a:r>
            <a:r>
              <a:rPr sz="2827" b="0" i="0">
                <a:solidFill>
                  <a:srgbClr val="FFFFFF"/>
                </a:solidFill>
                <a:latin typeface="Bungee"/>
                <a:ea typeface="Bungee"/>
                <a:cs typeface="Bungee"/>
                <a:sym typeface="Bungee"/>
              </a:rPr>
              <a:t> do</a:t>
            </a:r>
          </a:p>
        </p:txBody>
      </p:sp>
      <p:sp>
        <p:nvSpPr>
          <p:cNvPr id="3" name="blk000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Your shape detector worked on </a:t>
            </a:r>
            <a:r>
              <a:rPr sz="2027" b="0" i="1">
                <a:solidFill>
                  <a:srgbClr val="FFCF08"/>
                </a:solidFill>
                <a:latin typeface="Avenir"/>
                <a:ea typeface="Avenir"/>
                <a:cs typeface="Avenir"/>
                <a:sym typeface="Avenir"/>
              </a:rPr>
              <a:t>any</a:t>
            </a:r>
            <a:r>
              <a:rPr sz="2027" b="0" i="0">
                <a:solidFill>
                  <a:srgbClr val="FFFFFF"/>
                </a:solidFill>
                <a:latin typeface="Avenir"/>
                <a:ea typeface="Avenir"/>
                <a:cs typeface="Avenir"/>
                <a:sym typeface="Avenir"/>
              </a:rPr>
              <a:t> triangle, square, circle or rectangle you could draw on a piece of paper. If it had four corners and straight edges, it found them.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model in this project knows </a:t>
            </a:r>
            <a:r>
              <a:rPr sz="2027" b="1" i="0">
                <a:solidFill>
                  <a:srgbClr val="FFFFFF"/>
                </a:solidFill>
                <a:latin typeface="Google Sans"/>
                <a:ea typeface="Google Sans"/>
                <a:cs typeface="Google Sans"/>
                <a:sym typeface="Google Sans"/>
              </a:rPr>
              <a:t>eighty specific things</a:t>
            </a:r>
            <a:r>
              <a:rPr sz="2027" b="0" i="0">
                <a:solidFill>
                  <a:srgbClr val="FFFFFF"/>
                </a:solidFill>
                <a:latin typeface="Avenir"/>
                <a:ea typeface="Avenir"/>
                <a:cs typeface="Avenir"/>
                <a:sym typeface="Avenir"/>
              </a:rPr>
              <a:t> and nothing else. Hold up a hand-printed kite and it will not be recognised, because a kite is not one of the eighty. Hold up a pair of scissors and it will be.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That is not a flaw in the model. It is what "trained" means: somebody showed it pictures of eighty categories and labelled every one, and it learned those. It has never seen your project.</a:t>
            </a:r>
          </a:p>
        </p:txBody>
      </p:sp>
      <p:sp>
        <p:nvSpPr>
          <p:cNvPr id="4" name="blk0006"/>
          <p:cNvSpPr/>
          <p:nvPr/>
        </p:nvSpPr>
        <p:spPr>
          <a:xfrm>
            <a:off x="687600" y="5368126"/>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6"/>
          <p:cNvSpPr/>
          <p:nvPr/>
        </p:nvSpPr>
        <p:spPr>
          <a:xfrm>
            <a:off x="885600" y="581920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06"/>
          <p:cNvSpPr txBox="1"/>
          <p:nvPr/>
        </p:nvSpPr>
        <p:spPr>
          <a:xfrm>
            <a:off x="1162800" y="5512126"/>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Before you write any code, look at the eighty class names on the next few slides and decide what you are actually going to put on the board. Choosing objects the model knows is the single biggest thing you can do to make this project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ways to spot a </a:t>
            </a:r>
            <a:r>
              <a:rPr sz="2827" b="0" i="0">
                <a:solidFill>
                  <a:srgbClr val="FFFFFF"/>
                </a:solidFill>
                <a:latin typeface="Bungee"/>
                <a:ea typeface="Bungee"/>
                <a:cs typeface="Bungee"/>
                <a:sym typeface="Bungee"/>
              </a:rPr>
              <a:t>cup</a:t>
            </a:r>
          </a:p>
        </p:txBody>
      </p:sp>
      <p:sp>
        <p:nvSpPr>
          <p:cNvPr id="3" name="blk000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old way. You decide in advance what a cup looks like: round-ish, with a handle, taller than it is wide, sitting on a flat surface. You write each of those as a test. A blue mug with no handle fails all of them.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new way. You show the computer ten thousand photographs of cups, labelled </a:t>
            </a:r>
            <a:r>
              <a:rPr sz="1743" b="0" i="0">
                <a:solidFill>
                  <a:srgbClr val="FFFFFF"/>
                </a:solidFill>
                <a:latin typeface="Courier New"/>
                <a:ea typeface="Courier New"/>
                <a:cs typeface="Courier New"/>
                <a:sym typeface="Courier New"/>
              </a:rPr>
              <a:t>cup</a:t>
            </a:r>
            <a:r>
              <a:rPr sz="2027" b="0" i="0">
                <a:solidFill>
                  <a:srgbClr val="FFFFFF"/>
                </a:solidFill>
                <a:latin typeface="Avenir"/>
                <a:ea typeface="Avenir"/>
                <a:cs typeface="Avenir"/>
                <a:sym typeface="Avenir"/>
              </a:rPr>
              <a:t>, and ten thousand of other things, labelled with what they actually are. It works out for itself which combination of shape, colour, texture and context means "cup". You never write a single test.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second method is more accurate and far more flexible. It is also impossible to write by hand, impossible to read line by line, and completely incapable of telling you </a:t>
            </a:r>
            <a:r>
              <a:rPr sz="2027" b="0" i="1">
                <a:solidFill>
                  <a:srgbClr val="FFCF08"/>
                </a:solidFill>
                <a:latin typeface="Avenir"/>
                <a:ea typeface="Avenir"/>
                <a:cs typeface="Avenir"/>
                <a:sym typeface="Avenir"/>
              </a:rPr>
              <a:t>why</a:t>
            </a:r>
            <a:r>
              <a:rPr sz="2027" b="0" i="0">
                <a:solidFill>
                  <a:srgbClr val="FFFFFF"/>
                </a:solidFill>
                <a:latin typeface="Avenir"/>
                <a:ea typeface="Avenir"/>
                <a:cs typeface="Avenir"/>
                <a:sym typeface="Avenir"/>
              </a:rPr>
              <a:t> it decided what it decided.</a:t>
            </a:r>
          </a:p>
        </p:txBody>
      </p:sp>
      <p:sp>
        <p:nvSpPr>
          <p:cNvPr id="4" name="blk0009"/>
          <p:cNvSpPr txBox="1"/>
          <p:nvPr/>
        </p:nvSpPr>
        <p:spPr>
          <a:xfrm>
            <a:off x="687600" y="5985956"/>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That last point is not a complaint, it is the deal. You get a strong answer with no reasoning attached. Learning to design around an answer you cannot interrogate is a skill in its own right, and it is the reason this project spends as long on thresholds as on maths.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is </a:t>
            </a:r>
            <a:r>
              <a:rPr sz="2827" b="0" i="0">
                <a:solidFill>
                  <a:srgbClr val="FFFFFF"/>
                </a:solidFill>
                <a:latin typeface="Bungee"/>
                <a:ea typeface="Bungee"/>
                <a:cs typeface="Bungee"/>
                <a:sym typeface="Bungee"/>
              </a:rPr>
              <a:t>YOLOv5</a:t>
            </a:r>
            <a:r>
              <a:rPr sz="2827" b="0" i="0">
                <a:solidFill>
                  <a:srgbClr val="FFFFFF"/>
                </a:solidFill>
                <a:latin typeface="Bungee"/>
                <a:ea typeface="Bungee"/>
                <a:cs typeface="Bungee"/>
                <a:sym typeface="Bungee"/>
              </a:rPr>
              <a:t>?</a:t>
            </a:r>
          </a:p>
        </p:txBody>
      </p:sp>
      <p:sp>
        <p:nvSpPr>
          <p:cNvPr id="3" name="blk001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YOLO is short for </a:t>
            </a:r>
            <a:r>
              <a:rPr sz="2027" b="1" i="0">
                <a:solidFill>
                  <a:srgbClr val="FFFFFF"/>
                </a:solidFill>
                <a:latin typeface="Google Sans"/>
                <a:ea typeface="Google Sans"/>
                <a:cs typeface="Google Sans"/>
                <a:sym typeface="Google Sans"/>
              </a:rPr>
              <a:t>You Only Look Once</a:t>
            </a:r>
            <a:r>
              <a:rPr sz="2027" b="0" i="0">
                <a:solidFill>
                  <a:srgbClr val="FFFFFF"/>
                </a:solidFill>
                <a:latin typeface="Avenir"/>
                <a:ea typeface="Avenir"/>
                <a:cs typeface="Avenir"/>
                <a:sym typeface="Avenir"/>
              </a:rPr>
              <a:t>. Older detection systems looked at the picture in stages — first find candidate regions, then classify each one. YOLO does the whole job in a single pass, which is why it is fast enough to run on a small computer beside a robot arm.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v5</a:t>
            </a:r>
            <a:r>
              <a:rPr sz="2027" b="0" i="0">
                <a:solidFill>
                  <a:srgbClr val="FFFFFF"/>
                </a:solidFill>
                <a:latin typeface="Avenir"/>
                <a:ea typeface="Avenir"/>
                <a:cs typeface="Avenir"/>
                <a:sym typeface="Avenir"/>
              </a:rPr>
              <a:t> is the fifth version. The </a:t>
            </a:r>
            <a:r>
              <a:rPr sz="1743" b="0" i="0">
                <a:solidFill>
                  <a:srgbClr val="FFFFFF"/>
                </a:solidFill>
                <a:latin typeface="Courier New"/>
                <a:ea typeface="Courier New"/>
                <a:cs typeface="Courier New"/>
                <a:sym typeface="Courier New"/>
              </a:rPr>
              <a:t>s</a:t>
            </a:r>
            <a:r>
              <a:rPr sz="2027" b="0" i="0">
                <a:solidFill>
                  <a:srgbClr val="FFFFFF"/>
                </a:solidFill>
                <a:latin typeface="Avenir"/>
                <a:ea typeface="Avenir"/>
                <a:cs typeface="Avenir"/>
                <a:sym typeface="Avenir"/>
              </a:rPr>
              <a:t> at the end of </a:t>
            </a:r>
            <a:r>
              <a:rPr sz="1743" b="0" i="0">
                <a:solidFill>
                  <a:srgbClr val="FFFFFF"/>
                </a:solidFill>
                <a:latin typeface="Courier New"/>
                <a:ea typeface="Courier New"/>
                <a:cs typeface="Courier New"/>
                <a:sym typeface="Courier New"/>
              </a:rPr>
              <a:t>yolov5s.onnx</a:t>
            </a:r>
            <a:r>
              <a:rPr sz="2027" b="0" i="0">
                <a:solidFill>
                  <a:srgbClr val="FFFFFF"/>
                </a:solidFill>
                <a:latin typeface="Avenir"/>
                <a:ea typeface="Avenir"/>
                <a:cs typeface="Avenir"/>
                <a:sym typeface="Avenir"/>
              </a:rPr>
              <a:t> means </a:t>
            </a:r>
            <a:r>
              <a:rPr sz="2027" b="1" i="0">
                <a:solidFill>
                  <a:srgbClr val="FFFFFF"/>
                </a:solidFill>
                <a:latin typeface="Google Sans"/>
                <a:ea typeface="Google Sans"/>
                <a:cs typeface="Google Sans"/>
                <a:sym typeface="Google Sans"/>
              </a:rPr>
              <a:t>small</a:t>
            </a:r>
            <a:r>
              <a:rPr sz="2027" b="0" i="0">
                <a:solidFill>
                  <a:srgbClr val="FFFFFF"/>
                </a:solidFill>
                <a:latin typeface="Avenir"/>
                <a:ea typeface="Avenir"/>
                <a:cs typeface="Avenir"/>
                <a:sym typeface="Avenir"/>
              </a:rPr>
              <a:t> — the fastest and least accurate of the family. There are larger models that are more accurate and too slow for this hardware. This one is the right trade.</a:t>
            </a:r>
          </a:p>
        </p:txBody>
      </p:sp>
      <p:sp>
        <p:nvSpPr>
          <p:cNvPr id="4" name="blk0012"/>
          <p:cNvSpPr txBox="1"/>
          <p:nvPr/>
        </p:nvSpPr>
        <p:spPr>
          <a:xfrm>
            <a:off x="687600" y="4896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Every part of that name matters when something goes wrong. </a:t>
            </a:r>
            <a:r>
              <a:rPr sz="1419" b="0" i="0">
                <a:solidFill>
                  <a:srgbClr val="FFFFFF"/>
                </a:solidFill>
                <a:latin typeface="Courier New"/>
                <a:ea typeface="Courier New"/>
                <a:cs typeface="Courier New"/>
                <a:sym typeface="Courier New"/>
              </a:rPr>
              <a:t>v5</a:t>
            </a:r>
            <a:r>
              <a:rPr sz="1650" b="0" i="0">
                <a:solidFill>
                  <a:srgbClr val="FFFFFF"/>
                </a:solidFill>
                <a:latin typeface="Avenir"/>
                <a:ea typeface="Avenir"/>
                <a:cs typeface="Avenir"/>
                <a:sym typeface="Avenir"/>
              </a:rPr>
              <a:t> tells you which set of output numbers to expect — read the wrong version’s layout and your boxes land in nonsense places. </a:t>
            </a:r>
            <a:r>
              <a:rPr sz="1419" b="0" i="0">
                <a:solidFill>
                  <a:srgbClr val="FFFFFF"/>
                </a:solidFill>
                <a:latin typeface="Courier New"/>
                <a:ea typeface="Courier New"/>
                <a:cs typeface="Courier New"/>
                <a:sym typeface="Courier New"/>
              </a:rPr>
              <a:t>s</a:t>
            </a:r>
            <a:r>
              <a:rPr sz="1650" b="0" i="0">
                <a:solidFill>
                  <a:srgbClr val="FFFFFF"/>
                </a:solidFill>
                <a:latin typeface="Avenir"/>
                <a:ea typeface="Avenir"/>
                <a:cs typeface="Avenir"/>
                <a:sym typeface="Avenir"/>
              </a:rPr>
              <a:t> tells you how much accuracy you gave up for speed.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model is a </a:t>
            </a:r>
            <a:r>
              <a:rPr sz="2827" b="0" i="0">
                <a:solidFill>
                  <a:srgbClr val="FFFFFF"/>
                </a:solidFill>
                <a:latin typeface="Bungee"/>
                <a:ea typeface="Bungee"/>
                <a:cs typeface="Bungee"/>
                <a:sym typeface="Bungee"/>
              </a:rPr>
              <a:t>file</a:t>
            </a:r>
          </a:p>
        </p:txBody>
      </p:sp>
      <p:sp>
        <p:nvSpPr>
          <p:cNvPr id="3" name="blk001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project does not train anything. Nobody at this station is going to teach a neural network anything from scratch. The learning already happened, months ago, on a large computer, and the result was saved to disk.</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What you load is that saved result: </a:t>
            </a:r>
            <a:r>
              <a:rPr sz="1743" b="0" i="0">
                <a:solidFill>
                  <a:srgbClr val="FFFFFF"/>
                </a:solidFill>
                <a:latin typeface="Courier New"/>
                <a:ea typeface="Courier New"/>
                <a:cs typeface="Courier New"/>
                <a:sym typeface="Courier New"/>
              </a:rPr>
              <a:t>yolov5s.onnx</a:t>
            </a:r>
            <a:r>
              <a:rPr sz="2027" b="0" i="0">
                <a:solidFill>
                  <a:srgbClr val="FFFFFF"/>
                </a:solidFill>
                <a:latin typeface="Avenir"/>
                <a:ea typeface="Avenir"/>
                <a:cs typeface="Avenir"/>
                <a:sym typeface="Avenir"/>
              </a:rPr>
              <a:t>, about 29 megabytes. The </a:t>
            </a:r>
            <a:r>
              <a:rPr sz="1743" b="0" i="0">
                <a:solidFill>
                  <a:srgbClr val="FFFFFF"/>
                </a:solidFill>
                <a:latin typeface="Courier New"/>
                <a:ea typeface="Courier New"/>
                <a:cs typeface="Courier New"/>
                <a:sym typeface="Courier New"/>
              </a:rPr>
              <a:t>.onnx</a:t>
            </a:r>
            <a:r>
              <a:rPr sz="2027" b="0" i="0">
                <a:solidFill>
                  <a:srgbClr val="FFFFFF"/>
                </a:solidFill>
                <a:latin typeface="Avenir"/>
                <a:ea typeface="Avenir"/>
                <a:cs typeface="Avenir"/>
                <a:sym typeface="Avenir"/>
              </a:rPr>
              <a:t> extension is </a:t>
            </a:r>
            <a:r>
              <a:rPr sz="2027" b="1" i="0">
                <a:solidFill>
                  <a:srgbClr val="FFFFFF"/>
                </a:solidFill>
                <a:latin typeface="Google Sans"/>
                <a:ea typeface="Google Sans"/>
                <a:cs typeface="Google Sans"/>
                <a:sym typeface="Google Sans"/>
              </a:rPr>
              <a:t>Open Neural Network Exchange</a:t>
            </a:r>
            <a:r>
              <a:rPr sz="2027" b="0" i="0">
                <a:solidFill>
                  <a:srgbClr val="FFFFFF"/>
                </a:solidFill>
                <a:latin typeface="Avenir"/>
                <a:ea typeface="Avenir"/>
                <a:cs typeface="Avenir"/>
                <a:sym typeface="Avenir"/>
              </a:rPr>
              <a:t> — a neutral format, so a network trained in one framework can be used by OpenCV in another.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is the part students forget. The file has to exist, in the right folder, on the machine that is running the program. The arm is a different computer from your laptop.</a:t>
            </a:r>
          </a:p>
        </p:txBody>
      </p:sp>
      <p:sp>
        <p:nvSpPr>
          <p:cNvPr id="4" name="blk0015"/>
          <p:cNvSpPr/>
          <p:nvPr/>
        </p:nvSpPr>
        <p:spPr>
          <a:xfrm>
            <a:off x="687600" y="540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5"/>
          <p:cNvSpPr/>
          <p:nvPr/>
        </p:nvSpPr>
        <p:spPr>
          <a:xfrm>
            <a:off x="885600" y="585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15"/>
          <p:cNvSpPr txBox="1"/>
          <p:nvPr/>
        </p:nvSpPr>
        <p:spPr>
          <a:xfrm>
            <a:off x="1162800" y="554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Copying your .py file across is not enough this time. The program looks for the model next to itself, so yolov5s.onnx and coco.names have to travel too. Get this wrong and the program tells you so by name.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Eighty things, and </a:t>
            </a:r>
            <a:r>
              <a:rPr sz="2827" b="0" i="0">
                <a:solidFill>
                  <a:srgbClr val="FFFFFF"/>
                </a:solidFill>
                <a:latin typeface="Bungee"/>
                <a:ea typeface="Bungee"/>
                <a:cs typeface="Bungee"/>
                <a:sym typeface="Bungee"/>
              </a:rPr>
              <a:t>only</a:t>
            </a:r>
            <a:r>
              <a:rPr sz="2827" b="0" i="0">
                <a:solidFill>
                  <a:srgbClr val="FFFFFF"/>
                </a:solidFill>
                <a:latin typeface="Bungee"/>
                <a:ea typeface="Bungee"/>
                <a:cs typeface="Bungee"/>
                <a:sym typeface="Bungee"/>
              </a:rPr>
              <a:t> those</a:t>
            </a:r>
          </a:p>
        </p:txBody>
      </p:sp>
      <p:sp>
        <p:nvSpPr>
          <p:cNvPr id="3" name="blk00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model was trained on a dataset called </a:t>
            </a:r>
            <a:r>
              <a:rPr sz="2027" b="1" i="0">
                <a:solidFill>
                  <a:srgbClr val="FFFFFF"/>
                </a:solidFill>
                <a:latin typeface="Google Sans"/>
                <a:ea typeface="Google Sans"/>
                <a:cs typeface="Google Sans"/>
                <a:sym typeface="Google Sans"/>
              </a:rPr>
              <a:t>COCO</a:t>
            </a:r>
            <a:r>
              <a:rPr sz="2027" b="0" i="0">
                <a:solidFill>
                  <a:srgbClr val="FFFFFF"/>
                </a:solidFill>
                <a:latin typeface="Avenir"/>
                <a:ea typeface="Avenir"/>
                <a:cs typeface="Avenir"/>
                <a:sym typeface="Avenir"/>
              </a:rPr>
              <a:t>, which stands for Common Objects in Context. It contains photographs of everyday things, each labelled with what they are. Eighty of those labels are what this model knows.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They run from the obvious to the obscure. </a:t>
            </a:r>
            <a:r>
              <a:rPr sz="1743" b="0" i="0">
                <a:solidFill>
                  <a:srgbClr val="FFFFFF"/>
                </a:solidFill>
                <a:latin typeface="Courier New"/>
                <a:ea typeface="Courier New"/>
                <a:cs typeface="Courier New"/>
                <a:sym typeface="Courier New"/>
              </a:rPr>
              <a:t>person</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bicycle</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car</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cup</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scissors</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teddy bear</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toothbrush</a:t>
            </a:r>
            <a:r>
              <a:rPr sz="2027" b="0" i="0">
                <a:solidFill>
                  <a:srgbClr val="FFFFFF"/>
                </a:solidFill>
                <a:latin typeface="Avenir"/>
                <a:ea typeface="Avenir"/>
                <a:cs typeface="Avenir"/>
                <a:sym typeface="Avenir"/>
              </a:rPr>
              <a:t>. There is no "shape", no "block", and no "my object".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A useful classroom object is a laptop, a book, a bottle, a cup, a cellphone or a pair of scissors. Test your object against the list before you write anything.</a:t>
            </a:r>
          </a:p>
        </p:txBody>
      </p:sp>
      <p:sp>
        <p:nvSpPr>
          <p:cNvPr id="4" name="blk0018"/>
          <p:cNvSpPr txBox="1"/>
          <p:nvPr/>
        </p:nvSpPr>
        <p:spPr>
          <a:xfrm>
            <a:off x="687600" y="5328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common and expensive mistake: spend an afternoon tuning thresholds on an object the model has never been trained to recognise. It will never work, and no threshold will save it. Check the list first — it takes ten seconds and it is free.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Where am </a:t>
            </a:r>
            <a:r>
              <a:rPr sz="2827" b="0" i="0">
                <a:solidFill>
                  <a:srgbClr val="FFFFFF"/>
                </a:solidFill>
                <a:latin typeface="Bungee"/>
                <a:ea typeface="Bungee"/>
                <a:cs typeface="Bungee"/>
                <a:sym typeface="Bungee"/>
              </a:rPr>
              <a:t>I</a:t>
            </a:r>
            <a:r>
              <a:rPr sz="2827" b="0" i="0">
                <a:solidFill>
                  <a:srgbClr val="FFFFFF"/>
                </a:solidFill>
                <a:latin typeface="Bungee"/>
                <a:ea typeface="Bungee"/>
                <a:cs typeface="Bungee"/>
                <a:sym typeface="Bungee"/>
              </a:rPr>
              <a:t>?</a:t>
            </a:r>
          </a:p>
        </p:txBody>
      </p:sp>
      <p:sp>
        <p:nvSpPr>
          <p:cNvPr id="3" name="blk0020"/>
          <p:cNvSpPr/>
          <p:nvPr/>
        </p:nvSpPr>
        <p:spPr>
          <a:xfrm>
            <a:off x="687600" y="165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20"/>
          <p:cNvSpPr txBox="1"/>
          <p:nvPr/>
        </p:nvSpPr>
        <p:spPr>
          <a:xfrm>
            <a:off x="910799" y="181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script_dir = os.path.dirname(os.path.abspath(__file__))</a:t>
            </a:r>
          </a:p>
        </p:txBody>
      </p:sp>
      <p:sp>
        <p:nvSpPr>
          <p:cNvPr id="5" name="blk0021"/>
          <p:cNvSpPr txBox="1"/>
          <p:nvPr/>
        </p:nvSpPr>
        <p:spPr>
          <a:xfrm>
            <a:off x="687600" y="2592000"/>
            <a:ext cx="7542000" cy="503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program does not know where it lives. It knows the folder you happened to be standing in when you ran it, and those are often not the same place.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__file__</a:t>
            </a:r>
            <a:r>
              <a:rPr sz="2027" b="0" i="0">
                <a:solidFill>
                  <a:srgbClr val="FFFFFF"/>
                </a:solidFill>
                <a:latin typeface="Avenir"/>
                <a:ea typeface="Avenir"/>
                <a:cs typeface="Avenir"/>
                <a:sym typeface="Avenir"/>
              </a:rPr>
              <a:t> is the path to the script itself. </a:t>
            </a:r>
            <a:r>
              <a:rPr sz="1743" b="0" i="0">
                <a:solidFill>
                  <a:srgbClr val="FFFFFF"/>
                </a:solidFill>
                <a:latin typeface="Courier New"/>
                <a:ea typeface="Courier New"/>
                <a:cs typeface="Courier New"/>
                <a:sym typeface="Courier New"/>
              </a:rPr>
              <a:t>abspath</a:t>
            </a:r>
            <a:r>
              <a:rPr sz="2027" b="0" i="0">
                <a:solidFill>
                  <a:srgbClr val="FFFFFF"/>
                </a:solidFill>
                <a:latin typeface="Avenir"/>
                <a:ea typeface="Avenir"/>
                <a:cs typeface="Avenir"/>
                <a:sym typeface="Avenir"/>
              </a:rPr>
              <a:t> makes it absolute rather than relative, and </a:t>
            </a:r>
            <a:r>
              <a:rPr sz="1743" b="0" i="0">
                <a:solidFill>
                  <a:srgbClr val="FFFFFF"/>
                </a:solidFill>
                <a:latin typeface="Courier New"/>
                <a:ea typeface="Courier New"/>
                <a:cs typeface="Courier New"/>
                <a:sym typeface="Courier New"/>
              </a:rPr>
              <a:t>dirname</a:t>
            </a:r>
            <a:r>
              <a:rPr sz="2027" b="0" i="0">
                <a:solidFill>
                  <a:srgbClr val="FFFFFF"/>
                </a:solidFill>
                <a:latin typeface="Avenir"/>
                <a:ea typeface="Avenir"/>
                <a:cs typeface="Avenir"/>
                <a:sym typeface="Avenir"/>
              </a:rPr>
              <a:t> strips off the filename, leaving the folder. Read the names right to left and it nearly explains itself.</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From that one line, the two file paths are easy:</a:t>
            </a:r>
          </a:p>
        </p:txBody>
      </p:sp>
      <p:sp>
        <p:nvSpPr>
          <p:cNvPr id="6" name="blk0022"/>
          <p:cNvSpPr/>
          <p:nvPr/>
        </p:nvSpPr>
        <p:spPr>
          <a:xfrm>
            <a:off x="687600" y="5683382"/>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22"/>
          <p:cNvSpPr txBox="1"/>
          <p:nvPr/>
        </p:nvSpPr>
        <p:spPr>
          <a:xfrm>
            <a:off x="910799" y="5845382"/>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model_path = os.path.join(script_dir, "yolov5s.onnx")</a:t>
            </a:r>
          </a:p>
          <a:p>
            <a:pPr algn="l">
              <a:lnSpc>
                <a:spcPct val="115000"/>
              </a:lnSpc>
            </a:pPr>
            <a:r>
              <a:rPr sz="1400" b="0" i="0">
                <a:solidFill>
                  <a:srgbClr val="FFFFFF"/>
                </a:solidFill>
                <a:latin typeface="Courier New"/>
                <a:ea typeface="Courier New"/>
                <a:cs typeface="Courier New"/>
                <a:sym typeface="Courier New"/>
              </a:rPr>
              <a:t>labels_path = os.path.join(script_dir, "coco.names")</a:t>
            </a:r>
          </a:p>
        </p:txBody>
      </p:sp>
      <p:sp>
        <p:nvSpPr>
          <p:cNvPr id="8" name="blk0023"/>
          <p:cNvSpPr txBox="1"/>
          <p:nvPr/>
        </p:nvSpPr>
        <p:spPr>
          <a:xfrm>
            <a:off x="687600" y="6578634"/>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difference between a program that works and one that works only on the machine that wrote it. </a:t>
            </a:r>
            <a:r>
              <a:rPr sz="1419" b="0" i="0">
                <a:solidFill>
                  <a:srgbClr val="FFFFFF"/>
                </a:solidFill>
                <a:latin typeface="Courier New"/>
                <a:ea typeface="Courier New"/>
                <a:cs typeface="Courier New"/>
                <a:sym typeface="Courier New"/>
              </a:rPr>
              <a:t>os.path.join</a:t>
            </a:r>
            <a:r>
              <a:rPr sz="1650" b="0" i="0">
                <a:solidFill>
                  <a:srgbClr val="FFFFFF"/>
                </a:solidFill>
                <a:latin typeface="Avenir"/>
                <a:ea typeface="Avenir"/>
                <a:cs typeface="Avenir"/>
                <a:sym typeface="Avenir"/>
              </a:rPr>
              <a:t> builds paths the right way on any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markers get a </a:t>
            </a:r>
            <a:r>
              <a:rPr sz="2827" b="0" i="0">
                <a:solidFill>
                  <a:srgbClr val="FFFFFF"/>
                </a:solidFill>
                <a:latin typeface="Bungee"/>
                <a:ea typeface="Bungee"/>
                <a:cs typeface="Bungee"/>
                <a:sym typeface="Bungee"/>
              </a:rPr>
              <a:t>new job</a:t>
            </a:r>
          </a:p>
        </p:txBody>
      </p:sp>
      <p:sp>
        <p:nvSpPr>
          <p:cNvPr id="3" name="blk002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 already taped two ArUco markers to the board in Project 2, and this project uses exactly the same two, in the same places, with the same detection code.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What changed is the question you ask of them. In Project 2 a marker meant </a:t>
            </a:r>
            <a:r>
              <a:rPr sz="2027" b="1" i="0">
                <a:solidFill>
                  <a:srgbClr val="FFFFFF"/>
                </a:solidFill>
                <a:latin typeface="Google Sans"/>
                <a:ea typeface="Google Sans"/>
                <a:cs typeface="Google Sans"/>
                <a:sym typeface="Google Sans"/>
              </a:rPr>
              <a:t>how far away is this</a:t>
            </a:r>
            <a:r>
              <a:rPr sz="2027" b="0" i="0">
                <a:solidFill>
                  <a:srgbClr val="FFFFFF"/>
                </a:solidFill>
                <a:latin typeface="Avenir"/>
                <a:ea typeface="Avenir"/>
                <a:cs typeface="Avenir"/>
                <a:sym typeface="Avenir"/>
              </a:rPr>
              <a:t>, measured in millimetres. Here it means </a:t>
            </a:r>
            <a:r>
              <a:rPr sz="2027" b="1" i="0">
                <a:solidFill>
                  <a:srgbClr val="FFFFFF"/>
                </a:solidFill>
                <a:latin typeface="Google Sans"/>
                <a:ea typeface="Google Sans"/>
                <a:cs typeface="Google Sans"/>
                <a:sym typeface="Google Sans"/>
              </a:rPr>
              <a:t>where does my workspace start and stop</a:t>
            </a:r>
            <a:r>
              <a:rPr sz="2027" b="0" i="0">
                <a:solidFill>
                  <a:srgbClr val="FFFFFF"/>
                </a:solidFill>
                <a:latin typeface="Avenir"/>
                <a:ea typeface="Avenir"/>
                <a:cs typeface="Avenir"/>
                <a:sym typeface="Avenir"/>
              </a:rPr>
              <a:t> — a rectangle on the screen, in plain pixels.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Same tool, new job. This is worth noticing, because in a real project you will keep meeting the same components doing different jobs, and the component does not change at all — only what you ask it.</a:t>
            </a:r>
          </a:p>
        </p:txBody>
      </p:sp>
      <p:sp>
        <p:nvSpPr>
          <p:cNvPr id="4" name="blk0026"/>
          <p:cNvSpPr/>
          <p:nvPr/>
        </p:nvSpPr>
        <p:spPr>
          <a:xfrm>
            <a:off x="687600" y="5368126"/>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6"/>
          <p:cNvSpPr/>
          <p:nvPr/>
        </p:nvSpPr>
        <p:spPr>
          <a:xfrm>
            <a:off x="885600" y="581920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26"/>
          <p:cNvSpPr txBox="1"/>
          <p:nvPr/>
        </p:nvSpPr>
        <p:spPr>
          <a:xfrm>
            <a:off x="1162800" y="5512126"/>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Nothing about the detection code changes between Project 2 and Project 3. If your markers were found there, they will be found here. If they were not, no amount of work on the YOLO half will help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crop the </a:t>
            </a:r>
            <a:r>
              <a:rPr sz="2827" b="0" i="0">
                <a:solidFill>
                  <a:srgbClr val="FFFFFF"/>
                </a:solidFill>
                <a:latin typeface="Bungee"/>
                <a:ea typeface="Bungee"/>
                <a:cs typeface="Bungee"/>
                <a:sym typeface="Bungee"/>
              </a:rPr>
              <a:t>picture</a:t>
            </a:r>
            <a:r>
              <a:rPr sz="2827" b="0" i="0">
                <a:solidFill>
                  <a:srgbClr val="FFFFFF"/>
                </a:solidFill>
                <a:latin typeface="Bungee"/>
                <a:ea typeface="Bungee"/>
                <a:cs typeface="Bungee"/>
                <a:sym typeface="Bungee"/>
              </a:rPr>
              <a:t>?</a:t>
            </a:r>
          </a:p>
        </p:txBody>
      </p:sp>
      <p:sp>
        <p:nvSpPr>
          <p:cNvPr id="3" name="blk002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sees your desk, your hands, the edge of the board, and half the room. The model was trained on photographs of objects, so a desk with a laptop on it is a strange input — and it will find the laptop anyway, but it will also find things on the desk you never meant to show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So the program uses the markers to decide what to look at. Everything outside the rectangle they define is thrown away before the model ever sees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is a cheap, enormous win. The model gets a smaller, steadier, more consistent picture, which means better accuracy and fewer false positives — and it costs one crop.</a:t>
            </a:r>
          </a:p>
        </p:txBody>
      </p:sp>
      <p:sp>
        <p:nvSpPr>
          <p:cNvPr id="4" name="blk0029"/>
          <p:cNvSpPr txBox="1"/>
          <p:nvPr/>
        </p:nvSpPr>
        <p:spPr>
          <a:xfrm>
            <a:off x="687600" y="5400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It also protects the numbers. A detection box reported on a cropped image is in cropped coordinates, so when you act on it you must remember which picture it came from. Know your coordinate system at the point you record a measurement, not later.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problem you can </a:t>
            </a:r>
            <a:r>
              <a:rPr sz="2827" b="0" i="0">
                <a:solidFill>
                  <a:srgbClr val="FFFFFF"/>
                </a:solidFill>
                <a:latin typeface="Bungee"/>
                <a:ea typeface="Bungee"/>
                <a:cs typeface="Bungee"/>
                <a:sym typeface="Bungee"/>
              </a:rPr>
              <a:t>see</a:t>
            </a:r>
          </a:p>
        </p:txBody>
      </p:sp>
      <p:sp>
        <p:nvSpPr>
          <p:cNvPr id="3" name="blk003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is the fault that motivates half of this project. Put your hand in front of the camera and wave it slowly. The box drawn around your hand lags behind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camera is not slow, and neither is the model. The problem is between them. A Linux camera driver works like this: it fills a buffer in the background, and when your program asks for a frame it gets </a:t>
            </a:r>
            <a:r>
              <a:rPr sz="2027" b="1" i="0">
                <a:solidFill>
                  <a:srgbClr val="FFFFFF"/>
                </a:solidFill>
                <a:latin typeface="Google Sans"/>
                <a:ea typeface="Google Sans"/>
                <a:cs typeface="Google Sans"/>
                <a:sym typeface="Google Sans"/>
              </a:rPr>
              <a:t>whatever is in that buffer at that moment</a:t>
            </a:r>
            <a:r>
              <a:rPr sz="2027" b="0" i="0">
                <a:solidFill>
                  <a:srgbClr val="FFFFFF"/>
                </a:solidFill>
                <a:latin typeface="Avenir"/>
                <a:ea typeface="Avenir"/>
                <a:cs typeface="Avenir"/>
                <a:sym typeface="Avenir"/>
              </a:rPr>
              <a:t> — not the newest picture.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By the time the model has finished thinking about frame 1, the camera has already produced frames 2, 3 and 4. Every frame you analyse is already out of date by the time you draw it.</a:t>
            </a:r>
          </a:p>
        </p:txBody>
      </p:sp>
      <p:sp>
        <p:nvSpPr>
          <p:cNvPr id="4" name="blk0032"/>
          <p:cNvSpPr/>
          <p:nvPr/>
        </p:nvSpPr>
        <p:spPr>
          <a:xfrm>
            <a:off x="687600" y="5677041"/>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2"/>
          <p:cNvSpPr/>
          <p:nvPr/>
        </p:nvSpPr>
        <p:spPr>
          <a:xfrm>
            <a:off x="885600" y="612812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32"/>
          <p:cNvSpPr txBox="1"/>
          <p:nvPr/>
        </p:nvSpPr>
        <p:spPr>
          <a:xfrm>
            <a:off x="1162800" y="5821041"/>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Small delay, serious consequences. A sorter that is always half a second behind its hand puts the arm in the wrong place, every time, and no amount of threshold tuning will fix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Somebody has to </a:t>
            </a:r>
            <a:r>
              <a:rPr sz="2827" b="0" i="0">
                <a:solidFill>
                  <a:srgbClr val="FFFFFF"/>
                </a:solidFill>
                <a:latin typeface="Bungee"/>
                <a:ea typeface="Bungee"/>
                <a:cs typeface="Bungee"/>
                <a:sym typeface="Bungee"/>
              </a:rPr>
              <a:t>drain the buffer</a:t>
            </a:r>
          </a:p>
        </p:txBody>
      </p:sp>
      <p:sp>
        <p:nvSpPr>
          <p:cNvPr id="3" name="blk003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fix is to have a background thread whose only job is to read frames as fast as the camera produces them, throwing each one away except the newest. Your main loop then asks for whatever is currently in hand — which is always the most recent frame, seconds or milliseconds old rather than half a second.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One line sets it up. </a:t>
            </a:r>
            <a:r>
              <a:rPr sz="1743" b="0" i="0">
                <a:solidFill>
                  <a:srgbClr val="FFFFFF"/>
                </a:solidFill>
                <a:latin typeface="Courier New"/>
                <a:ea typeface="Courier New"/>
                <a:cs typeface="Courier New"/>
                <a:sym typeface="Courier New"/>
              </a:rPr>
              <a:t>daemon=True</a:t>
            </a:r>
            <a:r>
              <a:rPr sz="2027" b="0" i="0">
                <a:solidFill>
                  <a:srgbClr val="FFFFFF"/>
                </a:solidFill>
                <a:latin typeface="Avenir"/>
                <a:ea typeface="Avenir"/>
                <a:cs typeface="Avenir"/>
                <a:sym typeface="Avenir"/>
              </a:rPr>
              <a:t> means the thread is not allowed to keep the program alive on its own: when </a:t>
            </a:r>
            <a:r>
              <a:rPr sz="1743" b="0" i="0">
                <a:solidFill>
                  <a:srgbClr val="FFFFFF"/>
                </a:solidFill>
                <a:latin typeface="Courier New"/>
                <a:ea typeface="Courier New"/>
                <a:cs typeface="Courier New"/>
                <a:sym typeface="Courier New"/>
              </a:rPr>
              <a:t>main()</a:t>
            </a:r>
            <a:r>
              <a:rPr sz="2027" b="0" i="0">
                <a:solidFill>
                  <a:srgbClr val="FFFFFF"/>
                </a:solidFill>
                <a:latin typeface="Avenir"/>
                <a:ea typeface="Avenir"/>
                <a:cs typeface="Avenir"/>
                <a:sym typeface="Avenir"/>
              </a:rPr>
              <a:t> returns, Python takes the thread down with it instead of waiting forever.</a:t>
            </a:r>
          </a:p>
        </p:txBody>
      </p:sp>
      <p:sp>
        <p:nvSpPr>
          <p:cNvPr id="4" name="blk0035"/>
          <p:cNvSpPr/>
          <p:nvPr/>
        </p:nvSpPr>
        <p:spPr>
          <a:xfrm>
            <a:off x="687600" y="4803180"/>
            <a:ext cx="8686800" cy="7707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5"/>
          <p:cNvSpPr txBox="1"/>
          <p:nvPr/>
        </p:nvSpPr>
        <p:spPr>
          <a:xfrm>
            <a:off x="910799" y="4965180"/>
            <a:ext cx="8240400" cy="446707"/>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self.thread = threading.Thread(target=self._update, daemon=True)</a:t>
            </a:r>
          </a:p>
          <a:p>
            <a:pPr algn="l">
              <a:lnSpc>
                <a:spcPct val="115000"/>
              </a:lnSpc>
            </a:pPr>
            <a:r>
              <a:rPr sz="1350" b="0" i="0">
                <a:solidFill>
                  <a:srgbClr val="FFFFFF"/>
                </a:solidFill>
                <a:latin typeface="Courier New"/>
                <a:ea typeface="Courier New"/>
                <a:cs typeface="Courier New"/>
                <a:sym typeface="Courier New"/>
              </a:rPr>
              <a:t>self.thread.start()</a:t>
            </a:r>
          </a:p>
        </p:txBody>
      </p:sp>
      <p:sp>
        <p:nvSpPr>
          <p:cNvPr id="6" name="blk0036"/>
          <p:cNvSpPr txBox="1"/>
          <p:nvPr/>
        </p:nvSpPr>
        <p:spPr>
          <a:xfrm>
            <a:off x="687600" y="5681887"/>
            <a:ext cx="7542000" cy="720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target=self._update</a:t>
            </a:r>
            <a:r>
              <a:rPr sz="1650" b="0" i="0">
                <a:solidFill>
                  <a:srgbClr val="FFFFFF"/>
                </a:solidFill>
                <a:latin typeface="Avenir"/>
                <a:ea typeface="Avenir"/>
                <a:cs typeface="Avenir"/>
                <a:sym typeface="Avenir"/>
              </a:rPr>
              <a:t> names the function the thread runs. Starting the thread and defining what it does are two separate acts, in that order — the same shape as the vision pipeline you will build next.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Sharing a picture between two </a:t>
            </a:r>
            <a:r>
              <a:rPr sz="2827" b="0" i="0">
                <a:solidFill>
                  <a:srgbClr val="FFFFFF"/>
                </a:solidFill>
                <a:latin typeface="Bungee"/>
                <a:ea typeface="Bungee"/>
                <a:cs typeface="Bungee"/>
                <a:sym typeface="Bungee"/>
              </a:rPr>
              <a:t>threads</a:t>
            </a:r>
          </a:p>
        </p:txBody>
      </p:sp>
      <p:sp>
        <p:nvSpPr>
          <p:cNvPr id="3" name="blk003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two parts of the program can touch the same picture at the same moment: the background thread writing it, your main loop reading it. That is a race, and races do not fail politely.</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with self.lock</a:t>
            </a:r>
            <a:r>
              <a:rPr sz="2027" b="0" i="0">
                <a:solidFill>
                  <a:srgbClr val="FFFFFF"/>
                </a:solidFill>
                <a:latin typeface="Avenir"/>
                <a:ea typeface="Avenir"/>
                <a:cs typeface="Avenir"/>
                <a:sym typeface="Avenir"/>
              </a:rPr>
              <a:t> block means "nobody else touches this while I am inside". Only one thread can hold the lock at a time, so the frame is either fully old or fully new — never half of each.</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.copy()</a:t>
            </a:r>
            <a:r>
              <a:rPr sz="2027" b="0" i="0">
                <a:solidFill>
                  <a:srgbClr val="FFFFFF"/>
                </a:solidFill>
                <a:latin typeface="Avenir"/>
                <a:ea typeface="Avenir"/>
                <a:cs typeface="Avenir"/>
                <a:sym typeface="Avenir"/>
              </a:rPr>
              <a:t> on the way out is the other half of the answer, and it is the one people leave out. Without the copy you would be handed a reference to the very buffer the background thread is about to overwrite. You would start analysing a picture that changes underneath you, and the symptom would be boxes that shimmer for no reason anyone could explain.</a:t>
            </a:r>
          </a:p>
        </p:txBody>
      </p:sp>
      <p:sp>
        <p:nvSpPr>
          <p:cNvPr id="4" name="blk0039"/>
          <p:cNvSpPr/>
          <p:nvPr/>
        </p:nvSpPr>
        <p:spPr>
          <a:xfrm>
            <a:off x="687600" y="6603786"/>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9"/>
          <p:cNvSpPr/>
          <p:nvPr/>
        </p:nvSpPr>
        <p:spPr>
          <a:xfrm>
            <a:off x="885600" y="697458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39"/>
          <p:cNvSpPr txBox="1"/>
          <p:nvPr/>
        </p:nvSpPr>
        <p:spPr>
          <a:xfrm>
            <a:off x="1162800" y="6747786"/>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rule: hand out copies, never the original. It costs a few milliseconds and it removes an entire category of bug you would otherwise spend a day chasing.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Turning it </a:t>
            </a:r>
            <a:r>
              <a:rPr sz="2827" b="0" i="0">
                <a:solidFill>
                  <a:srgbClr val="FFFFFF"/>
                </a:solidFill>
                <a:latin typeface="Bungee"/>
                <a:ea typeface="Bungee"/>
                <a:cs typeface="Bungee"/>
                <a:sym typeface="Bungee"/>
              </a:rPr>
              <a:t>off</a:t>
            </a:r>
            <a:r>
              <a:rPr sz="2827" b="0" i="0">
                <a:solidFill>
                  <a:srgbClr val="FFFFFF"/>
                </a:solidFill>
                <a:latin typeface="Bungee"/>
                <a:ea typeface="Bungee"/>
                <a:cs typeface="Bungee"/>
                <a:sym typeface="Bungee"/>
              </a:rPr>
              <a:t> politely</a:t>
            </a:r>
          </a:p>
        </p:txBody>
      </p:sp>
      <p:sp>
        <p:nvSpPr>
          <p:cNvPr id="3" name="blk004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Press </a:t>
            </a:r>
            <a:r>
              <a:rPr sz="1743" b="0" i="0">
                <a:solidFill>
                  <a:srgbClr val="FFFFFF"/>
                </a:solidFill>
                <a:latin typeface="Courier New"/>
                <a:ea typeface="Courier New"/>
                <a:cs typeface="Courier New"/>
                <a:sym typeface="Courier New"/>
              </a:rPr>
              <a:t>q</a:t>
            </a:r>
            <a:r>
              <a:rPr sz="2027" b="0" i="0">
                <a:solidFill>
                  <a:srgbClr val="FFFFFF"/>
                </a:solidFill>
                <a:latin typeface="Avenir"/>
                <a:ea typeface="Avenir"/>
                <a:cs typeface="Avenir"/>
                <a:sym typeface="Avenir"/>
              </a:rPr>
              <a:t> and the main loop breaks. If </a:t>
            </a:r>
            <a:r>
              <a:rPr sz="1743" b="0" i="0">
                <a:solidFill>
                  <a:srgbClr val="FFFFFF"/>
                </a:solidFill>
                <a:latin typeface="Courier New"/>
                <a:ea typeface="Courier New"/>
                <a:cs typeface="Courier New"/>
                <a:sym typeface="Courier New"/>
              </a:rPr>
              <a:t>release</a:t>
            </a:r>
            <a:r>
              <a:rPr sz="2027" b="0" i="0">
                <a:solidFill>
                  <a:srgbClr val="FFFFFF"/>
                </a:solidFill>
                <a:latin typeface="Avenir"/>
                <a:ea typeface="Avenir"/>
                <a:cs typeface="Avenir"/>
                <a:sym typeface="Avenir"/>
              </a:rPr>
              <a:t> just closed the camera, the background thread would still be blocked in a read on hardware that no longer exists. It has to be stopped first, and told to stop politely.</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self.running = False</a:t>
            </a:r>
            <a:r>
              <a:rPr sz="2027" b="0" i="0">
                <a:solidFill>
                  <a:srgbClr val="FFFFFF"/>
                </a:solidFill>
                <a:latin typeface="Avenir"/>
                <a:ea typeface="Avenir"/>
                <a:cs typeface="Avenir"/>
                <a:sym typeface="Avenir"/>
              </a:rPr>
              <a:t> is the flag the thread’s own </a:t>
            </a:r>
            <a:r>
              <a:rPr sz="1743" b="0" i="0">
                <a:solidFill>
                  <a:srgbClr val="FFFFFF"/>
                </a:solidFill>
                <a:latin typeface="Courier New"/>
                <a:ea typeface="Courier New"/>
                <a:cs typeface="Courier New"/>
                <a:sym typeface="Courier New"/>
              </a:rPr>
              <a:t>while</a:t>
            </a:r>
            <a:r>
              <a:rPr sz="2027" b="0" i="0">
                <a:solidFill>
                  <a:srgbClr val="FFFFFF"/>
                </a:solidFill>
                <a:latin typeface="Avenir"/>
                <a:ea typeface="Avenir"/>
                <a:cs typeface="Avenir"/>
                <a:sym typeface="Avenir"/>
              </a:rPr>
              <a:t> loop is watching. It finishes the frame it is on, notices the flag, and exits at the top of the next pass.</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join(timeout=0.5)</a:t>
            </a:r>
            <a:r>
              <a:rPr sz="2027" b="0" i="0">
                <a:solidFill>
                  <a:srgbClr val="FFFFFF"/>
                </a:solidFill>
                <a:latin typeface="Avenir"/>
                <a:ea typeface="Avenir"/>
                <a:cs typeface="Avenir"/>
                <a:sym typeface="Avenir"/>
              </a:rPr>
              <a:t> then waits up to half a second for it to actually stop, and gives up rather than hanging forever if it will not.</a:t>
            </a:r>
          </a:p>
        </p:txBody>
      </p:sp>
      <p:sp>
        <p:nvSpPr>
          <p:cNvPr id="4" name="blk0042"/>
          <p:cNvSpPr/>
          <p:nvPr/>
        </p:nvSpPr>
        <p:spPr>
          <a:xfrm>
            <a:off x="687600" y="5184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2"/>
          <p:cNvSpPr txBox="1"/>
          <p:nvPr/>
        </p:nvSpPr>
        <p:spPr>
          <a:xfrm>
            <a:off x="910799" y="5346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self.running = False</a:t>
            </a:r>
          </a:p>
          <a:p>
            <a:pPr algn="l">
              <a:lnSpc>
                <a:spcPct val="115000"/>
              </a:lnSpc>
            </a:pPr>
            <a:r>
              <a:rPr sz="1350" b="0" i="0">
                <a:solidFill>
                  <a:srgbClr val="FFFFFF"/>
                </a:solidFill>
                <a:latin typeface="Courier New"/>
                <a:ea typeface="Courier New"/>
                <a:cs typeface="Courier New"/>
                <a:sym typeface="Courier New"/>
              </a:rPr>
              <a:t>if self.thread.is_alive():</a:t>
            </a:r>
          </a:p>
          <a:p>
            <a:pPr algn="l">
              <a:lnSpc>
                <a:spcPct val="115000"/>
              </a:lnSpc>
            </a:pPr>
            <a:r>
              <a:rPr sz="1350" b="0" i="0">
                <a:solidFill>
                  <a:srgbClr val="FFFFFF"/>
                </a:solidFill>
                <a:latin typeface="Courier New"/>
                <a:ea typeface="Courier New"/>
                <a:cs typeface="Courier New"/>
                <a:sym typeface="Courier New"/>
              </a:rPr>
              <a:t>    self.thread.join(timeout=0.5)</a:t>
            </a:r>
          </a:p>
        </p:txBody>
      </p:sp>
      <p:sp>
        <p:nvSpPr>
          <p:cNvPr id="6" name="blk0043"/>
          <p:cNvSpPr txBox="1"/>
          <p:nvPr/>
        </p:nvSpPr>
        <p:spPr>
          <a:xfrm>
            <a:off x="687600" y="6286061"/>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time.sleep(0.005)</a:t>
            </a:r>
            <a:r>
              <a:rPr sz="1650" b="0" i="0">
                <a:solidFill>
                  <a:srgbClr val="FFFFFF"/>
                </a:solidFill>
                <a:latin typeface="Avenir"/>
                <a:ea typeface="Avenir"/>
                <a:cs typeface="Avenir"/>
                <a:sym typeface="Avenir"/>
              </a:rPr>
              <a:t> inside the thread’s loop is worth understanding too. Without it the thread would spin reading the camera flat out, burning CPU and heat while producing frames nobody wants. A tiny pause keeps it polite.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model does not eat </a:t>
            </a:r>
            <a:r>
              <a:rPr sz="2827" b="0" i="0">
                <a:solidFill>
                  <a:srgbClr val="FFFFFF"/>
                </a:solidFill>
                <a:latin typeface="Bungee"/>
                <a:ea typeface="Bungee"/>
                <a:cs typeface="Bungee"/>
                <a:sym typeface="Bungee"/>
              </a:rPr>
              <a:t>pictures</a:t>
            </a:r>
          </a:p>
        </p:txBody>
      </p:sp>
      <p:sp>
        <p:nvSpPr>
          <p:cNvPr id="3" name="blk004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neural network cannot be handed a colour photograph. It expects a fixed-size grid of numbers, scaled a particular way, in a particular order, with the colour channels swapped. Getting any of those four things wrong produces a network that still runs and still answers — confidently and wrongly.</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That preparation is one call:</a:t>
            </a:r>
          </a:p>
        </p:txBody>
      </p:sp>
      <p:sp>
        <p:nvSpPr>
          <p:cNvPr id="4" name="blk0046"/>
          <p:cNvSpPr/>
          <p:nvPr/>
        </p:nvSpPr>
        <p:spPr>
          <a:xfrm>
            <a:off x="687600" y="3876435"/>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6"/>
          <p:cNvSpPr txBox="1"/>
          <p:nvPr/>
        </p:nvSpPr>
        <p:spPr>
          <a:xfrm>
            <a:off x="910799" y="4038434"/>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blob = cv2.dnn.blobFromImage(</a:t>
            </a:r>
          </a:p>
          <a:p>
            <a:pPr algn="l">
              <a:lnSpc>
                <a:spcPct val="115000"/>
              </a:lnSpc>
            </a:pPr>
            <a:r>
              <a:rPr sz="1350" b="0" i="0">
                <a:solidFill>
                  <a:srgbClr val="FFFFFF"/>
                </a:solidFill>
                <a:latin typeface="Courier New"/>
                <a:ea typeface="Courier New"/>
                <a:cs typeface="Courier New"/>
                <a:sym typeface="Courier New"/>
              </a:rPr>
              <a:t>    img, 1.0 / 255.0, self.input_size, [0, 0, 0], swapRB=True, crop=False</a:t>
            </a:r>
          </a:p>
          <a:p>
            <a:pPr algn="l">
              <a:lnSpc>
                <a:spcPct val="115000"/>
              </a:lnSpc>
            </a:pPr>
            <a:r>
              <a:rPr sz="1350" b="0" i="0">
                <a:solidFill>
                  <a:srgbClr val="FFFFFF"/>
                </a:solidFill>
                <a:latin typeface="Courier New"/>
                <a:ea typeface="Courier New"/>
                <a:cs typeface="Courier New"/>
                <a:sym typeface="Courier New"/>
              </a:rPr>
              <a:t>)</a:t>
            </a:r>
          </a:p>
        </p:txBody>
      </p:sp>
      <p:sp>
        <p:nvSpPr>
          <p:cNvPr id="6" name="blk0047"/>
          <p:cNvSpPr txBox="1"/>
          <p:nvPr/>
        </p:nvSpPr>
        <p:spPr>
          <a:xfrm>
            <a:off x="687600" y="4978496"/>
            <a:ext cx="7542000" cy="30924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The second argument divides every pixel by 255, turning 0–255 brightness into 0–1; the third resizes to the 640x640 the model was trained at.</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The last two are the ones people miss. </a:t>
            </a:r>
            <a:r>
              <a:rPr sz="1548" b="0" i="0">
                <a:solidFill>
                  <a:srgbClr val="FFFFFF"/>
                </a:solidFill>
                <a:latin typeface="Courier New"/>
                <a:ea typeface="Courier New"/>
                <a:cs typeface="Courier New"/>
                <a:sym typeface="Courier New"/>
              </a:rPr>
              <a:t>swapRB=True</a:t>
            </a:r>
            <a:r>
              <a:rPr sz="1800" b="0" i="0">
                <a:solidFill>
                  <a:srgbClr val="FFFFFF"/>
                </a:solidFill>
                <a:latin typeface="Avenir"/>
                <a:ea typeface="Avenir"/>
                <a:cs typeface="Avenir"/>
                <a:sym typeface="Avenir"/>
              </a:rPr>
              <a:t> turns OpenCV’s blue-green-red order into the red-green-blue the model expects; </a:t>
            </a:r>
            <a:r>
              <a:rPr sz="1548" b="0" i="0">
                <a:solidFill>
                  <a:srgbClr val="FFFFFF"/>
                </a:solidFill>
                <a:latin typeface="Courier New"/>
                <a:ea typeface="Courier New"/>
                <a:cs typeface="Courier New"/>
                <a:sym typeface="Courier New"/>
              </a:rPr>
              <a:t>[0, 0, 0]</a:t>
            </a:r>
            <a:r>
              <a:rPr sz="1800" b="0" i="0">
                <a:solidFill>
                  <a:srgbClr val="FFFFFF"/>
                </a:solidFill>
                <a:latin typeface="Avenir"/>
                <a:ea typeface="Avenir"/>
                <a:cs typeface="Avenir"/>
                <a:sym typeface="Avenir"/>
              </a:rPr>
              <a:t> subtracts nothing — zero says this model needs none.</a:t>
            </a:r>
          </a:p>
        </p:txBody>
      </p:sp>
      <p:sp>
        <p:nvSpPr>
          <p:cNvPr id="7" name="blk0048"/>
          <p:cNvSpPr txBox="1"/>
          <p:nvPr/>
        </p:nvSpPr>
        <p:spPr>
          <a:xfrm>
            <a:off x="687600" y="6988448"/>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These four numbers are properties of </a:t>
            </a:r>
            <a:r>
              <a:rPr sz="1650" b="0" i="1">
                <a:solidFill>
                  <a:srgbClr val="FFCF08"/>
                </a:solidFill>
                <a:latin typeface="Avenir"/>
                <a:ea typeface="Avenir"/>
                <a:cs typeface="Avenir"/>
                <a:sym typeface="Avenir"/>
              </a:rPr>
              <a:t>this</a:t>
            </a:r>
            <a:r>
              <a:rPr sz="1650" b="0" i="0">
                <a:solidFill>
                  <a:srgbClr val="FFFFFF"/>
                </a:solidFill>
                <a:latin typeface="Avenir"/>
                <a:ea typeface="Avenir"/>
                <a:cs typeface="Avenir"/>
                <a:sym typeface="Avenir"/>
              </a:rPr>
              <a:t> model, not your program — change one and boxes land wrong, quietly.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Asking the model </a:t>
            </a:r>
            <a:r>
              <a:rPr sz="2827" b="0" i="0">
                <a:solidFill>
                  <a:srgbClr val="FFFFFF"/>
                </a:solidFill>
                <a:latin typeface="Bungee"/>
                <a:ea typeface="Bungee"/>
                <a:cs typeface="Bungee"/>
                <a:sym typeface="Bungee"/>
              </a:rPr>
              <a:t>something</a:t>
            </a:r>
          </a:p>
        </p:txBody>
      </p:sp>
      <p:sp>
        <p:nvSpPr>
          <p:cNvPr id="3" name="blk0050"/>
          <p:cNvSpPr/>
          <p:nvPr/>
        </p:nvSpPr>
        <p:spPr>
          <a:xfrm>
            <a:off x="687600" y="1655999"/>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50"/>
          <p:cNvSpPr txBox="1"/>
          <p:nvPr/>
        </p:nvSpPr>
        <p:spPr>
          <a:xfrm>
            <a:off x="910799" y="1818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self.net.setInput(blob)</a:t>
            </a:r>
          </a:p>
          <a:p>
            <a:pPr algn="l">
              <a:lnSpc>
                <a:spcPct val="115000"/>
              </a:lnSpc>
            </a:pPr>
            <a:r>
              <a:rPr sz="1400" b="0" i="0">
                <a:solidFill>
                  <a:srgbClr val="FFFFFF"/>
                </a:solidFill>
                <a:latin typeface="Courier New"/>
                <a:ea typeface="Courier New"/>
                <a:cs typeface="Courier New"/>
                <a:sym typeface="Courier New"/>
              </a:rPr>
              <a:t>outputs = self.net.forward(self.net.getUnconnectedOutLayersNames())</a:t>
            </a:r>
          </a:p>
        </p:txBody>
      </p:sp>
      <p:sp>
        <p:nvSpPr>
          <p:cNvPr id="5" name="blk0051"/>
          <p:cNvSpPr txBox="1"/>
          <p:nvPr/>
        </p:nvSpPr>
        <p:spPr>
          <a:xfrm>
            <a:off x="687600" y="2551251"/>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steps, and the first one surprises people. </a:t>
            </a:r>
            <a:r>
              <a:rPr sz="1743" b="0" i="0">
                <a:solidFill>
                  <a:srgbClr val="FFFFFF"/>
                </a:solidFill>
                <a:latin typeface="Courier New"/>
                <a:ea typeface="Courier New"/>
                <a:cs typeface="Courier New"/>
                <a:sym typeface="Courier New"/>
              </a:rPr>
              <a:t>setInput</a:t>
            </a:r>
            <a:r>
              <a:rPr sz="2027" b="0" i="0">
                <a:solidFill>
                  <a:srgbClr val="FFFFFF"/>
                </a:solidFill>
                <a:latin typeface="Avenir"/>
                <a:ea typeface="Avenir"/>
                <a:cs typeface="Avenir"/>
                <a:sym typeface="Avenir"/>
              </a:rPr>
              <a:t> does not run anything — it just hands the prepared picture to the network and waits. The network computes nothing at all until you call </a:t>
            </a:r>
            <a:r>
              <a:rPr sz="1743" b="0" i="0">
                <a:solidFill>
                  <a:srgbClr val="FFFFFF"/>
                </a:solidFill>
                <a:latin typeface="Courier New"/>
                <a:ea typeface="Courier New"/>
                <a:cs typeface="Courier New"/>
                <a:sym typeface="Courier New"/>
              </a:rPr>
              <a:t>forward</a:t>
            </a:r>
            <a:r>
              <a:rPr sz="2027" b="0" i="0">
                <a:solidFill>
                  <a:srgbClr val="FFFFFF"/>
                </a:solidFill>
                <a:latin typeface="Avenir"/>
                <a:ea typeface="Avenir"/>
                <a:cs typeface="Avenir"/>
                <a:sym typeface="Avenir"/>
              </a:rPr>
              <a:t>.</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getUnconnectedOutLayersNames</a:t>
            </a:r>
            <a:r>
              <a:rPr sz="2027" b="0" i="0">
                <a:solidFill>
                  <a:srgbClr val="FFFFFF"/>
                </a:solidFill>
                <a:latin typeface="Avenir"/>
                <a:ea typeface="Avenir"/>
                <a:cs typeface="Avenir"/>
                <a:sym typeface="Avenir"/>
              </a:rPr>
              <a:t> asks the network which of its outputs nothing else depends on, and returns just those. It saves work: you get the predictions without waiting for internal layers whose results you were never going to use.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output is a NumPy array, not a list of Python objects. From here on you are reading numbers out of it, and the next slide is the map you need.</a:t>
            </a:r>
          </a:p>
        </p:txBody>
      </p:sp>
      <p:sp>
        <p:nvSpPr>
          <p:cNvPr id="6" name="blk0052"/>
          <p:cNvSpPr txBox="1"/>
          <p:nvPr/>
        </p:nvSpPr>
        <p:spPr>
          <a:xfrm>
            <a:off x="687600" y="6569377"/>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call to </a:t>
            </a:r>
            <a:r>
              <a:rPr sz="1419" b="0" i="0">
                <a:solidFill>
                  <a:srgbClr val="FFFFFF"/>
                </a:solidFill>
                <a:latin typeface="Courier New"/>
                <a:ea typeface="Courier New"/>
                <a:cs typeface="Courier New"/>
                <a:sym typeface="Courier New"/>
              </a:rPr>
              <a:t>forward</a:t>
            </a:r>
            <a:r>
              <a:rPr sz="1650" b="0" i="0">
                <a:solidFill>
                  <a:srgbClr val="FFFFFF"/>
                </a:solidFill>
                <a:latin typeface="Avenir"/>
                <a:ea typeface="Avenir"/>
                <a:cs typeface="Avenir"/>
                <a:sym typeface="Avenir"/>
              </a:rPr>
              <a:t> is one frame’s worth of thinking — the most expensive line in the program, by a wide margin.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One row of the </a:t>
            </a:r>
            <a:r>
              <a:rPr sz="2827" b="0" i="0">
                <a:solidFill>
                  <a:srgbClr val="FFFFFF"/>
                </a:solidFill>
                <a:latin typeface="Bungee"/>
                <a:ea typeface="Bungee"/>
                <a:cs typeface="Bungee"/>
                <a:sym typeface="Bungee"/>
              </a:rPr>
              <a:t>answer</a:t>
            </a:r>
          </a:p>
        </p:txBody>
      </p:sp>
      <p:sp>
        <p:nvSpPr>
          <p:cNvPr id="3" name="blk005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model returns one row for every possible object position it considered — thousands of them, most of them describing nothing at all. Each row has the same layout, and it is worth writing it out:</a:t>
            </a:r>
          </a:p>
        </p:txBody>
      </p:sp>
      <p:graphicFrame>
        <p:nvGraphicFramePr>
          <p:cNvPr id="4" name="blk0055"/>
          <p:cNvGraphicFramePr>
            <a:graphicFrameLocks noGrp="1"/>
          </p:cNvGraphicFramePr>
          <p:nvPr/>
        </p:nvGraphicFramePr>
        <p:xfrm>
          <a:off x="687600" y="2693659"/>
          <a:ext cx="8640000" cy="1691997"/>
        </p:xfrm>
        <a:graphic>
          <a:graphicData uri="http://schemas.openxmlformats.org/drawingml/2006/table">
            <a:tbl>
              <a:tblPr firstRow="0" bandRow="0"/>
              <a:tblGrid>
                <a:gridCol w="1944000"/>
                <a:gridCol w="4104000"/>
                <a:gridCol w="2592000"/>
              </a:tblGrid>
              <a:tr h="450000">
                <a:tc>
                  <a:txBody>
                    <a:bodyPr wrap="square"/>
                    <a:lstStyle/>
                    <a:p>
                      <a:pPr algn="l">
                        <a:lnSpc>
                          <a:spcPct val="100000"/>
                        </a:lnSpc>
                      </a:pPr>
                      <a:r>
                        <a:rPr sz="1350" b="1" i="0">
                          <a:solidFill>
                            <a:srgbClr val="FFCF08"/>
                          </a:solidFill>
                          <a:latin typeface="Avenir"/>
                          <a:ea typeface="Avenir"/>
                          <a:cs typeface="Avenir"/>
                          <a:sym typeface="Avenir"/>
                        </a:rPr>
                        <a:t>Columns</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Meaning</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Units</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row[0] to row[3]</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cx, cy, w, h — centre and size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pixels in the 640 space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row[4]</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Objectness — is there anything here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 to 1</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row[5] onwards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One score per class, 80 of them</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 to 1</a:t>
                      </a:r>
                    </a:p>
                  </a:txBody>
                  <a:tcPr marL="72000" marR="72000" marT="36000" marB="36000" anchor="ctr">
                    <a:solidFill>
                      <a:srgbClr val="2E338C"/>
                    </a:solidFill>
                  </a:tcPr>
                </a:tc>
              </a:tr>
            </a:tbl>
          </a:graphicData>
        </a:graphic>
      </p:graphicFrame>
      <p:sp>
        <p:nvSpPr>
          <p:cNvPr id="5" name="blk0056"/>
          <p:cNvSpPr txBox="1"/>
          <p:nvPr/>
        </p:nvSpPr>
        <p:spPr>
          <a:xfrm>
            <a:off x="687600" y="4493656"/>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numbers of geometry, then two separate confidence questions. </a:t>
            </a:r>
            <a:r>
              <a:rPr sz="1743" b="0" i="0">
                <a:solidFill>
                  <a:srgbClr val="FFFFFF"/>
                </a:solidFill>
                <a:latin typeface="Courier New"/>
                <a:ea typeface="Courier New"/>
                <a:cs typeface="Courier New"/>
                <a:sym typeface="Courier New"/>
              </a:rPr>
              <a:t>row[4]</a:t>
            </a:r>
            <a:r>
              <a:rPr sz="2027" b="0" i="0">
                <a:solidFill>
                  <a:srgbClr val="FFFFFF"/>
                </a:solidFill>
                <a:latin typeface="Avenir"/>
                <a:ea typeface="Avenir"/>
                <a:cs typeface="Avenir"/>
                <a:sym typeface="Avenir"/>
              </a:rPr>
              <a:t> asks "is there an object in this patch of picture at all", and the row of class scores asks "and if so, which one". A row can pass the first test and fail the second.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Every coordinate is in the model’s own 640x640 space, not in pixels of your picture. That conversion is coming up, and forgetting it is the single most common reason boxes land nowhere near the objects.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numbers decide what is </a:t>
            </a:r>
            <a:r>
              <a:rPr sz="2827" b="0" i="0">
                <a:solidFill>
                  <a:srgbClr val="FFFFFF"/>
                </a:solidFill>
                <a:latin typeface="Bungee"/>
                <a:ea typeface="Bungee"/>
                <a:cs typeface="Bungee"/>
                <a:sym typeface="Bungee"/>
              </a:rPr>
              <a:t>real</a:t>
            </a:r>
          </a:p>
        </p:txBody>
      </p:sp>
      <p:sp>
        <p:nvSpPr>
          <p:cNvPr id="3" name="blk0058"/>
          <p:cNvSpPr/>
          <p:nvPr/>
        </p:nvSpPr>
        <p:spPr>
          <a:xfrm>
            <a:off x="687600" y="1655999"/>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58"/>
          <p:cNvSpPr txBox="1"/>
          <p:nvPr/>
        </p:nvSpPr>
        <p:spPr>
          <a:xfrm>
            <a:off x="910799" y="1818000"/>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__init__(self, conf_thresh=0.45, score_thresh=0.5, nms_thresh=0.45):</a:t>
            </a:r>
          </a:p>
        </p:txBody>
      </p:sp>
      <p:sp>
        <p:nvSpPr>
          <p:cNvPr id="5" name="blk0059"/>
          <p:cNvSpPr txBox="1"/>
          <p:nvPr/>
        </p:nvSpPr>
        <p:spPr>
          <a:xfrm>
            <a:off x="687600" y="2592000"/>
            <a:ext cx="7542000" cy="503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gates and one filter, all set once in the constructor.</a:t>
            </a:r>
          </a:p>
        </p:txBody>
      </p:sp>
      <p:graphicFrame>
        <p:nvGraphicFramePr>
          <p:cNvPr id="6" name="blk0060"/>
          <p:cNvGraphicFramePr>
            <a:graphicFrameLocks noGrp="1"/>
          </p:cNvGraphicFramePr>
          <p:nvPr/>
        </p:nvGraphicFramePr>
        <p:xfrm>
          <a:off x="687600" y="3096000"/>
          <a:ext cx="8639999" cy="1691997"/>
        </p:xfrm>
        <a:graphic>
          <a:graphicData uri="http://schemas.openxmlformats.org/drawingml/2006/table">
            <a:tbl>
              <a:tblPr firstRow="0" bandRow="0"/>
              <a:tblGrid>
                <a:gridCol w="2015999"/>
                <a:gridCol w="1440000"/>
                <a:gridCol w="5184000"/>
              </a:tblGrid>
              <a:tr h="450000">
                <a:tc>
                  <a:txBody>
                    <a:bodyPr wrap="square"/>
                    <a:lstStyle/>
                    <a:p>
                      <a:pPr algn="l">
                        <a:lnSpc>
                          <a:spcPct val="100000"/>
                        </a:lnSpc>
                      </a:pPr>
                      <a:r>
                        <a:rPr sz="1350" b="1" i="0">
                          <a:solidFill>
                            <a:srgbClr val="FFCF08"/>
                          </a:solidFill>
                          <a:latin typeface="Avenir"/>
                          <a:ea typeface="Avenir"/>
                          <a:cs typeface="Avenir"/>
                          <a:sym typeface="Avenir"/>
                        </a:rPr>
                        <a:t>Name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Default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What it decides</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conf_thresh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0.45</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Is there an object in this patch at all</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score_thresh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0.50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Is it this particular class</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nms_thresh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0.45</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How much overlap before a second box is discarded</a:t>
                      </a:r>
                    </a:p>
                  </a:txBody>
                  <a:tcPr marL="72000" marR="72000" marT="36000" marB="36000" anchor="ctr">
                    <a:solidFill>
                      <a:srgbClr val="2E338C"/>
                    </a:solidFill>
                  </a:tcPr>
                </a:tc>
              </a:tr>
            </a:tbl>
          </a:graphicData>
        </a:graphic>
      </p:graphicFrame>
      <p:sp>
        <p:nvSpPr>
          <p:cNvPr id="7" name="blk0061"/>
          <p:cNvSpPr txBox="1"/>
          <p:nvPr/>
        </p:nvSpPr>
        <p:spPr>
          <a:xfrm>
            <a:off x="687600" y="4895997"/>
            <a:ext cx="7542000" cy="302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NMS needs a picture to explain: the model draws several boxes per object, and NMS keeps the best of each cluster.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Raise it and real boxes vanish; lower it and you get three per cup.</a:t>
            </a:r>
          </a:p>
        </p:txBody>
      </p:sp>
      <p:sp>
        <p:nvSpPr>
          <p:cNvPr id="8" name="blk0062"/>
          <p:cNvSpPr txBox="1"/>
          <p:nvPr/>
        </p:nvSpPr>
        <p:spPr>
          <a:xfrm>
            <a:off x="687600" y="6495688"/>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box can still be drawn where nothing is — confidently. NMS only removes duplicates, not mistakes; </a:t>
            </a:r>
            <a:r>
              <a:rPr sz="1419" b="0" i="0">
                <a:solidFill>
                  <a:srgbClr val="FFFFFF"/>
                </a:solidFill>
                <a:latin typeface="Courier New"/>
                <a:ea typeface="Courier New"/>
                <a:cs typeface="Courier New"/>
                <a:sym typeface="Courier New"/>
              </a:rPr>
              <a:t>conf_thresh</a:t>
            </a:r>
            <a:r>
              <a:rPr sz="1650" b="0" i="0">
                <a:solidFill>
                  <a:srgbClr val="FFFFFF"/>
                </a:solidFill>
                <a:latin typeface="Avenir"/>
                <a:ea typeface="Avenir"/>
                <a:cs typeface="Avenir"/>
                <a:sym typeface="Avenir"/>
              </a:rPr>
              <a:t> is your only lever.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Drawing what you </a:t>
            </a:r>
            <a:r>
              <a:rPr sz="2827" b="0" i="0">
                <a:solidFill>
                  <a:srgbClr val="FFFFFF"/>
                </a:solidFill>
                <a:latin typeface="Bungee"/>
                <a:ea typeface="Bungee"/>
                <a:cs typeface="Bungee"/>
                <a:sym typeface="Bungee"/>
              </a:rPr>
              <a:t>found</a:t>
            </a:r>
          </a:p>
        </p:txBody>
      </p:sp>
      <p:sp>
        <p:nvSpPr>
          <p:cNvPr id="3" name="blk0064"/>
          <p:cNvSpPr/>
          <p:nvPr/>
        </p:nvSpPr>
        <p:spPr>
          <a:xfrm>
            <a:off x="687600" y="1655999"/>
            <a:ext cx="8686800" cy="51426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64"/>
          <p:cNvSpPr txBox="1"/>
          <p:nvPr/>
        </p:nvSpPr>
        <p:spPr>
          <a:xfrm>
            <a:off x="910799" y="1818000"/>
            <a:ext cx="8240400" cy="190264"/>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cv2.rectangle(annotated_img, (left, top), (left + width, top + height), (0, 255, 0), 2)</a:t>
            </a:r>
          </a:p>
        </p:txBody>
      </p:sp>
      <p:sp>
        <p:nvSpPr>
          <p:cNvPr id="5" name="blk0065"/>
          <p:cNvSpPr/>
          <p:nvPr/>
        </p:nvSpPr>
        <p:spPr>
          <a:xfrm>
            <a:off x="687600" y="2664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65"/>
          <p:cNvSpPr txBox="1"/>
          <p:nvPr/>
        </p:nvSpPr>
        <p:spPr>
          <a:xfrm>
            <a:off x="910799" y="2826000"/>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cv2.circle(annotated_img, (cx, cy), 4, (0, 0, 255), -1)</a:t>
            </a:r>
          </a:p>
        </p:txBody>
      </p:sp>
      <p:sp>
        <p:nvSpPr>
          <p:cNvPr id="7" name="blk0066"/>
          <p:cNvSpPr/>
          <p:nvPr/>
        </p:nvSpPr>
        <p:spPr>
          <a:xfrm>
            <a:off x="687600" y="3456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66"/>
          <p:cNvSpPr txBox="1"/>
          <p:nvPr/>
        </p:nvSpPr>
        <p:spPr>
          <a:xfrm>
            <a:off x="910799" y="3617999"/>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cv2.putText(annotated_img, label, (left, max(top - 5, 15)),</a:t>
            </a:r>
          </a:p>
          <a:p>
            <a:pPr algn="l">
              <a:lnSpc>
                <a:spcPct val="115000"/>
              </a:lnSpc>
            </a:pPr>
            <a:r>
              <a:rPr sz="1300" b="0" i="0">
                <a:solidFill>
                  <a:srgbClr val="FFFFFF"/>
                </a:solidFill>
                <a:latin typeface="Courier New"/>
                <a:ea typeface="Courier New"/>
                <a:cs typeface="Courier New"/>
                <a:sym typeface="Courier New"/>
              </a:rPr>
              <a:t>            cv2.FONT_HERSHEY_SIMPLEX, 0.5, (0, 255, 0), 2)</a:t>
            </a:r>
          </a:p>
        </p:txBody>
      </p:sp>
      <p:sp>
        <p:nvSpPr>
          <p:cNvPr id="9" name="blk0067"/>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green rectangle, a blue centre dot, and the name and confidence printed above — readable enough to debug from across the room.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dot is the centre point you would hand to the arm, and it exposes a mis-scaled box at a glance.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max(top - 5, 15)</a:t>
            </a:r>
            <a:r>
              <a:rPr sz="2027" b="0" i="0">
                <a:solidFill>
                  <a:srgbClr val="FFFFFF"/>
                </a:solidFill>
                <a:latin typeface="Avenir"/>
                <a:ea typeface="Avenir"/>
                <a:cs typeface="Avenir"/>
                <a:sym typeface="Avenir"/>
              </a:rPr>
              <a:t> keeps the label on screen when a box sits near the top edge.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whole pipeline on </a:t>
            </a:r>
            <a:r>
              <a:rPr sz="2827" b="0" i="0">
                <a:solidFill>
                  <a:srgbClr val="FFFFFF"/>
                </a:solidFill>
                <a:latin typeface="Bungee"/>
                <a:ea typeface="Bungee"/>
                <a:cs typeface="Bungee"/>
                <a:sym typeface="Bungee"/>
              </a:rPr>
              <a:t>one line</a:t>
            </a:r>
          </a:p>
        </p:txBody>
      </p:sp>
      <p:sp>
        <p:nvSpPr>
          <p:cNvPr id="3" name="blk0069"/>
          <p:cNvSpPr/>
          <p:nvPr/>
        </p:nvSpPr>
        <p:spPr>
          <a:xfrm>
            <a:off x="687600" y="1655999"/>
            <a:ext cx="8686800" cy="56389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69"/>
          <p:cNvSpPr txBox="1"/>
          <p:nvPr/>
        </p:nvSpPr>
        <p:spPr>
          <a:xfrm>
            <a:off x="910799" y="1818000"/>
            <a:ext cx="8240400" cy="239898"/>
          </a:xfrm>
          <a:prstGeom prst="rect">
            <a:avLst/>
          </a:prstGeom>
          <a:noFill/>
        </p:spPr>
        <p:txBody>
          <a:bodyPr wrap="square" anchor="t" lIns="0" rIns="0" tIns="0" bIns="0">
            <a:noAutofit/>
          </a:bodyPr>
          <a:lstStyle/>
          <a:p>
            <a:pPr algn="l">
              <a:lnSpc>
                <a:spcPct val="115000"/>
              </a:lnSpc>
            </a:pPr>
            <a:r>
              <a:rPr sz="1450" b="0" i="0">
                <a:solidFill>
                  <a:srgbClr val="FFFFFF"/>
                </a:solidFill>
                <a:latin typeface="Courier New"/>
                <a:ea typeface="Courier New"/>
                <a:cs typeface="Courier New"/>
                <a:sym typeface="Courier New"/>
              </a:rPr>
              <a:t>display_frame, log_info = vision.yolo_detect(cropped_frame)</a:t>
            </a:r>
          </a:p>
        </p:txBody>
      </p:sp>
      <p:sp>
        <p:nvSpPr>
          <p:cNvPr id="5" name="blk0070"/>
          <p:cNvSpPr txBox="1"/>
          <p:nvPr/>
        </p:nvSpPr>
        <p:spPr>
          <a:xfrm>
            <a:off x="687600" y="2664000"/>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above is inside that one call, in this order:</a:t>
            </a:r>
          </a:p>
        </p:txBody>
      </p:sp>
      <p:sp>
        <p:nvSpPr>
          <p:cNvPr id="6" name="blk0071"/>
          <p:cNvSpPr/>
          <p:nvPr/>
        </p:nvSpPr>
        <p:spPr>
          <a:xfrm>
            <a:off x="687600" y="3102514"/>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71"/>
          <p:cNvSpPr txBox="1"/>
          <p:nvPr/>
        </p:nvSpPr>
        <p:spPr>
          <a:xfrm>
            <a:off x="687600" y="3102514"/>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8" name="blk0071"/>
          <p:cNvSpPr txBox="1"/>
          <p:nvPr/>
        </p:nvSpPr>
        <p:spPr>
          <a:xfrm>
            <a:off x="1252800" y="3080914"/>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Preprocess</a:t>
            </a:r>
          </a:p>
        </p:txBody>
      </p:sp>
      <p:sp>
        <p:nvSpPr>
          <p:cNvPr id="9" name="blk0071"/>
          <p:cNvSpPr txBox="1"/>
          <p:nvPr/>
        </p:nvSpPr>
        <p:spPr>
          <a:xfrm>
            <a:off x="1252800" y="3401314"/>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Resize, scale, swap channels, build the input blob.</a:t>
            </a:r>
          </a:p>
        </p:txBody>
      </p:sp>
      <p:sp>
        <p:nvSpPr>
          <p:cNvPr id="10" name="blk0072"/>
          <p:cNvSpPr/>
          <p:nvPr/>
        </p:nvSpPr>
        <p:spPr>
          <a:xfrm>
            <a:off x="687600" y="3805235"/>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72"/>
          <p:cNvSpPr txBox="1"/>
          <p:nvPr/>
        </p:nvSpPr>
        <p:spPr>
          <a:xfrm>
            <a:off x="687600" y="3805235"/>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2" name="blk0072"/>
          <p:cNvSpPr txBox="1"/>
          <p:nvPr/>
        </p:nvSpPr>
        <p:spPr>
          <a:xfrm>
            <a:off x="1252800" y="3783634"/>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Think</a:t>
            </a:r>
          </a:p>
        </p:txBody>
      </p:sp>
      <p:sp>
        <p:nvSpPr>
          <p:cNvPr id="13" name="blk0072"/>
          <p:cNvSpPr txBox="1"/>
          <p:nvPr/>
        </p:nvSpPr>
        <p:spPr>
          <a:xfrm>
            <a:off x="1252800" y="4104035"/>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One forward pass through the network.</a:t>
            </a:r>
          </a:p>
        </p:txBody>
      </p:sp>
      <p:sp>
        <p:nvSpPr>
          <p:cNvPr id="14" name="blk0073"/>
          <p:cNvSpPr/>
          <p:nvPr/>
        </p:nvSpPr>
        <p:spPr>
          <a:xfrm>
            <a:off x="687600" y="4507956"/>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073"/>
          <p:cNvSpPr txBox="1"/>
          <p:nvPr/>
        </p:nvSpPr>
        <p:spPr>
          <a:xfrm>
            <a:off x="687600" y="4507956"/>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6" name="blk0073"/>
          <p:cNvSpPr txBox="1"/>
          <p:nvPr/>
        </p:nvSpPr>
        <p:spPr>
          <a:xfrm>
            <a:off x="1252800" y="4486355"/>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Filter</a:t>
            </a:r>
          </a:p>
        </p:txBody>
      </p:sp>
      <p:sp>
        <p:nvSpPr>
          <p:cNvPr id="17" name="blk0073"/>
          <p:cNvSpPr txBox="1"/>
          <p:nvPr/>
        </p:nvSpPr>
        <p:spPr>
          <a:xfrm>
            <a:off x="1252800" y="4806756"/>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Two confidence gates on every row of the answer.</a:t>
            </a:r>
          </a:p>
        </p:txBody>
      </p:sp>
      <p:sp>
        <p:nvSpPr>
          <p:cNvPr id="18" name="blk0074"/>
          <p:cNvSpPr/>
          <p:nvPr/>
        </p:nvSpPr>
        <p:spPr>
          <a:xfrm>
            <a:off x="687600" y="5210676"/>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lk0074"/>
          <p:cNvSpPr txBox="1"/>
          <p:nvPr/>
        </p:nvSpPr>
        <p:spPr>
          <a:xfrm>
            <a:off x="687600" y="5210676"/>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20" name="blk0074"/>
          <p:cNvSpPr txBox="1"/>
          <p:nvPr/>
        </p:nvSpPr>
        <p:spPr>
          <a:xfrm>
            <a:off x="1252800" y="5189076"/>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Convert</a:t>
            </a:r>
          </a:p>
        </p:txBody>
      </p:sp>
      <p:sp>
        <p:nvSpPr>
          <p:cNvPr id="21" name="blk0074"/>
          <p:cNvSpPr txBox="1"/>
          <p:nvPr/>
        </p:nvSpPr>
        <p:spPr>
          <a:xfrm>
            <a:off x="1252800" y="5509476"/>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Turn 640-space numbers back into real pixel coordinates.</a:t>
            </a:r>
          </a:p>
        </p:txBody>
      </p:sp>
      <p:sp>
        <p:nvSpPr>
          <p:cNvPr id="22" name="blk0075"/>
          <p:cNvSpPr/>
          <p:nvPr/>
        </p:nvSpPr>
        <p:spPr>
          <a:xfrm>
            <a:off x="687600" y="5913396"/>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lk0075"/>
          <p:cNvSpPr txBox="1"/>
          <p:nvPr/>
        </p:nvSpPr>
        <p:spPr>
          <a:xfrm>
            <a:off x="687600" y="5913396"/>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4" name="blk0075"/>
          <p:cNvSpPr txBox="1"/>
          <p:nvPr/>
        </p:nvSpPr>
        <p:spPr>
          <a:xfrm>
            <a:off x="1252800" y="5891796"/>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a:t>
            </a:r>
          </a:p>
        </p:txBody>
      </p:sp>
      <p:sp>
        <p:nvSpPr>
          <p:cNvPr id="25" name="blk0075"/>
          <p:cNvSpPr txBox="1"/>
          <p:nvPr/>
        </p:nvSpPr>
        <p:spPr>
          <a:xfrm>
            <a:off x="1252800" y="6212196"/>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Rectangle, centre dot, name and confidence.</a:t>
            </a:r>
          </a:p>
        </p:txBody>
      </p:sp>
      <p:sp>
        <p:nvSpPr>
          <p:cNvPr id="26" name="blk0076"/>
          <p:cNvSpPr txBox="1"/>
          <p:nvPr/>
        </p:nvSpPr>
        <p:spPr>
          <a:xfrm>
            <a:off x="687600" y="6594516"/>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lines before it in the loop crop to the workspace, so this sees just your board. Six steps, one call, about a hundred milliseconds.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p>
        </p:txBody>
      </p:sp>
      <p:sp>
        <p:nvSpPr>
          <p:cNvPr id="3" name="blk007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packages this time, and one of them is new:</a:t>
            </a:r>
          </a:p>
        </p:txBody>
      </p:sp>
      <p:sp>
        <p:nvSpPr>
          <p:cNvPr id="4" name="blk0079"/>
          <p:cNvSpPr/>
          <p:nvPr/>
        </p:nvSpPr>
        <p:spPr>
          <a:xfrm>
            <a:off x="687600" y="2015999"/>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9"/>
          <p:cNvSpPr txBox="1"/>
          <p:nvPr/>
        </p:nvSpPr>
        <p:spPr>
          <a:xfrm>
            <a:off x="910799" y="2178000"/>
            <a:ext cx="8240400" cy="992683"/>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import cv2</a:t>
            </a:r>
          </a:p>
          <a:p>
            <a:pPr algn="l">
              <a:lnSpc>
                <a:spcPct val="115000"/>
              </a:lnSpc>
            </a:pPr>
            <a:r>
              <a:rPr sz="1500" b="0" i="0">
                <a:solidFill>
                  <a:srgbClr val="FFFFFF"/>
                </a:solidFill>
                <a:latin typeface="Courier New"/>
                <a:ea typeface="Courier New"/>
                <a:cs typeface="Courier New"/>
                <a:sym typeface="Courier New"/>
              </a:rPr>
              <a:t>import numpy as np</a:t>
            </a:r>
          </a:p>
          <a:p>
            <a:pPr algn="l">
              <a:lnSpc>
                <a:spcPct val="115000"/>
              </a:lnSpc>
            </a:pPr>
            <a:r>
              <a:rPr sz="1500" b="0" i="0">
                <a:solidFill>
                  <a:srgbClr val="FFFFFF"/>
                </a:solidFill>
                <a:latin typeface="Courier New"/>
                <a:ea typeface="Courier New"/>
                <a:cs typeface="Courier New"/>
                <a:sym typeface="Courier New"/>
              </a:rPr>
              <a:t>import time</a:t>
            </a:r>
          </a:p>
          <a:p>
            <a:pPr algn="l">
              <a:lnSpc>
                <a:spcPct val="115000"/>
              </a:lnSpc>
            </a:pPr>
            <a:r>
              <a:rPr sz="1500" b="0" i="0">
                <a:solidFill>
                  <a:srgbClr val="FFFFFF"/>
                </a:solidFill>
                <a:latin typeface="Courier New"/>
                <a:ea typeface="Courier New"/>
                <a:cs typeface="Courier New"/>
                <a:sym typeface="Courier New"/>
              </a:rPr>
              <a:t>import os</a:t>
            </a:r>
          </a:p>
        </p:txBody>
      </p:sp>
      <p:sp>
        <p:nvSpPr>
          <p:cNvPr id="6" name="blk0080"/>
          <p:cNvSpPr txBox="1"/>
          <p:nvPr/>
        </p:nvSpPr>
        <p:spPr>
          <a:xfrm>
            <a:off x="687600" y="3440682"/>
            <a:ext cx="7542000" cy="4460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cv2</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numpy</a:t>
            </a:r>
            <a:r>
              <a:rPr sz="2027" b="0" i="0">
                <a:solidFill>
                  <a:srgbClr val="FFFFFF"/>
                </a:solidFill>
                <a:latin typeface="Avenir"/>
                <a:ea typeface="Avenir"/>
                <a:cs typeface="Avenir"/>
                <a:sym typeface="Avenir"/>
              </a:rPr>
              <a:t> you know. </a:t>
            </a:r>
            <a:r>
              <a:rPr sz="1743" b="0" i="0">
                <a:solidFill>
                  <a:srgbClr val="FFFFFF"/>
                </a:solidFill>
                <a:latin typeface="Courier New"/>
                <a:ea typeface="Courier New"/>
                <a:cs typeface="Courier New"/>
                <a:sym typeface="Courier New"/>
              </a:rPr>
              <a:t>time</a:t>
            </a:r>
            <a:r>
              <a:rPr sz="2027" b="0" i="0">
                <a:solidFill>
                  <a:srgbClr val="FFFFFF"/>
                </a:solidFill>
                <a:latin typeface="Avenir"/>
                <a:ea typeface="Avenir"/>
                <a:cs typeface="Avenir"/>
                <a:sym typeface="Avenir"/>
              </a:rPr>
              <a:t> still gives the arm its pauses. </a:t>
            </a:r>
            <a:r>
              <a:rPr sz="1743" b="0" i="0">
                <a:solidFill>
                  <a:srgbClr val="FFFFFF"/>
                </a:solidFill>
                <a:latin typeface="Courier New"/>
                <a:ea typeface="Courier New"/>
                <a:cs typeface="Courier New"/>
                <a:sym typeface="Courier New"/>
              </a:rPr>
              <a:t>os</a:t>
            </a:r>
            <a:r>
              <a:rPr sz="2027" b="0" i="0">
                <a:solidFill>
                  <a:srgbClr val="FFFFFF"/>
                </a:solidFill>
                <a:latin typeface="Avenir"/>
                <a:ea typeface="Avenir"/>
                <a:cs typeface="Avenir"/>
                <a:sym typeface="Avenir"/>
              </a:rPr>
              <a:t> is new, and it exists because this project has to find files on disk.</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Now look at the line just below this TODO. </a:t>
            </a:r>
            <a:r>
              <a:rPr sz="1743" b="0" i="0">
                <a:solidFill>
                  <a:srgbClr val="FFFFFF"/>
                </a:solidFill>
                <a:latin typeface="Courier New"/>
                <a:ea typeface="Courier New"/>
                <a:cs typeface="Courier New"/>
                <a:sym typeface="Courier New"/>
              </a:rPr>
              <a:t>import threading</a:t>
            </a:r>
            <a:r>
              <a:rPr sz="2027" b="0" i="0">
                <a:solidFill>
                  <a:srgbClr val="FFFFFF"/>
                </a:solidFill>
                <a:latin typeface="Avenir"/>
                <a:ea typeface="Avenir"/>
                <a:cs typeface="Avenir"/>
                <a:sym typeface="Avenir"/>
              </a:rPr>
              <a:t> is already written for you — it is outside the </a:t>
            </a:r>
            <a:r>
              <a:rPr sz="1743" b="0" i="0">
                <a:solidFill>
                  <a:srgbClr val="FFFFFF"/>
                </a:solidFill>
                <a:latin typeface="Courier New"/>
                <a:ea typeface="Courier New"/>
                <a:cs typeface="Courier New"/>
                <a:sym typeface="Courier New"/>
              </a:rPr>
              <a:t># ---</a:t>
            </a:r>
            <a:r>
              <a:rPr sz="2027" b="0" i="0">
                <a:solidFill>
                  <a:srgbClr val="FFFFFF"/>
                </a:solidFill>
                <a:latin typeface="Avenir"/>
                <a:ea typeface="Avenir"/>
                <a:cs typeface="Avenir"/>
                <a:sym typeface="Avenir"/>
              </a:rPr>
              <a:t> markers, so it is not yours to fill in. Read the starter before you start; some of the work is already done.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p>
        </p:txBody>
      </p:sp>
      <p:sp>
        <p:nvSpPr>
          <p:cNvPr id="3" name="blk008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robot import, unchanged from the last two projects:</a:t>
            </a:r>
          </a:p>
        </p:txBody>
      </p:sp>
      <p:sp>
        <p:nvSpPr>
          <p:cNvPr id="4" name="blk0083"/>
          <p:cNvSpPr/>
          <p:nvPr/>
        </p:nvSpPr>
        <p:spPr>
          <a:xfrm>
            <a:off x="687600" y="201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3"/>
          <p:cNvSpPr txBox="1"/>
          <p:nvPr/>
        </p:nvSpPr>
        <p:spPr>
          <a:xfrm>
            <a:off x="910799" y="217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084"/>
          <p:cNvSpPr txBox="1"/>
          <p:nvPr/>
        </p:nvSpPr>
        <p:spPr>
          <a:xfrm>
            <a:off x="687600" y="2880000"/>
            <a:ext cx="7542000" cy="47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vision half of this project needs no robot at all. That is worth saying out loud, because it means you can do every interesting thing in this project on a laptop with the arm switched off.</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It also means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below will warn you about missing hardware and carry on, and that is the design working rather than something to fix.</a:t>
            </a:r>
          </a:p>
        </p:txBody>
      </p:sp>
      <p:sp>
        <p:nvSpPr>
          <p:cNvPr id="7" name="blk0085"/>
          <p:cNvSpPr txBox="1"/>
          <p:nvPr/>
        </p:nvSpPr>
        <p:spPr>
          <a:xfrm>
            <a:off x="687600" y="5406435"/>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Get the vision pipeline working before you worry about the arm. The interesting bugs in this project are all in the code you are about to write, and none of them need hardware to find.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p>
        </p:txBody>
      </p:sp>
      <p:sp>
        <p:nvSpPr>
          <p:cNvPr id="3" name="blk008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Same robot startup as before, inside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a:t>
            </a:r>
          </a:p>
        </p:txBody>
      </p:sp>
      <p:sp>
        <p:nvSpPr>
          <p:cNvPr id="4" name="blk0088"/>
          <p:cNvSpPr/>
          <p:nvPr/>
        </p:nvSpPr>
        <p:spPr>
          <a:xfrm>
            <a:off x="687600" y="2015999"/>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8"/>
          <p:cNvSpPr txBox="1"/>
          <p:nvPr/>
        </p:nvSpPr>
        <p:spPr>
          <a:xfrm>
            <a:off x="910799" y="2178000"/>
            <a:ext cx="8240400" cy="1240854"/>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print("Connecting to myCobot280...")</a:t>
            </a:r>
          </a:p>
          <a:p>
            <a:pPr algn="l">
              <a:lnSpc>
                <a:spcPct val="115000"/>
              </a:lnSpc>
            </a:pPr>
            <a:r>
              <a:rPr sz="1500" b="0" i="0">
                <a:solidFill>
                  <a:srgbClr val="FFFFFF"/>
                </a:solidFill>
                <a:latin typeface="Courier New"/>
                <a:ea typeface="Courier New"/>
                <a:cs typeface="Courier New"/>
                <a:sym typeface="Courier New"/>
              </a:rPr>
              <a:t>mc = MyCobot280('/dev/ttyAMA0', 1000000)</a:t>
            </a:r>
          </a:p>
          <a:p>
            <a:pPr algn="l">
              <a:lnSpc>
                <a:spcPct val="115000"/>
              </a:lnSpc>
            </a:pPr>
            <a:r>
              <a:rPr sz="1500" b="0" i="0">
                <a:solidFill>
                  <a:srgbClr val="FFFFFF"/>
                </a:solidFill>
                <a:latin typeface="Courier New"/>
                <a:ea typeface="Courier New"/>
                <a:cs typeface="Courier New"/>
                <a:sym typeface="Courier New"/>
              </a:rPr>
              <a:t>time.sleep(0.5)</a:t>
            </a:r>
          </a:p>
          <a:p>
            <a:pPr algn="l">
              <a:lnSpc>
                <a:spcPct val="115000"/>
              </a:lnSpc>
            </a:pPr>
            <a:r>
              <a:rPr sz="1500" b="0" i="0">
                <a:solidFill>
                  <a:srgbClr val="FFFFFF"/>
                </a:solidFill>
                <a:latin typeface="Courier New"/>
                <a:ea typeface="Courier New"/>
                <a:cs typeface="Courier New"/>
                <a:sym typeface="Courier New"/>
              </a:rPr>
              <a:t>mc.power_on()</a:t>
            </a:r>
          </a:p>
          <a:p>
            <a:pPr algn="l">
              <a:lnSpc>
                <a:spcPct val="115000"/>
              </a:lnSpc>
            </a:pPr>
            <a:r>
              <a:rPr sz="1500" b="0" i="0">
                <a:solidFill>
                  <a:srgbClr val="FFFFFF"/>
                </a:solidFill>
                <a:latin typeface="Courier New"/>
                <a:ea typeface="Courier New"/>
                <a:cs typeface="Courier New"/>
                <a:sym typeface="Courier New"/>
              </a:rPr>
              <a:t>time.sleep(0.5)</a:t>
            </a:r>
          </a:p>
        </p:txBody>
      </p:sp>
      <p:sp>
        <p:nvSpPr>
          <p:cNvPr id="6" name="blk0089"/>
          <p:cNvSpPr txBox="1"/>
          <p:nvPr/>
        </p:nvSpPr>
        <p:spPr>
          <a:xfrm>
            <a:off x="687600" y="3688853"/>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Nothing new here, which is the point. The port and the baud rate are the same, the pauses are the same, and the whole block still fails safely when there is no arm attached.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Notice which parts of this program </a:t>
            </a:r>
            <a:r>
              <a:rPr sz="2027" b="0" i="1">
                <a:solidFill>
                  <a:srgbClr val="FFCF08"/>
                </a:solidFill>
                <a:latin typeface="Avenir"/>
                <a:ea typeface="Avenir"/>
                <a:cs typeface="Avenir"/>
                <a:sym typeface="Avenir"/>
              </a:rPr>
              <a:t>are</a:t>
            </a:r>
            <a:r>
              <a:rPr sz="2027" b="0" i="0">
                <a:solidFill>
                  <a:srgbClr val="FFFFFF"/>
                </a:solidFill>
                <a:latin typeface="Avenir"/>
                <a:ea typeface="Avenir"/>
                <a:cs typeface="Avenir"/>
                <a:sym typeface="Avenir"/>
              </a:rPr>
              <a:t> reusable. Every project in this module repeats the same four blocks — imports, robot startup, camera scan, display loop. Recognising them means you spend your attention on the part that is actually new.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p>
        </p:txBody>
      </p:sp>
      <p:sp>
        <p:nvSpPr>
          <p:cNvPr id="3" name="blk009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Park the arm, same as always:</a:t>
            </a:r>
          </a:p>
        </p:txBody>
      </p:sp>
      <p:sp>
        <p:nvSpPr>
          <p:cNvPr id="4" name="blk0092"/>
          <p:cNvSpPr/>
          <p:nvPr/>
        </p:nvSpPr>
        <p:spPr>
          <a:xfrm>
            <a:off x="687600" y="1944000"/>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2"/>
          <p:cNvSpPr txBox="1"/>
          <p:nvPr/>
        </p:nvSpPr>
        <p:spPr>
          <a:xfrm>
            <a:off x="910799" y="2106000"/>
            <a:ext cx="8240400" cy="992683"/>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folded_angles = [0, 45, -90, -45, 0, 0]</a:t>
            </a:r>
          </a:p>
          <a:p>
            <a:pPr algn="l">
              <a:lnSpc>
                <a:spcPct val="115000"/>
              </a:lnSpc>
            </a:pPr>
            <a:r>
              <a:rPr sz="1500" b="0" i="0">
                <a:solidFill>
                  <a:srgbClr val="FFFFFF"/>
                </a:solidFill>
                <a:latin typeface="Courier New"/>
                <a:ea typeface="Courier New"/>
                <a:cs typeface="Courier New"/>
                <a:sym typeface="Courier New"/>
              </a:rPr>
              <a:t>print("Moving arm to initial folded position...")</a:t>
            </a:r>
          </a:p>
          <a:p>
            <a:pPr algn="l">
              <a:lnSpc>
                <a:spcPct val="115000"/>
              </a:lnSpc>
            </a:pPr>
            <a:r>
              <a:rPr sz="1500" b="0" i="0">
                <a:solidFill>
                  <a:srgbClr val="FFFFFF"/>
                </a:solidFill>
                <a:latin typeface="Courier New"/>
                <a:ea typeface="Courier New"/>
                <a:cs typeface="Courier New"/>
                <a:sym typeface="Courier New"/>
              </a:rPr>
              <a:t>mc.send_angles(folded_angles, 20)</a:t>
            </a:r>
          </a:p>
          <a:p>
            <a:pPr algn="l">
              <a:lnSpc>
                <a:spcPct val="115000"/>
              </a:lnSpc>
            </a:pPr>
            <a:r>
              <a:rPr sz="1500" b="0" i="0">
                <a:solidFill>
                  <a:srgbClr val="FFFFFF"/>
                </a:solidFill>
                <a:latin typeface="Courier New"/>
                <a:ea typeface="Courier New"/>
                <a:cs typeface="Courier New"/>
                <a:sym typeface="Courier New"/>
              </a:rPr>
              <a:t>time.sleep(2.0)</a:t>
            </a:r>
          </a:p>
        </p:txBody>
      </p:sp>
      <p:sp>
        <p:nvSpPr>
          <p:cNvPr id="6" name="blk0093"/>
          <p:cNvSpPr txBox="1"/>
          <p:nvPr/>
        </p:nvSpPr>
        <p:spPr>
          <a:xfrm>
            <a:off x="687600" y="3368683"/>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Folding the arm up and out of shot matters more in this project than in the last two. The model has been trained on photographs of rooms, and it is very good at finding objects in them. A shiny metal arm sitting in shot is an object in a room, and it will be detected as one.</a:t>
            </a:r>
          </a:p>
        </p:txBody>
      </p:sp>
      <p:sp>
        <p:nvSpPr>
          <p:cNvPr id="7" name="blk0094"/>
          <p:cNvSpPr txBox="1"/>
          <p:nvPr/>
        </p:nvSpPr>
        <p:spPr>
          <a:xfrm>
            <a:off x="687600" y="4683691"/>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If you see a box appear around the arm itself, this is why. It is not a bug in the model and there is no threshold that fixes it properly — the object is genuinely there. Move it out of the picture.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files, not </a:t>
            </a:r>
            <a:r>
              <a:rPr sz="2827" b="0" i="0">
                <a:solidFill>
                  <a:srgbClr val="FFFFFF"/>
                </a:solidFill>
                <a:latin typeface="Bungee"/>
                <a:ea typeface="Bungee"/>
                <a:cs typeface="Bungee"/>
                <a:sym typeface="Bungee"/>
              </a:rPr>
              <a:t>one</a:t>
            </a:r>
          </a:p>
        </p:txBody>
      </p:sp>
      <p:sp>
        <p:nvSpPr>
          <p:cNvPr id="3" name="blk009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one command that is different from the last two projects. The model and the label file have to arrive on the arm as well, because the program looks for them beside your script:</a:t>
            </a:r>
          </a:p>
        </p:txBody>
      </p:sp>
      <p:sp>
        <p:nvSpPr>
          <p:cNvPr id="4" name="blk0097"/>
          <p:cNvSpPr txBox="1"/>
          <p:nvPr/>
        </p:nvSpPr>
        <p:spPr>
          <a:xfrm>
            <a:off x="687600" y="2693659"/>
            <a:ext cx="8686800" cy="32400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scp M2-P3-Starter.py yolov5s.onnx coco.names er@192.168.1.149:Documents</a:t>
            </a:r>
          </a:p>
        </p:txBody>
      </p:sp>
      <p:sp>
        <p:nvSpPr>
          <p:cNvPr id="5" name="blk0098"/>
          <p:cNvSpPr txBox="1"/>
          <p:nvPr/>
        </p:nvSpPr>
        <p:spPr>
          <a:xfrm>
            <a:off x="687600" y="304983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All three filenames go in one command. Forget the model and the program starts and then reports </a:t>
            </a:r>
            <a:r>
              <a:rPr sz="1743" b="0" i="0">
                <a:solidFill>
                  <a:srgbClr val="FFFFFF"/>
                </a:solidFill>
                <a:latin typeface="Courier New"/>
                <a:ea typeface="Courier New"/>
                <a:cs typeface="Courier New"/>
                <a:sym typeface="Courier New"/>
              </a:rPr>
              <a:t>YOLO Model Not Loaded</a:t>
            </a:r>
            <a:r>
              <a:rPr sz="2027" b="0" i="0">
                <a:solidFill>
                  <a:srgbClr val="FFFFFF"/>
                </a:solidFill>
                <a:latin typeface="Avenir"/>
                <a:ea typeface="Avenir"/>
                <a:cs typeface="Avenir"/>
                <a:sym typeface="Avenir"/>
              </a:rPr>
              <a:t> by name — which is a much friendlier failure than a traceback.</a:t>
            </a:r>
          </a:p>
        </p:txBody>
      </p:sp>
      <p:sp>
        <p:nvSpPr>
          <p:cNvPr id="6" name="blk0099"/>
          <p:cNvSpPr txBox="1"/>
          <p:nvPr/>
        </p:nvSpPr>
        <p:spPr>
          <a:xfrm>
            <a:off x="687600" y="439348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M2-P3-Starter.py</a:t>
            </a:r>
          </a:p>
        </p:txBody>
      </p:sp>
      <p:sp>
        <p:nvSpPr>
          <p:cNvPr id="7" name="blk0100"/>
          <p:cNvSpPr txBox="1"/>
          <p:nvPr/>
        </p:nvSpPr>
        <p:spPr>
          <a:xfrm>
            <a:off x="687600" y="4832383"/>
            <a:ext cx="7542000" cy="29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Run it now, with the vision TODOs still empty. There is no error message this time — nothing happens, and that is worth understanding.</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crop returns nothing, the detector returns </a:t>
            </a:r>
            <a:r>
              <a:rPr sz="1743" b="0" i="0">
                <a:solidFill>
                  <a:srgbClr val="FFFFFF"/>
                </a:solidFill>
                <a:latin typeface="Courier New"/>
                <a:ea typeface="Courier New"/>
                <a:cs typeface="Courier New"/>
                <a:sym typeface="Courier New"/>
              </a:rPr>
              <a:t>"No Frame"</a:t>
            </a:r>
            <a:r>
              <a:rPr sz="2027" b="0" i="0">
                <a:solidFill>
                  <a:srgbClr val="FFFFFF"/>
                </a:solidFill>
                <a:latin typeface="Avenir"/>
                <a:ea typeface="Avenir"/>
                <a:cs typeface="Avenir"/>
                <a:sym typeface="Avenir"/>
              </a:rPr>
              <a:t>, and the display shows nothing.</a:t>
            </a:r>
          </a:p>
        </p:txBody>
      </p:sp>
      <p:sp>
        <p:nvSpPr>
          <p:cNvPr id="8" name="blk0101"/>
          <p:cNvSpPr txBox="1"/>
          <p:nvPr/>
        </p:nvSpPr>
        <p:spPr>
          <a:xfrm>
            <a:off x="687600" y="6740989"/>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silent program is one whose guards all work. Fill the TODOs and the window appears.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p>
        </p:txBody>
      </p:sp>
      <p:sp>
        <p:nvSpPr>
          <p:cNvPr id="3" name="blk010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ArUco block, byte for byte the one from Project 2:</a:t>
            </a:r>
          </a:p>
        </p:txBody>
      </p:sp>
      <p:sp>
        <p:nvSpPr>
          <p:cNvPr id="4" name="blk0104"/>
          <p:cNvSpPr/>
          <p:nvPr/>
        </p:nvSpPr>
        <p:spPr>
          <a:xfrm>
            <a:off x="687600" y="2160000"/>
            <a:ext cx="8686800" cy="20363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4"/>
          <p:cNvSpPr txBox="1"/>
          <p:nvPr/>
        </p:nvSpPr>
        <p:spPr>
          <a:xfrm>
            <a:off x="910799" y="2322000"/>
            <a:ext cx="8240400" cy="171237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try:</a:t>
            </a:r>
          </a:p>
          <a:p>
            <a:pPr algn="l">
              <a:lnSpc>
                <a:spcPct val="115000"/>
              </a:lnSpc>
            </a:pPr>
            <a:r>
              <a:rPr sz="1150" b="0" i="0">
                <a:solidFill>
                  <a:srgbClr val="FFFFFF"/>
                </a:solidFill>
                <a:latin typeface="Courier New"/>
                <a:ea typeface="Courier New"/>
                <a:cs typeface="Courier New"/>
                <a:sym typeface="Courier New"/>
              </a:rPr>
              <a:t>    self.aruco_dict = cv2.aruco.getPredefinedDictionary(cv2.aruco.DICT_6X6_250)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a:t>
            </a:r>
          </a:p>
          <a:p>
            <a:pPr algn="l">
              <a:lnSpc>
                <a:spcPct val="115000"/>
              </a:lnSpc>
            </a:pPr>
            <a:r>
              <a:rPr sz="1150" b="0" i="0">
                <a:solidFill>
                  <a:srgbClr val="FFFFFF"/>
                </a:solidFill>
                <a:latin typeface="Courier New"/>
                <a:ea typeface="Courier New"/>
                <a:cs typeface="Courier New"/>
                <a:sym typeface="Courier New"/>
              </a:rPr>
              <a:t>    self.detector = cv2.aruco.ArucoDetector(self.aruco_dict, self.aruco_params)</a:t>
            </a:r>
          </a:p>
          <a:p>
            <a:pPr algn="l">
              <a:lnSpc>
                <a:spcPct val="115000"/>
              </a:lnSpc>
            </a:pPr>
            <a:r>
              <a:rPr sz="1150" b="0" i="0">
                <a:solidFill>
                  <a:srgbClr val="FFFFFF"/>
                </a:solidFill>
                <a:latin typeface="Courier New"/>
                <a:ea typeface="Courier New"/>
                <a:cs typeface="Courier New"/>
                <a:sym typeface="Courier New"/>
              </a:rPr>
              <a:t>    self.use_new_aruco = True</a:t>
            </a:r>
          </a:p>
          <a:p>
            <a:pPr algn="l">
              <a:lnSpc>
                <a:spcPct val="115000"/>
              </a:lnSpc>
            </a:pPr>
            <a:r>
              <a:rPr sz="1150" b="0" i="0">
                <a:solidFill>
                  <a:srgbClr val="FFFFFF"/>
                </a:solidFill>
                <a:latin typeface="Courier New"/>
                <a:ea typeface="Courier New"/>
                <a:cs typeface="Courier New"/>
                <a:sym typeface="Courier New"/>
              </a:rPr>
              <a:t>except AttributeError:</a:t>
            </a:r>
          </a:p>
          <a:p>
            <a:pPr algn="l">
              <a:lnSpc>
                <a:spcPct val="115000"/>
              </a:lnSpc>
            </a:pPr>
            <a:r>
              <a:rPr sz="1150" b="0" i="0">
                <a:solidFill>
                  <a:srgbClr val="FFFFFF"/>
                </a:solidFill>
                <a:latin typeface="Courier New"/>
                <a:ea typeface="Courier New"/>
                <a:cs typeface="Courier New"/>
                <a:sym typeface="Courier New"/>
              </a:rPr>
              <a:t>    self.aruco_dict = cv2.aruco.Dictionary_get(cv2.aruco.DICT_6X6_250)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cv2.aruco.DetectorParameters_create()</a:t>
            </a:r>
          </a:p>
          <a:p>
            <a:pPr algn="l">
              <a:lnSpc>
                <a:spcPct val="115000"/>
              </a:lnSpc>
            </a:pPr>
            <a:r>
              <a:rPr sz="1150" b="0" i="0">
                <a:solidFill>
                  <a:srgbClr val="FFFFFF"/>
                </a:solidFill>
                <a:latin typeface="Courier New"/>
                <a:ea typeface="Courier New"/>
                <a:cs typeface="Courier New"/>
                <a:sym typeface="Courier New"/>
              </a:rPr>
              <a:t>    self.use_new_aruco = False</a:t>
            </a:r>
          </a:p>
        </p:txBody>
      </p:sp>
      <p:sp>
        <p:nvSpPr>
          <p:cNvPr id="6" name="blk0105"/>
          <p:cNvSpPr txBox="1"/>
          <p:nvPr/>
        </p:nvSpPr>
        <p:spPr>
          <a:xfrm>
            <a:off x="687600" y="4608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typed this carefully in Project 2, it is already in your muscle memory. Do not retype it from memory though — copy it across. One misplaced bracket here produces an </a:t>
            </a:r>
            <a:r>
              <a:rPr sz="1419" b="0" i="0">
                <a:solidFill>
                  <a:srgbClr val="FFFFFF"/>
                </a:solidFill>
                <a:latin typeface="Courier New"/>
                <a:ea typeface="Courier New"/>
                <a:cs typeface="Courier New"/>
                <a:sym typeface="Courier New"/>
              </a:rPr>
              <a:t>SyntaxError</a:t>
            </a:r>
            <a:r>
              <a:rPr sz="1650" b="0" i="0">
                <a:solidFill>
                  <a:srgbClr val="FFFFFF"/>
                </a:solidFill>
                <a:latin typeface="Avenir"/>
                <a:ea typeface="Avenir"/>
                <a:cs typeface="Avenir"/>
                <a:sym typeface="Avenir"/>
              </a:rPr>
              <a:t> that points at the wrong line and wastes an hour.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p>
        </p:txBody>
      </p:sp>
      <p:sp>
        <p:nvSpPr>
          <p:cNvPr id="3" name="blk01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TODO looks like one line but does not need to be. All it requires is the folder the script lives in:</a:t>
            </a:r>
          </a:p>
        </p:txBody>
      </p:sp>
      <p:sp>
        <p:nvSpPr>
          <p:cNvPr id="4" name="blk0108"/>
          <p:cNvSpPr/>
          <p:nvPr/>
        </p:nvSpPr>
        <p:spPr>
          <a:xfrm>
            <a:off x="687600" y="2160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8"/>
          <p:cNvSpPr txBox="1"/>
          <p:nvPr/>
        </p:nvSpPr>
        <p:spPr>
          <a:xfrm>
            <a:off x="910799" y="2322000"/>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script_dir = os.path.dirname(os.path.abspath(__file__))</a:t>
            </a:r>
          </a:p>
        </p:txBody>
      </p:sp>
      <p:sp>
        <p:nvSpPr>
          <p:cNvPr id="6" name="blk0109"/>
          <p:cNvSpPr/>
          <p:nvPr/>
        </p:nvSpPr>
        <p:spPr>
          <a:xfrm>
            <a:off x="687600" y="2880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09"/>
          <p:cNvSpPr txBox="1"/>
          <p:nvPr/>
        </p:nvSpPr>
        <p:spPr>
          <a:xfrm>
            <a:off x="910799" y="3041999"/>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model_path = os.path.join(script_dir, "yolov5s.onnx")</a:t>
            </a:r>
          </a:p>
          <a:p>
            <a:pPr algn="l">
              <a:lnSpc>
                <a:spcPct val="115000"/>
              </a:lnSpc>
            </a:pPr>
            <a:r>
              <a:rPr sz="1400" b="0" i="0">
                <a:solidFill>
                  <a:srgbClr val="FFFFFF"/>
                </a:solidFill>
                <a:latin typeface="Courier New"/>
                <a:ea typeface="Courier New"/>
                <a:cs typeface="Courier New"/>
                <a:sym typeface="Courier New"/>
              </a:rPr>
              <a:t>labels_path = os.path.join(script_dir, "coco.names")</a:t>
            </a:r>
          </a:p>
        </p:txBody>
      </p:sp>
      <p:sp>
        <p:nvSpPr>
          <p:cNvPr id="8" name="blk0110"/>
          <p:cNvSpPr txBox="1"/>
          <p:nvPr/>
        </p:nvSpPr>
        <p:spPr>
          <a:xfrm>
            <a:off x="687600" y="3960000"/>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Nothing is opened or read yet — these are just strings naming where files should be. That comes in the next two steps, and keeping "decide where" separate from "read it" is what makes this code easy to test.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Check the folder now, before you write any more. </a:t>
            </a:r>
            <a:r>
              <a:rPr sz="1743" b="0" i="0">
                <a:solidFill>
                  <a:srgbClr val="FFFFFF"/>
                </a:solidFill>
                <a:latin typeface="Courier New"/>
                <a:ea typeface="Courier New"/>
                <a:cs typeface="Courier New"/>
                <a:sym typeface="Courier New"/>
              </a:rPr>
              <a:t>yolov5s.onnx</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coco.names</a:t>
            </a:r>
            <a:r>
              <a:rPr sz="2027" b="0" i="0">
                <a:solidFill>
                  <a:srgbClr val="FFFFFF"/>
                </a:solidFill>
                <a:latin typeface="Avenir"/>
                <a:ea typeface="Avenir"/>
                <a:cs typeface="Avenir"/>
                <a:sym typeface="Avenir"/>
              </a:rPr>
              <a:t> should be sitting next to </a:t>
            </a:r>
            <a:r>
              <a:rPr sz="1743" b="0" i="0">
                <a:solidFill>
                  <a:srgbClr val="FFFFFF"/>
                </a:solidFill>
                <a:latin typeface="Courier New"/>
                <a:ea typeface="Courier New"/>
                <a:cs typeface="Courier New"/>
                <a:sym typeface="Courier New"/>
              </a:rPr>
              <a:t>M2-P3-Starter.py</a:t>
            </a:r>
            <a:r>
              <a:rPr sz="2027" b="0" i="0">
                <a:solidFill>
                  <a:srgbClr val="FFFFFF"/>
                </a:solidFill>
                <a:latin typeface="Avenir"/>
                <a:ea typeface="Avenir"/>
                <a:cs typeface="Avenir"/>
                <a:sym typeface="Avenir"/>
              </a:rPr>
              <a:t> in your project folder. If they are not, get them now.</a:t>
            </a:r>
          </a:p>
        </p:txBody>
      </p:sp>
      <p:sp>
        <p:nvSpPr>
          <p:cNvPr id="9" name="blk0111"/>
          <p:cNvSpPr txBox="1"/>
          <p:nvPr/>
        </p:nvSpPr>
        <p:spPr>
          <a:xfrm>
            <a:off x="687600" y="6486435"/>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 the arm the model must be in </a:t>
            </a:r>
            <a:r>
              <a:rPr sz="1419" b="0" i="0">
                <a:solidFill>
                  <a:srgbClr val="FFFFFF"/>
                </a:solidFill>
                <a:latin typeface="Courier New"/>
                <a:ea typeface="Courier New"/>
                <a:cs typeface="Courier New"/>
                <a:sym typeface="Courier New"/>
              </a:rPr>
              <a:t>Documents</a:t>
            </a:r>
            <a:r>
              <a:rPr sz="1650" b="0" i="0">
                <a:solidFill>
                  <a:srgbClr val="FFFFFF"/>
                </a:solidFill>
                <a:latin typeface="Avenir"/>
                <a:ea typeface="Avenir"/>
                <a:cs typeface="Avenir"/>
                <a:sym typeface="Avenir"/>
              </a:rPr>
              <a:t> beside your script. Copying only the </a:t>
            </a:r>
            <a:r>
              <a:rPr sz="1419" b="0" i="0">
                <a:solidFill>
                  <a:srgbClr val="FFFFFF"/>
                </a:solidFill>
                <a:latin typeface="Courier New"/>
                <a:ea typeface="Courier New"/>
                <a:cs typeface="Courier New"/>
                <a:sym typeface="Courier New"/>
              </a:rPr>
              <a:t>.py</a:t>
            </a:r>
            <a:r>
              <a:rPr sz="1650" b="0" i="0">
                <a:solidFill>
                  <a:srgbClr val="FFFFFF"/>
                </a:solidFill>
                <a:latin typeface="Avenir"/>
                <a:ea typeface="Avenir"/>
                <a:cs typeface="Avenir"/>
                <a:sym typeface="Avenir"/>
              </a:rPr>
              <a:t> across is the most common reason this project refuses to start — it costs one extra filename in the </a:t>
            </a:r>
            <a:r>
              <a:rPr sz="1419" b="0" i="0">
                <a:solidFill>
                  <a:srgbClr val="FFFFFF"/>
                </a:solidFill>
                <a:latin typeface="Courier New"/>
                <a:ea typeface="Courier New"/>
                <a:cs typeface="Courier New"/>
                <a:sym typeface="Courier New"/>
              </a:rPr>
              <a:t>scp</a:t>
            </a:r>
            <a:r>
              <a:rPr sz="1650" b="0" i="0">
                <a:solidFill>
                  <a:srgbClr val="FFFFFF"/>
                </a:solidFill>
                <a:latin typeface="Avenir"/>
                <a:ea typeface="Avenir"/>
                <a:cs typeface="Avenir"/>
                <a:sym typeface="Avenir"/>
              </a:rPr>
              <a:t> command.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p>
        </p:txBody>
      </p:sp>
      <p:sp>
        <p:nvSpPr>
          <p:cNvPr id="3" name="blk011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load the network. It is one line, and it has a condition attached:</a:t>
            </a:r>
          </a:p>
        </p:txBody>
      </p:sp>
      <p:sp>
        <p:nvSpPr>
          <p:cNvPr id="4" name="blk0114"/>
          <p:cNvSpPr/>
          <p:nvPr/>
        </p:nvSpPr>
        <p:spPr>
          <a:xfrm>
            <a:off x="687600" y="2160000"/>
            <a:ext cx="8686800" cy="5225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4"/>
          <p:cNvSpPr txBox="1"/>
          <p:nvPr/>
        </p:nvSpPr>
        <p:spPr>
          <a:xfrm>
            <a:off x="910799" y="2322000"/>
            <a:ext cx="8240400" cy="19853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self.net = cv2.dnn.readNet(model_path) if os.path.exists(model_path) else None</a:t>
            </a:r>
          </a:p>
        </p:txBody>
      </p:sp>
      <p:sp>
        <p:nvSpPr>
          <p:cNvPr id="6" name="blk0115"/>
          <p:cNvSpPr txBox="1"/>
          <p:nvPr/>
        </p:nvSpPr>
        <p:spPr>
          <a:xfrm>
            <a:off x="687600" y="3096000"/>
            <a:ext cx="7542000" cy="45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conditional expression — </a:t>
            </a:r>
            <a:r>
              <a:rPr sz="1743" b="0" i="0">
                <a:solidFill>
                  <a:srgbClr val="FFFFFF"/>
                </a:solidFill>
                <a:latin typeface="Courier New"/>
                <a:ea typeface="Courier New"/>
                <a:cs typeface="Courier New"/>
                <a:sym typeface="Courier New"/>
              </a:rPr>
              <a:t>A if test else B</a:t>
            </a:r>
            <a:r>
              <a:rPr sz="2027" b="0" i="0">
                <a:solidFill>
                  <a:srgbClr val="FFFFFF"/>
                </a:solidFill>
                <a:latin typeface="Avenir"/>
                <a:ea typeface="Avenir"/>
                <a:cs typeface="Avenir"/>
                <a:sym typeface="Avenir"/>
              </a:rPr>
              <a:t> — means "load the network if the file is there, otherwise set </a:t>
            </a:r>
            <a:r>
              <a:rPr sz="1743" b="0" i="0">
                <a:solidFill>
                  <a:srgbClr val="FFFFFF"/>
                </a:solidFill>
                <a:latin typeface="Courier New"/>
                <a:ea typeface="Courier New"/>
                <a:cs typeface="Courier New"/>
                <a:sym typeface="Courier New"/>
              </a:rPr>
              <a:t>net</a:t>
            </a:r>
            <a:r>
              <a:rPr sz="2027" b="0" i="0">
                <a:solidFill>
                  <a:srgbClr val="FFFFFF"/>
                </a:solidFill>
                <a:latin typeface="Avenir"/>
                <a:ea typeface="Avenir"/>
                <a:cs typeface="Avenir"/>
                <a:sym typeface="Avenir"/>
              </a:rPr>
              <a:t> to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Same idea you used for the conditional in Project 1, written on one line.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It matters that it does not simply crash. A missing model file is an entirely likely mistake on a machine that has never run this project, and this line turns that mistake into a state the program can carry on from — and report by name.</a:t>
            </a:r>
          </a:p>
        </p:txBody>
      </p:sp>
      <p:sp>
        <p:nvSpPr>
          <p:cNvPr id="7" name="blk0116"/>
          <p:cNvSpPr txBox="1"/>
          <p:nvPr/>
        </p:nvSpPr>
        <p:spPr>
          <a:xfrm>
            <a:off x="687600" y="593135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check further down — </a:t>
            </a:r>
            <a:r>
              <a:rPr sz="1419" b="0" i="0">
                <a:solidFill>
                  <a:srgbClr val="FFFFFF"/>
                </a:solidFill>
                <a:latin typeface="Courier New"/>
                <a:ea typeface="Courier New"/>
                <a:cs typeface="Courier New"/>
                <a:sym typeface="Courier New"/>
              </a:rPr>
              <a:t>if self.net is None: return img, "YOLO Model Not Loaded"</a:t>
            </a:r>
            <a:r>
              <a:rPr sz="1650" b="0" i="0">
                <a:solidFill>
                  <a:srgbClr val="FFFFFF"/>
                </a:solidFill>
                <a:latin typeface="Avenir"/>
                <a:ea typeface="Avenir"/>
                <a:cs typeface="Avenir"/>
                <a:sym typeface="Avenir"/>
              </a:rPr>
              <a:t> — is what turns that state into a message you can read. Defensive code is not paranoid; it is the difference between a bug report and a blank screen.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p>
        </p:txBody>
      </p:sp>
      <p:sp>
        <p:nvSpPr>
          <p:cNvPr id="3" name="blk011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label file is a plain text list, one class name per line, eighty lines long. Read it into a list:</a:t>
            </a:r>
          </a:p>
        </p:txBody>
      </p:sp>
      <p:sp>
        <p:nvSpPr>
          <p:cNvPr id="4" name="blk0119"/>
          <p:cNvSpPr/>
          <p:nvPr/>
        </p:nvSpPr>
        <p:spPr>
          <a:xfrm>
            <a:off x="687600" y="2376000"/>
            <a:ext cx="8686800" cy="12174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9"/>
          <p:cNvSpPr txBox="1"/>
          <p:nvPr/>
        </p:nvSpPr>
        <p:spPr>
          <a:xfrm>
            <a:off x="910799" y="2538000"/>
            <a:ext cx="8240400" cy="893415"/>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self.classes = []</a:t>
            </a:r>
          </a:p>
          <a:p>
            <a:pPr algn="l">
              <a:lnSpc>
                <a:spcPct val="115000"/>
              </a:lnSpc>
            </a:pPr>
            <a:r>
              <a:rPr sz="1350" b="0" i="0">
                <a:solidFill>
                  <a:srgbClr val="FFFFFF"/>
                </a:solidFill>
                <a:latin typeface="Courier New"/>
                <a:ea typeface="Courier New"/>
                <a:cs typeface="Courier New"/>
                <a:sym typeface="Courier New"/>
              </a:rPr>
              <a:t>if os.path.exists(labels_path):</a:t>
            </a:r>
          </a:p>
          <a:p>
            <a:pPr algn="l">
              <a:lnSpc>
                <a:spcPct val="115000"/>
              </a:lnSpc>
            </a:pPr>
            <a:r>
              <a:rPr sz="1350" b="0" i="0">
                <a:solidFill>
                  <a:srgbClr val="FFFFFF"/>
                </a:solidFill>
                <a:latin typeface="Courier New"/>
                <a:ea typeface="Courier New"/>
                <a:cs typeface="Courier New"/>
                <a:sym typeface="Courier New"/>
              </a:rPr>
              <a:t>    with open(labels_path, "r") as f:</a:t>
            </a:r>
          </a:p>
          <a:p>
            <a:pPr algn="l">
              <a:lnSpc>
                <a:spcPct val="115000"/>
              </a:lnSpc>
            </a:pPr>
            <a:r>
              <a:rPr sz="1350" b="0" i="0">
                <a:solidFill>
                  <a:srgbClr val="FFFFFF"/>
                </a:solidFill>
                <a:latin typeface="Courier New"/>
                <a:ea typeface="Courier New"/>
                <a:cs typeface="Courier New"/>
                <a:sym typeface="Courier New"/>
              </a:rPr>
              <a:t>        self.classes = [line.strip() for line in f if line.strip()]</a:t>
            </a:r>
          </a:p>
        </p:txBody>
      </p:sp>
      <p:sp>
        <p:nvSpPr>
          <p:cNvPr id="6" name="blk0120"/>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Same defensive shape as Step 7: start empty, then fill it if the file exists. The program runs without labels rather than not at all.</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with open(...)</a:t>
            </a:r>
            <a:r>
              <a:rPr sz="2027" b="0" i="0">
                <a:solidFill>
                  <a:srgbClr val="FFFFFF"/>
                </a:solidFill>
                <a:latin typeface="Avenir"/>
                <a:ea typeface="Avenir"/>
                <a:cs typeface="Avenir"/>
                <a:sym typeface="Avenir"/>
              </a:rPr>
              <a:t> guarantees the file handle is closed afterwards, even if something inside goes wrong. Forget the </a:t>
            </a:r>
            <a:r>
              <a:rPr sz="1743" b="0" i="0">
                <a:solidFill>
                  <a:srgbClr val="FFFFFF"/>
                </a:solidFill>
                <a:latin typeface="Courier New"/>
                <a:ea typeface="Courier New"/>
                <a:cs typeface="Courier New"/>
                <a:sym typeface="Courier New"/>
              </a:rPr>
              <a:t>with</a:t>
            </a:r>
            <a:r>
              <a:rPr sz="2027" b="0" i="0">
                <a:solidFill>
                  <a:srgbClr val="FFFFFF"/>
                </a:solidFill>
                <a:latin typeface="Avenir"/>
                <a:ea typeface="Avenir"/>
                <a:cs typeface="Avenir"/>
                <a:sym typeface="Avenir"/>
              </a:rPr>
              <a:t> and you have a resource leak you will hardly notice.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comprehension keeps each line, strips it, and skips blanks. </a:t>
            </a:r>
            <a:r>
              <a:rPr sz="1743" b="0" i="0">
                <a:solidFill>
                  <a:srgbClr val="FFFFFF"/>
                </a:solidFill>
                <a:latin typeface="Courier New"/>
                <a:ea typeface="Courier New"/>
                <a:cs typeface="Courier New"/>
                <a:sym typeface="Courier New"/>
              </a:rPr>
              <a:t>strip()</a:t>
            </a:r>
            <a:r>
              <a:rPr sz="2027" b="0" i="0">
                <a:solidFill>
                  <a:srgbClr val="FFFFFF"/>
                </a:solidFill>
                <a:latin typeface="Avenir"/>
                <a:ea typeface="Avenir"/>
                <a:cs typeface="Avenir"/>
                <a:sym typeface="Avenir"/>
              </a:rPr>
              <a:t> matters — a stray newline makes labels look right in the file and print with a space on screen.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p>
        </p:txBody>
      </p:sp>
      <p:sp>
        <p:nvSpPr>
          <p:cNvPr id="3" name="blk012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First use of the markers in this project. Detect them and store the two centre points:</a:t>
            </a:r>
          </a:p>
        </p:txBody>
      </p:sp>
      <p:sp>
        <p:nvSpPr>
          <p:cNvPr id="4" name="blk0123"/>
          <p:cNvSpPr/>
          <p:nvPr/>
        </p:nvSpPr>
        <p:spPr>
          <a:xfrm>
            <a:off x="687600" y="2376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3"/>
          <p:cNvSpPr txBox="1"/>
          <p:nvPr/>
        </p:nvSpPr>
        <p:spPr>
          <a:xfrm>
            <a:off x="910799" y="2538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frame_contiguous = np.ascontiguousarray(frame, dtype=np.uint8)</a:t>
            </a:r>
          </a:p>
          <a:p>
            <a:pPr algn="l">
              <a:lnSpc>
                <a:spcPct val="115000"/>
              </a:lnSpc>
            </a:pPr>
            <a:r>
              <a:rPr sz="1350" b="0" i="0">
                <a:solidFill>
                  <a:srgbClr val="FFFFFF"/>
                </a:solidFill>
                <a:latin typeface="Courier New"/>
                <a:ea typeface="Courier New"/>
                <a:cs typeface="Courier New"/>
                <a:sym typeface="Courier New"/>
              </a:rPr>
              <a:t>try:</a:t>
            </a:r>
          </a:p>
          <a:p>
            <a:pPr algn="l">
              <a:lnSpc>
                <a:spcPct val="115000"/>
              </a:lnSpc>
            </a:pPr>
            <a:r>
              <a:rPr sz="1350" b="0" i="0">
                <a:solidFill>
                  <a:srgbClr val="FFFFFF"/>
                </a:solidFill>
                <a:latin typeface="Courier New"/>
                <a:ea typeface="Courier New"/>
                <a:cs typeface="Courier New"/>
                <a:sym typeface="Courier New"/>
              </a:rPr>
              <a:t>    gray = cv2.cvtColor(frame_contiguous, cv2.COLOR_BGR2GRAY)</a:t>
            </a:r>
          </a:p>
        </p:txBody>
      </p:sp>
      <p:sp>
        <p:nvSpPr>
          <p:cNvPr id="6" name="blk0124"/>
          <p:cNvSpPr txBox="1"/>
          <p:nvPr/>
        </p:nvSpPr>
        <p:spPr>
          <a:xfrm>
            <a:off x="687600" y="3478061"/>
            <a:ext cx="7542000" cy="4280400"/>
          </a:xfrm>
          <a:prstGeom prst="rect">
            <a:avLst/>
          </a:prstGeom>
          <a:noFill/>
        </p:spPr>
        <p:txBody>
          <a:bodyPr wrap="square" anchor="t" lIns="0" rIns="0" tIns="0" bIns="0">
            <a:noAutofit/>
          </a:bodyPr>
          <a:lstStyle/>
          <a:p>
            <a:pPr algn="l">
              <a:lnSpc>
                <a:spcPct val="100000"/>
              </a:lnSpc>
            </a:pPr>
            <a:r>
              <a:rPr sz="1548" b="0" i="0">
                <a:solidFill>
                  <a:srgbClr val="FFFFFF"/>
                </a:solidFill>
                <a:latin typeface="Courier New"/>
                <a:ea typeface="Courier New"/>
                <a:cs typeface="Courier New"/>
                <a:sym typeface="Courier New"/>
              </a:rPr>
              <a:t>np.ascontiguousarray</a:t>
            </a:r>
            <a:r>
              <a:rPr sz="1800" b="0" i="0">
                <a:solidFill>
                  <a:srgbClr val="FFFFFF"/>
                </a:solidFill>
                <a:latin typeface="Avenir"/>
                <a:ea typeface="Avenir"/>
                <a:cs typeface="Avenir"/>
                <a:sym typeface="Avenir"/>
              </a:rPr>
              <a:t> packs the picture so OpenCV’s fast routines accept it; then the same </a:t>
            </a:r>
            <a:r>
              <a:rPr sz="1548" b="0" i="0">
                <a:solidFill>
                  <a:srgbClr val="FFFFFF"/>
                </a:solidFill>
                <a:latin typeface="Courier New"/>
                <a:ea typeface="Courier New"/>
                <a:cs typeface="Courier New"/>
                <a:sym typeface="Courier New"/>
              </a:rPr>
              <a:t>if self.use_new_aruco</a:t>
            </a:r>
            <a:r>
              <a:rPr sz="1800" b="0" i="0">
                <a:solidFill>
                  <a:srgbClr val="FFFFFF"/>
                </a:solidFill>
                <a:latin typeface="Avenir"/>
                <a:ea typeface="Avenir"/>
                <a:cs typeface="Avenir"/>
                <a:sym typeface="Avenir"/>
              </a:rPr>
              <a:t> branch as Step 5, wrapped in a </a:t>
            </a:r>
            <a:r>
              <a:rPr sz="1548" b="0" i="0">
                <a:solidFill>
                  <a:srgbClr val="FFFFFF"/>
                </a:solidFill>
                <a:latin typeface="Courier New"/>
                <a:ea typeface="Courier New"/>
                <a:cs typeface="Courier New"/>
                <a:sym typeface="Courier New"/>
              </a:rPr>
              <a:t>try</a:t>
            </a:r>
            <a:r>
              <a:rPr sz="1800" b="0" i="0">
                <a:solidFill>
                  <a:srgbClr val="FFFFFF"/>
                </a:solidFill>
                <a:latin typeface="Avenir"/>
                <a:ea typeface="Avenir"/>
                <a:cs typeface="Avenir"/>
                <a:sym typeface="Avenir"/>
              </a:rPr>
              <a:t> because a half-hidden marker can throw.</a:t>
            </a:r>
          </a:p>
        </p:txBody>
      </p:sp>
      <p:sp>
        <p:nvSpPr>
          <p:cNvPr id="7" name="blk0125"/>
          <p:cNvSpPr/>
          <p:nvPr/>
        </p:nvSpPr>
        <p:spPr>
          <a:xfrm>
            <a:off x="687600" y="4464000"/>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5"/>
          <p:cNvSpPr txBox="1"/>
          <p:nvPr/>
        </p:nvSpPr>
        <p:spPr>
          <a:xfrm>
            <a:off x="910799" y="4626000"/>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if ids is not None and len(corners) &gt;= 2:</a:t>
            </a:r>
          </a:p>
          <a:p>
            <a:pPr algn="l">
              <a:lnSpc>
                <a:spcPct val="115000"/>
              </a:lnSpc>
            </a:pPr>
            <a:r>
              <a:rPr sz="1300" b="0" i="0">
                <a:solidFill>
                  <a:srgbClr val="FFFFFF"/>
                </a:solidFill>
                <a:latin typeface="Courier New"/>
                <a:ea typeface="Courier New"/>
                <a:cs typeface="Courier New"/>
                <a:sym typeface="Courier New"/>
              </a:rPr>
              <a:t>    p1 = corners[0][0]</a:t>
            </a:r>
          </a:p>
          <a:p>
            <a:pPr algn="l">
              <a:lnSpc>
                <a:spcPct val="115000"/>
              </a:lnSpc>
            </a:pPr>
            <a:r>
              <a:rPr sz="1300" b="0" i="0">
                <a:solidFill>
                  <a:srgbClr val="FFFFFF"/>
                </a:solidFill>
                <a:latin typeface="Courier New"/>
                <a:ea typeface="Courier New"/>
                <a:cs typeface="Courier New"/>
                <a:sym typeface="Courier New"/>
              </a:rPr>
              <a:t>    p2 = corners[1][0]</a:t>
            </a:r>
          </a:p>
          <a:p>
            <a:pPr algn="l">
              <a:lnSpc>
                <a:spcPct val="115000"/>
              </a:lnSpc>
            </a:pPr>
            <a:r>
              <a:rPr sz="1300" b="0" i="0">
                <a:solidFill>
                  <a:srgbClr val="FFFFFF"/>
                </a:solidFill>
                <a:latin typeface="Courier New"/>
                <a:ea typeface="Courier New"/>
                <a:cs typeface="Courier New"/>
                <a:sym typeface="Courier New"/>
              </a:rPr>
              <a:t>    self.x1, self.y1 = int(p1[:, 0].mean()), int(p1[:, 1].mean())</a:t>
            </a:r>
          </a:p>
          <a:p>
            <a:pPr algn="l">
              <a:lnSpc>
                <a:spcPct val="115000"/>
              </a:lnSpc>
            </a:pPr>
            <a:r>
              <a:rPr sz="1300" b="0" i="0">
                <a:solidFill>
                  <a:srgbClr val="FFFFFF"/>
                </a:solidFill>
                <a:latin typeface="Courier New"/>
                <a:ea typeface="Courier New"/>
                <a:cs typeface="Courier New"/>
                <a:sym typeface="Courier New"/>
              </a:rPr>
              <a:t>    self.x2, self.y2 = int(p2[:, 0].mean()), int(p2[:, 1].mean())</a:t>
            </a:r>
          </a:p>
          <a:p>
            <a:pPr algn="l">
              <a:lnSpc>
                <a:spcPct val="115000"/>
              </a:lnSpc>
            </a:pPr>
            <a:r>
              <a:rPr sz="1300" b="0" i="0">
                <a:solidFill>
                  <a:srgbClr val="FFFFFF"/>
                </a:solidFill>
                <a:latin typeface="Courier New"/>
                <a:ea typeface="Courier New"/>
                <a:cs typeface="Courier New"/>
                <a:sym typeface="Courier New"/>
              </a:rPr>
              <a:t>    return True</a:t>
            </a:r>
          </a:p>
        </p:txBody>
      </p:sp>
      <p:sp>
        <p:nvSpPr>
          <p:cNvPr id="9" name="blk0126"/>
          <p:cNvSpPr txBox="1"/>
          <p:nvPr/>
        </p:nvSpPr>
        <p:spPr>
          <a:xfrm>
            <a:off x="687600" y="6186488"/>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Note </a:t>
            </a:r>
            <a:r>
              <a:rPr sz="1419" b="0" i="0">
                <a:solidFill>
                  <a:srgbClr val="FFFFFF"/>
                </a:solidFill>
                <a:latin typeface="Courier New"/>
                <a:ea typeface="Courier New"/>
                <a:cs typeface="Courier New"/>
                <a:sym typeface="Courier New"/>
              </a:rPr>
              <a:t>&gt;= 2</a:t>
            </a:r>
            <a:r>
              <a:rPr sz="1650" b="0" i="0">
                <a:solidFill>
                  <a:srgbClr val="FFFFFF"/>
                </a:solidFill>
                <a:latin typeface="Avenir"/>
                <a:ea typeface="Avenir"/>
                <a:cs typeface="Avenir"/>
                <a:sym typeface="Avenir"/>
              </a:rPr>
              <a:t>, not </a:t>
            </a:r>
            <a:r>
              <a:rPr sz="1419" b="0" i="0">
                <a:solidFill>
                  <a:srgbClr val="FFFFFF"/>
                </a:solidFill>
                <a:latin typeface="Courier New"/>
                <a:ea typeface="Courier New"/>
                <a:cs typeface="Courier New"/>
                <a:sym typeface="Courier New"/>
              </a:rPr>
              <a:t>&gt; 0</a:t>
            </a:r>
            <a:r>
              <a:rPr sz="1650" b="0" i="0">
                <a:solidFill>
                  <a:srgbClr val="FFFFFF"/>
                </a:solidFill>
                <a:latin typeface="Avenir"/>
                <a:ea typeface="Avenir"/>
                <a:cs typeface="Avenir"/>
                <a:sym typeface="Avenir"/>
              </a:rPr>
              <a:t>: two markers make a rectangle; one does not. The return value tells the caller whether the stored coordinates are trustworthy.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p>
        </p:txBody>
      </p:sp>
      <p:sp>
        <p:nvSpPr>
          <p:cNvPr id="3" name="blk012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crop to the workspace. First enlarge, then cut:</a:t>
            </a:r>
          </a:p>
        </p:txBody>
      </p:sp>
      <p:sp>
        <p:nvSpPr>
          <p:cNvPr id="4" name="blk0129"/>
          <p:cNvSpPr/>
          <p:nvPr/>
        </p:nvSpPr>
        <p:spPr>
          <a:xfrm>
            <a:off x="687600" y="2160000"/>
            <a:ext cx="8686800" cy="72107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9"/>
          <p:cNvSpPr txBox="1"/>
          <p:nvPr/>
        </p:nvSpPr>
        <p:spPr>
          <a:xfrm>
            <a:off x="910799" y="2322000"/>
            <a:ext cx="8240400" cy="39707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fx, fy = 1.5, 1.5</a:t>
            </a:r>
          </a:p>
          <a:p>
            <a:pPr algn="l">
              <a:lnSpc>
                <a:spcPct val="115000"/>
              </a:lnSpc>
            </a:pPr>
            <a:r>
              <a:rPr sz="1200" b="0" i="0">
                <a:solidFill>
                  <a:srgbClr val="FFFFFF"/>
                </a:solidFill>
                <a:latin typeface="Courier New"/>
                <a:ea typeface="Courier New"/>
                <a:cs typeface="Courier New"/>
                <a:sym typeface="Courier New"/>
              </a:rPr>
              <a:t>resized = cv2.resize(frame, (0, 0), fx=fx, fy=fy, interpolation=cv2.INTER_CUBIC)</a:t>
            </a:r>
          </a:p>
        </p:txBody>
      </p:sp>
      <p:sp>
        <p:nvSpPr>
          <p:cNvPr id="6" name="blk0130"/>
          <p:cNvSpPr txBox="1"/>
          <p:nvPr/>
        </p:nvSpPr>
        <p:spPr>
          <a:xfrm>
            <a:off x="687600" y="3168000"/>
            <a:ext cx="7542000" cy="446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crop happens in the enlarged picture, so the marker coordinates from Step 9 are scaled by 1.5 to match. </a:t>
            </a:r>
            <a:r>
              <a:rPr sz="1743" b="0" i="0">
                <a:solidFill>
                  <a:srgbClr val="FFFFFF"/>
                </a:solidFill>
                <a:latin typeface="Courier New"/>
                <a:ea typeface="Courier New"/>
                <a:cs typeface="Courier New"/>
                <a:sym typeface="Courier New"/>
              </a:rPr>
              <a:t>INTER_CUBIC</a:t>
            </a:r>
            <a:r>
              <a:rPr sz="2027" b="0" i="0">
                <a:solidFill>
                  <a:srgbClr val="FFFFFF"/>
                </a:solidFill>
                <a:latin typeface="Avenir"/>
                <a:ea typeface="Avenir"/>
                <a:cs typeface="Avenir"/>
                <a:sym typeface="Avenir"/>
              </a:rPr>
              <a:t> is a better-looking way to resize than the default, and it matters more than you would expect — a soft, blocky object is harder for the model to recognise.</a:t>
            </a:r>
          </a:p>
        </p:txBody>
      </p:sp>
      <p:sp>
        <p:nvSpPr>
          <p:cNvPr id="7" name="blk0131"/>
          <p:cNvSpPr/>
          <p:nvPr/>
        </p:nvSpPr>
        <p:spPr>
          <a:xfrm>
            <a:off x="687600" y="4820574"/>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31"/>
          <p:cNvSpPr txBox="1"/>
          <p:nvPr/>
        </p:nvSpPr>
        <p:spPr>
          <a:xfrm>
            <a:off x="910799" y="4982574"/>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margin = 25</a:t>
            </a:r>
          </a:p>
          <a:p>
            <a:pPr algn="l">
              <a:lnSpc>
                <a:spcPct val="115000"/>
              </a:lnSpc>
            </a:pPr>
            <a:r>
              <a:rPr sz="1300" b="0" i="0">
                <a:solidFill>
                  <a:srgbClr val="FFFFFF"/>
                </a:solidFill>
                <a:latin typeface="Courier New"/>
                <a:ea typeface="Courier New"/>
                <a:cs typeface="Courier New"/>
                <a:sym typeface="Courier New"/>
              </a:rPr>
              <a:t>x_min, x_max = x_min + margin, x_max - margin</a:t>
            </a:r>
          </a:p>
          <a:p>
            <a:pPr algn="l">
              <a:lnSpc>
                <a:spcPct val="115000"/>
              </a:lnSpc>
            </a:pPr>
            <a:r>
              <a:rPr sz="1300" b="0" i="0">
                <a:solidFill>
                  <a:srgbClr val="FFFFFF"/>
                </a:solidFill>
                <a:latin typeface="Courier New"/>
                <a:ea typeface="Courier New"/>
                <a:cs typeface="Courier New"/>
                <a:sym typeface="Courier New"/>
              </a:rPr>
              <a:t>y_min, y_max = y_min + margin, y_max - margin</a:t>
            </a:r>
          </a:p>
        </p:txBody>
      </p:sp>
      <p:sp>
        <p:nvSpPr>
          <p:cNvPr id="9" name="blk0132"/>
          <p:cNvSpPr txBox="1"/>
          <p:nvPr/>
        </p:nvSpPr>
        <p:spPr>
          <a:xfrm>
            <a:off x="687600" y="5897818"/>
            <a:ext cx="7542000" cy="21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margin pulls the edges inward so the black marker borders stay outside the picture. Crop too tightly and the model sees a black frame around every object — which it may confidently identify as a picture frame or a window.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p>
        </p:txBody>
      </p:sp>
      <p:sp>
        <p:nvSpPr>
          <p:cNvPr id="3" name="blk013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TODO has no code of its own — it is the method that the next five TODOs fill in. Read the scaffolding you have been given:</a:t>
            </a:r>
          </a:p>
        </p:txBody>
      </p:sp>
      <p:sp>
        <p:nvSpPr>
          <p:cNvPr id="4" name="blk0135"/>
          <p:cNvSpPr/>
          <p:nvPr/>
        </p:nvSpPr>
        <p:spPr>
          <a:xfrm>
            <a:off x="687600" y="2384744"/>
            <a:ext cx="8686800" cy="188747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5"/>
          <p:cNvSpPr txBox="1"/>
          <p:nvPr/>
        </p:nvSpPr>
        <p:spPr>
          <a:xfrm>
            <a:off x="910799" y="2546744"/>
            <a:ext cx="8240400" cy="1563476"/>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if img is None or img.size == 0:</a:t>
            </a:r>
          </a:p>
          <a:p>
            <a:pPr algn="l">
              <a:lnSpc>
                <a:spcPct val="115000"/>
              </a:lnSpc>
            </a:pPr>
            <a:r>
              <a:rPr sz="1350" b="0" i="0">
                <a:solidFill>
                  <a:srgbClr val="FFFFFF"/>
                </a:solidFill>
                <a:latin typeface="Courier New"/>
                <a:ea typeface="Courier New"/>
                <a:cs typeface="Courier New"/>
                <a:sym typeface="Courier New"/>
              </a:rPr>
              <a:t>    return img, "No Frame"</a:t>
            </a:r>
          </a:p>
          <a:p>
            <a:pPr algn="l">
              <a:lnSpc>
                <a:spcPct val="115000"/>
              </a:lnSpc>
            </a:pPr>
            <a:r>
              <a:rPr sz="1350" b="0" i="0">
                <a:solidFill>
                  <a:srgbClr val="FFFFFF"/>
                </a:solidFill>
                <a:latin typeface="Courier New"/>
                <a:ea typeface="Courier New"/>
                <a:cs typeface="Courier New"/>
                <a:sym typeface="Courier New"/>
              </a:rPr>
              <a:t/>
            </a:r>
          </a:p>
          <a:p>
            <a:pPr algn="l">
              <a:lnSpc>
                <a:spcPct val="115000"/>
              </a:lnSpc>
            </a:pPr>
            <a:r>
              <a:rPr sz="1350" b="0" i="0">
                <a:solidFill>
                  <a:srgbClr val="FFFFFF"/>
                </a:solidFill>
                <a:latin typeface="Courier New"/>
                <a:ea typeface="Courier New"/>
                <a:cs typeface="Courier New"/>
                <a:sym typeface="Courier New"/>
              </a:rPr>
              <a:t>if self.net is None:</a:t>
            </a:r>
          </a:p>
          <a:p>
            <a:pPr algn="l">
              <a:lnSpc>
                <a:spcPct val="115000"/>
              </a:lnSpc>
            </a:pPr>
            <a:r>
              <a:rPr sz="1350" b="0" i="0">
                <a:solidFill>
                  <a:srgbClr val="FFFFFF"/>
                </a:solidFill>
                <a:latin typeface="Courier New"/>
                <a:ea typeface="Courier New"/>
                <a:cs typeface="Courier New"/>
                <a:sym typeface="Courier New"/>
              </a:rPr>
              <a:t>    return img, "YOLO Model Not Loaded"</a:t>
            </a:r>
          </a:p>
          <a:p>
            <a:pPr algn="l">
              <a:lnSpc>
                <a:spcPct val="115000"/>
              </a:lnSpc>
            </a:pPr>
            <a:r>
              <a:rPr sz="1350" b="0" i="0">
                <a:solidFill>
                  <a:srgbClr val="FFFFFF"/>
                </a:solidFill>
                <a:latin typeface="Courier New"/>
                <a:ea typeface="Courier New"/>
                <a:cs typeface="Courier New"/>
                <a:sym typeface="Courier New"/>
              </a:rPr>
              <a:t/>
            </a:r>
          </a:p>
          <a:p>
            <a:pPr algn="l">
              <a:lnSpc>
                <a:spcPct val="115000"/>
              </a:lnSpc>
            </a:pPr>
            <a:r>
              <a:rPr sz="1350" b="0" i="0">
                <a:solidFill>
                  <a:srgbClr val="FFFFFF"/>
                </a:solidFill>
                <a:latin typeface="Courier New"/>
                <a:ea typeface="Courier New"/>
                <a:cs typeface="Courier New"/>
                <a:sym typeface="Courier New"/>
              </a:rPr>
              <a:t>img_h, img_w = img.shape[:2]</a:t>
            </a:r>
          </a:p>
        </p:txBody>
      </p:sp>
      <p:sp>
        <p:nvSpPr>
          <p:cNvPr id="6" name="blk0136"/>
          <p:cNvSpPr txBox="1"/>
          <p:nvPr/>
        </p:nvSpPr>
        <p:spPr>
          <a:xfrm>
            <a:off x="687600" y="438022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guards and a measurement. </a:t>
            </a:r>
            <a:r>
              <a:rPr sz="1743" b="0" i="0">
                <a:solidFill>
                  <a:srgbClr val="FFFFFF"/>
                </a:solidFill>
                <a:latin typeface="Courier New"/>
                <a:ea typeface="Courier New"/>
                <a:cs typeface="Courier New"/>
                <a:sym typeface="Courier New"/>
              </a:rPr>
              <a:t>shape[:2]</a:t>
            </a:r>
            <a:r>
              <a:rPr sz="2027" b="0" i="0">
                <a:solidFill>
                  <a:srgbClr val="FFFFFF"/>
                </a:solidFill>
                <a:latin typeface="Avenir"/>
                <a:ea typeface="Avenir"/>
                <a:cs typeface="Avenir"/>
                <a:sym typeface="Avenir"/>
              </a:rPr>
              <a:t> gives height and width only, and you will need both on this slide’s remaining steps to scale the boxes back.</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two guards are the ones from Steps 7 and 8 doing their job. Notice that they return </a:t>
            </a:r>
            <a:r>
              <a:rPr sz="1743" b="0" i="0">
                <a:solidFill>
                  <a:srgbClr val="FFFFFF"/>
                </a:solidFill>
                <a:latin typeface="Courier New"/>
                <a:ea typeface="Courier New"/>
                <a:cs typeface="Courier New"/>
                <a:sym typeface="Courier New"/>
              </a:rPr>
              <a:t>img</a:t>
            </a:r>
            <a:r>
              <a:rPr sz="2027" b="0" i="0">
                <a:solidFill>
                  <a:srgbClr val="FFFFFF"/>
                </a:solidFill>
                <a:latin typeface="Avenir"/>
                <a:ea typeface="Avenir"/>
                <a:cs typeface="Avenir"/>
                <a:sym typeface="Avenir"/>
              </a:rPr>
              <a:t> unchanged rather than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 so the caller still has a picture to display, with an honest message beside it instead of a blank window.</a:t>
            </a:r>
          </a:p>
        </p:txBody>
      </p:sp>
      <p:sp>
        <p:nvSpPr>
          <p:cNvPr id="7" name="blk0137"/>
          <p:cNvSpPr txBox="1"/>
          <p:nvPr/>
        </p:nvSpPr>
        <p:spPr>
          <a:xfrm>
            <a:off x="687600" y="6906656"/>
            <a:ext cx="7542000" cy="792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"No Frame"</a:t>
            </a:r>
            <a:r>
              <a:rPr sz="1650" b="0" i="0">
                <a:solidFill>
                  <a:srgbClr val="FFFFFF"/>
                </a:solidFill>
                <a:latin typeface="Avenir"/>
                <a:ea typeface="Avenir"/>
                <a:cs typeface="Avenir"/>
                <a:sym typeface="Avenir"/>
              </a:rPr>
              <a:t>, </a:t>
            </a:r>
            <a:r>
              <a:rPr sz="1419" b="0" i="0">
                <a:solidFill>
                  <a:srgbClr val="FFFFFF"/>
                </a:solidFill>
                <a:latin typeface="Courier New"/>
                <a:ea typeface="Courier New"/>
                <a:cs typeface="Courier New"/>
                <a:sym typeface="Courier New"/>
              </a:rPr>
              <a:t>"YOLO Model Not Loaded"</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"Searching..."</a:t>
            </a:r>
            <a:r>
              <a:rPr sz="1650" b="0" i="0">
                <a:solidFill>
                  <a:srgbClr val="FFFFFF"/>
                </a:solidFill>
                <a:latin typeface="Avenir"/>
                <a:ea typeface="Avenir"/>
                <a:cs typeface="Avenir"/>
                <a:sym typeface="Avenir"/>
              </a:rPr>
              <a:t> — the three states; learn them on sight.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p>
        </p:txBody>
      </p:sp>
      <p:sp>
        <p:nvSpPr>
          <p:cNvPr id="3" name="blk013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Preprocessing, already covered. Four settings, all properties of the model rather than of your program:</a:t>
            </a:r>
          </a:p>
        </p:txBody>
      </p:sp>
      <p:sp>
        <p:nvSpPr>
          <p:cNvPr id="4" name="blk0140"/>
          <p:cNvSpPr/>
          <p:nvPr/>
        </p:nvSpPr>
        <p:spPr>
          <a:xfrm>
            <a:off x="687600" y="2376000"/>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0"/>
          <p:cNvSpPr txBox="1"/>
          <p:nvPr/>
        </p:nvSpPr>
        <p:spPr>
          <a:xfrm>
            <a:off x="910799" y="2538000"/>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blob = cv2.dnn.blobFromImage(</a:t>
            </a:r>
          </a:p>
          <a:p>
            <a:pPr algn="l">
              <a:lnSpc>
                <a:spcPct val="115000"/>
              </a:lnSpc>
            </a:pPr>
            <a:r>
              <a:rPr sz="1250" b="0" i="0">
                <a:solidFill>
                  <a:srgbClr val="FFFFFF"/>
                </a:solidFill>
                <a:latin typeface="Courier New"/>
                <a:ea typeface="Courier New"/>
                <a:cs typeface="Courier New"/>
                <a:sym typeface="Courier New"/>
              </a:rPr>
              <a:t>    img, 1.0 / 255.0, self.input_size, [0, 0, 0], swapRB=True, crop=False</a:t>
            </a:r>
          </a:p>
          <a:p>
            <a:pPr algn="l">
              <a:lnSpc>
                <a:spcPct val="115000"/>
              </a:lnSpc>
            </a:pPr>
            <a:r>
              <a:rPr sz="1250" b="0" i="0">
                <a:solidFill>
                  <a:srgbClr val="FFFFFF"/>
                </a:solidFill>
                <a:latin typeface="Courier New"/>
                <a:ea typeface="Courier New"/>
                <a:cs typeface="Courier New"/>
                <a:sym typeface="Courier New"/>
              </a:rPr>
              <a:t>)</a:t>
            </a:r>
          </a:p>
          <a:p>
            <a:pPr algn="l">
              <a:lnSpc>
                <a:spcPct val="115000"/>
              </a:lnSpc>
            </a:pPr>
            <a:r>
              <a:rPr sz="1250" b="0" i="0">
                <a:solidFill>
                  <a:srgbClr val="FFFFFF"/>
                </a:solidFill>
                <a:latin typeface="Courier New"/>
                <a:ea typeface="Courier New"/>
                <a:cs typeface="Courier New"/>
                <a:sym typeface="Courier New"/>
              </a:rPr>
              <a:t>self.net.setInput(blob)</a:t>
            </a:r>
          </a:p>
        </p:txBody>
      </p:sp>
      <p:sp>
        <p:nvSpPr>
          <p:cNvPr id="6" name="blk0141"/>
          <p:cNvSpPr txBox="1"/>
          <p:nvPr/>
        </p:nvSpPr>
        <p:spPr>
          <a:xfrm>
            <a:off x="687600" y="4104000"/>
            <a:ext cx="7542000" cy="936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input_size</a:t>
            </a:r>
            <a:r>
              <a:rPr sz="1650" b="0" i="0">
                <a:solidFill>
                  <a:srgbClr val="FFFFFF"/>
                </a:solidFill>
                <a:latin typeface="Avenir"/>
                <a:ea typeface="Avenir"/>
                <a:cs typeface="Avenir"/>
                <a:sym typeface="Avenir"/>
              </a:rPr>
              <a:t> is (640, 640) — a </a:t>
            </a:r>
            <a:r>
              <a:rPr sz="1650" b="0" i="1">
                <a:solidFill>
                  <a:srgbClr val="FFCF08"/>
                </a:solidFill>
                <a:latin typeface="Avenir"/>
                <a:ea typeface="Avenir"/>
                <a:cs typeface="Avenir"/>
                <a:sym typeface="Avenir"/>
              </a:rPr>
              <a:t>square</a:t>
            </a:r>
            <a:r>
              <a:rPr sz="1650" b="0" i="0">
                <a:solidFill>
                  <a:srgbClr val="FFFFFF"/>
                </a:solidFill>
                <a:latin typeface="Avenir"/>
                <a:ea typeface="Avenir"/>
                <a:cs typeface="Avenir"/>
                <a:sym typeface="Avenir"/>
              </a:rPr>
              <a:t>, set way back in the constructor. Your cropped workspace is almost certainly not square, and it does not need to be: the resize squashes it. The model does not know or care what your object’s real proportions were.</a:t>
            </a:r>
          </a:p>
        </p:txBody>
      </p:sp>
      <p:sp>
        <p:nvSpPr>
          <p:cNvPr id="7" name="blk0142"/>
          <p:cNvSpPr txBox="1"/>
          <p:nvPr/>
        </p:nvSpPr>
        <p:spPr>
          <a:xfrm>
            <a:off x="687600" y="5419008"/>
            <a:ext cx="7542000" cy="25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That last point has a consequence worth stating plainly. If you squash a tall thin object into a square, it arrives distorted — and a sufficiently distorted object can fall outside what the model was trained on. Distant or badly framed objects fail here, and it looks like a detection problem rather than a framing 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p>
        </p:txBody>
      </p:sp>
      <p:sp>
        <p:nvSpPr>
          <p:cNvPr id="3" name="blk014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forward pass — the one line that costs about a hundred milliseconds:</a:t>
            </a:r>
          </a:p>
        </p:txBody>
      </p:sp>
      <p:sp>
        <p:nvSpPr>
          <p:cNvPr id="4" name="blk0145"/>
          <p:cNvSpPr/>
          <p:nvPr/>
        </p:nvSpPr>
        <p:spPr>
          <a:xfrm>
            <a:off x="687600" y="2088000"/>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5"/>
          <p:cNvSpPr txBox="1"/>
          <p:nvPr/>
        </p:nvSpPr>
        <p:spPr>
          <a:xfrm>
            <a:off x="910799" y="2250000"/>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outputs = self.net.forward(self.net.getUnconnectedOutLayersNames())</a:t>
            </a:r>
          </a:p>
        </p:txBody>
      </p:sp>
      <p:sp>
        <p:nvSpPr>
          <p:cNvPr id="6" name="blk0146"/>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Then two lines of tidying before you read anything:</a:t>
            </a:r>
          </a:p>
        </p:txBody>
      </p:sp>
      <p:sp>
        <p:nvSpPr>
          <p:cNvPr id="7" name="blk0147"/>
          <p:cNvSpPr/>
          <p:nvPr/>
        </p:nvSpPr>
        <p:spPr>
          <a:xfrm>
            <a:off x="687600" y="3744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7"/>
          <p:cNvSpPr txBox="1"/>
          <p:nvPr/>
        </p:nvSpPr>
        <p:spPr>
          <a:xfrm>
            <a:off x="910799" y="3906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predictions = outputs[0]</a:t>
            </a:r>
          </a:p>
          <a:p>
            <a:pPr algn="l">
              <a:lnSpc>
                <a:spcPct val="115000"/>
              </a:lnSpc>
            </a:pPr>
            <a:r>
              <a:rPr sz="1350" b="0" i="0">
                <a:solidFill>
                  <a:srgbClr val="FFFFFF"/>
                </a:solidFill>
                <a:latin typeface="Courier New"/>
                <a:ea typeface="Courier New"/>
                <a:cs typeface="Courier New"/>
                <a:sym typeface="Courier New"/>
              </a:rPr>
              <a:t>if len(predictions.shape) == 3:</a:t>
            </a:r>
          </a:p>
          <a:p>
            <a:pPr algn="l">
              <a:lnSpc>
                <a:spcPct val="115000"/>
              </a:lnSpc>
            </a:pPr>
            <a:r>
              <a:rPr sz="1350" b="0" i="0">
                <a:solidFill>
                  <a:srgbClr val="FFFFFF"/>
                </a:solidFill>
                <a:latin typeface="Courier New"/>
                <a:ea typeface="Courier New"/>
                <a:cs typeface="Courier New"/>
                <a:sym typeface="Courier New"/>
              </a:rPr>
              <a:t>    predictions = predictions[0]</a:t>
            </a:r>
          </a:p>
        </p:txBody>
      </p:sp>
      <p:sp>
        <p:nvSpPr>
          <p:cNvPr id="9" name="blk0148"/>
          <p:cNvSpPr txBox="1"/>
          <p:nvPr/>
        </p:nvSpPr>
        <p:spPr>
          <a:xfrm>
            <a:off x="687600" y="4896000"/>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model returns its answer in batches, and you only ever send it one picture at a time.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takes the first — and only — batch, leaving a three-dimensional array: one row per candidate position.</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if</a:t>
            </a:r>
            <a:r>
              <a:rPr sz="2027" b="0" i="0">
                <a:solidFill>
                  <a:srgbClr val="FFFFFF"/>
                </a:solidFill>
                <a:latin typeface="Avenir"/>
                <a:ea typeface="Avenir"/>
                <a:cs typeface="Avenir"/>
                <a:sym typeface="Avenir"/>
              </a:rPr>
              <a:t> is defensive again, and it earns its place. Library return shapes change between versions, and this program is already written to survive two different OpenCV layouts.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p>
        </p:txBody>
      </p:sp>
      <p:sp>
        <p:nvSpPr>
          <p:cNvPr id="3" name="blk015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longest TODO in the project, and the one worth slowing down for. Read the row layout again, then walk this loop:</a:t>
            </a:r>
          </a:p>
        </p:txBody>
      </p:sp>
      <p:sp>
        <p:nvSpPr>
          <p:cNvPr id="4" name="blk0151"/>
          <p:cNvSpPr/>
          <p:nvPr/>
        </p:nvSpPr>
        <p:spPr>
          <a:xfrm>
            <a:off x="687600" y="2592000"/>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1"/>
          <p:cNvSpPr txBox="1"/>
          <p:nvPr/>
        </p:nvSpPr>
        <p:spPr>
          <a:xfrm>
            <a:off x="910799" y="2754000"/>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for row in predictions:</a:t>
            </a:r>
          </a:p>
          <a:p>
            <a:pPr algn="l">
              <a:lnSpc>
                <a:spcPct val="115000"/>
              </a:lnSpc>
            </a:pPr>
            <a:r>
              <a:rPr sz="1300" b="0" i="0">
                <a:solidFill>
                  <a:srgbClr val="FFFFFF"/>
                </a:solidFill>
                <a:latin typeface="Courier New"/>
                <a:ea typeface="Courier New"/>
                <a:cs typeface="Courier New"/>
                <a:sym typeface="Courier New"/>
              </a:rPr>
              <a:t>    confidence = row[4]</a:t>
            </a:r>
          </a:p>
          <a:p>
            <a:pPr algn="l">
              <a:lnSpc>
                <a:spcPct val="115000"/>
              </a:lnSpc>
            </a:pPr>
            <a:r>
              <a:rPr sz="1300" b="0" i="0">
                <a:solidFill>
                  <a:srgbClr val="FFFFFF"/>
                </a:solidFill>
                <a:latin typeface="Courier New"/>
                <a:ea typeface="Courier New"/>
                <a:cs typeface="Courier New"/>
                <a:sym typeface="Courier New"/>
              </a:rPr>
              <a:t>    if confidence &gt; self.conf_thresh:</a:t>
            </a:r>
          </a:p>
          <a:p>
            <a:pPr algn="l">
              <a:lnSpc>
                <a:spcPct val="115000"/>
              </a:lnSpc>
            </a:pPr>
            <a:r>
              <a:rPr sz="1300" b="0" i="0">
                <a:solidFill>
                  <a:srgbClr val="FFFFFF"/>
                </a:solidFill>
                <a:latin typeface="Courier New"/>
                <a:ea typeface="Courier New"/>
                <a:cs typeface="Courier New"/>
                <a:sym typeface="Courier New"/>
              </a:rPr>
              <a:t>        scores = row[5:]</a:t>
            </a:r>
          </a:p>
          <a:p>
            <a:pPr algn="l">
              <a:lnSpc>
                <a:spcPct val="115000"/>
              </a:lnSpc>
            </a:pPr>
            <a:r>
              <a:rPr sz="1300" b="0" i="0">
                <a:solidFill>
                  <a:srgbClr val="FFFFFF"/>
                </a:solidFill>
                <a:latin typeface="Courier New"/>
                <a:ea typeface="Courier New"/>
                <a:cs typeface="Courier New"/>
                <a:sym typeface="Courier New"/>
              </a:rPr>
              <a:t>        class_id = np.argmax(scores)</a:t>
            </a:r>
          </a:p>
          <a:p>
            <a:pPr algn="l">
              <a:lnSpc>
                <a:spcPct val="115000"/>
              </a:lnSpc>
            </a:pPr>
            <a:r>
              <a:rPr sz="1300" b="0" i="0">
                <a:solidFill>
                  <a:srgbClr val="FFFFFF"/>
                </a:solidFill>
                <a:latin typeface="Courier New"/>
                <a:ea typeface="Courier New"/>
                <a:cs typeface="Courier New"/>
                <a:sym typeface="Courier New"/>
              </a:rPr>
              <a:t>        if scores[class_id] &gt; self.score_thresh:</a:t>
            </a:r>
          </a:p>
        </p:txBody>
      </p:sp>
      <p:sp>
        <p:nvSpPr>
          <p:cNvPr id="6" name="blk0152"/>
          <p:cNvSpPr txBox="1"/>
          <p:nvPr/>
        </p:nvSpPr>
        <p:spPr>
          <a:xfrm>
            <a:off x="687600" y="4320000"/>
            <a:ext cx="7542000" cy="330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rows are skipped, three more are skipped, and only then does a row become a detection. </a:t>
            </a:r>
            <a:r>
              <a:rPr sz="1743" b="0" i="0">
                <a:solidFill>
                  <a:srgbClr val="FFFFFF"/>
                </a:solidFill>
                <a:latin typeface="Courier New"/>
                <a:ea typeface="Courier New"/>
                <a:cs typeface="Courier New"/>
                <a:sym typeface="Courier New"/>
              </a:rPr>
              <a:t>row[4]</a:t>
            </a:r>
            <a:r>
              <a:rPr sz="2027" b="0" i="0">
                <a:solidFill>
                  <a:srgbClr val="FFFFFF"/>
                </a:solidFill>
                <a:latin typeface="Avenir"/>
                <a:ea typeface="Avenir"/>
                <a:cs typeface="Avenir"/>
                <a:sym typeface="Avenir"/>
              </a:rPr>
              <a:t> is objectness; </a:t>
            </a:r>
            <a:r>
              <a:rPr sz="1743" b="0" i="0">
                <a:solidFill>
                  <a:srgbClr val="FFFFFF"/>
                </a:solidFill>
                <a:latin typeface="Courier New"/>
                <a:ea typeface="Courier New"/>
                <a:cs typeface="Courier New"/>
                <a:sym typeface="Courier New"/>
              </a:rPr>
              <a:t>row[5:]</a:t>
            </a:r>
            <a:r>
              <a:rPr sz="2027" b="0" i="0">
                <a:solidFill>
                  <a:srgbClr val="FFFFFF"/>
                </a:solidFill>
                <a:latin typeface="Avenir"/>
                <a:ea typeface="Avenir"/>
                <a:cs typeface="Avenir"/>
                <a:sym typeface="Avenir"/>
              </a:rPr>
              <a:t> is every class score from index 5 onwards; </a:t>
            </a:r>
            <a:r>
              <a:rPr sz="1743" b="0" i="0">
                <a:solidFill>
                  <a:srgbClr val="FFFFFF"/>
                </a:solidFill>
                <a:latin typeface="Courier New"/>
                <a:ea typeface="Courier New"/>
                <a:cs typeface="Courier New"/>
                <a:sym typeface="Courier New"/>
              </a:rPr>
              <a:t>np.argmax</a:t>
            </a:r>
            <a:r>
              <a:rPr sz="2027" b="0" i="0">
                <a:solidFill>
                  <a:srgbClr val="FFFFFF"/>
                </a:solidFill>
                <a:latin typeface="Avenir"/>
                <a:ea typeface="Avenir"/>
                <a:cs typeface="Avenir"/>
                <a:sym typeface="Avenir"/>
              </a:rPr>
              <a:t> returns the position of the highest one, which is the class id as a plain integer.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Notice the gates are </a:t>
            </a:r>
            <a:r>
              <a:rPr sz="2027" b="1" i="0">
                <a:solidFill>
                  <a:srgbClr val="FFFFFF"/>
                </a:solidFill>
                <a:latin typeface="Google Sans"/>
                <a:ea typeface="Google Sans"/>
                <a:cs typeface="Google Sans"/>
                <a:sym typeface="Google Sans"/>
              </a:rPr>
              <a:t>nested</a:t>
            </a:r>
            <a:r>
              <a:rPr sz="2027" b="0" i="0">
                <a:solidFill>
                  <a:srgbClr val="FFFFFF"/>
                </a:solidFill>
                <a:latin typeface="Avenir"/>
                <a:ea typeface="Avenir"/>
                <a:cs typeface="Avenir"/>
                <a:sym typeface="Avenir"/>
              </a:rPr>
              <a:t>, not combined with </a:t>
            </a:r>
            <a:r>
              <a:rPr sz="1743" b="0" i="0">
                <a:solidFill>
                  <a:srgbClr val="FFFFFF"/>
                </a:solidFill>
                <a:latin typeface="Courier New"/>
                <a:ea typeface="Courier New"/>
                <a:cs typeface="Courier New"/>
                <a:sym typeface="Courier New"/>
              </a:rPr>
              <a:t>and</a:t>
            </a:r>
            <a:r>
              <a:rPr sz="2027" b="0" i="0">
                <a:solidFill>
                  <a:srgbClr val="FFFFFF"/>
                </a:solidFill>
                <a:latin typeface="Avenir"/>
                <a:ea typeface="Avenir"/>
                <a:cs typeface="Avenir"/>
                <a:sym typeface="Avenir"/>
              </a:rPr>
              <a:t>. That means a row failing the objectness test never even has its class scores examined — which is what you want, because it is the cheaper test and it discards almost everything.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 continued</a:t>
            </a:r>
          </a:p>
        </p:txBody>
      </p:sp>
      <p:sp>
        <p:nvSpPr>
          <p:cNvPr id="3" name="blk015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Inside both gates, four numbers become a box in real pixels:</a:t>
            </a:r>
          </a:p>
        </p:txBody>
      </p:sp>
      <p:sp>
        <p:nvSpPr>
          <p:cNvPr id="4" name="blk0155"/>
          <p:cNvSpPr/>
          <p:nvPr/>
        </p:nvSpPr>
        <p:spPr>
          <a:xfrm>
            <a:off x="687600" y="2160000"/>
            <a:ext cx="8686800" cy="144076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5"/>
          <p:cNvSpPr txBox="1"/>
          <p:nvPr/>
        </p:nvSpPr>
        <p:spPr>
          <a:xfrm>
            <a:off x="910799" y="2322000"/>
            <a:ext cx="8240400" cy="1116769"/>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cx, cy, w, h = row[0], row[1], row[2], row[3]</a:t>
            </a:r>
          </a:p>
          <a:p>
            <a:pPr algn="l">
              <a:lnSpc>
                <a:spcPct val="115000"/>
              </a:lnSpc>
            </a:pPr>
            <a:r>
              <a:rPr sz="1350" b="0" i="0">
                <a:solidFill>
                  <a:srgbClr val="FFFFFF"/>
                </a:solidFill>
                <a:latin typeface="Courier New"/>
                <a:ea typeface="Courier New"/>
                <a:cs typeface="Courier New"/>
                <a:sym typeface="Courier New"/>
              </a:rPr>
              <a:t>left = int((cx - w / 2.0) * x_factor)</a:t>
            </a:r>
          </a:p>
          <a:p>
            <a:pPr algn="l">
              <a:lnSpc>
                <a:spcPct val="115000"/>
              </a:lnSpc>
            </a:pPr>
            <a:r>
              <a:rPr sz="1350" b="0" i="0">
                <a:solidFill>
                  <a:srgbClr val="FFFFFF"/>
                </a:solidFill>
                <a:latin typeface="Courier New"/>
                <a:ea typeface="Courier New"/>
                <a:cs typeface="Courier New"/>
                <a:sym typeface="Courier New"/>
              </a:rPr>
              <a:t>top = int((cy - h / 2.0) * y_factor)</a:t>
            </a:r>
          </a:p>
          <a:p>
            <a:pPr algn="l">
              <a:lnSpc>
                <a:spcPct val="115000"/>
              </a:lnSpc>
            </a:pPr>
            <a:r>
              <a:rPr sz="1350" b="0" i="0">
                <a:solidFill>
                  <a:srgbClr val="FFFFFF"/>
                </a:solidFill>
                <a:latin typeface="Courier New"/>
                <a:ea typeface="Courier New"/>
                <a:cs typeface="Courier New"/>
                <a:sym typeface="Courier New"/>
              </a:rPr>
              <a:t>width = int(w * x_factor)</a:t>
            </a:r>
          </a:p>
          <a:p>
            <a:pPr algn="l">
              <a:lnSpc>
                <a:spcPct val="115000"/>
              </a:lnSpc>
            </a:pPr>
            <a:r>
              <a:rPr sz="1350" b="0" i="0">
                <a:solidFill>
                  <a:srgbClr val="FFFFFF"/>
                </a:solidFill>
                <a:latin typeface="Courier New"/>
                <a:ea typeface="Courier New"/>
                <a:cs typeface="Courier New"/>
                <a:sym typeface="Courier New"/>
              </a:rPr>
              <a:t>height = int(h * y_factor)</a:t>
            </a:r>
          </a:p>
        </p:txBody>
      </p:sp>
      <p:sp>
        <p:nvSpPr>
          <p:cNvPr id="6" name="blk0156"/>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model gives you a centre and a size. A rectangle needs a corner and a size, so subtracting half the width and height is how you convert — and it is the step people most often get wrong by half a box.</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x_factor</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y_factor</a:t>
            </a:r>
            <a:r>
              <a:rPr sz="2027" b="0" i="0">
                <a:solidFill>
                  <a:srgbClr val="FFFFFF"/>
                </a:solidFill>
                <a:latin typeface="Avenir"/>
                <a:ea typeface="Avenir"/>
                <a:cs typeface="Avenir"/>
                <a:sym typeface="Avenir"/>
              </a:rPr>
              <a:t> are the ratio between the model’s 640-space and your actual cropped picture, computed before the loop. Both are separate because your image is not square, and using one factor for both squashes every box.</a:t>
            </a:r>
          </a:p>
        </p:txBody>
      </p:sp>
      <p:sp>
        <p:nvSpPr>
          <p:cNvPr id="7" name="blk0157"/>
          <p:cNvSpPr txBox="1"/>
          <p:nvPr/>
        </p:nvSpPr>
        <p:spPr>
          <a:xfrm>
            <a:off x="687600" y="657935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every box is drawn but none land in the right place, the usual cause is skipping the scaling — numbers that look right but belong to a 640x640 picture that is not on screen.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p>
        </p:txBody>
      </p:sp>
      <p:sp>
        <p:nvSpPr>
          <p:cNvPr id="3" name="blk0159"/>
          <p:cNvSpPr/>
          <p:nvPr/>
        </p:nvSpPr>
        <p:spPr>
          <a:xfrm>
            <a:off x="687600" y="1728000"/>
            <a:ext cx="8686800" cy="53080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59"/>
          <p:cNvSpPr txBox="1"/>
          <p:nvPr/>
        </p:nvSpPr>
        <p:spPr>
          <a:xfrm>
            <a:off x="910799" y="1890000"/>
            <a:ext cx="8240400" cy="206809"/>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indices = cv2.dnn.NMSBoxes(boxes, confidences, self.score_thresh, self.nms_thresh)</a:t>
            </a:r>
          </a:p>
        </p:txBody>
      </p:sp>
      <p:sp>
        <p:nvSpPr>
          <p:cNvPr id="5" name="blk0160"/>
          <p:cNvSpPr txBox="1"/>
          <p:nvPr/>
        </p:nvSpPr>
        <p:spPr>
          <a:xfrm>
            <a:off x="687600" y="2736000"/>
            <a:ext cx="7542000" cy="48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and it does the tidying. Note what is passed in: the boxes, the confidences that produced them, and two thresholds — the score threshold again, then the overlap threshold.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What comes back is a list of the boxes that survived:</a:t>
            </a:r>
          </a:p>
        </p:txBody>
      </p:sp>
      <p:sp>
        <p:nvSpPr>
          <p:cNvPr id="6" name="blk0161"/>
          <p:cNvSpPr/>
          <p:nvPr/>
        </p:nvSpPr>
        <p:spPr>
          <a:xfrm>
            <a:off x="687600" y="4644606"/>
            <a:ext cx="8686800" cy="135804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61"/>
          <p:cNvSpPr txBox="1"/>
          <p:nvPr/>
        </p:nvSpPr>
        <p:spPr>
          <a:xfrm>
            <a:off x="910799" y="4806606"/>
            <a:ext cx="8240400" cy="1034045"/>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if len(indices) == 0:</a:t>
            </a:r>
          </a:p>
          <a:p>
            <a:pPr algn="l">
              <a:lnSpc>
                <a:spcPct val="115000"/>
              </a:lnSpc>
            </a:pPr>
            <a:r>
              <a:rPr sz="1250" b="0" i="0">
                <a:solidFill>
                  <a:srgbClr val="FFFFFF"/>
                </a:solidFill>
                <a:latin typeface="Courier New"/>
                <a:ea typeface="Courier New"/>
                <a:cs typeface="Courier New"/>
                <a:sym typeface="Courier New"/>
              </a:rPr>
              <a:t>    return img, "Searching..."</a:t>
            </a:r>
          </a:p>
          <a:p>
            <a:pPr algn="l">
              <a:lnSpc>
                <a:spcPct val="115000"/>
              </a:lnSpc>
            </a:pPr>
            <a:r>
              <a:rPr sz="1250" b="0" i="0">
                <a:solidFill>
                  <a:srgbClr val="FFFFFF"/>
                </a:solidFill>
                <a:latin typeface="Courier New"/>
                <a:ea typeface="Courier New"/>
                <a:cs typeface="Courier New"/>
                <a:sym typeface="Courier New"/>
              </a:rPr>
              <a:t/>
            </a:r>
          </a:p>
          <a:p>
            <a:pPr algn="l">
              <a:lnSpc>
                <a:spcPct val="115000"/>
              </a:lnSpc>
            </a:pPr>
            <a:r>
              <a:rPr sz="1250" b="0" i="0">
                <a:solidFill>
                  <a:srgbClr val="FFFFFF"/>
                </a:solidFill>
                <a:latin typeface="Courier New"/>
                <a:ea typeface="Courier New"/>
                <a:cs typeface="Courier New"/>
                <a:sym typeface="Courier New"/>
              </a:rPr>
              <a:t>if isinstance(indices, tuple) or len(indices.shape) &gt; 1:</a:t>
            </a:r>
          </a:p>
          <a:p>
            <a:pPr algn="l">
              <a:lnSpc>
                <a:spcPct val="115000"/>
              </a:lnSpc>
            </a:pPr>
            <a:r>
              <a:rPr sz="1250" b="0" i="0">
                <a:solidFill>
                  <a:srgbClr val="FFFFFF"/>
                </a:solidFill>
                <a:latin typeface="Courier New"/>
                <a:ea typeface="Courier New"/>
                <a:cs typeface="Courier New"/>
                <a:sym typeface="Courier New"/>
              </a:rPr>
              <a:t>    indices = indices.flatten()</a:t>
            </a:r>
          </a:p>
        </p:txBody>
      </p:sp>
      <p:sp>
        <p:nvSpPr>
          <p:cNvPr id="8" name="blk0162"/>
          <p:cNvSpPr txBox="1"/>
          <p:nvPr/>
        </p:nvSpPr>
        <p:spPr>
          <a:xfrm>
            <a:off x="687600" y="6110651"/>
            <a:ext cx="7542000" cy="20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Different versions return a tuple or array; </a:t>
            </a:r>
            <a:r>
              <a:rPr sz="1743" b="0" i="0">
                <a:solidFill>
                  <a:srgbClr val="FFFFFF"/>
                </a:solidFill>
                <a:latin typeface="Courier New"/>
                <a:ea typeface="Courier New"/>
                <a:cs typeface="Courier New"/>
                <a:sym typeface="Courier New"/>
              </a:rPr>
              <a:t>flatten</a:t>
            </a:r>
            <a:r>
              <a:rPr sz="2027" b="0" i="0">
                <a:solidFill>
                  <a:srgbClr val="FFFFFF"/>
                </a:solidFill>
                <a:latin typeface="Avenir"/>
                <a:ea typeface="Avenir"/>
                <a:cs typeface="Avenir"/>
                <a:sym typeface="Avenir"/>
              </a:rPr>
              <a:t> makes it indexable with an integer.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Returning </a:t>
            </a:r>
            <a:r>
              <a:rPr sz="1743" b="0" i="0">
                <a:solidFill>
                  <a:srgbClr val="FFFFFF"/>
                </a:solidFill>
                <a:latin typeface="Courier New"/>
                <a:ea typeface="Courier New"/>
                <a:cs typeface="Courier New"/>
                <a:sym typeface="Courier New"/>
              </a:rPr>
              <a:t>"Searching..."</a:t>
            </a:r>
            <a:r>
              <a:rPr sz="2027" b="0" i="0">
                <a:solidFill>
                  <a:srgbClr val="FFFFFF"/>
                </a:solidFill>
                <a:latin typeface="Avenir"/>
                <a:ea typeface="Avenir"/>
                <a:cs typeface="Avenir"/>
                <a:sym typeface="Avenir"/>
              </a:rPr>
              <a:t> keeps the terminal quiet while you hold an object the model does not know.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16</a:t>
            </a:r>
          </a:p>
        </p:txBody>
      </p:sp>
      <p:sp>
        <p:nvSpPr>
          <p:cNvPr id="3" name="blk016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TODO inside the method. Turn surviving indices into a picture you can read:</a:t>
            </a:r>
          </a:p>
        </p:txBody>
      </p:sp>
      <p:sp>
        <p:nvSpPr>
          <p:cNvPr id="4" name="blk0165"/>
          <p:cNvSpPr/>
          <p:nvPr/>
        </p:nvSpPr>
        <p:spPr>
          <a:xfrm>
            <a:off x="687600" y="2304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5"/>
          <p:cNvSpPr txBox="1"/>
          <p:nvPr/>
        </p:nvSpPr>
        <p:spPr>
          <a:xfrm>
            <a:off x="910799" y="2466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for idx in indices:</a:t>
            </a:r>
          </a:p>
          <a:p>
            <a:pPr algn="l">
              <a:lnSpc>
                <a:spcPct val="115000"/>
              </a:lnSpc>
            </a:pPr>
            <a:r>
              <a:rPr sz="1350" b="0" i="0">
                <a:solidFill>
                  <a:srgbClr val="FFFFFF"/>
                </a:solidFill>
                <a:latin typeface="Courier New"/>
                <a:ea typeface="Courier New"/>
                <a:cs typeface="Courier New"/>
                <a:sym typeface="Courier New"/>
              </a:rPr>
              <a:t>    left, top, width, height = boxes[idx]</a:t>
            </a:r>
          </a:p>
          <a:p>
            <a:pPr algn="l">
              <a:lnSpc>
                <a:spcPct val="115000"/>
              </a:lnSpc>
            </a:pPr>
            <a:r>
              <a:rPr sz="1350" b="0" i="0">
                <a:solidFill>
                  <a:srgbClr val="FFFFFF"/>
                </a:solidFill>
                <a:latin typeface="Courier New"/>
                <a:ea typeface="Courier New"/>
                <a:cs typeface="Courier New"/>
                <a:sym typeface="Courier New"/>
              </a:rPr>
              <a:t>    cx, cy = left + width // 2, top + height // 2</a:t>
            </a:r>
          </a:p>
        </p:txBody>
      </p:sp>
      <p:sp>
        <p:nvSpPr>
          <p:cNvPr id="6" name="blk0166"/>
          <p:cNvSpPr txBox="1"/>
          <p:nvPr/>
        </p:nvSpPr>
        <p:spPr>
          <a:xfrm>
            <a:off x="687600" y="3406061"/>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worth pausing on. This one is long, and it is the only place in the project where the label file is actually consulted:</a:t>
            </a:r>
          </a:p>
        </p:txBody>
      </p:sp>
      <p:sp>
        <p:nvSpPr>
          <p:cNvPr id="7" name="blk0167"/>
          <p:cNvSpPr/>
          <p:nvPr/>
        </p:nvSpPr>
        <p:spPr>
          <a:xfrm>
            <a:off x="687600" y="4440805"/>
            <a:ext cx="8686800" cy="47419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7"/>
          <p:cNvSpPr txBox="1"/>
          <p:nvPr/>
        </p:nvSpPr>
        <p:spPr>
          <a:xfrm>
            <a:off x="910799" y="4602805"/>
            <a:ext cx="8240400" cy="150196"/>
          </a:xfrm>
          <a:prstGeom prst="rect">
            <a:avLst/>
          </a:prstGeom>
          <a:noFill/>
        </p:spPr>
        <p:txBody>
          <a:bodyPr wrap="square" anchor="t" lIns="0" rIns="0" tIns="0" bIns="0">
            <a:noAutofit/>
          </a:bodyPr>
          <a:lstStyle/>
          <a:p>
            <a:pPr algn="l">
              <a:lnSpc>
                <a:spcPct val="115000"/>
              </a:lnSpc>
            </a:pPr>
            <a:r>
              <a:rPr sz="907" b="0" i="0">
                <a:solidFill>
                  <a:srgbClr val="FFFFFF"/>
                </a:solidFill>
                <a:latin typeface="Courier New"/>
                <a:ea typeface="Courier New"/>
                <a:cs typeface="Courier New"/>
                <a:sym typeface="Courier New"/>
              </a:rPr>
              <a:t>            class_name = self.classes[class_ids[idx]] if class_ids[idx] &lt; len(self.classes) else str(class_ids[idx])</a:t>
            </a:r>
          </a:p>
        </p:txBody>
      </p:sp>
      <p:sp>
        <p:nvSpPr>
          <p:cNvPr id="9" name="blk0168"/>
          <p:cNvSpPr txBox="1"/>
          <p:nvPr/>
        </p:nvSpPr>
        <p:spPr>
          <a:xfrm>
            <a:off x="687600" y="5023001"/>
            <a:ext cx="7542000" cy="28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it as a question: </a:t>
            </a:r>
            <a:r>
              <a:rPr sz="2027" b="1" i="0">
                <a:solidFill>
                  <a:srgbClr val="FFFFFF"/>
                </a:solidFill>
                <a:latin typeface="Google Sans"/>
                <a:ea typeface="Google Sans"/>
                <a:cs typeface="Google Sans"/>
                <a:sym typeface="Google Sans"/>
              </a:rPr>
              <a:t>if this id is inside the list of names, use the name; otherwise use the number itself</a:t>
            </a:r>
            <a:r>
              <a:rPr sz="2027" b="0" i="0">
                <a:solidFill>
                  <a:srgbClr val="FFFFFF"/>
                </a:solidFill>
                <a:latin typeface="Avenir"/>
                <a:ea typeface="Avenir"/>
                <a:cs typeface="Avenir"/>
                <a:sym typeface="Avenir"/>
              </a:rPr>
              <a:t>. A box labelled </a:t>
            </a:r>
            <a:r>
              <a:rPr sz="1743" b="0" i="0">
                <a:solidFill>
                  <a:srgbClr val="FFFFFF"/>
                </a:solidFill>
                <a:latin typeface="Courier New"/>
                <a:ea typeface="Courier New"/>
                <a:cs typeface="Courier New"/>
                <a:sym typeface="Courier New"/>
              </a:rPr>
              <a:t>37</a:t>
            </a:r>
            <a:r>
              <a:rPr sz="2027" b="0" i="0">
                <a:solidFill>
                  <a:srgbClr val="FFFFFF"/>
                </a:solidFill>
                <a:latin typeface="Avenir"/>
                <a:ea typeface="Avenir"/>
                <a:cs typeface="Avenir"/>
                <a:sym typeface="Avenir"/>
              </a:rPr>
              <a:t> instead of </a:t>
            </a:r>
            <a:r>
              <a:rPr sz="1743" b="0" i="0">
                <a:solidFill>
                  <a:srgbClr val="FFFFFF"/>
                </a:solidFill>
                <a:latin typeface="Courier New"/>
                <a:ea typeface="Courier New"/>
                <a:cs typeface="Courier New"/>
                <a:sym typeface="Courier New"/>
              </a:rPr>
              <a:t>toothbrush</a:t>
            </a:r>
            <a:r>
              <a:rPr sz="2027" b="0" i="0">
                <a:solidFill>
                  <a:srgbClr val="FFFFFF"/>
                </a:solidFill>
                <a:latin typeface="Avenir"/>
                <a:ea typeface="Avenir"/>
                <a:cs typeface="Avenir"/>
                <a:sym typeface="Avenir"/>
              </a:rPr>
              <a:t> means the labels did not load.</a:t>
            </a:r>
          </a:p>
        </p:txBody>
      </p:sp>
      <p:sp>
        <p:nvSpPr>
          <p:cNvPr id="10" name="blk0169"/>
          <p:cNvSpPr txBox="1"/>
          <p:nvPr/>
        </p:nvSpPr>
        <p:spPr>
          <a:xfrm>
            <a:off x="687600" y="6366660"/>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Then </a:t>
            </a:r>
            <a:r>
              <a:rPr sz="1419" b="0" i="0">
                <a:solidFill>
                  <a:srgbClr val="FFFFFF"/>
                </a:solidFill>
                <a:latin typeface="Courier New"/>
                <a:ea typeface="Courier New"/>
                <a:cs typeface="Courier New"/>
                <a:sym typeface="Courier New"/>
              </a:rPr>
              <a:t>label = f"{class_name} {confidences[idx]:.2f}"</a:t>
            </a:r>
            <a:r>
              <a:rPr sz="1650" b="0" i="0">
                <a:solidFill>
                  <a:srgbClr val="FFFFFF"/>
                </a:solidFill>
                <a:latin typeface="Avenir"/>
                <a:ea typeface="Avenir"/>
                <a:cs typeface="Avenir"/>
                <a:sym typeface="Avenir"/>
              </a:rPr>
              <a:t> builds the label and </a:t>
            </a:r>
            <a:r>
              <a:rPr sz="1419" b="0" i="0">
                <a:solidFill>
                  <a:srgbClr val="FFFFFF"/>
                </a:solidFill>
                <a:latin typeface="Courier New"/>
                <a:ea typeface="Courier New"/>
                <a:cs typeface="Courier New"/>
                <a:sym typeface="Courier New"/>
              </a:rPr>
              <a:t>detected_names.append(label)</a:t>
            </a:r>
            <a:r>
              <a:rPr sz="1650" b="0" i="0">
                <a:solidFill>
                  <a:srgbClr val="FFFFFF"/>
                </a:solidFill>
                <a:latin typeface="Avenir"/>
                <a:ea typeface="Avenir"/>
                <a:cs typeface="Avenir"/>
                <a:sym typeface="Avenir"/>
              </a:rPr>
              <a:t> collects it for the terminal. </a:t>
            </a:r>
            <a:r>
              <a:rPr sz="1419" b="0" i="0">
                <a:solidFill>
                  <a:srgbClr val="FFFFFF"/>
                </a:solidFill>
                <a:latin typeface="Courier New"/>
                <a:ea typeface="Courier New"/>
                <a:cs typeface="Courier New"/>
                <a:sym typeface="Courier New"/>
              </a:rPr>
              <a:t>.2f</a:t>
            </a:r>
            <a:r>
              <a:rPr sz="1650" b="0" i="0">
                <a:solidFill>
                  <a:srgbClr val="FFFFFF"/>
                </a:solidFill>
                <a:latin typeface="Avenir"/>
                <a:ea typeface="Avenir"/>
                <a:cs typeface="Avenir"/>
                <a:sym typeface="Avenir"/>
              </a:rPr>
              <a:t> is two decimal places — 0.8734 becomes </a:t>
            </a:r>
            <a:r>
              <a:rPr sz="1419" b="0" i="0">
                <a:solidFill>
                  <a:srgbClr val="FFFFFF"/>
                </a:solidFill>
                <a:latin typeface="Courier New"/>
                <a:ea typeface="Courier New"/>
                <a:cs typeface="Courier New"/>
                <a:sym typeface="Courier New"/>
              </a:rPr>
              <a:t>0.87</a:t>
            </a:r>
            <a:r>
              <a:rPr sz="1650" b="0" i="0">
                <a:solidFill>
                  <a:srgbClr val="FFFFFF"/>
                </a:solidFill>
                <a:latin typeface="Avenir"/>
                <a:ea typeface="Avenir"/>
                <a:cs typeface="Avenir"/>
                <a:sym typeface="Avenir"/>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17</a:t>
            </a:r>
          </a:p>
        </p:txBody>
      </p:sp>
      <p:sp>
        <p:nvSpPr>
          <p:cNvPr id="3" name="blk017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scan, unchanged since Project 1:</a:t>
            </a:r>
          </a:p>
        </p:txBody>
      </p:sp>
      <p:sp>
        <p:nvSpPr>
          <p:cNvPr id="4" name="blk0172"/>
          <p:cNvSpPr/>
          <p:nvPr/>
        </p:nvSpPr>
        <p:spPr>
          <a:xfrm>
            <a:off x="687600" y="2015999"/>
            <a:ext cx="8686800" cy="250790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2"/>
          <p:cNvSpPr txBox="1"/>
          <p:nvPr/>
        </p:nvSpPr>
        <p:spPr>
          <a:xfrm>
            <a:off x="910799" y="2178000"/>
            <a:ext cx="8240400" cy="218390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def find_working_camera(max_tests=5):</a:t>
            </a:r>
          </a:p>
          <a:p>
            <a:pPr algn="l">
              <a:lnSpc>
                <a:spcPct val="115000"/>
              </a:lnSpc>
            </a:pPr>
            <a:r>
              <a:rPr sz="1200" b="0" i="0">
                <a:solidFill>
                  <a:srgbClr val="FFFFFF"/>
                </a:solidFill>
                <a:latin typeface="Courier New"/>
                <a:ea typeface="Courier New"/>
                <a:cs typeface="Courier New"/>
                <a:sym typeface="Courier New"/>
              </a:rPr>
              <a:t>    """Scans video indices and returns the first camera that produces frames."""</a:t>
            </a:r>
          </a:p>
          <a:p>
            <a:pPr algn="l">
              <a:lnSpc>
                <a:spcPct val="115000"/>
              </a:lnSpc>
            </a:pPr>
            <a:r>
              <a:rPr sz="1200" b="0" i="0">
                <a:solidFill>
                  <a:srgbClr val="FFFFFF"/>
                </a:solidFill>
                <a:latin typeface="Courier New"/>
                <a:ea typeface="Courier New"/>
                <a:cs typeface="Courier New"/>
                <a:sym typeface="Courier New"/>
              </a:rPr>
              <a:t>    for idx in range(max_tests):</a:t>
            </a:r>
          </a:p>
          <a:p>
            <a:pPr algn="l">
              <a:lnSpc>
                <a:spcPct val="115000"/>
              </a:lnSpc>
            </a:pPr>
            <a:r>
              <a:rPr sz="1200" b="0" i="0">
                <a:solidFill>
                  <a:srgbClr val="FFFFFF"/>
                </a:solidFill>
                <a:latin typeface="Courier New"/>
                <a:ea typeface="Courier New"/>
                <a:cs typeface="Courier New"/>
                <a:sym typeface="Courier New"/>
              </a:rPr>
              <a:t>        cap = cv2.VideoCapture(idx, cv2.CAP_V4L2)</a:t>
            </a:r>
          </a:p>
          <a:p>
            <a:pPr algn="l">
              <a:lnSpc>
                <a:spcPct val="115000"/>
              </a:lnSpc>
            </a:pPr>
            <a:r>
              <a:rPr sz="1200" b="0" i="0">
                <a:solidFill>
                  <a:srgbClr val="FFFFFF"/>
                </a:solidFill>
                <a:latin typeface="Courier New"/>
                <a:ea typeface="Courier New"/>
                <a:cs typeface="Courier New"/>
                <a:sym typeface="Courier New"/>
              </a:rPr>
              <a:t>        if cap.isOpened():</a:t>
            </a:r>
          </a:p>
          <a:p>
            <a:pPr algn="l">
              <a:lnSpc>
                <a:spcPct val="115000"/>
              </a:lnSpc>
            </a:pPr>
            <a:r>
              <a:rPr sz="1200" b="0" i="0">
                <a:solidFill>
                  <a:srgbClr val="FFFFFF"/>
                </a:solidFill>
                <a:latin typeface="Courier New"/>
                <a:ea typeface="Courier New"/>
                <a:cs typeface="Courier New"/>
                <a:sym typeface="Courier New"/>
              </a:rPr>
              <a:t>            ret, frame = cap.read()</a:t>
            </a:r>
          </a:p>
          <a:p>
            <a:pPr algn="l">
              <a:lnSpc>
                <a:spcPct val="115000"/>
              </a:lnSpc>
            </a:pPr>
            <a:r>
              <a:rPr sz="1200" b="0" i="0">
                <a:solidFill>
                  <a:srgbClr val="FFFFFF"/>
                </a:solidFill>
                <a:latin typeface="Courier New"/>
                <a:ea typeface="Courier New"/>
                <a:cs typeface="Courier New"/>
                <a:sym typeface="Courier New"/>
              </a:rPr>
              <a:t>            cap.release()</a:t>
            </a:r>
          </a:p>
          <a:p>
            <a:pPr algn="l">
              <a:lnSpc>
                <a:spcPct val="115000"/>
              </a:lnSpc>
            </a:pPr>
            <a:r>
              <a:rPr sz="1200" b="0" i="0">
                <a:solidFill>
                  <a:srgbClr val="FFFFFF"/>
                </a:solidFill>
                <a:latin typeface="Courier New"/>
                <a:ea typeface="Courier New"/>
                <a:cs typeface="Courier New"/>
                <a:sym typeface="Courier New"/>
              </a:rPr>
              <a:t>            if ret and frame is not None and frame.size &gt; 0:</a:t>
            </a:r>
          </a:p>
          <a:p>
            <a:pPr algn="l">
              <a:lnSpc>
                <a:spcPct val="115000"/>
              </a:lnSpc>
            </a:pPr>
            <a:r>
              <a:rPr sz="1200" b="0" i="0">
                <a:solidFill>
                  <a:srgbClr val="FFFFFF"/>
                </a:solidFill>
                <a:latin typeface="Courier New"/>
                <a:ea typeface="Courier New"/>
                <a:cs typeface="Courier New"/>
                <a:sym typeface="Courier New"/>
              </a:rPr>
              <a:t>                print(f"Found active camera at index {idx}")</a:t>
            </a:r>
          </a:p>
          <a:p>
            <a:pPr algn="l">
              <a:lnSpc>
                <a:spcPct val="115000"/>
              </a:lnSpc>
            </a:pPr>
            <a:r>
              <a:rPr sz="1200" b="0" i="0">
                <a:solidFill>
                  <a:srgbClr val="FFFFFF"/>
                </a:solidFill>
                <a:latin typeface="Courier New"/>
                <a:ea typeface="Courier New"/>
                <a:cs typeface="Courier New"/>
                <a:sym typeface="Courier New"/>
              </a:rPr>
              <a:t>                return idx</a:t>
            </a:r>
          </a:p>
          <a:p>
            <a:pPr algn="l">
              <a:lnSpc>
                <a:spcPct val="115000"/>
              </a:lnSpc>
            </a:pPr>
            <a:r>
              <a:rPr sz="1200" b="0" i="0">
                <a:solidFill>
                  <a:srgbClr val="FFFFFF"/>
                </a:solidFill>
                <a:latin typeface="Courier New"/>
                <a:ea typeface="Courier New"/>
                <a:cs typeface="Courier New"/>
                <a:sym typeface="Courier New"/>
              </a:rPr>
              <a:t>    return None</a:t>
            </a:r>
          </a:p>
        </p:txBody>
      </p:sp>
      <p:sp>
        <p:nvSpPr>
          <p:cNvPr id="6" name="blk0173"/>
          <p:cNvSpPr txBox="1"/>
          <p:nvPr/>
        </p:nvSpPr>
        <p:spPr>
          <a:xfrm>
            <a:off x="687600" y="463190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Worth noticing: this function opens a plain </a:t>
            </a:r>
            <a:r>
              <a:rPr sz="1419" b="0" i="0">
                <a:solidFill>
                  <a:srgbClr val="FFFFFF"/>
                </a:solidFill>
                <a:latin typeface="Courier New"/>
                <a:ea typeface="Courier New"/>
                <a:cs typeface="Courier New"/>
                <a:sym typeface="Courier New"/>
              </a:rPr>
              <a:t>cv2.VideoCapture</a:t>
            </a:r>
            <a:r>
              <a:rPr sz="1650" b="0" i="0">
                <a:solidFill>
                  <a:srgbClr val="FFFFFF"/>
                </a:solidFill>
                <a:latin typeface="Avenir"/>
                <a:ea typeface="Avenir"/>
                <a:cs typeface="Avenir"/>
                <a:sym typeface="Avenir"/>
              </a:rPr>
              <a:t> and immediately closes it, purely to test the index. The threaded camera you use for the rest of the program is a different object. Testing with one kind and running with another is normal, and worth naming so it does not confuse you later.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18</a:t>
            </a:r>
          </a:p>
        </p:txBody>
      </p:sp>
      <p:sp>
        <p:nvSpPr>
          <p:cNvPr id="3" name="blk017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biggest blank in the file — this TODO is the whole of </a:t>
            </a:r>
            <a:r>
              <a:rPr sz="1743" b="0" i="0">
                <a:solidFill>
                  <a:srgbClr val="FFFFFF"/>
                </a:solidFill>
                <a:latin typeface="Courier New"/>
                <a:ea typeface="Courier New"/>
                <a:cs typeface="Courier New"/>
                <a:sym typeface="Courier New"/>
              </a:rPr>
              <a:t>main()</a:t>
            </a:r>
            <a:r>
              <a:rPr sz="2027" b="0" i="0">
                <a:solidFill>
                  <a:srgbClr val="FFFFFF"/>
                </a:solidFill>
                <a:latin typeface="Avenir"/>
                <a:ea typeface="Avenir"/>
                <a:cs typeface="Avenir"/>
                <a:sym typeface="Avenir"/>
              </a:rPr>
              <a:t>, from the camera onwards. Build it in three pieces rather than all at once, and this is piece one:</a:t>
            </a:r>
          </a:p>
        </p:txBody>
      </p:sp>
      <p:sp>
        <p:nvSpPr>
          <p:cNvPr id="4" name="blk0176"/>
          <p:cNvSpPr/>
          <p:nvPr/>
        </p:nvSpPr>
        <p:spPr>
          <a:xfrm>
            <a:off x="687600" y="2384744"/>
            <a:ext cx="8686800" cy="247481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6"/>
          <p:cNvSpPr txBox="1"/>
          <p:nvPr/>
        </p:nvSpPr>
        <p:spPr>
          <a:xfrm>
            <a:off x="910799" y="2546744"/>
            <a:ext cx="8240400" cy="215081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cap_num = find_working_camera()</a:t>
            </a:r>
          </a:p>
          <a:p>
            <a:pPr algn="l">
              <a:lnSpc>
                <a:spcPct val="115000"/>
              </a:lnSpc>
            </a:pPr>
            <a:r>
              <a:rPr sz="1300" b="0" i="0">
                <a:solidFill>
                  <a:srgbClr val="FFFFFF"/>
                </a:solidFill>
                <a:latin typeface="Courier New"/>
                <a:ea typeface="Courier New"/>
                <a:cs typeface="Courier New"/>
                <a:sym typeface="Courier New"/>
              </a:rPr>
              <a:t>if cap_num is None:</a:t>
            </a:r>
          </a:p>
          <a:p>
            <a:pPr algn="l">
              <a:lnSpc>
                <a:spcPct val="115000"/>
              </a:lnSpc>
            </a:pPr>
            <a:r>
              <a:rPr sz="1300" b="0" i="0">
                <a:solidFill>
                  <a:srgbClr val="FFFFFF"/>
                </a:solidFill>
                <a:latin typeface="Courier New"/>
                <a:ea typeface="Courier New"/>
                <a:cs typeface="Courier New"/>
                <a:sym typeface="Courier New"/>
              </a:rPr>
              <a:t>    print("Error: No working camera stream found.")</a:t>
            </a:r>
          </a:p>
          <a:p>
            <a:pPr algn="l">
              <a:lnSpc>
                <a:spcPct val="115000"/>
              </a:lnSpc>
            </a:pPr>
            <a:r>
              <a:rPr sz="1300" b="0" i="0">
                <a:solidFill>
                  <a:srgbClr val="FFFFFF"/>
                </a:solidFill>
                <a:latin typeface="Courier New"/>
                <a:ea typeface="Courier New"/>
                <a:cs typeface="Courier New"/>
                <a:sym typeface="Courier New"/>
              </a:rPr>
              <a:t>    return</a:t>
            </a:r>
          </a:p>
          <a:p>
            <a:pPr algn="l">
              <a:lnSpc>
                <a:spcPct val="115000"/>
              </a:lnSpc>
            </a:pPr>
            <a:r>
              <a:rPr sz="1300" b="0" i="0">
                <a:solidFill>
                  <a:srgbClr val="FFFFFF"/>
                </a:solidFill>
                <a:latin typeface="Courier New"/>
                <a:ea typeface="Courier New"/>
                <a:cs typeface="Courier New"/>
                <a:sym typeface="Courier New"/>
              </a:rPr>
              <a:t/>
            </a:r>
          </a:p>
          <a:p>
            <a:pPr algn="l">
              <a:lnSpc>
                <a:spcPct val="115000"/>
              </a:lnSpc>
            </a:pPr>
            <a:r>
              <a:rPr sz="1300" b="0" i="0">
                <a:solidFill>
                  <a:srgbClr val="FFFFFF"/>
                </a:solidFill>
                <a:latin typeface="Courier New"/>
                <a:ea typeface="Courier New"/>
                <a:cs typeface="Courier New"/>
                <a:sym typeface="Courier New"/>
              </a:rPr>
              <a:t># Replace standard cv2.VideoCapture with ThreadedCamera</a:t>
            </a:r>
          </a:p>
          <a:p>
            <a:pPr algn="l">
              <a:lnSpc>
                <a:spcPct val="115000"/>
              </a:lnSpc>
            </a:pPr>
            <a:r>
              <a:rPr sz="1300" b="0" i="0">
                <a:solidFill>
                  <a:srgbClr val="FFFFFF"/>
                </a:solidFill>
                <a:latin typeface="Courier New"/>
                <a:ea typeface="Courier New"/>
                <a:cs typeface="Courier New"/>
                <a:sym typeface="Courier New"/>
              </a:rPr>
              <a:t>cap = ThreadedCamera(cap_num)</a:t>
            </a:r>
          </a:p>
          <a:p>
            <a:pPr algn="l">
              <a:lnSpc>
                <a:spcPct val="115000"/>
              </a:lnSpc>
            </a:pPr>
            <a:r>
              <a:rPr sz="1300" b="0" i="0">
                <a:solidFill>
                  <a:srgbClr val="FFFFFF"/>
                </a:solidFill>
                <a:latin typeface="Courier New"/>
                <a:ea typeface="Courier New"/>
                <a:cs typeface="Courier New"/>
                <a:sym typeface="Courier New"/>
              </a:rPr>
              <a:t>if not cap.isOpened():</a:t>
            </a:r>
          </a:p>
          <a:p>
            <a:pPr algn="l">
              <a:lnSpc>
                <a:spcPct val="115000"/>
              </a:lnSpc>
            </a:pPr>
            <a:r>
              <a:rPr sz="1300" b="0" i="0">
                <a:solidFill>
                  <a:srgbClr val="FFFFFF"/>
                </a:solidFill>
                <a:latin typeface="Courier New"/>
                <a:ea typeface="Courier New"/>
                <a:cs typeface="Courier New"/>
                <a:sym typeface="Courier New"/>
              </a:rPr>
              <a:t>    print("Error: Could not open camera.")</a:t>
            </a:r>
          </a:p>
          <a:p>
            <a:pPr algn="l">
              <a:lnSpc>
                <a:spcPct val="115000"/>
              </a:lnSpc>
            </a:pPr>
            <a:r>
              <a:rPr sz="1300" b="0" i="0">
                <a:solidFill>
                  <a:srgbClr val="FFFFFF"/>
                </a:solidFill>
                <a:latin typeface="Courier New"/>
                <a:ea typeface="Courier New"/>
                <a:cs typeface="Courier New"/>
                <a:sym typeface="Courier New"/>
              </a:rPr>
              <a:t>    return</a:t>
            </a:r>
          </a:p>
        </p:txBody>
      </p:sp>
      <p:sp>
        <p:nvSpPr>
          <p:cNvPr id="6" name="blk0177"/>
          <p:cNvSpPr txBox="1"/>
          <p:nvPr/>
        </p:nvSpPr>
        <p:spPr>
          <a:xfrm>
            <a:off x="687600" y="4967558"/>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up to </a:t>
            </a:r>
            <a:r>
              <a:rPr sz="1743" b="0" i="0">
                <a:solidFill>
                  <a:srgbClr val="FFFFFF"/>
                </a:solidFill>
                <a:latin typeface="Courier New"/>
                <a:ea typeface="Courier New"/>
                <a:cs typeface="Courier New"/>
                <a:sym typeface="Courier New"/>
              </a:rPr>
              <a:t>while True:</a:t>
            </a:r>
            <a:r>
              <a:rPr sz="2027" b="0" i="0">
                <a:solidFill>
                  <a:srgbClr val="FFFFFF"/>
                </a:solidFill>
                <a:latin typeface="Avenir"/>
                <a:ea typeface="Avenir"/>
                <a:cs typeface="Avenir"/>
                <a:sym typeface="Avenir"/>
              </a:rPr>
              <a:t> is already written in the starter — the creation, the checks, and the object you will call </a:t>
            </a:r>
            <a:r>
              <a:rPr sz="1743" b="0" i="0">
                <a:solidFill>
                  <a:srgbClr val="FFFFFF"/>
                </a:solidFill>
                <a:latin typeface="Courier New"/>
                <a:ea typeface="Courier New"/>
                <a:cs typeface="Courier New"/>
                <a:sym typeface="Courier New"/>
              </a:rPr>
              <a:t>vision</a:t>
            </a:r>
            <a:r>
              <a:rPr sz="2027" b="0" i="0">
                <a:solidFill>
                  <a:srgbClr val="FFFFFF"/>
                </a:solidFill>
                <a:latin typeface="Avenir"/>
                <a:ea typeface="Avenir"/>
                <a:cs typeface="Avenir"/>
                <a:sym typeface="Avenir"/>
              </a:rPr>
              <a:t> on.</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point of the project sits in one line: </a:t>
            </a:r>
            <a:r>
              <a:rPr sz="1743" b="0" i="0">
                <a:solidFill>
                  <a:srgbClr val="FFFFFF"/>
                </a:solidFill>
                <a:latin typeface="Courier New"/>
                <a:ea typeface="Courier New"/>
                <a:cs typeface="Courier New"/>
                <a:sym typeface="Courier New"/>
              </a:rPr>
              <a:t>cap = ThreadedCamera(cap_num)</a:t>
            </a:r>
            <a:r>
              <a:rPr sz="2027" b="0" i="0">
                <a:solidFill>
                  <a:srgbClr val="FFFFFF"/>
                </a:solidFill>
                <a:latin typeface="Avenir"/>
                <a:ea typeface="Avenir"/>
                <a:cs typeface="Avenir"/>
                <a:sym typeface="Avenir"/>
              </a:rPr>
              <a:t> instead of </a:t>
            </a:r>
            <a:r>
              <a:rPr sz="1743" b="0" i="0">
                <a:solidFill>
                  <a:srgbClr val="FFFFFF"/>
                </a:solidFill>
                <a:latin typeface="Courier New"/>
                <a:ea typeface="Courier New"/>
                <a:cs typeface="Courier New"/>
                <a:sym typeface="Courier New"/>
              </a:rPr>
              <a:t>cv2.VideoCapture</a:t>
            </a:r>
            <a:r>
              <a:rPr sz="2027" b="0" i="0">
                <a:solidFill>
                  <a:srgbClr val="FFFFFF"/>
                </a:solidFill>
                <a:latin typeface="Avenir"/>
                <a:ea typeface="Avenir"/>
                <a:cs typeface="Avenir"/>
                <a:sym typeface="Avenir"/>
              </a:rPr>
              <a:t>.</a:t>
            </a:r>
          </a:p>
        </p:txBody>
      </p:sp>
      <p:sp>
        <p:nvSpPr>
          <p:cNvPr id="7" name="blk0178"/>
          <p:cNvSpPr txBox="1"/>
          <p:nvPr/>
        </p:nvSpPr>
        <p:spPr>
          <a:xfrm>
            <a:off x="687600" y="6876164"/>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threaded camera is already written for you in the starter — your job is to use it and understand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19</a:t>
            </a:r>
          </a:p>
        </p:txBody>
      </p:sp>
      <p:sp>
        <p:nvSpPr>
          <p:cNvPr id="3" name="blk018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small TODOs left, all inside the loop, and all one line each. This first one refreshes the workspace bounds:</a:t>
            </a:r>
          </a:p>
        </p:txBody>
      </p:sp>
      <p:sp>
        <p:nvSpPr>
          <p:cNvPr id="4" name="blk0181"/>
          <p:cNvSpPr/>
          <p:nvPr/>
        </p:nvSpPr>
        <p:spPr>
          <a:xfrm>
            <a:off x="687600" y="2520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1"/>
          <p:cNvSpPr txBox="1"/>
          <p:nvPr/>
        </p:nvSpPr>
        <p:spPr>
          <a:xfrm>
            <a:off x="910799" y="2682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vision.calculate_aruco_bounds(frame)</a:t>
            </a:r>
          </a:p>
        </p:txBody>
      </p:sp>
      <p:sp>
        <p:nvSpPr>
          <p:cNvPr id="6" name="blk0182"/>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Called every frame, which sounds wasteful — the markers have not moved. It is cheap, and it is worth it, because it means the workspace follows the board if anybody nudges it. Cheap and every frame beats clever and once.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Then the crop, using whatever bounds the call above just found:</a:t>
            </a:r>
          </a:p>
        </p:txBody>
      </p:sp>
      <p:sp>
        <p:nvSpPr>
          <p:cNvPr id="7" name="blk0183"/>
          <p:cNvSpPr/>
          <p:nvPr/>
        </p:nvSpPr>
        <p:spPr>
          <a:xfrm>
            <a:off x="687600" y="552951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3"/>
          <p:cNvSpPr txBox="1"/>
          <p:nvPr/>
        </p:nvSpPr>
        <p:spPr>
          <a:xfrm>
            <a:off x="910799" y="5691519"/>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cropped_frame = vision.transform_frame(frame)</a:t>
            </a:r>
          </a:p>
        </p:txBody>
      </p:sp>
      <p:sp>
        <p:nvSpPr>
          <p:cNvPr id="9" name="blk0184"/>
          <p:cNvSpPr txBox="1"/>
          <p:nvPr/>
        </p:nvSpPr>
        <p:spPr>
          <a:xfrm>
            <a:off x="687600" y="620968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markers are not both visible, </a:t>
            </a:r>
            <a:r>
              <a:rPr sz="1419" b="0" i="0">
                <a:solidFill>
                  <a:srgbClr val="FFFFFF"/>
                </a:solidFill>
                <a:latin typeface="Courier New"/>
                <a:ea typeface="Courier New"/>
                <a:cs typeface="Courier New"/>
                <a:sym typeface="Courier New"/>
              </a:rPr>
              <a:t>calculate_aruco_bounds</a:t>
            </a:r>
            <a:r>
              <a:rPr sz="1650" b="0" i="0">
                <a:solidFill>
                  <a:srgbClr val="FFFFFF"/>
                </a:solidFill>
                <a:latin typeface="Avenir"/>
                <a:ea typeface="Avenir"/>
                <a:cs typeface="Avenir"/>
                <a:sym typeface="Avenir"/>
              </a:rPr>
              <a:t> returns </a:t>
            </a:r>
            <a:r>
              <a:rPr sz="1419" b="0" i="0">
                <a:solidFill>
                  <a:srgbClr val="FFFFFF"/>
                </a:solidFill>
                <a:latin typeface="Courier New"/>
                <a:ea typeface="Courier New"/>
                <a:cs typeface="Courier New"/>
                <a:sym typeface="Courier New"/>
              </a:rPr>
              <a:t>False</a:t>
            </a:r>
            <a:r>
              <a:rPr sz="1650" b="0" i="0">
                <a:solidFill>
                  <a:srgbClr val="FFFFFF"/>
                </a:solidFill>
                <a:latin typeface="Avenir"/>
                <a:ea typeface="Avenir"/>
                <a:cs typeface="Avenir"/>
                <a:sym typeface="Avenir"/>
              </a:rPr>
              <a:t> and leaves the old coordinates in place. </a:t>
            </a:r>
            <a:r>
              <a:rPr sz="1419" b="0" i="0">
                <a:solidFill>
                  <a:srgbClr val="FFFFFF"/>
                </a:solidFill>
                <a:latin typeface="Courier New"/>
                <a:ea typeface="Courier New"/>
                <a:cs typeface="Courier New"/>
                <a:sym typeface="Courier New"/>
              </a:rPr>
              <a:t>transform_frame</a:t>
            </a:r>
            <a:r>
              <a:rPr sz="1650" b="0" i="0">
                <a:solidFill>
                  <a:srgbClr val="FFFFFF"/>
                </a:solidFill>
                <a:latin typeface="Avenir"/>
                <a:ea typeface="Avenir"/>
                <a:cs typeface="Avenir"/>
                <a:sym typeface="Avenir"/>
              </a:rPr>
              <a:t> then falls back to the whole enlarged picture rather than failing. That fallback is deliberate: the model still works, it just sees more than it should.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20</a:t>
            </a:r>
          </a:p>
        </p:txBody>
      </p:sp>
      <p:sp>
        <p:nvSpPr>
          <p:cNvPr id="3" name="blk018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call that does the work:</a:t>
            </a:r>
          </a:p>
        </p:txBody>
      </p:sp>
      <p:sp>
        <p:nvSpPr>
          <p:cNvPr id="4" name="blk0187"/>
          <p:cNvSpPr/>
          <p:nvPr/>
        </p:nvSpPr>
        <p:spPr>
          <a:xfrm>
            <a:off x="687600" y="2088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7"/>
          <p:cNvSpPr txBox="1"/>
          <p:nvPr/>
        </p:nvSpPr>
        <p:spPr>
          <a:xfrm>
            <a:off x="910799" y="2250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display_frame, log_info = vision.yolo_detect(cropped_frame)</a:t>
            </a:r>
          </a:p>
        </p:txBody>
      </p:sp>
      <p:sp>
        <p:nvSpPr>
          <p:cNvPr id="6" name="blk0188"/>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Same shape as every project in this module: two return values, unpacked into two names. One for the window, one for the terminal.</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terminal line below it is already written, and it is filtered the same way as before:</a:t>
            </a:r>
          </a:p>
        </p:txBody>
      </p:sp>
      <p:sp>
        <p:nvSpPr>
          <p:cNvPr id="7" name="blk0189"/>
          <p:cNvSpPr/>
          <p:nvPr/>
        </p:nvSpPr>
        <p:spPr>
          <a:xfrm>
            <a:off x="687600" y="4860605"/>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9"/>
          <p:cNvSpPr txBox="1"/>
          <p:nvPr/>
        </p:nvSpPr>
        <p:spPr>
          <a:xfrm>
            <a:off x="910799" y="5022605"/>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if "Searching" not in log_info and "No Frame" not in log_info:</a:t>
            </a:r>
          </a:p>
          <a:p>
            <a:pPr algn="l">
              <a:lnSpc>
                <a:spcPct val="115000"/>
              </a:lnSpc>
            </a:pPr>
            <a:r>
              <a:rPr sz="1300" b="0" i="0">
                <a:solidFill>
                  <a:srgbClr val="FFFFFF"/>
                </a:solidFill>
                <a:latin typeface="Courier New"/>
                <a:ea typeface="Courier New"/>
                <a:cs typeface="Courier New"/>
                <a:sym typeface="Courier New"/>
              </a:rPr>
              <a:t>    print(f"\r[YOLOv5] {log_info}", end="")</a:t>
            </a:r>
          </a:p>
        </p:txBody>
      </p:sp>
      <p:sp>
        <p:nvSpPr>
          <p:cNvPr id="9" name="blk0190"/>
          <p:cNvSpPr txBox="1"/>
          <p:nvPr/>
        </p:nvSpPr>
        <p:spPr>
          <a:xfrm>
            <a:off x="687600" y="5722767"/>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what is </a:t>
            </a:r>
            <a:r>
              <a:rPr sz="1650" b="0" i="1">
                <a:solidFill>
                  <a:srgbClr val="FFCF08"/>
                </a:solidFill>
                <a:latin typeface="Avenir"/>
                <a:ea typeface="Avenir"/>
                <a:cs typeface="Avenir"/>
                <a:sym typeface="Avenir"/>
              </a:rPr>
              <a:t>not</a:t>
            </a:r>
            <a:r>
              <a:rPr sz="1650" b="0" i="0">
                <a:solidFill>
                  <a:srgbClr val="FFFFFF"/>
                </a:solidFill>
                <a:latin typeface="Avenir"/>
                <a:ea typeface="Avenir"/>
                <a:cs typeface="Avenir"/>
                <a:sym typeface="Avenir"/>
              </a:rPr>
              <a:t> filtered out. </a:t>
            </a:r>
            <a:r>
              <a:rPr sz="1419" b="0" i="0">
                <a:solidFill>
                  <a:srgbClr val="FFFFFF"/>
                </a:solidFill>
                <a:latin typeface="Courier New"/>
                <a:ea typeface="Courier New"/>
                <a:cs typeface="Courier New"/>
                <a:sym typeface="Courier New"/>
              </a:rPr>
              <a:t>"YOLO Model Not Loaded"</a:t>
            </a:r>
            <a:r>
              <a:rPr sz="1650" b="0" i="0">
                <a:solidFill>
                  <a:srgbClr val="FFFFFF"/>
                </a:solidFill>
                <a:latin typeface="Avenir"/>
                <a:ea typeface="Avenir"/>
                <a:cs typeface="Avenir"/>
                <a:sym typeface="Avenir"/>
              </a:rPr>
              <a:t> deliberately passes through this test and prints, because it is the one message you must never miss. Filtering on two specific strings leaves room for the rest to speak.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21</a:t>
            </a:r>
          </a:p>
        </p:txBody>
      </p:sp>
      <p:sp>
        <p:nvSpPr>
          <p:cNvPr id="3" name="blk01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final TODO. Show the picture:</a:t>
            </a:r>
          </a:p>
        </p:txBody>
      </p:sp>
      <p:sp>
        <p:nvSpPr>
          <p:cNvPr id="4" name="blk0193"/>
          <p:cNvSpPr/>
          <p:nvPr/>
        </p:nvSpPr>
        <p:spPr>
          <a:xfrm>
            <a:off x="687600" y="2088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3"/>
          <p:cNvSpPr txBox="1"/>
          <p:nvPr/>
        </p:nvSpPr>
        <p:spPr>
          <a:xfrm>
            <a:off x="910799" y="2250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if display_frame is not None and display_frame.size &gt; 0:</a:t>
            </a:r>
          </a:p>
          <a:p>
            <a:pPr algn="l">
              <a:lnSpc>
                <a:spcPct val="115000"/>
              </a:lnSpc>
            </a:pPr>
            <a:r>
              <a:rPr sz="1400" b="0" i="0">
                <a:solidFill>
                  <a:srgbClr val="FFFFFF"/>
                </a:solidFill>
                <a:latin typeface="Courier New"/>
                <a:ea typeface="Courier New"/>
                <a:cs typeface="Courier New"/>
                <a:sym typeface="Courier New"/>
              </a:rPr>
              <a:t>    cv2.imshow("YOLOv5 Object Detection", display_frame)</a:t>
            </a:r>
          </a:p>
        </p:txBody>
      </p:sp>
      <p:sp>
        <p:nvSpPr>
          <p:cNvPr id="6" name="blk0194"/>
          <p:cNvSpPr txBox="1"/>
          <p:nvPr/>
        </p:nvSpPr>
        <p:spPr>
          <a:xfrm>
            <a:off x="687600" y="3240000"/>
            <a:ext cx="7542000" cy="438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Identical in shape to Project 2, with a different window title. That title is the first thing to look for when the program seems to be doing nothing, so name it after what is in the window.</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Then the shutdown, which for this project means stopping a thread as well as closing a camera:</a:t>
            </a:r>
          </a:p>
        </p:txBody>
      </p:sp>
      <p:sp>
        <p:nvSpPr>
          <p:cNvPr id="7" name="blk0195"/>
          <p:cNvSpPr/>
          <p:nvPr/>
        </p:nvSpPr>
        <p:spPr>
          <a:xfrm>
            <a:off x="687600" y="545752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95"/>
          <p:cNvSpPr txBox="1"/>
          <p:nvPr/>
        </p:nvSpPr>
        <p:spPr>
          <a:xfrm>
            <a:off x="910799" y="561952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cap.release()</a:t>
            </a:r>
          </a:p>
          <a:p>
            <a:pPr algn="l">
              <a:lnSpc>
                <a:spcPct val="115000"/>
              </a:lnSpc>
            </a:pPr>
            <a:r>
              <a:rPr sz="1400" b="0" i="0">
                <a:solidFill>
                  <a:srgbClr val="FFFFFF"/>
                </a:solidFill>
                <a:latin typeface="Courier New"/>
                <a:ea typeface="Courier New"/>
                <a:cs typeface="Courier New"/>
                <a:sym typeface="Courier New"/>
              </a:rPr>
              <a:t>cv2.destroyAllWindows()</a:t>
            </a:r>
          </a:p>
        </p:txBody>
      </p:sp>
      <p:sp>
        <p:nvSpPr>
          <p:cNvPr id="9" name="blk0196"/>
          <p:cNvSpPr txBox="1"/>
          <p:nvPr/>
        </p:nvSpPr>
        <p:spPr>
          <a:xfrm>
            <a:off x="687600" y="6352772"/>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a:t>
            </a:r>
            <a:r>
              <a:rPr sz="1419" b="0" i="0">
                <a:solidFill>
                  <a:srgbClr val="FFFFFF"/>
                </a:solidFill>
                <a:latin typeface="Courier New"/>
                <a:ea typeface="Courier New"/>
                <a:cs typeface="Courier New"/>
                <a:sym typeface="Courier New"/>
              </a:rPr>
              <a:t>cap</a:t>
            </a:r>
            <a:r>
              <a:rPr sz="1650" b="0" i="0">
                <a:solidFill>
                  <a:srgbClr val="FFFFFF"/>
                </a:solidFill>
                <a:latin typeface="Avenir"/>
                <a:ea typeface="Avenir"/>
                <a:cs typeface="Avenir"/>
                <a:sym typeface="Avenir"/>
              </a:rPr>
              <a:t> is a </a:t>
            </a:r>
            <a:r>
              <a:rPr sz="1419" b="0" i="0">
                <a:solidFill>
                  <a:srgbClr val="FFFFFF"/>
                </a:solidFill>
                <a:latin typeface="Courier New"/>
                <a:ea typeface="Courier New"/>
                <a:cs typeface="Courier New"/>
                <a:sym typeface="Courier New"/>
              </a:rPr>
              <a:t>ThreadedCamera</a:t>
            </a:r>
            <a:r>
              <a:rPr sz="1650" b="0" i="0">
                <a:solidFill>
                  <a:srgbClr val="FFFFFF"/>
                </a:solidFill>
                <a:latin typeface="Avenir"/>
                <a:ea typeface="Avenir"/>
                <a:cs typeface="Avenir"/>
                <a:sym typeface="Avenir"/>
              </a:rPr>
              <a:t>, </a:t>
            </a:r>
            <a:r>
              <a:rPr sz="1419" b="0" i="0">
                <a:solidFill>
                  <a:srgbClr val="FFFFFF"/>
                </a:solidFill>
                <a:latin typeface="Courier New"/>
                <a:ea typeface="Courier New"/>
                <a:cs typeface="Courier New"/>
                <a:sym typeface="Courier New"/>
              </a:rPr>
              <a:t>release</a:t>
            </a:r>
            <a:r>
              <a:rPr sz="1650" b="0" i="0">
                <a:solidFill>
                  <a:srgbClr val="FFFFFF"/>
                </a:solidFill>
                <a:latin typeface="Avenir"/>
                <a:ea typeface="Avenir"/>
                <a:cs typeface="Avenir"/>
                <a:sym typeface="Avenir"/>
              </a:rPr>
              <a:t> now stops the background thread before closing the camera — exactly the polite shutdown from the concepts section. </a:t>
            </a:r>
            <a:r>
              <a:rPr sz="1419" b="0" i="0">
                <a:solidFill>
                  <a:srgbClr val="FFFFFF"/>
                </a:solidFill>
                <a:latin typeface="Courier New"/>
                <a:ea typeface="Courier New"/>
                <a:cs typeface="Courier New"/>
                <a:sym typeface="Courier New"/>
              </a:rPr>
              <a:t>cv2.destroyAllWindows()</a:t>
            </a:r>
            <a:r>
              <a:rPr sz="1650" b="0" i="0">
                <a:solidFill>
                  <a:srgbClr val="FFFFFF"/>
                </a:solidFill>
                <a:latin typeface="Avenir"/>
                <a:ea typeface="Avenir"/>
                <a:cs typeface="Avenir"/>
                <a:sym typeface="Avenir"/>
              </a:rPr>
              <a:t> would not do it for you.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a:t>
            </a:r>
            <a:r>
              <a:rPr sz="2827" b="0" i="0">
                <a:solidFill>
                  <a:srgbClr val="FFFFFF"/>
                </a:solidFill>
                <a:latin typeface="Bungee"/>
                <a:ea typeface="Bungee"/>
                <a:cs typeface="Bungee"/>
                <a:sym typeface="Bungee"/>
              </a:rPr>
              <a:t>output</a:t>
            </a:r>
          </a:p>
        </p:txBody>
      </p:sp>
      <p:sp>
        <p:nvSpPr>
          <p:cNvPr id="3" name="blk0198"/>
          <p:cNvSpPr/>
          <p:nvPr/>
        </p:nvSpPr>
        <p:spPr>
          <a:xfrm>
            <a:off x="687600" y="165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98"/>
          <p:cNvSpPr txBox="1"/>
          <p:nvPr/>
        </p:nvSpPr>
        <p:spPr>
          <a:xfrm>
            <a:off x="910799" y="181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status_msg = f"Detected: {', '.join(detected_names)}"</a:t>
            </a:r>
          </a:p>
        </p:txBody>
      </p:sp>
      <p:sp>
        <p:nvSpPr>
          <p:cNvPr id="5" name="blk0199"/>
          <p:cNvSpPr txBox="1"/>
          <p:nvPr/>
        </p:nvSpPr>
        <p:spPr>
          <a:xfrm>
            <a:off x="687600" y="2664000"/>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listing everything currently on the board:</a:t>
            </a:r>
          </a:p>
        </p:txBody>
      </p:sp>
      <p:sp>
        <p:nvSpPr>
          <p:cNvPr id="6" name="blk0200"/>
          <p:cNvSpPr/>
          <p:nvPr/>
        </p:nvSpPr>
        <p:spPr>
          <a:xfrm>
            <a:off x="687600" y="3240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00"/>
          <p:cNvSpPr txBox="1"/>
          <p:nvPr/>
        </p:nvSpPr>
        <p:spPr>
          <a:xfrm>
            <a:off x="910799" y="3401999"/>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Detected: cup 0.87, scissors 0.52</a:t>
            </a:r>
          </a:p>
        </p:txBody>
      </p:sp>
      <p:sp>
        <p:nvSpPr>
          <p:cNvPr id="8" name="blk0201"/>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box on screen appears here as a name and a number. </a:t>
            </a:r>
            <a:r>
              <a:rPr sz="1743" b="0" i="0">
                <a:solidFill>
                  <a:srgbClr val="FFFFFF"/>
                </a:solidFill>
                <a:latin typeface="Courier New"/>
                <a:ea typeface="Courier New"/>
                <a:cs typeface="Courier New"/>
                <a:sym typeface="Courier New"/>
              </a:rPr>
              <a:t>join</a:t>
            </a:r>
            <a:r>
              <a:rPr sz="2027" b="0" i="0">
                <a:solidFill>
                  <a:srgbClr val="FFFFFF"/>
                </a:solidFill>
                <a:latin typeface="Avenir"/>
                <a:ea typeface="Avenir"/>
                <a:cs typeface="Avenir"/>
                <a:sym typeface="Avenir"/>
              </a:rPr>
              <a:t> glues a Python list into one readable string with commas and spaces — the kind of small detail that makes a log worth keeping.</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While nothing is recognised the line reads </a:t>
            </a:r>
            <a:r>
              <a:rPr sz="1743" b="0" i="0">
                <a:solidFill>
                  <a:srgbClr val="FFFFFF"/>
                </a:solidFill>
                <a:latin typeface="Courier New"/>
                <a:ea typeface="Courier New"/>
                <a:cs typeface="Courier New"/>
                <a:sym typeface="Courier New"/>
              </a:rPr>
              <a:t>Searching...</a:t>
            </a:r>
            <a:r>
              <a:rPr sz="2027" b="0" i="0">
                <a:solidFill>
                  <a:srgbClr val="FFFFFF"/>
                </a:solidFill>
                <a:latin typeface="Avenir"/>
                <a:ea typeface="Avenir"/>
                <a:cs typeface="Avenir"/>
                <a:sym typeface="Avenir"/>
              </a:rPr>
              <a:t>, and if the model is missing it reads </a:t>
            </a:r>
            <a:r>
              <a:rPr sz="1743" b="0" i="0">
                <a:solidFill>
                  <a:srgbClr val="FFFFFF"/>
                </a:solidFill>
                <a:latin typeface="Courier New"/>
                <a:ea typeface="Courier New"/>
                <a:cs typeface="Courier New"/>
                <a:sym typeface="Courier New"/>
              </a:rPr>
              <a:t>YOLO Model Not Loaded</a:t>
            </a:r>
            <a:r>
              <a:rPr sz="2027" b="0" i="0">
                <a:solidFill>
                  <a:srgbClr val="FFFFFF"/>
                </a:solidFill>
                <a:latin typeface="Avenir"/>
                <a:ea typeface="Avenir"/>
                <a:cs typeface="Avenir"/>
                <a:sym typeface="Avenir"/>
              </a:rPr>
              <a:t> and keeps going. Learn those two by sight.</a:t>
            </a:r>
          </a:p>
        </p:txBody>
      </p:sp>
      <p:sp>
        <p:nvSpPr>
          <p:cNvPr id="9" name="blk0202"/>
          <p:cNvSpPr txBox="1"/>
          <p:nvPr/>
        </p:nvSpPr>
        <p:spPr>
          <a:xfrm>
            <a:off x="687600" y="6630435"/>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confidences are the whole subject of the next slide. A detection at 0.87 and one at 0.52 are both "Detected" — worth knowing the difference before you let an arm act.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tune </a:t>
            </a:r>
            <a:r>
              <a:rPr sz="2827" b="0" i="0">
                <a:solidFill>
                  <a:srgbClr val="FFFFFF"/>
                </a:solidFill>
                <a:latin typeface="Bungee"/>
                <a:ea typeface="Bungee"/>
                <a:cs typeface="Bungee"/>
                <a:sym typeface="Bungee"/>
              </a:rPr>
              <a:t>anything</a:t>
            </a:r>
          </a:p>
        </p:txBody>
      </p:sp>
      <p:graphicFrame>
        <p:nvGraphicFramePr>
          <p:cNvPr id="3" name="blk0204"/>
          <p:cNvGraphicFramePr>
            <a:graphicFrameLocks noGrp="1"/>
          </p:cNvGraphicFramePr>
          <p:nvPr/>
        </p:nvGraphicFramePr>
        <p:xfrm>
          <a:off x="687600" y="1728000"/>
          <a:ext cx="8640000" cy="3347993"/>
        </p:xfrm>
        <a:graphic>
          <a:graphicData uri="http://schemas.openxmlformats.org/drawingml/2006/table">
            <a:tbl>
              <a:tblPr firstRow="0" bandRow="0"/>
              <a:tblGrid>
                <a:gridCol w="2592000"/>
                <a:gridCol w="3456000"/>
                <a:gridCol w="2592000"/>
              </a:tblGrid>
              <a:tr h="450000">
                <a:tc>
                  <a:txBody>
                    <a:bodyPr wrap="square"/>
                    <a:lstStyle/>
                    <a:p>
                      <a:pPr algn="l">
                        <a:lnSpc>
                          <a:spcPct val="100000"/>
                        </a:lnSpc>
                      </a:pPr>
                      <a:r>
                        <a:rPr sz="1350" b="1" i="0">
                          <a:solidFill>
                            <a:srgbClr val="FFCF08"/>
                          </a:solidFill>
                          <a:latin typeface="Avenir"/>
                          <a:ea typeface="Avenir"/>
                          <a:cs typeface="Avenir"/>
                          <a:sym typeface="Avenir"/>
                        </a:rPr>
                        <a:t>Symptom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Most likely cause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Check</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YOLO Model Not Loaded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yolov5s.onnx not beside your script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Copy the model across too</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Boxes labelled with numbers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coco.names missing or empty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Check Step 8 ran</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Boxes in the wrong place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Boxes not scaled to the cropped image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Re-read the x_factor step</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One object, several boxes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nms_thresh too high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Lower it, 0.45 to 0.3</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Flickering on and off</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conf_thresh too high for this object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Lower it and log the values</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Box around the arm itself</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arm is in shot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Fold it out of the picture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Nothing, ever</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Object is not one of the 80 classes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Read the label list</a:t>
                      </a:r>
                    </a:p>
                  </a:txBody>
                  <a:tcPr marL="72000" marR="72000" marT="36000" marB="36000" anchor="ctr">
                    <a:solidFill>
                      <a:srgbClr val="2E338C"/>
                    </a:solidFill>
                  </a:tcPr>
                </a:tc>
              </a:tr>
            </a:tbl>
          </a:graphicData>
        </a:graphic>
      </p:graphicFrame>
      <p:sp>
        <p:nvSpPr>
          <p:cNvPr id="4" name="blk0205"/>
          <p:cNvSpPr txBox="1"/>
          <p:nvPr/>
        </p:nvSpPr>
        <p:spPr>
          <a:xfrm>
            <a:off x="687600" y="5544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Five of those seven are mistakes you can make in the first ten minutes and check in the first ten seconds. Read the list before you tune anything — several of these symptoms get worse as you lower thresholds, which is exactly the wrong direction.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a threshold </a:t>
            </a:r>
            <a:r>
              <a:rPr sz="2827" b="0" i="0">
                <a:solidFill>
                  <a:srgbClr val="FFFFFF"/>
                </a:solidFill>
                <a:latin typeface="Bungee"/>
                <a:ea typeface="Bungee"/>
                <a:cs typeface="Bungee"/>
                <a:sym typeface="Bungee"/>
              </a:rPr>
              <a:t>actually</a:t>
            </a:r>
            <a:r>
              <a:rPr sz="2827" b="0" i="0">
                <a:solidFill>
                  <a:srgbClr val="FFFFFF"/>
                </a:solidFill>
                <a:latin typeface="Bungee"/>
                <a:ea typeface="Bungee"/>
                <a:cs typeface="Bungee"/>
                <a:sym typeface="Bungee"/>
              </a:rPr>
              <a:t> costs</a:t>
            </a:r>
          </a:p>
        </p:txBody>
      </p:sp>
      <p:sp>
        <p:nvSpPr>
          <p:cNvPr id="3" name="blk02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Before you change any number, write down what it costs you. There are three failure modes and they pull in different directions.</a:t>
            </a:r>
          </a:p>
        </p:txBody>
      </p:sp>
      <p:graphicFrame>
        <p:nvGraphicFramePr>
          <p:cNvPr id="4" name="blk0208"/>
          <p:cNvGraphicFramePr>
            <a:graphicFrameLocks noGrp="1"/>
          </p:cNvGraphicFramePr>
          <p:nvPr/>
        </p:nvGraphicFramePr>
        <p:xfrm>
          <a:off x="687600" y="2664000"/>
          <a:ext cx="8639999" cy="1691997"/>
        </p:xfrm>
        <a:graphic>
          <a:graphicData uri="http://schemas.openxmlformats.org/drawingml/2006/table">
            <a:tbl>
              <a:tblPr firstRow="0" bandRow="0"/>
              <a:tblGrid>
                <a:gridCol w="2304000"/>
                <a:gridCol w="3311999"/>
                <a:gridCol w="3024000"/>
              </a:tblGrid>
              <a:tr h="450000">
                <a:tc>
                  <a:txBody>
                    <a:bodyPr wrap="square"/>
                    <a:lstStyle/>
                    <a:p>
                      <a:pPr algn="l">
                        <a:lnSpc>
                          <a:spcPct val="100000"/>
                        </a:lnSpc>
                      </a:pPr>
                      <a:r>
                        <a:rPr sz="1350" b="1" i="0">
                          <a:solidFill>
                            <a:srgbClr val="FFCF08"/>
                          </a:solidFill>
                          <a:latin typeface="Avenir"/>
                          <a:ea typeface="Avenir"/>
                          <a:cs typeface="Avenir"/>
                          <a:sym typeface="Avenir"/>
                        </a:rPr>
                        <a:t>If you...</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You will see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And you will lose</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Lower conf_thresh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More detections overall</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Real confidence in them</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Raise conf_thresh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Cleaner, steadier output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Faint or unusual objects</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Lower nms_thresh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One box per object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Two genuinely close objects</a:t>
                      </a:r>
                    </a:p>
                  </a:txBody>
                  <a:tcPr marL="72000" marR="72000" marT="36000" marB="36000" anchor="ctr">
                    <a:solidFill>
                      <a:srgbClr val="2E338C"/>
                    </a:solidFill>
                  </a:tcPr>
                </a:tc>
              </a:tr>
            </a:tbl>
          </a:graphicData>
        </a:graphic>
      </p:graphicFrame>
      <p:sp>
        <p:nvSpPr>
          <p:cNvPr id="5" name="blk0209"/>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There is no setting that is right for every object on every board. The honest process is to choose numbers, write down what they got wrong, and change one at a time.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Changing three thresholds at once and finding that the output looks better tells you nothing about which change did it. Change one, retest, record. That is the whole discipline.</a:t>
            </a:r>
          </a:p>
        </p:txBody>
      </p:sp>
      <p:sp>
        <p:nvSpPr>
          <p:cNvPr id="6" name="blk0210"/>
          <p:cNvSpPr/>
          <p:nvPr/>
        </p:nvSpPr>
        <p:spPr>
          <a:xfrm>
            <a:off x="687600" y="668152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10"/>
          <p:cNvSpPr/>
          <p:nvPr/>
        </p:nvSpPr>
        <p:spPr>
          <a:xfrm>
            <a:off x="885600" y="69954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10"/>
          <p:cNvSpPr txBox="1"/>
          <p:nvPr/>
        </p:nvSpPr>
        <p:spPr>
          <a:xfrm>
            <a:off x="1162800" y="682552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model will always answer, even when it is guessing. The thresholds are not there to make it right — they are there to make it honest.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5119200" y="824400"/>
            <a:ext cx="4572000" cy="4204800"/>
          </a:xfrm>
          <a:prstGeom prst="rect">
            <a:avLst/>
          </a:prstGeom>
          <a:noFill/>
        </p:spPr>
        <p:txBody>
          <a:bodyPr wrap="square" anchor="t" lIns="0" rIns="0" tIns="0" bIns="0">
            <a:noAutofit/>
          </a:bodyPr>
          <a:lstStyle/>
          <a:p>
            <a:pPr algn="ctr"/>
            <a:r>
              <a:rPr sz="26000" b="0" i="0">
                <a:solidFill>
                  <a:srgbClr val="383E96"/>
                </a:solidFill>
                <a:latin typeface="Bungee"/>
                <a:ea typeface="Bungee"/>
                <a:cs typeface="Bungee"/>
                <a:sym typeface="Bungee"/>
              </a:rPr>
              <a:t>1</a:t>
            </a:r>
          </a:p>
        </p:txBody>
      </p:sp>
      <p:sp>
        <p:nvSpPr>
          <p:cNvPr id="3" name="TextBox 2"/>
          <p:cNvSpPr txBox="1"/>
          <p:nvPr/>
        </p:nvSpPr>
        <p:spPr>
          <a:xfrm>
            <a:off x="687600" y="5688000"/>
            <a:ext cx="8960400" cy="604800"/>
          </a:xfrm>
          <a:prstGeom prst="rect">
            <a:avLst/>
          </a:prstGeom>
          <a:noFill/>
        </p:spPr>
        <p:txBody>
          <a:bodyPr wrap="square" anchor="t" lIns="0" rIns="0" tIns="0" bIns="0">
            <a:noAutofit/>
          </a:bodyPr>
          <a:lstStyle/>
          <a:p>
            <a:pPr algn="l"/>
            <a:r>
              <a:rPr sz="3200" b="0" i="0">
                <a:solidFill>
                  <a:srgbClr val="FFCF08"/>
                </a:solidFill>
                <a:latin typeface="Bungee"/>
                <a:ea typeface="Bungee"/>
                <a:cs typeface="Bungee"/>
                <a:sym typeface="Bungee"/>
              </a:rPr>
              <a:t>EXTENSION 1</a:t>
            </a:r>
          </a:p>
        </p:txBody>
      </p:sp>
      <p:sp>
        <p:nvSpPr>
          <p:cNvPr id="4" name="TextBox 3"/>
          <p:cNvSpPr txBox="1"/>
          <p:nvPr/>
        </p:nvSpPr>
        <p:spPr>
          <a:xfrm>
            <a:off x="687600" y="6328799"/>
            <a:ext cx="8960400" cy="658800"/>
          </a:xfrm>
          <a:prstGeom prst="rect">
            <a:avLst/>
          </a:prstGeom>
          <a:noFill/>
        </p:spPr>
        <p:txBody>
          <a:bodyPr wrap="square" anchor="t" lIns="0" rIns="0" tIns="0" bIns="0">
            <a:noAutofit/>
          </a:bodyPr>
          <a:lstStyle/>
          <a:p>
            <a:pPr algn="l"/>
            <a:r>
              <a:rPr sz="3400" b="0" i="0">
                <a:solidFill>
                  <a:srgbClr val="FFFFFF"/>
                </a:solidFill>
                <a:latin typeface="Bungee"/>
                <a:ea typeface="Bungee"/>
                <a:cs typeface="Bungee"/>
                <a:sym typeface="Bungee"/>
              </a:rPr>
              <a:t>REJECT, DO NOT GUESS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1"/>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THE </a:t>
            </a:r>
            <a:r>
              <a:rPr sz="2400" b="0" i="0">
                <a:solidFill>
                  <a:srgbClr val="FFFFFF"/>
                </a:solidFill>
                <a:latin typeface="Bungee"/>
                <a:ea typeface="Bungee"/>
                <a:cs typeface="Bungee"/>
                <a:sym typeface="Bungee"/>
              </a:rPr>
              <a:t>BRIEF</a:t>
            </a:r>
          </a:p>
        </p:txBody>
      </p:sp>
      <p:sp>
        <p:nvSpPr>
          <p:cNvPr id="3" name="blk0212"/>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Your program currently trusts every box it draws. A real machine cannot afford to act on a guess.</a:t>
            </a:r>
          </a:p>
        </p:txBody>
      </p:sp>
      <p:sp>
        <p:nvSpPr>
          <p:cNvPr id="4" name="blk0213"/>
          <p:cNvSpPr txBox="1"/>
          <p:nvPr/>
        </p:nvSpPr>
        <p:spPr>
          <a:xfrm>
            <a:off x="687600" y="23760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Add the discipline a detection system needs before it is allowed to move anything: a confidence gate, a rule about agreement over time, and a record of everything it refused.</a:t>
            </a:r>
          </a:p>
        </p:txBody>
      </p:sp>
      <p:sp>
        <p:nvSpPr>
          <p:cNvPr id="5" name="blk0214"/>
          <p:cNvSpPr/>
          <p:nvPr/>
        </p:nvSpPr>
        <p:spPr>
          <a:xfrm>
            <a:off x="687600" y="378000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14"/>
          <p:cNvSpPr/>
          <p:nvPr/>
        </p:nvSpPr>
        <p:spPr>
          <a:xfrm>
            <a:off x="885600" y="41508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14"/>
          <p:cNvSpPr txBox="1"/>
          <p:nvPr/>
        </p:nvSpPr>
        <p:spPr>
          <a:xfrm>
            <a:off x="1162800" y="3924000"/>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system that says “I am not sure” is far more useful to an engineer than one that never does. Your job is to earn the right to act.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5"/>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MISSION: </a:t>
            </a:r>
            <a:r>
              <a:rPr sz="2400" b="0" i="0">
                <a:solidFill>
                  <a:srgbClr val="FFFFFF"/>
                </a:solidFill>
                <a:latin typeface="Bungee"/>
                <a:ea typeface="Bungee"/>
                <a:cs typeface="Bungee"/>
                <a:sym typeface="Bungee"/>
              </a:rPr>
              <a:t>REJECT, DO NOT GUESS</a:t>
            </a:r>
          </a:p>
        </p:txBody>
      </p:sp>
      <p:sp>
        <p:nvSpPr>
          <p:cNvPr id="3" name="blk0216"/>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Turn a confident-looking detector into one you would let near an arm.</a:t>
            </a:r>
          </a:p>
        </p:txBody>
      </p:sp>
      <p:sp>
        <p:nvSpPr>
          <p:cNvPr id="4" name="blk0217"/>
          <p:cNvSpPr/>
          <p:nvPr/>
        </p:nvSpPr>
        <p:spPr>
          <a:xfrm>
            <a:off x="687600" y="1908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17"/>
          <p:cNvSpPr txBox="1"/>
          <p:nvPr/>
        </p:nvSpPr>
        <p:spPr>
          <a:xfrm>
            <a:off x="687600" y="1908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217"/>
          <p:cNvSpPr txBox="1"/>
          <p:nvPr/>
        </p:nvSpPr>
        <p:spPr>
          <a:xfrm>
            <a:off x="1252800" y="1886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Set your own accept threshold</a:t>
            </a:r>
          </a:p>
        </p:txBody>
      </p:sp>
      <p:sp>
        <p:nvSpPr>
          <p:cNvPr id="7" name="blk0217"/>
          <p:cNvSpPr txBox="1"/>
          <p:nvPr/>
        </p:nvSpPr>
        <p:spPr>
          <a:xfrm>
            <a:off x="1252800" y="2206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Pick a confidence you are willing to act on and write down why. Then find the lowest number that still catches every object on your board without false positives. One number, defended in a sentence.</a:t>
            </a:r>
          </a:p>
        </p:txBody>
      </p:sp>
      <p:sp>
        <p:nvSpPr>
          <p:cNvPr id="8" name="blk0218"/>
          <p:cNvSpPr/>
          <p:nvPr/>
        </p:nvSpPr>
        <p:spPr>
          <a:xfrm>
            <a:off x="687600" y="31593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18"/>
          <p:cNvSpPr txBox="1"/>
          <p:nvPr/>
        </p:nvSpPr>
        <p:spPr>
          <a:xfrm>
            <a:off x="687600" y="31593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218"/>
          <p:cNvSpPr txBox="1"/>
          <p:nvPr/>
        </p:nvSpPr>
        <p:spPr>
          <a:xfrm>
            <a:off x="1252800" y="31377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Demand agreement over time</a:t>
            </a:r>
          </a:p>
        </p:txBody>
      </p:sp>
      <p:sp>
        <p:nvSpPr>
          <p:cNvPr id="11" name="blk0218"/>
          <p:cNvSpPr txBox="1"/>
          <p:nvPr/>
        </p:nvSpPr>
        <p:spPr>
          <a:xfrm>
            <a:off x="1252800" y="345816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 single frame can lie. Require the same class, in roughly the same place, on two or three consecutive frames before you accept it. This is the single cheapest accuracy improvement available to you, and it is how real detection systems avoid acting on a flicker.</a:t>
            </a:r>
          </a:p>
        </p:txBody>
      </p:sp>
      <p:sp>
        <p:nvSpPr>
          <p:cNvPr id="12" name="blk0219"/>
          <p:cNvSpPr/>
          <p:nvPr/>
        </p:nvSpPr>
        <p:spPr>
          <a:xfrm>
            <a:off x="687600" y="46850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19"/>
          <p:cNvSpPr txBox="1"/>
          <p:nvPr/>
        </p:nvSpPr>
        <p:spPr>
          <a:xfrm>
            <a:off x="687600" y="46850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219"/>
          <p:cNvSpPr txBox="1"/>
          <p:nvPr/>
        </p:nvSpPr>
        <p:spPr>
          <a:xfrm>
            <a:off x="1252800" y="46634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Log every rejection</a:t>
            </a:r>
          </a:p>
        </p:txBody>
      </p:sp>
      <p:sp>
        <p:nvSpPr>
          <p:cNvPr id="15" name="blk0219"/>
          <p:cNvSpPr txBox="1"/>
          <p:nvPr/>
        </p:nvSpPr>
        <p:spPr>
          <a:xfrm>
            <a:off x="1252800" y="498384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Record what you refused and why — low confidence, changed class, moved too far. Ten minutes of logs shows which objects the model finds hardest.</a:t>
            </a:r>
          </a:p>
        </p:txBody>
      </p:sp>
      <p:sp>
        <p:nvSpPr>
          <p:cNvPr id="16" name="blk0220"/>
          <p:cNvSpPr/>
          <p:nvPr/>
        </p:nvSpPr>
        <p:spPr>
          <a:xfrm>
            <a:off x="687600" y="566208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220"/>
          <p:cNvSpPr txBox="1"/>
          <p:nvPr/>
        </p:nvSpPr>
        <p:spPr>
          <a:xfrm>
            <a:off x="687600" y="566208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220"/>
          <p:cNvSpPr txBox="1"/>
          <p:nvPr/>
        </p:nvSpPr>
        <p:spPr>
          <a:xfrm>
            <a:off x="1252800" y="564048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Hand it over</a:t>
            </a:r>
          </a:p>
        </p:txBody>
      </p:sp>
      <p:sp>
        <p:nvSpPr>
          <p:cNvPr id="19" name="blk0220"/>
          <p:cNvSpPr txBox="1"/>
          <p:nvPr/>
        </p:nvSpPr>
        <p:spPr>
          <a:xfrm>
            <a:off x="1252800" y="596088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Write the handover page: your accept threshold, your agreement rule, what the rejection log told you, and one improvement you would add.</a:t>
            </a:r>
          </a:p>
        </p:txBody>
      </p:sp>
      <p:sp>
        <p:nvSpPr>
          <p:cNvPr id="20" name="blk0221"/>
          <p:cNvSpPr/>
          <p:nvPr/>
        </p:nvSpPr>
        <p:spPr>
          <a:xfrm>
            <a:off x="687600" y="661752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221"/>
          <p:cNvSpPr/>
          <p:nvPr/>
        </p:nvSpPr>
        <p:spPr>
          <a:xfrm>
            <a:off x="885600" y="69883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221"/>
          <p:cNvSpPr txBox="1"/>
          <p:nvPr/>
        </p:nvSpPr>
        <p:spPr>
          <a:xfrm>
            <a:off x="1162800" y="6761519"/>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Implement your gate in the decision logic, not by raising a threshold until the noise disappears. One hides the symptom; the other records the problem.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2"/>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a:t>
            </a:r>
            <a:r>
              <a:rPr sz="2400" b="0" i="0">
                <a:solidFill>
                  <a:srgbClr val="FFFFFF"/>
                </a:solidFill>
                <a:latin typeface="Bungee"/>
                <a:ea typeface="Bungee"/>
                <a:cs typeface="Bungee"/>
                <a:sym typeface="Bungee"/>
              </a:rPr>
              <a:t>DATA LOG</a:t>
            </a:r>
          </a:p>
        </p:txBody>
      </p:sp>
      <p:sp>
        <p:nvSpPr>
          <p:cNvPr id="3" name="blk0223"/>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Record what the model said before you decide what to believe. Include the detections you rejected.</a:t>
            </a:r>
          </a:p>
        </p:txBody>
      </p:sp>
      <p:graphicFrame>
        <p:nvGraphicFramePr>
          <p:cNvPr id="4" name="blk0224"/>
          <p:cNvGraphicFramePr>
            <a:graphicFrameLocks noGrp="1"/>
          </p:cNvGraphicFramePr>
          <p:nvPr/>
        </p:nvGraphicFramePr>
        <p:xfrm>
          <a:off x="687600" y="2075755"/>
          <a:ext cx="8639999" cy="2105996"/>
        </p:xfrm>
        <a:graphic>
          <a:graphicData uri="http://schemas.openxmlformats.org/drawingml/2006/table">
            <a:tbl>
              <a:tblPr firstRow="0" bandRow="0"/>
              <a:tblGrid>
                <a:gridCol w="2015999"/>
                <a:gridCol w="1584000"/>
                <a:gridCol w="1440000"/>
                <a:gridCol w="3600000"/>
              </a:tblGrid>
              <a:tr h="450000">
                <a:tc>
                  <a:txBody>
                    <a:bodyPr wrap="square"/>
                    <a:lstStyle/>
                    <a:p>
                      <a:pPr algn="l">
                        <a:lnSpc>
                          <a:spcPct val="100000"/>
                        </a:lnSpc>
                      </a:pPr>
                      <a:r>
                        <a:rPr sz="1350" b="1" i="0">
                          <a:solidFill>
                            <a:srgbClr val="FFCF08"/>
                          </a:solidFill>
                          <a:latin typeface="Avenir"/>
                          <a:ea typeface="Avenir"/>
                          <a:cs typeface="Avenir"/>
                          <a:sym typeface="Avenir"/>
                        </a:rPr>
                        <a:t>Object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Confidence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Accepted?</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Why / what happened</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cup</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scissors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cellphone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my printed shape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5" name="blk0225"/>
          <p:cNvSpPr txBox="1"/>
          <p:nvPr/>
        </p:nvSpPr>
        <p:spPr>
          <a:xfrm>
            <a:off x="687600" y="4428000"/>
            <a:ext cx="8686800" cy="32004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Then write your acceptance rule before you code it:</a:t>
            </a:r>
          </a:p>
        </p:txBody>
      </p:sp>
      <p:sp>
        <p:nvSpPr>
          <p:cNvPr id="6" name="blk0226"/>
          <p:cNvSpPr/>
          <p:nvPr/>
        </p:nvSpPr>
        <p:spPr>
          <a:xfrm>
            <a:off x="687600" y="4968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26"/>
          <p:cNvSpPr txBox="1"/>
          <p:nvPr/>
        </p:nvSpPr>
        <p:spPr>
          <a:xfrm>
            <a:off x="910799" y="5130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ACCEPT if confidence &gt;= ______  AND same class on ______ frames</a:t>
            </a:r>
          </a:p>
          <a:p>
            <a:pPr algn="l">
              <a:lnSpc>
                <a:spcPct val="115000"/>
              </a:lnSpc>
            </a:pPr>
            <a:r>
              <a:rPr sz="1400" b="0" i="0">
                <a:solidFill>
                  <a:srgbClr val="FFFFFF"/>
                </a:solidFill>
                <a:latin typeface="Courier New"/>
                <a:ea typeface="Courier New"/>
                <a:cs typeface="Courier New"/>
                <a:sym typeface="Courier New"/>
              </a:rPr>
              <a:t>REJECT if class changed from ______ to ______</a:t>
            </a:r>
          </a:p>
          <a:p>
            <a:pPr algn="l">
              <a:lnSpc>
                <a:spcPct val="115000"/>
              </a:lnSpc>
            </a:pPr>
            <a:r>
              <a:rPr sz="1400" b="0" i="0">
                <a:solidFill>
                  <a:srgbClr val="FFFFFF"/>
                </a:solidFill>
                <a:latin typeface="Courier New"/>
                <a:ea typeface="Courier New"/>
                <a:cs typeface="Courier New"/>
                <a:sym typeface="Courier New"/>
              </a:rPr>
              <a:t>OTHERWISE                             ______________</a:t>
            </a:r>
          </a:p>
        </p:txBody>
      </p:sp>
      <p:sp>
        <p:nvSpPr>
          <p:cNvPr id="8" name="blk0227"/>
          <p:cNvSpPr/>
          <p:nvPr/>
        </p:nvSpPr>
        <p:spPr>
          <a:xfrm>
            <a:off x="687600" y="6094878"/>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27"/>
          <p:cNvSpPr/>
          <p:nvPr/>
        </p:nvSpPr>
        <p:spPr>
          <a:xfrm>
            <a:off x="885600" y="642247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27"/>
          <p:cNvSpPr txBox="1"/>
          <p:nvPr/>
        </p:nvSpPr>
        <p:spPr>
          <a:xfrm>
            <a:off x="1162800" y="6238878"/>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rule you cannot say out loud is a rule you have not decided yet.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8"/>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DEFINITION OF </a:t>
            </a:r>
            <a:r>
              <a:rPr sz="2400" b="0" i="0">
                <a:solidFill>
                  <a:srgbClr val="FFFFFF"/>
                </a:solidFill>
                <a:latin typeface="Bungee"/>
                <a:ea typeface="Bungee"/>
                <a:cs typeface="Bungee"/>
                <a:sym typeface="Bungee"/>
              </a:rPr>
              <a:t>DONE</a:t>
            </a:r>
          </a:p>
        </p:txBody>
      </p:sp>
      <p:sp>
        <p:nvSpPr>
          <p:cNvPr id="3" name="blk0229"/>
          <p:cNvSpPr/>
          <p:nvPr/>
        </p:nvSpPr>
        <p:spPr>
          <a:xfrm>
            <a:off x="705600" y="15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229"/>
          <p:cNvSpPr txBox="1"/>
          <p:nvPr/>
        </p:nvSpPr>
        <p:spPr>
          <a:xfrm>
            <a:off x="1252800" y="15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model loaded from a file sitting beside your script, with no error messages on screen</a:t>
            </a:r>
          </a:p>
        </p:txBody>
      </p:sp>
      <p:sp>
        <p:nvSpPr>
          <p:cNvPr id="5" name="blk0230"/>
          <p:cNvSpPr/>
          <p:nvPr/>
        </p:nvSpPr>
        <p:spPr>
          <a:xfrm>
            <a:off x="705600" y="24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30"/>
          <p:cNvSpPr txBox="1"/>
          <p:nvPr/>
        </p:nvSpPr>
        <p:spPr>
          <a:xfrm>
            <a:off x="1252800" y="24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Workspace cropped between both markers, from three different camera positions</a:t>
            </a:r>
          </a:p>
        </p:txBody>
      </p:sp>
      <p:sp>
        <p:nvSpPr>
          <p:cNvPr id="7" name="blk0231"/>
          <p:cNvSpPr/>
          <p:nvPr/>
        </p:nvSpPr>
        <p:spPr>
          <a:xfrm>
            <a:off x="705600" y="33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1"/>
          <p:cNvSpPr txBox="1"/>
          <p:nvPr/>
        </p:nvSpPr>
        <p:spPr>
          <a:xfrm>
            <a:off x="1252800" y="33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At least three different objects from the 80 classes detected, named correctly, from several distances</a:t>
            </a:r>
          </a:p>
        </p:txBody>
      </p:sp>
      <p:sp>
        <p:nvSpPr>
          <p:cNvPr id="9" name="blk0232"/>
          <p:cNvSpPr/>
          <p:nvPr/>
        </p:nvSpPr>
        <p:spPr>
          <a:xfrm>
            <a:off x="705600" y="42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2"/>
          <p:cNvSpPr txBox="1"/>
          <p:nvPr/>
        </p:nvSpPr>
        <p:spPr>
          <a:xfrm>
            <a:off x="1252800" y="42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Your accept threshold chosen, written down, and defended in one sentence</a:t>
            </a:r>
          </a:p>
        </p:txBody>
      </p:sp>
      <p:sp>
        <p:nvSpPr>
          <p:cNvPr id="11" name="blk0233"/>
          <p:cNvSpPr/>
          <p:nvPr/>
        </p:nvSpPr>
        <p:spPr>
          <a:xfrm>
            <a:off x="705600" y="51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33"/>
          <p:cNvSpPr txBox="1"/>
          <p:nvPr/>
        </p:nvSpPr>
        <p:spPr>
          <a:xfrm>
            <a:off x="1252800" y="51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Rejection log collected over ten minutes of running, and read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4"/>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GO </a:t>
            </a:r>
            <a:r>
              <a:rPr sz="2400" b="0" i="0">
                <a:solidFill>
                  <a:srgbClr val="FFFFFF"/>
                </a:solidFill>
                <a:latin typeface="Bungee"/>
                <a:ea typeface="Bungee"/>
                <a:cs typeface="Bungee"/>
                <a:sym typeface="Bungee"/>
              </a:rPr>
              <a:t>FURTHER</a:t>
            </a:r>
          </a:p>
        </p:txBody>
      </p:sp>
      <p:sp>
        <p:nvSpPr>
          <p:cNvPr id="3" name="blk0235"/>
          <p:cNvSpPr/>
          <p:nvPr/>
        </p:nvSpPr>
        <p:spPr>
          <a:xfrm>
            <a:off x="741600" y="168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235"/>
          <p:cNvSpPr txBox="1"/>
          <p:nvPr/>
        </p:nvSpPr>
        <p:spPr>
          <a:xfrm>
            <a:off x="1252800" y="1655999"/>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Track position over time. </a:t>
            </a:r>
            <a:r>
              <a:rPr sz="1600" b="0" i="0">
                <a:solidFill>
                  <a:srgbClr val="FFFFFF"/>
                </a:solidFill>
                <a:latin typeface="Avenir"/>
                <a:ea typeface="Avenir"/>
                <a:cs typeface="Avenir"/>
                <a:sym typeface="Avenir"/>
              </a:rPr>
              <a:t>The centre dot already gives you a coordinate. Store a few frames of it and you have measured how much your detection jitters — which is the number that decides whether an arm can safely act on it.</a:t>
            </a:r>
          </a:p>
        </p:txBody>
      </p:sp>
      <p:sp>
        <p:nvSpPr>
          <p:cNvPr id="5" name="blk0236"/>
          <p:cNvSpPr/>
          <p:nvPr/>
        </p:nvSpPr>
        <p:spPr>
          <a:xfrm>
            <a:off x="741600" y="28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36"/>
          <p:cNvSpPr txBox="1"/>
          <p:nvPr/>
        </p:nvSpPr>
        <p:spPr>
          <a:xfrm>
            <a:off x="1252800" y="2808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Compare the small model against a larger one. </a:t>
            </a:r>
            <a:r>
              <a:rPr sz="1600" b="0" i="0">
                <a:solidFill>
                  <a:srgbClr val="FFFFFF"/>
                </a:solidFill>
                <a:latin typeface="Avenir"/>
                <a:ea typeface="Avenir"/>
                <a:cs typeface="Avenir"/>
                <a:sym typeface="Avenir"/>
              </a:rPr>
              <a:t>The larger model is more accurate and too slow here. Find out how much too slow, and where the trade-off would change if the arm were not using the CPU for anything else.</a:t>
            </a:r>
          </a:p>
        </p:txBody>
      </p:sp>
      <p:sp>
        <p:nvSpPr>
          <p:cNvPr id="7" name="blk0237"/>
          <p:cNvSpPr/>
          <p:nvPr/>
        </p:nvSpPr>
        <p:spPr>
          <a:xfrm>
            <a:off x="741600" y="398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7"/>
          <p:cNvSpPr txBox="1"/>
          <p:nvPr/>
        </p:nvSpPr>
        <p:spPr>
          <a:xfrm>
            <a:off x="1252800" y="3960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Report every class, not just the best one. </a:t>
            </a:r>
            <a:r>
              <a:rPr sz="1600" b="0" i="0">
                <a:solidFill>
                  <a:srgbClr val="FFFFFF"/>
                </a:solidFill>
                <a:latin typeface="Avenir"/>
                <a:ea typeface="Avenir"/>
                <a:cs typeface="Avenir"/>
                <a:sym typeface="Avenir"/>
              </a:rPr>
              <a:t>Right now you keep the highest scoring class per detection. Show the runner-up too and you can see how close a decision actually was.</a:t>
            </a:r>
          </a:p>
        </p:txBody>
      </p:sp>
      <p:sp>
        <p:nvSpPr>
          <p:cNvPr id="9" name="blk0238"/>
          <p:cNvSpPr/>
          <p:nvPr/>
        </p:nvSpPr>
        <p:spPr>
          <a:xfrm>
            <a:off x="741600" y="514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8"/>
          <p:cNvSpPr txBox="1"/>
          <p:nvPr/>
        </p:nvSpPr>
        <p:spPr>
          <a:xfrm>
            <a:off x="1252800" y="5112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Make it work on a different board. </a:t>
            </a:r>
            <a:r>
              <a:rPr sz="1600" b="0" i="0">
                <a:solidFill>
                  <a:srgbClr val="FFFFFF"/>
                </a:solidFill>
                <a:latin typeface="Avenir"/>
                <a:ea typeface="Avenir"/>
                <a:cs typeface="Avenir"/>
                <a:sym typeface="Avenir"/>
              </a:rPr>
              <a:t>Swap in the laptop, the water bottle, the book. Which ones work without any code change, and which needed a threshold you would rather not have set?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9"/>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MISSION </a:t>
            </a:r>
            <a:r>
              <a:rPr sz="2400" b="0" i="0">
                <a:solidFill>
                  <a:srgbClr val="FFFFFF"/>
                </a:solidFill>
                <a:latin typeface="Bungee"/>
                <a:ea typeface="Bungee"/>
                <a:cs typeface="Bungee"/>
                <a:sym typeface="Bungee"/>
              </a:rPr>
              <a:t>DEBRIEF</a:t>
            </a:r>
          </a:p>
        </p:txBody>
      </p:sp>
      <p:sp>
        <p:nvSpPr>
          <p:cNvPr id="3" name="blk0240"/>
          <p:cNvSpPr txBox="1"/>
          <p:nvPr/>
        </p:nvSpPr>
        <p:spPr>
          <a:xfrm>
            <a:off x="687600" y="1655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4" name="blk0240"/>
          <p:cNvSpPr txBox="1"/>
          <p:nvPr/>
        </p:nvSpPr>
        <p:spPr>
          <a:xfrm>
            <a:off x="1252800" y="1655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You lower conf_thresh and get more detections. How would you tell a real new object from a false positive, using only the numbers on screen?</a:t>
            </a:r>
          </a:p>
        </p:txBody>
      </p:sp>
      <p:sp>
        <p:nvSpPr>
          <p:cNvPr id="5" name="blk0241"/>
          <p:cNvSpPr txBox="1"/>
          <p:nvPr/>
        </p:nvSpPr>
        <p:spPr>
          <a:xfrm>
            <a:off x="687600" y="284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6" name="blk0241"/>
          <p:cNvSpPr txBox="1"/>
          <p:nvPr/>
        </p:nvSpPr>
        <p:spPr>
          <a:xfrm>
            <a:off x="1252800" y="2844000"/>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model returns a box around a </a:t>
            </a:r>
            <a:r>
              <a:rPr sz="1419" b="0" i="0">
                <a:solidFill>
                  <a:srgbClr val="FFFFFF"/>
                </a:solidFill>
                <a:latin typeface="Courier New"/>
                <a:ea typeface="Courier New"/>
                <a:cs typeface="Courier New"/>
                <a:sym typeface="Courier New"/>
              </a:rPr>
              <a:t>toothbrush</a:t>
            </a:r>
            <a:r>
              <a:rPr sz="1650" b="0" i="0">
                <a:solidFill>
                  <a:srgbClr val="FFFFFF"/>
                </a:solidFill>
                <a:latin typeface="Avenir"/>
                <a:ea typeface="Avenir"/>
                <a:cs typeface="Avenir"/>
                <a:sym typeface="Avenir"/>
              </a:rPr>
              <a:t> with a confidence of 0.46, just over your threshold. Should the arm move? Defend your answer.</a:t>
            </a:r>
          </a:p>
        </p:txBody>
      </p:sp>
      <p:sp>
        <p:nvSpPr>
          <p:cNvPr id="7" name="blk0242"/>
          <p:cNvSpPr txBox="1"/>
          <p:nvPr/>
        </p:nvSpPr>
        <p:spPr>
          <a:xfrm>
            <a:off x="687600" y="4031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8" name="blk0242"/>
          <p:cNvSpPr txBox="1"/>
          <p:nvPr/>
        </p:nvSpPr>
        <p:spPr>
          <a:xfrm>
            <a:off x="1252800" y="4031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Why does the program scale boxes with two separate factors, </a:t>
            </a:r>
            <a:r>
              <a:rPr sz="1419" b="0" i="0">
                <a:solidFill>
                  <a:srgbClr val="FFFFFF"/>
                </a:solidFill>
                <a:latin typeface="Courier New"/>
                <a:ea typeface="Courier New"/>
                <a:cs typeface="Courier New"/>
                <a:sym typeface="Courier New"/>
              </a:rPr>
              <a:t>x_factor</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y_factor</a:t>
            </a:r>
            <a:r>
              <a:rPr sz="1650" b="0" i="0">
                <a:solidFill>
                  <a:srgbClr val="FFFFFF"/>
                </a:solidFill>
                <a:latin typeface="Avenir"/>
                <a:ea typeface="Avenir"/>
                <a:cs typeface="Avenir"/>
                <a:sym typeface="Avenir"/>
              </a:rPr>
              <a:t>, instead of one?</a:t>
            </a:r>
          </a:p>
        </p:txBody>
      </p:sp>
      <p:sp>
        <p:nvSpPr>
          <p:cNvPr id="9" name="blk0243"/>
          <p:cNvSpPr txBox="1"/>
          <p:nvPr/>
        </p:nvSpPr>
        <p:spPr>
          <a:xfrm>
            <a:off x="687600" y="5219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4.</a:t>
            </a:r>
          </a:p>
        </p:txBody>
      </p:sp>
      <p:sp>
        <p:nvSpPr>
          <p:cNvPr id="10" name="blk0243"/>
          <p:cNvSpPr txBox="1"/>
          <p:nvPr/>
        </p:nvSpPr>
        <p:spPr>
          <a:xfrm>
            <a:off x="1252800" y="5219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project could tell you what something is but not how far away it was. What would you have to bring back from Project 2 to close that gap?</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