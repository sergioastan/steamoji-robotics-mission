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12"/>
    <p:sldId id="291" r:id="rId11"/>
    <p:sldId id="292" r:id="rId10"/>
    <p:sldId id="293" r:id="rId9"/>
    <p:sldId id="294" r:id="rId8"/>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Lst>
  <p:sldSz cy="7772400" cx="10058400"/>
  <p:notesSz cx="6858000" cy="9144000"/>
  <p:embeddedFontLst>
    <p:embeddedFont>
      <p:font typeface="Google Sans"/>
      <p:regular r:id="rId47"/>
      <p:bold r:id="rId48"/>
      <p:italic r:id="rId49"/>
      <p:boldItalic r:id="rId50"/>
    </p:embeddedFont>
    <p:embeddedFont>
      <p:font typeface="Bungee"/>
      <p:regular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448">
          <p15:clr>
            <a:srgbClr val="747775"/>
          </p15:clr>
        </p15:guide>
        <p15:guide id="2" pos="31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DFC22C-DABC-4BF4-A259-F465392D9469}">
  <a:tblStyle styleId="{FBDFC22C-DABC-4BF4-A259-F465392D946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39.xml"/><Relationship Id="rId9" Type="http://schemas.openxmlformats.org/officeDocument/2006/relationships/slide" Target="slides/slide38.xml"/><Relationship Id="rId10" Type="http://schemas.openxmlformats.org/officeDocument/2006/relationships/slide" Target="slides/slide37.xml"/><Relationship Id="rId11" Type="http://schemas.openxmlformats.org/officeDocument/2006/relationships/slide" Target="slides/slide36.xml"/><Relationship Id="rId12" Type="http://schemas.openxmlformats.org/officeDocument/2006/relationships/slide" Target="slides/slide35.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font" Target="fonts/GoogleSans-regular.fntdata"/><Relationship Id="rId48" Type="http://schemas.openxmlformats.org/officeDocument/2006/relationships/font" Target="fonts/GoogleSans-bold.fntdata"/><Relationship Id="rId49" Type="http://schemas.openxmlformats.org/officeDocument/2006/relationships/font" Target="fonts/GoogleSans-italic.fntdata"/><Relationship Id="rId50" Type="http://schemas.openxmlformats.org/officeDocument/2006/relationships/font" Target="fonts/GoogleSans-boldItalic.fntdata"/><Relationship Id="rId51" Type="http://schemas.openxmlformats.org/officeDocument/2006/relationships/font" Target="fonts/Bungee-regular.fntdata"/><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45" y="685800"/>
            <a:ext cx="4437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600" cy="31017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6433"/>
              <a:buNone/>
              <a:defRPr sz="6433"/>
            </a:lvl1pPr>
            <a:lvl2pPr lvl="1" algn="ctr">
              <a:lnSpc>
                <a:spcPct val="100000"/>
              </a:lnSpc>
              <a:spcBef>
                <a:spcPts val="0"/>
              </a:spcBef>
              <a:spcAft>
                <a:spcPts val="0"/>
              </a:spcAft>
              <a:buSzPts val="6433"/>
              <a:buNone/>
              <a:defRPr sz="6433"/>
            </a:lvl2pPr>
            <a:lvl3pPr lvl="2" algn="ctr">
              <a:lnSpc>
                <a:spcPct val="100000"/>
              </a:lnSpc>
              <a:spcBef>
                <a:spcPts val="0"/>
              </a:spcBef>
              <a:spcAft>
                <a:spcPts val="0"/>
              </a:spcAft>
              <a:buSzPts val="6433"/>
              <a:buNone/>
              <a:defRPr sz="6433"/>
            </a:lvl3pPr>
            <a:lvl4pPr lvl="3" algn="ctr">
              <a:lnSpc>
                <a:spcPct val="100000"/>
              </a:lnSpc>
              <a:spcBef>
                <a:spcPts val="0"/>
              </a:spcBef>
              <a:spcAft>
                <a:spcPts val="0"/>
              </a:spcAft>
              <a:buSzPts val="6433"/>
              <a:buNone/>
              <a:defRPr sz="6433"/>
            </a:lvl4pPr>
            <a:lvl5pPr lvl="4" algn="ctr">
              <a:lnSpc>
                <a:spcPct val="100000"/>
              </a:lnSpc>
              <a:spcBef>
                <a:spcPts val="0"/>
              </a:spcBef>
              <a:spcAft>
                <a:spcPts val="0"/>
              </a:spcAft>
              <a:buSzPts val="6433"/>
              <a:buNone/>
              <a:defRPr sz="6433"/>
            </a:lvl5pPr>
            <a:lvl6pPr lvl="5" algn="ctr">
              <a:lnSpc>
                <a:spcPct val="100000"/>
              </a:lnSpc>
              <a:spcBef>
                <a:spcPts val="0"/>
              </a:spcBef>
              <a:spcAft>
                <a:spcPts val="0"/>
              </a:spcAft>
              <a:buSzPts val="6433"/>
              <a:buNone/>
              <a:defRPr sz="6433"/>
            </a:lvl6pPr>
            <a:lvl7pPr lvl="6" algn="ctr">
              <a:lnSpc>
                <a:spcPct val="100000"/>
              </a:lnSpc>
              <a:spcBef>
                <a:spcPts val="0"/>
              </a:spcBef>
              <a:spcAft>
                <a:spcPts val="0"/>
              </a:spcAft>
              <a:buSzPts val="6433"/>
              <a:buNone/>
              <a:defRPr sz="6433"/>
            </a:lvl7pPr>
            <a:lvl8pPr lvl="7" algn="ctr">
              <a:lnSpc>
                <a:spcPct val="100000"/>
              </a:lnSpc>
              <a:spcBef>
                <a:spcPts val="0"/>
              </a:spcBef>
              <a:spcAft>
                <a:spcPts val="0"/>
              </a:spcAft>
              <a:buSzPts val="6433"/>
              <a:buNone/>
              <a:defRPr sz="6433"/>
            </a:lvl8pPr>
            <a:lvl9pPr lvl="8" algn="ctr">
              <a:lnSpc>
                <a:spcPct val="100000"/>
              </a:lnSpc>
              <a:spcBef>
                <a:spcPts val="0"/>
              </a:spcBef>
              <a:spcAft>
                <a:spcPts val="0"/>
              </a:spcAft>
              <a:buSzPts val="6433"/>
              <a:buNone/>
              <a:defRPr sz="6433"/>
            </a:lvl9pPr>
          </a:lstStyle>
          <a:p/>
        </p:txBody>
      </p:sp>
      <p:sp>
        <p:nvSpPr>
          <p:cNvPr id="11" name="Google Shape;11;p2"/>
          <p:cNvSpPr txBox="1"/>
          <p:nvPr>
            <p:ph idx="1" type="subTitle"/>
          </p:nvPr>
        </p:nvSpPr>
        <p:spPr>
          <a:xfrm>
            <a:off x="342870" y="4282678"/>
            <a:ext cx="9372600" cy="11976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3464"/>
              <a:buNone/>
              <a:defRPr sz="3464"/>
            </a:lvl1pPr>
            <a:lvl2pPr lvl="1" algn="ctr">
              <a:lnSpc>
                <a:spcPct val="100000"/>
              </a:lnSpc>
              <a:spcBef>
                <a:spcPts val="0"/>
              </a:spcBef>
              <a:spcAft>
                <a:spcPts val="0"/>
              </a:spcAft>
              <a:buSzPts val="3464"/>
              <a:buNone/>
              <a:defRPr sz="3464"/>
            </a:lvl2pPr>
            <a:lvl3pPr lvl="2" algn="ctr">
              <a:lnSpc>
                <a:spcPct val="100000"/>
              </a:lnSpc>
              <a:spcBef>
                <a:spcPts val="0"/>
              </a:spcBef>
              <a:spcAft>
                <a:spcPts val="0"/>
              </a:spcAft>
              <a:buSzPts val="3464"/>
              <a:buNone/>
              <a:defRPr sz="3464"/>
            </a:lvl3pPr>
            <a:lvl4pPr lvl="3" algn="ctr">
              <a:lnSpc>
                <a:spcPct val="100000"/>
              </a:lnSpc>
              <a:spcBef>
                <a:spcPts val="0"/>
              </a:spcBef>
              <a:spcAft>
                <a:spcPts val="0"/>
              </a:spcAft>
              <a:buSzPts val="3464"/>
              <a:buNone/>
              <a:defRPr sz="3464"/>
            </a:lvl4pPr>
            <a:lvl5pPr lvl="4" algn="ctr">
              <a:lnSpc>
                <a:spcPct val="100000"/>
              </a:lnSpc>
              <a:spcBef>
                <a:spcPts val="0"/>
              </a:spcBef>
              <a:spcAft>
                <a:spcPts val="0"/>
              </a:spcAft>
              <a:buSzPts val="3464"/>
              <a:buNone/>
              <a:defRPr sz="3464"/>
            </a:lvl5pPr>
            <a:lvl6pPr lvl="5" algn="ctr">
              <a:lnSpc>
                <a:spcPct val="100000"/>
              </a:lnSpc>
              <a:spcBef>
                <a:spcPts val="0"/>
              </a:spcBef>
              <a:spcAft>
                <a:spcPts val="0"/>
              </a:spcAft>
              <a:buSzPts val="3464"/>
              <a:buNone/>
              <a:defRPr sz="3464"/>
            </a:lvl6pPr>
            <a:lvl7pPr lvl="6" algn="ctr">
              <a:lnSpc>
                <a:spcPct val="100000"/>
              </a:lnSpc>
              <a:spcBef>
                <a:spcPts val="0"/>
              </a:spcBef>
              <a:spcAft>
                <a:spcPts val="0"/>
              </a:spcAft>
              <a:buSzPts val="3464"/>
              <a:buNone/>
              <a:defRPr sz="3464"/>
            </a:lvl7pPr>
            <a:lvl8pPr lvl="7" algn="ctr">
              <a:lnSpc>
                <a:spcPct val="100000"/>
              </a:lnSpc>
              <a:spcBef>
                <a:spcPts val="0"/>
              </a:spcBef>
              <a:spcAft>
                <a:spcPts val="0"/>
              </a:spcAft>
              <a:buSzPts val="3464"/>
              <a:buNone/>
              <a:defRPr sz="3464"/>
            </a:lvl8pPr>
            <a:lvl9pPr lvl="8" algn="ctr">
              <a:lnSpc>
                <a:spcPct val="100000"/>
              </a:lnSpc>
              <a:spcBef>
                <a:spcPts val="0"/>
              </a:spcBef>
              <a:spcAft>
                <a:spcPts val="0"/>
              </a:spcAft>
              <a:buSzPts val="3464"/>
              <a:buNone/>
              <a:defRPr sz="3464"/>
            </a:lvl9pPr>
          </a:lstStyle>
          <a:p/>
        </p:txBody>
      </p:sp>
      <p:sp>
        <p:nvSpPr>
          <p:cNvPr id="12" name="Google Shape;12;p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15" name="Google Shape;15;p3"/>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16" name="Google Shape;16;p3"/>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42870" y="3250173"/>
            <a:ext cx="9372600" cy="1272000"/>
          </a:xfrm>
          <a:prstGeom prst="rect">
            <a:avLst/>
          </a:prstGeom>
          <a:noFill/>
          <a:ln>
            <a:noFill/>
          </a:ln>
        </p:spPr>
        <p:txBody>
          <a:bodyPr anchorCtr="0" anchor="ctr" bIns="113100" lIns="113100" spcFirstLastPara="1" rIns="113100" wrap="square" tIns="113100">
            <a:spAutoFit/>
          </a:bodyPr>
          <a:lstStyle>
            <a:lvl1pPr lvl="0" algn="ctr">
              <a:lnSpc>
                <a:spcPct val="100000"/>
              </a:lnSpc>
              <a:spcBef>
                <a:spcPts val="0"/>
              </a:spcBef>
              <a:spcAft>
                <a:spcPts val="0"/>
              </a:spcAft>
              <a:buSzPts val="4453"/>
              <a:buNone/>
              <a:defRPr sz="4453"/>
            </a:lvl1pPr>
            <a:lvl2pPr lvl="1" algn="ctr">
              <a:lnSpc>
                <a:spcPct val="100000"/>
              </a:lnSpc>
              <a:spcBef>
                <a:spcPts val="0"/>
              </a:spcBef>
              <a:spcAft>
                <a:spcPts val="0"/>
              </a:spcAft>
              <a:buSzPts val="4453"/>
              <a:buNone/>
              <a:defRPr sz="4453"/>
            </a:lvl2pPr>
            <a:lvl3pPr lvl="2" algn="ctr">
              <a:lnSpc>
                <a:spcPct val="100000"/>
              </a:lnSpc>
              <a:spcBef>
                <a:spcPts val="0"/>
              </a:spcBef>
              <a:spcAft>
                <a:spcPts val="0"/>
              </a:spcAft>
              <a:buSzPts val="4453"/>
              <a:buNone/>
              <a:defRPr sz="4453"/>
            </a:lvl3pPr>
            <a:lvl4pPr lvl="3" algn="ctr">
              <a:lnSpc>
                <a:spcPct val="100000"/>
              </a:lnSpc>
              <a:spcBef>
                <a:spcPts val="0"/>
              </a:spcBef>
              <a:spcAft>
                <a:spcPts val="0"/>
              </a:spcAft>
              <a:buSzPts val="4453"/>
              <a:buNone/>
              <a:defRPr sz="4453"/>
            </a:lvl4pPr>
            <a:lvl5pPr lvl="4" algn="ctr">
              <a:lnSpc>
                <a:spcPct val="100000"/>
              </a:lnSpc>
              <a:spcBef>
                <a:spcPts val="0"/>
              </a:spcBef>
              <a:spcAft>
                <a:spcPts val="0"/>
              </a:spcAft>
              <a:buSzPts val="4453"/>
              <a:buNone/>
              <a:defRPr sz="4453"/>
            </a:lvl5pPr>
            <a:lvl6pPr lvl="5" algn="ctr">
              <a:lnSpc>
                <a:spcPct val="100000"/>
              </a:lnSpc>
              <a:spcBef>
                <a:spcPts val="0"/>
              </a:spcBef>
              <a:spcAft>
                <a:spcPts val="0"/>
              </a:spcAft>
              <a:buSzPts val="4453"/>
              <a:buNone/>
              <a:defRPr sz="4453"/>
            </a:lvl6pPr>
            <a:lvl7pPr lvl="6" algn="ctr">
              <a:lnSpc>
                <a:spcPct val="100000"/>
              </a:lnSpc>
              <a:spcBef>
                <a:spcPts val="0"/>
              </a:spcBef>
              <a:spcAft>
                <a:spcPts val="0"/>
              </a:spcAft>
              <a:buSzPts val="4453"/>
              <a:buNone/>
              <a:defRPr sz="4453"/>
            </a:lvl7pPr>
            <a:lvl8pPr lvl="7" algn="ctr">
              <a:lnSpc>
                <a:spcPct val="100000"/>
              </a:lnSpc>
              <a:spcBef>
                <a:spcPts val="0"/>
              </a:spcBef>
              <a:spcAft>
                <a:spcPts val="0"/>
              </a:spcAft>
              <a:buSzPts val="4453"/>
              <a:buNone/>
              <a:defRPr sz="4453"/>
            </a:lvl8pPr>
            <a:lvl9pPr lvl="8" algn="ctr">
              <a:lnSpc>
                <a:spcPct val="100000"/>
              </a:lnSpc>
              <a:spcBef>
                <a:spcPts val="0"/>
              </a:spcBef>
              <a:spcAft>
                <a:spcPts val="0"/>
              </a:spcAft>
              <a:buSzPts val="4453"/>
              <a:buNone/>
              <a:defRPr sz="4453"/>
            </a:lvl9pPr>
          </a:lstStyle>
          <a:p/>
        </p:txBody>
      </p:sp>
      <p:sp>
        <p:nvSpPr>
          <p:cNvPr id="19" name="Google Shape;19;p4"/>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2" name="Google Shape;22;p5"/>
          <p:cNvSpPr txBox="1"/>
          <p:nvPr>
            <p:ph idx="1" type="body"/>
          </p:nvPr>
        </p:nvSpPr>
        <p:spPr>
          <a:xfrm>
            <a:off x="34287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3" name="Google Shape;23;p5"/>
          <p:cNvSpPr txBox="1"/>
          <p:nvPr>
            <p:ph idx="2" type="body"/>
          </p:nvPr>
        </p:nvSpPr>
        <p:spPr>
          <a:xfrm>
            <a:off x="531564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4" name="Google Shape;24;p5"/>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7" name="Google Shape;27;p6"/>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a:noFill/>
          <a:ln>
            <a:noFill/>
          </a:ln>
        </p:spPr>
        <p:txBody>
          <a:bodyPr anchorCtr="0" anchor="b" bIns="113100" lIns="113100" spcFirstLastPara="1" rIns="113100" wrap="square" tIns="113100">
            <a:spAutoFit/>
          </a:bodyPr>
          <a:lstStyle>
            <a:lvl1pPr lvl="0" algn="l">
              <a:lnSpc>
                <a:spcPct val="100000"/>
              </a:lnSpc>
              <a:spcBef>
                <a:spcPts val="0"/>
              </a:spcBef>
              <a:spcAft>
                <a:spcPts val="0"/>
              </a:spcAft>
              <a:buSzPts val="2969"/>
              <a:buNone/>
              <a:defRPr sz="2969"/>
            </a:lvl1pPr>
            <a:lvl2pPr lvl="1" algn="l">
              <a:lnSpc>
                <a:spcPct val="100000"/>
              </a:lnSpc>
              <a:spcBef>
                <a:spcPts val="0"/>
              </a:spcBef>
              <a:spcAft>
                <a:spcPts val="0"/>
              </a:spcAft>
              <a:buSzPts val="2969"/>
              <a:buNone/>
              <a:defRPr sz="2969"/>
            </a:lvl2pPr>
            <a:lvl3pPr lvl="2" algn="l">
              <a:lnSpc>
                <a:spcPct val="100000"/>
              </a:lnSpc>
              <a:spcBef>
                <a:spcPts val="0"/>
              </a:spcBef>
              <a:spcAft>
                <a:spcPts val="0"/>
              </a:spcAft>
              <a:buSzPts val="2969"/>
              <a:buNone/>
              <a:defRPr sz="2969"/>
            </a:lvl3pPr>
            <a:lvl4pPr lvl="3" algn="l">
              <a:lnSpc>
                <a:spcPct val="100000"/>
              </a:lnSpc>
              <a:spcBef>
                <a:spcPts val="0"/>
              </a:spcBef>
              <a:spcAft>
                <a:spcPts val="0"/>
              </a:spcAft>
              <a:buSzPts val="2969"/>
              <a:buNone/>
              <a:defRPr sz="2969"/>
            </a:lvl4pPr>
            <a:lvl5pPr lvl="4" algn="l">
              <a:lnSpc>
                <a:spcPct val="100000"/>
              </a:lnSpc>
              <a:spcBef>
                <a:spcPts val="0"/>
              </a:spcBef>
              <a:spcAft>
                <a:spcPts val="0"/>
              </a:spcAft>
              <a:buSzPts val="2969"/>
              <a:buNone/>
              <a:defRPr sz="2969"/>
            </a:lvl5pPr>
            <a:lvl6pPr lvl="5" algn="l">
              <a:lnSpc>
                <a:spcPct val="100000"/>
              </a:lnSpc>
              <a:spcBef>
                <a:spcPts val="0"/>
              </a:spcBef>
              <a:spcAft>
                <a:spcPts val="0"/>
              </a:spcAft>
              <a:buSzPts val="2969"/>
              <a:buNone/>
              <a:defRPr sz="2969"/>
            </a:lvl6pPr>
            <a:lvl7pPr lvl="6" algn="l">
              <a:lnSpc>
                <a:spcPct val="100000"/>
              </a:lnSpc>
              <a:spcBef>
                <a:spcPts val="0"/>
              </a:spcBef>
              <a:spcAft>
                <a:spcPts val="0"/>
              </a:spcAft>
              <a:buSzPts val="2969"/>
              <a:buNone/>
              <a:defRPr sz="2969"/>
            </a:lvl7pPr>
            <a:lvl8pPr lvl="7" algn="l">
              <a:lnSpc>
                <a:spcPct val="100000"/>
              </a:lnSpc>
              <a:spcBef>
                <a:spcPts val="0"/>
              </a:spcBef>
              <a:spcAft>
                <a:spcPts val="0"/>
              </a:spcAft>
              <a:buSzPts val="2969"/>
              <a:buNone/>
              <a:defRPr sz="2969"/>
            </a:lvl8pPr>
            <a:lvl9pPr lvl="8" algn="l">
              <a:lnSpc>
                <a:spcPct val="100000"/>
              </a:lnSpc>
              <a:spcBef>
                <a:spcPts val="0"/>
              </a:spcBef>
              <a:spcAft>
                <a:spcPts val="0"/>
              </a:spcAft>
              <a:buSzPts val="2969"/>
              <a:buNone/>
              <a:defRPr sz="2969"/>
            </a:lvl9pPr>
          </a:lstStyle>
          <a:p/>
        </p:txBody>
      </p:sp>
      <p:sp>
        <p:nvSpPr>
          <p:cNvPr id="30" name="Google Shape;30;p7"/>
          <p:cNvSpPr txBox="1"/>
          <p:nvPr>
            <p:ph idx="1" type="body"/>
          </p:nvPr>
        </p:nvSpPr>
        <p:spPr>
          <a:xfrm>
            <a:off x="342870" y="2099840"/>
            <a:ext cx="3088800" cy="4804500"/>
          </a:xfrm>
          <a:prstGeom prst="rect">
            <a:avLst/>
          </a:prstGeom>
          <a:noFill/>
          <a:ln>
            <a:noFill/>
          </a:ln>
        </p:spPr>
        <p:txBody>
          <a:bodyPr anchorCtr="0" anchor="t" bIns="113100" lIns="113100" spcFirstLastPara="1" rIns="113100" wrap="square" tIns="113100">
            <a:spAutoFit/>
          </a:bodyPr>
          <a:lstStyle>
            <a:lvl1pPr indent="-322834" lvl="0" marL="457200" algn="l">
              <a:lnSpc>
                <a:spcPct val="115000"/>
              </a:lnSpc>
              <a:spcBef>
                <a:spcPts val="0"/>
              </a:spcBef>
              <a:spcAft>
                <a:spcPts val="0"/>
              </a:spcAft>
              <a:buSzPts val="1484"/>
              <a:buChar char="●"/>
              <a:defRPr sz="1484"/>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31" name="Google Shape;31;p7"/>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700" cy="6181800"/>
          </a:xfrm>
          <a:prstGeom prst="rect">
            <a:avLst/>
          </a:prstGeom>
          <a:noFill/>
          <a:ln>
            <a:noFill/>
          </a:ln>
        </p:spPr>
        <p:txBody>
          <a:bodyPr anchorCtr="0" anchor="ctr" bIns="113100" lIns="113100" spcFirstLastPara="1" rIns="113100" wrap="square" tIns="113100">
            <a:spAutoFit/>
          </a:bodyPr>
          <a:lstStyle>
            <a:lvl1pPr lvl="0" algn="l">
              <a:lnSpc>
                <a:spcPct val="100000"/>
              </a:lnSpc>
              <a:spcBef>
                <a:spcPts val="0"/>
              </a:spcBef>
              <a:spcAft>
                <a:spcPts val="0"/>
              </a:spcAft>
              <a:buSzPts val="5938"/>
              <a:buNone/>
              <a:defRPr sz="5938"/>
            </a:lvl1pPr>
            <a:lvl2pPr lvl="1" algn="l">
              <a:lnSpc>
                <a:spcPct val="100000"/>
              </a:lnSpc>
              <a:spcBef>
                <a:spcPts val="0"/>
              </a:spcBef>
              <a:spcAft>
                <a:spcPts val="0"/>
              </a:spcAft>
              <a:buSzPts val="5938"/>
              <a:buNone/>
              <a:defRPr sz="5938"/>
            </a:lvl2pPr>
            <a:lvl3pPr lvl="2" algn="l">
              <a:lnSpc>
                <a:spcPct val="100000"/>
              </a:lnSpc>
              <a:spcBef>
                <a:spcPts val="0"/>
              </a:spcBef>
              <a:spcAft>
                <a:spcPts val="0"/>
              </a:spcAft>
              <a:buSzPts val="5938"/>
              <a:buNone/>
              <a:defRPr sz="5938"/>
            </a:lvl3pPr>
            <a:lvl4pPr lvl="3" algn="l">
              <a:lnSpc>
                <a:spcPct val="100000"/>
              </a:lnSpc>
              <a:spcBef>
                <a:spcPts val="0"/>
              </a:spcBef>
              <a:spcAft>
                <a:spcPts val="0"/>
              </a:spcAft>
              <a:buSzPts val="5938"/>
              <a:buNone/>
              <a:defRPr sz="5938"/>
            </a:lvl4pPr>
            <a:lvl5pPr lvl="4" algn="l">
              <a:lnSpc>
                <a:spcPct val="100000"/>
              </a:lnSpc>
              <a:spcBef>
                <a:spcPts val="0"/>
              </a:spcBef>
              <a:spcAft>
                <a:spcPts val="0"/>
              </a:spcAft>
              <a:buSzPts val="5938"/>
              <a:buNone/>
              <a:defRPr sz="5938"/>
            </a:lvl5pPr>
            <a:lvl6pPr lvl="5" algn="l">
              <a:lnSpc>
                <a:spcPct val="100000"/>
              </a:lnSpc>
              <a:spcBef>
                <a:spcPts val="0"/>
              </a:spcBef>
              <a:spcAft>
                <a:spcPts val="0"/>
              </a:spcAft>
              <a:buSzPts val="5938"/>
              <a:buNone/>
              <a:defRPr sz="5938"/>
            </a:lvl6pPr>
            <a:lvl7pPr lvl="6" algn="l">
              <a:lnSpc>
                <a:spcPct val="100000"/>
              </a:lnSpc>
              <a:spcBef>
                <a:spcPts val="0"/>
              </a:spcBef>
              <a:spcAft>
                <a:spcPts val="0"/>
              </a:spcAft>
              <a:buSzPts val="5938"/>
              <a:buNone/>
              <a:defRPr sz="5938"/>
            </a:lvl7pPr>
            <a:lvl8pPr lvl="7" algn="l">
              <a:lnSpc>
                <a:spcPct val="100000"/>
              </a:lnSpc>
              <a:spcBef>
                <a:spcPts val="0"/>
              </a:spcBef>
              <a:spcAft>
                <a:spcPts val="0"/>
              </a:spcAft>
              <a:buSzPts val="5938"/>
              <a:buNone/>
              <a:defRPr sz="5938"/>
            </a:lvl8pPr>
            <a:lvl9pPr lvl="8" algn="l">
              <a:lnSpc>
                <a:spcPct val="100000"/>
              </a:lnSpc>
              <a:spcBef>
                <a:spcPts val="0"/>
              </a:spcBef>
              <a:spcAft>
                <a:spcPts val="0"/>
              </a:spcAft>
              <a:buSzPts val="5938"/>
              <a:buNone/>
              <a:defRPr sz="5938"/>
            </a:lvl9pPr>
          </a:lstStyle>
          <a:p/>
        </p:txBody>
      </p:sp>
      <p:sp>
        <p:nvSpPr>
          <p:cNvPr id="34" name="Google Shape;34;p8"/>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113100" lIns="113100" spcFirstLastPara="1" rIns="113100" wrap="square" tIns="11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92050" y="1863464"/>
            <a:ext cx="4449600" cy="22398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5196"/>
              <a:buNone/>
              <a:defRPr sz="5196"/>
            </a:lvl1pPr>
            <a:lvl2pPr lvl="1" algn="ctr">
              <a:lnSpc>
                <a:spcPct val="100000"/>
              </a:lnSpc>
              <a:spcBef>
                <a:spcPts val="0"/>
              </a:spcBef>
              <a:spcAft>
                <a:spcPts val="0"/>
              </a:spcAft>
              <a:buSzPts val="5196"/>
              <a:buNone/>
              <a:defRPr sz="5196"/>
            </a:lvl2pPr>
            <a:lvl3pPr lvl="2" algn="ctr">
              <a:lnSpc>
                <a:spcPct val="100000"/>
              </a:lnSpc>
              <a:spcBef>
                <a:spcPts val="0"/>
              </a:spcBef>
              <a:spcAft>
                <a:spcPts val="0"/>
              </a:spcAft>
              <a:buSzPts val="5196"/>
              <a:buNone/>
              <a:defRPr sz="5196"/>
            </a:lvl3pPr>
            <a:lvl4pPr lvl="3" algn="ctr">
              <a:lnSpc>
                <a:spcPct val="100000"/>
              </a:lnSpc>
              <a:spcBef>
                <a:spcPts val="0"/>
              </a:spcBef>
              <a:spcAft>
                <a:spcPts val="0"/>
              </a:spcAft>
              <a:buSzPts val="5196"/>
              <a:buNone/>
              <a:defRPr sz="5196"/>
            </a:lvl4pPr>
            <a:lvl5pPr lvl="4" algn="ctr">
              <a:lnSpc>
                <a:spcPct val="100000"/>
              </a:lnSpc>
              <a:spcBef>
                <a:spcPts val="0"/>
              </a:spcBef>
              <a:spcAft>
                <a:spcPts val="0"/>
              </a:spcAft>
              <a:buSzPts val="5196"/>
              <a:buNone/>
              <a:defRPr sz="5196"/>
            </a:lvl5pPr>
            <a:lvl6pPr lvl="5" algn="ctr">
              <a:lnSpc>
                <a:spcPct val="100000"/>
              </a:lnSpc>
              <a:spcBef>
                <a:spcPts val="0"/>
              </a:spcBef>
              <a:spcAft>
                <a:spcPts val="0"/>
              </a:spcAft>
              <a:buSzPts val="5196"/>
              <a:buNone/>
              <a:defRPr sz="5196"/>
            </a:lvl6pPr>
            <a:lvl7pPr lvl="6" algn="ctr">
              <a:lnSpc>
                <a:spcPct val="100000"/>
              </a:lnSpc>
              <a:spcBef>
                <a:spcPts val="0"/>
              </a:spcBef>
              <a:spcAft>
                <a:spcPts val="0"/>
              </a:spcAft>
              <a:buSzPts val="5196"/>
              <a:buNone/>
              <a:defRPr sz="5196"/>
            </a:lvl7pPr>
            <a:lvl8pPr lvl="7" algn="ctr">
              <a:lnSpc>
                <a:spcPct val="100000"/>
              </a:lnSpc>
              <a:spcBef>
                <a:spcPts val="0"/>
              </a:spcBef>
              <a:spcAft>
                <a:spcPts val="0"/>
              </a:spcAft>
              <a:buSzPts val="5196"/>
              <a:buNone/>
              <a:defRPr sz="5196"/>
            </a:lvl8pPr>
            <a:lvl9pPr lvl="8" algn="ctr">
              <a:lnSpc>
                <a:spcPct val="100000"/>
              </a:lnSpc>
              <a:spcBef>
                <a:spcPts val="0"/>
              </a:spcBef>
              <a:spcAft>
                <a:spcPts val="0"/>
              </a:spcAft>
              <a:buSzPts val="5196"/>
              <a:buNone/>
              <a:defRPr sz="5196"/>
            </a:lvl9pPr>
          </a:lstStyle>
          <a:p/>
        </p:txBody>
      </p:sp>
      <p:sp>
        <p:nvSpPr>
          <p:cNvPr id="38" name="Google Shape;38;p9"/>
          <p:cNvSpPr txBox="1"/>
          <p:nvPr>
            <p:ph idx="1" type="subTitle"/>
          </p:nvPr>
        </p:nvSpPr>
        <p:spPr>
          <a:xfrm>
            <a:off x="292050" y="4235758"/>
            <a:ext cx="4449600" cy="18663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2598"/>
              <a:buNone/>
              <a:defRPr sz="2598"/>
            </a:lvl1pPr>
            <a:lvl2pPr lvl="1" algn="ctr">
              <a:lnSpc>
                <a:spcPct val="100000"/>
              </a:lnSpc>
              <a:spcBef>
                <a:spcPts val="0"/>
              </a:spcBef>
              <a:spcAft>
                <a:spcPts val="0"/>
              </a:spcAft>
              <a:buSzPts val="2598"/>
              <a:buNone/>
              <a:defRPr sz="2598"/>
            </a:lvl2pPr>
            <a:lvl3pPr lvl="2" algn="ctr">
              <a:lnSpc>
                <a:spcPct val="100000"/>
              </a:lnSpc>
              <a:spcBef>
                <a:spcPts val="0"/>
              </a:spcBef>
              <a:spcAft>
                <a:spcPts val="0"/>
              </a:spcAft>
              <a:buSzPts val="2598"/>
              <a:buNone/>
              <a:defRPr sz="2598"/>
            </a:lvl3pPr>
            <a:lvl4pPr lvl="3" algn="ctr">
              <a:lnSpc>
                <a:spcPct val="100000"/>
              </a:lnSpc>
              <a:spcBef>
                <a:spcPts val="0"/>
              </a:spcBef>
              <a:spcAft>
                <a:spcPts val="0"/>
              </a:spcAft>
              <a:buSzPts val="2598"/>
              <a:buNone/>
              <a:defRPr sz="2598"/>
            </a:lvl4pPr>
            <a:lvl5pPr lvl="4" algn="ctr">
              <a:lnSpc>
                <a:spcPct val="100000"/>
              </a:lnSpc>
              <a:spcBef>
                <a:spcPts val="0"/>
              </a:spcBef>
              <a:spcAft>
                <a:spcPts val="0"/>
              </a:spcAft>
              <a:buSzPts val="2598"/>
              <a:buNone/>
              <a:defRPr sz="2598"/>
            </a:lvl5pPr>
            <a:lvl6pPr lvl="5" algn="ctr">
              <a:lnSpc>
                <a:spcPct val="100000"/>
              </a:lnSpc>
              <a:spcBef>
                <a:spcPts val="0"/>
              </a:spcBef>
              <a:spcAft>
                <a:spcPts val="0"/>
              </a:spcAft>
              <a:buSzPts val="2598"/>
              <a:buNone/>
              <a:defRPr sz="2598"/>
            </a:lvl6pPr>
            <a:lvl7pPr lvl="6" algn="ctr">
              <a:lnSpc>
                <a:spcPct val="100000"/>
              </a:lnSpc>
              <a:spcBef>
                <a:spcPts val="0"/>
              </a:spcBef>
              <a:spcAft>
                <a:spcPts val="0"/>
              </a:spcAft>
              <a:buSzPts val="2598"/>
              <a:buNone/>
              <a:defRPr sz="2598"/>
            </a:lvl7pPr>
            <a:lvl8pPr lvl="7" algn="ctr">
              <a:lnSpc>
                <a:spcPct val="100000"/>
              </a:lnSpc>
              <a:spcBef>
                <a:spcPts val="0"/>
              </a:spcBef>
              <a:spcAft>
                <a:spcPts val="0"/>
              </a:spcAft>
              <a:buSzPts val="2598"/>
              <a:buNone/>
              <a:defRPr sz="2598"/>
            </a:lvl8pPr>
            <a:lvl9pPr lvl="8" algn="ctr">
              <a:lnSpc>
                <a:spcPct val="100000"/>
              </a:lnSpc>
              <a:spcBef>
                <a:spcPts val="0"/>
              </a:spcBef>
              <a:spcAft>
                <a:spcPts val="0"/>
              </a:spcAft>
              <a:buSzPts val="2598"/>
              <a:buNone/>
              <a:defRPr sz="2598"/>
            </a:lvl9pPr>
          </a:lstStyle>
          <a:p/>
        </p:txBody>
      </p:sp>
      <p:sp>
        <p:nvSpPr>
          <p:cNvPr id="39" name="Google Shape;39;p9"/>
          <p:cNvSpPr txBox="1"/>
          <p:nvPr>
            <p:ph idx="2" type="body"/>
          </p:nvPr>
        </p:nvSpPr>
        <p:spPr>
          <a:xfrm>
            <a:off x="5433450" y="1094158"/>
            <a:ext cx="4220700" cy="5583600"/>
          </a:xfrm>
          <a:prstGeom prst="rect">
            <a:avLst/>
          </a:prstGeom>
          <a:noFill/>
          <a:ln>
            <a:noFill/>
          </a:ln>
        </p:spPr>
        <p:txBody>
          <a:bodyPr anchorCtr="0" anchor="ctr"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40" name="Google Shape;40;p9"/>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a:noFill/>
          <a:ln>
            <a:noFill/>
          </a:ln>
        </p:spPr>
        <p:txBody>
          <a:bodyPr anchorCtr="0" anchor="ctr" bIns="113100" lIns="113100" spcFirstLastPara="1" rIns="113100" wrap="square" tIns="113100">
            <a:spAutoFit/>
          </a:bodyPr>
          <a:lstStyle>
            <a:lvl1pPr indent="-228600" lvl="0" marL="457200" algn="l">
              <a:lnSpc>
                <a:spcPct val="100000"/>
              </a:lnSpc>
              <a:spcBef>
                <a:spcPts val="0"/>
              </a:spcBef>
              <a:spcAft>
                <a:spcPts val="0"/>
              </a:spcAft>
              <a:buSzPts val="2227"/>
              <a:buNone/>
              <a:defRPr sz="2227"/>
            </a:lvl1pPr>
          </a:lstStyle>
          <a:p/>
        </p:txBody>
      </p:sp>
      <p:sp>
        <p:nvSpPr>
          <p:cNvPr id="43" name="Google Shape;43;p10"/>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600" cy="29670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14844"/>
              <a:buNone/>
              <a:defRPr sz="14844"/>
            </a:lvl1pPr>
            <a:lvl2pPr lvl="1" algn="ctr">
              <a:lnSpc>
                <a:spcPct val="100000"/>
              </a:lnSpc>
              <a:spcBef>
                <a:spcPts val="0"/>
              </a:spcBef>
              <a:spcAft>
                <a:spcPts val="0"/>
              </a:spcAft>
              <a:buSzPts val="14844"/>
              <a:buNone/>
              <a:defRPr sz="14844"/>
            </a:lvl2pPr>
            <a:lvl3pPr lvl="2" algn="ctr">
              <a:lnSpc>
                <a:spcPct val="100000"/>
              </a:lnSpc>
              <a:spcBef>
                <a:spcPts val="0"/>
              </a:spcBef>
              <a:spcAft>
                <a:spcPts val="0"/>
              </a:spcAft>
              <a:buSzPts val="14844"/>
              <a:buNone/>
              <a:defRPr sz="14844"/>
            </a:lvl3pPr>
            <a:lvl4pPr lvl="3" algn="ctr">
              <a:lnSpc>
                <a:spcPct val="100000"/>
              </a:lnSpc>
              <a:spcBef>
                <a:spcPts val="0"/>
              </a:spcBef>
              <a:spcAft>
                <a:spcPts val="0"/>
              </a:spcAft>
              <a:buSzPts val="14844"/>
              <a:buNone/>
              <a:defRPr sz="14844"/>
            </a:lvl4pPr>
            <a:lvl5pPr lvl="4" algn="ctr">
              <a:lnSpc>
                <a:spcPct val="100000"/>
              </a:lnSpc>
              <a:spcBef>
                <a:spcPts val="0"/>
              </a:spcBef>
              <a:spcAft>
                <a:spcPts val="0"/>
              </a:spcAft>
              <a:buSzPts val="14844"/>
              <a:buNone/>
              <a:defRPr sz="14844"/>
            </a:lvl5pPr>
            <a:lvl6pPr lvl="5" algn="ctr">
              <a:lnSpc>
                <a:spcPct val="100000"/>
              </a:lnSpc>
              <a:spcBef>
                <a:spcPts val="0"/>
              </a:spcBef>
              <a:spcAft>
                <a:spcPts val="0"/>
              </a:spcAft>
              <a:buSzPts val="14844"/>
              <a:buNone/>
              <a:defRPr sz="14844"/>
            </a:lvl6pPr>
            <a:lvl7pPr lvl="6" algn="ctr">
              <a:lnSpc>
                <a:spcPct val="100000"/>
              </a:lnSpc>
              <a:spcBef>
                <a:spcPts val="0"/>
              </a:spcBef>
              <a:spcAft>
                <a:spcPts val="0"/>
              </a:spcAft>
              <a:buSzPts val="14844"/>
              <a:buNone/>
              <a:defRPr sz="14844"/>
            </a:lvl7pPr>
            <a:lvl8pPr lvl="7" algn="ctr">
              <a:lnSpc>
                <a:spcPct val="100000"/>
              </a:lnSpc>
              <a:spcBef>
                <a:spcPts val="0"/>
              </a:spcBef>
              <a:spcAft>
                <a:spcPts val="0"/>
              </a:spcAft>
              <a:buSzPts val="14844"/>
              <a:buNone/>
              <a:defRPr sz="14844"/>
            </a:lvl8pPr>
            <a:lvl9pPr lvl="8" algn="ctr">
              <a:lnSpc>
                <a:spcPct val="100000"/>
              </a:lnSpc>
              <a:spcBef>
                <a:spcPts val="0"/>
              </a:spcBef>
              <a:spcAft>
                <a:spcPts val="0"/>
              </a:spcAft>
              <a:buSzPts val="14844"/>
              <a:buNone/>
              <a:defRPr sz="14844"/>
            </a:lvl9pPr>
          </a:lstStyle>
          <a:p>
            <a:r>
              <a:t>xx%</a:t>
            </a:r>
          </a:p>
        </p:txBody>
      </p:sp>
      <p:sp>
        <p:nvSpPr>
          <p:cNvPr id="46" name="Google Shape;46;p11"/>
          <p:cNvSpPr txBox="1"/>
          <p:nvPr>
            <p:ph idx="1" type="body"/>
          </p:nvPr>
        </p:nvSpPr>
        <p:spPr>
          <a:xfrm>
            <a:off x="342870" y="4763362"/>
            <a:ext cx="9372600" cy="1965600"/>
          </a:xfrm>
          <a:prstGeom prst="rect">
            <a:avLst/>
          </a:prstGeom>
          <a:noFill/>
          <a:ln>
            <a:noFill/>
          </a:ln>
        </p:spPr>
        <p:txBody>
          <a:bodyPr anchorCtr="0" anchor="t" bIns="113100" lIns="113100" spcFirstLastPara="1" rIns="113100" wrap="square" tIns="113100">
            <a:spAutoFit/>
          </a:bodyPr>
          <a:lstStyle>
            <a:lvl1pPr indent="-370015" lvl="0" marL="457200" algn="ctr">
              <a:lnSpc>
                <a:spcPct val="115000"/>
              </a:lnSpc>
              <a:spcBef>
                <a:spcPts val="0"/>
              </a:spcBef>
              <a:spcAft>
                <a:spcPts val="0"/>
              </a:spcAft>
              <a:buSzPts val="2227"/>
              <a:buChar char="●"/>
              <a:defRPr sz="2227"/>
            </a:lvl1pPr>
            <a:lvl2pPr indent="-338582" lvl="1" marL="914400" algn="ctr">
              <a:lnSpc>
                <a:spcPct val="115000"/>
              </a:lnSpc>
              <a:spcBef>
                <a:spcPts val="0"/>
              </a:spcBef>
              <a:spcAft>
                <a:spcPts val="0"/>
              </a:spcAft>
              <a:buSzPts val="1732"/>
              <a:buChar char="○"/>
              <a:defRPr sz="1732"/>
            </a:lvl2pPr>
            <a:lvl3pPr indent="-338582" lvl="2" marL="1371600" algn="ctr">
              <a:lnSpc>
                <a:spcPct val="115000"/>
              </a:lnSpc>
              <a:spcBef>
                <a:spcPts val="0"/>
              </a:spcBef>
              <a:spcAft>
                <a:spcPts val="0"/>
              </a:spcAft>
              <a:buSzPts val="1732"/>
              <a:buChar char="■"/>
              <a:defRPr sz="1732"/>
            </a:lvl3pPr>
            <a:lvl4pPr indent="-338582" lvl="3" marL="1828800" algn="ctr">
              <a:lnSpc>
                <a:spcPct val="115000"/>
              </a:lnSpc>
              <a:spcBef>
                <a:spcPts val="0"/>
              </a:spcBef>
              <a:spcAft>
                <a:spcPts val="0"/>
              </a:spcAft>
              <a:buSzPts val="1732"/>
              <a:buChar char="●"/>
              <a:defRPr sz="1732"/>
            </a:lvl4pPr>
            <a:lvl5pPr indent="-338582" lvl="4" marL="2286000" algn="ctr">
              <a:lnSpc>
                <a:spcPct val="115000"/>
              </a:lnSpc>
              <a:spcBef>
                <a:spcPts val="0"/>
              </a:spcBef>
              <a:spcAft>
                <a:spcPts val="0"/>
              </a:spcAft>
              <a:buSzPts val="1732"/>
              <a:buChar char="○"/>
              <a:defRPr sz="1732"/>
            </a:lvl5pPr>
            <a:lvl6pPr indent="-338582" lvl="5" marL="2743200" algn="ctr">
              <a:lnSpc>
                <a:spcPct val="115000"/>
              </a:lnSpc>
              <a:spcBef>
                <a:spcPts val="0"/>
              </a:spcBef>
              <a:spcAft>
                <a:spcPts val="0"/>
              </a:spcAft>
              <a:buSzPts val="1732"/>
              <a:buChar char="■"/>
              <a:defRPr sz="1732"/>
            </a:lvl6pPr>
            <a:lvl7pPr indent="-338582" lvl="6" marL="3200400" algn="ctr">
              <a:lnSpc>
                <a:spcPct val="115000"/>
              </a:lnSpc>
              <a:spcBef>
                <a:spcPts val="0"/>
              </a:spcBef>
              <a:spcAft>
                <a:spcPts val="0"/>
              </a:spcAft>
              <a:buSzPts val="1732"/>
              <a:buChar char="●"/>
              <a:defRPr sz="1732"/>
            </a:lvl7pPr>
            <a:lvl8pPr indent="-338582" lvl="7" marL="3657600" algn="ctr">
              <a:lnSpc>
                <a:spcPct val="115000"/>
              </a:lnSpc>
              <a:spcBef>
                <a:spcPts val="0"/>
              </a:spcBef>
              <a:spcAft>
                <a:spcPts val="0"/>
              </a:spcAft>
              <a:buSzPts val="1732"/>
              <a:buChar char="○"/>
              <a:defRPr sz="1732"/>
            </a:lvl8pPr>
            <a:lvl9pPr indent="-338582" lvl="8" marL="4114800" algn="ctr">
              <a:lnSpc>
                <a:spcPct val="115000"/>
              </a:lnSpc>
              <a:spcBef>
                <a:spcPts val="0"/>
              </a:spcBef>
              <a:spcAft>
                <a:spcPts val="0"/>
              </a:spcAft>
              <a:buSzPts val="1732"/>
              <a:buChar char="■"/>
              <a:defRPr sz="1732"/>
            </a:lvl9pPr>
          </a:lstStyle>
          <a:p/>
        </p:txBody>
      </p:sp>
      <p:sp>
        <p:nvSpPr>
          <p:cNvPr id="47" name="Google Shape;47;p1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E338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marR="0" rtl="0" algn="l">
              <a:lnSpc>
                <a:spcPct val="115000"/>
              </a:lnSpc>
              <a:spcBef>
                <a:spcPts val="0"/>
              </a:spcBef>
              <a:spcAft>
                <a:spcPts val="0"/>
              </a:spcAft>
              <a:buClr>
                <a:schemeClr val="dk2"/>
              </a:buClr>
              <a:buSzPts val="2227"/>
              <a:buFont typeface="Arial"/>
              <a:buChar char="●"/>
              <a:defRPr b="0" i="0" sz="2227" u="none" cap="none" strike="noStrike">
                <a:solidFill>
                  <a:schemeClr val="dk2"/>
                </a:solidFill>
                <a:latin typeface="Arial"/>
                <a:ea typeface="Arial"/>
                <a:cs typeface="Arial"/>
                <a:sym typeface="Arial"/>
              </a:defRPr>
            </a:lvl1pPr>
            <a:lvl2pPr indent="-338582" lvl="1" marL="914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2pPr>
            <a:lvl3pPr indent="-338582" lvl="2" marL="1371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3pPr>
            <a:lvl4pPr indent="-338582" lvl="3" marL="1828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4pPr>
            <a:lvl5pPr indent="-338582" lvl="4" marL="22860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5pPr>
            <a:lvl6pPr indent="-338582" lvl="5" marL="27432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6pPr>
            <a:lvl7pPr indent="-338582" lvl="6" marL="3200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7pPr>
            <a:lvl8pPr indent="-338582" lvl="7" marL="3657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8pPr>
            <a:lvl9pPr indent="-338582" lvl="8" marL="4114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6260400" y="1371600"/>
            <a:ext cx="4024800" cy="4096800"/>
          </a:xfrm>
          <a:prstGeom prst="rect">
            <a:avLst/>
          </a:prstGeom>
        </p:spPr>
      </p:pic>
      <p:pic>
        <p:nvPicPr>
          <p:cNvPr id="3" name="Picture 2" descr="image2.png"/>
          <p:cNvPicPr>
            <a:picLocks noChangeAspect="1"/>
          </p:cNvPicPr>
          <p:nvPr/>
        </p:nvPicPr>
        <p:blipFill>
          <a:blip r:embed="rId3"/>
          <a:stretch>
            <a:fillRect/>
          </a:stretch>
        </p:blipFill>
        <p:spPr>
          <a:xfrm>
            <a:off x="687600" y="914400"/>
            <a:ext cx="3484800" cy="1080000"/>
          </a:xfrm>
          <a:prstGeom prst="rect">
            <a:avLst/>
          </a:prstGeom>
        </p:spPr>
      </p:pic>
      <p:sp>
        <p:nvSpPr>
          <p:cNvPr id="4" name="TextBox 3"/>
          <p:cNvSpPr txBox="1"/>
          <p:nvPr/>
        </p:nvSpPr>
        <p:spPr>
          <a:xfrm>
            <a:off x="684000" y="4575600"/>
            <a:ext cx="8802000" cy="2512800"/>
          </a:xfrm>
          <a:prstGeom prst="rect">
            <a:avLst/>
          </a:prstGeom>
          <a:noFill/>
        </p:spPr>
        <p:txBody>
          <a:bodyPr wrap="square" anchor="ctr" lIns="0" rIns="0" tIns="0" bIns="0">
            <a:noAutofit/>
          </a:bodyPr>
          <a:lstStyle/>
          <a:p>
            <a:pPr algn="l">
              <a:lnSpc>
                <a:spcPct val="100000"/>
              </a:lnSpc>
            </a:pPr>
            <a:r>
              <a:rPr sz="4400" b="0" i="0">
                <a:solidFill>
                  <a:srgbClr val="FFFFFF"/>
                </a:solidFill>
                <a:latin typeface="Bungee"/>
                <a:ea typeface="Bungee"/>
                <a:cs typeface="Bungee"/>
                <a:sym typeface="Bungee"/>
              </a:rPr>
              <a:t>Introduction to</a:t>
            </a:r>
          </a:p>
          <a:p>
            <a:pPr algn="l">
              <a:lnSpc>
                <a:spcPct val="100000"/>
              </a:lnSpc>
            </a:pPr>
            <a:r>
              <a:rPr sz="4400" b="0" i="0">
                <a:solidFill>
                  <a:srgbClr val="FFFFFF"/>
                </a:solidFill>
                <a:latin typeface="Bungee"/>
                <a:ea typeface="Bungee"/>
                <a:cs typeface="Bungee"/>
                <a:sym typeface="Bungee"/>
              </a:rPr>
              <a:t>Advanced Robotics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547600"/>
            <a:ext cx="8686800" cy="15408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Project 7</a:t>
            </a:r>
          </a:p>
          <a:p>
            <a:pPr algn="l">
              <a:lnSpc>
                <a:spcPct val="100000"/>
              </a:lnSpc>
            </a:pPr>
            <a:r>
              <a:rPr sz="4400" b="0" i="0">
                <a:solidFill>
                  <a:srgbClr val="FFFFFF"/>
                </a:solidFill>
                <a:latin typeface="Bungee"/>
                <a:ea typeface="Bungee"/>
                <a:cs typeface="Bungee"/>
                <a:sym typeface="Bungee"/>
              </a:rPr>
              <a:t>Read the 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this project builds</a:t>
            </a:r>
          </a:p>
        </p:txBody>
      </p:sp>
      <p:sp>
        <p:nvSpPr>
          <p:cNvPr id="3" name="blk000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Draw a tic-tac-toe board on paper, put the camera above it, and let the program read the board nine times a second. Red pieces become X, blue pieces become O, and an empty cell stays empty.</a:t>
            </a:r>
          </a:p>
          <a:p>
            <a:pPr algn="l">
              <a:lnSpc>
                <a:spcPct val="100000"/>
              </a:lnSpc>
            </a:pPr>
            <a:r>
              <a:rPr sz="2027" b="0" i="0">
                <a:solidFill>
                  <a:srgbClr val="FFFFFF"/>
                </a:solidFill>
                <a:latin typeface="Avenir"/>
                <a:ea typeface="Avenir"/>
                <a:cs typeface="Avenir"/>
                <a:sym typeface="Avenir"/>
              </a:rPr>
              <a:t>No arm movement. No rules. No winning. This project is the part that looks at the board, and it is deliberately the smallest interesting thing that can look at a board.</a:t>
            </a:r>
          </a:p>
        </p:txBody>
      </p:sp>
      <p:sp>
        <p:nvSpPr>
          <p:cNvPr id="4" name="blk0003"/>
          <p:cNvSpPr/>
          <p:nvPr/>
        </p:nvSpPr>
        <p:spPr>
          <a:xfrm>
            <a:off x="741600" y="3649203"/>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3"/>
          <p:cNvSpPr txBox="1"/>
          <p:nvPr/>
        </p:nvSpPr>
        <p:spPr>
          <a:xfrm>
            <a:off x="1252800" y="3620403"/>
            <a:ext cx="8118000" cy="720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 region of interest</a:t>
            </a:r>
            <a:r>
              <a:rPr sz="1600" b="0" i="0">
                <a:solidFill>
                  <a:srgbClr val="FFFFFF"/>
                </a:solidFill>
                <a:latin typeface="Avenir"/>
                <a:ea typeface="Avenir"/>
                <a:cs typeface="Avenir"/>
                <a:sym typeface="Avenir"/>
              </a:rPr>
              <a:t> — one rectangle of the picture, defined by numbers, that everything else works inside.</a:t>
            </a:r>
          </a:p>
        </p:txBody>
      </p:sp>
      <p:sp>
        <p:nvSpPr>
          <p:cNvPr id="6" name="blk0004"/>
          <p:cNvSpPr/>
          <p:nvPr/>
        </p:nvSpPr>
        <p:spPr>
          <a:xfrm>
            <a:off x="741600" y="4342419"/>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04"/>
          <p:cNvSpPr txBox="1"/>
          <p:nvPr/>
        </p:nvSpPr>
        <p:spPr>
          <a:xfrm>
            <a:off x="1252800" y="4313619"/>
            <a:ext cx="8118000" cy="720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 colour test per cell</a:t>
            </a:r>
            <a:r>
              <a:rPr sz="1600" b="0" i="0">
                <a:solidFill>
                  <a:srgbClr val="FFFFFF"/>
                </a:solidFill>
                <a:latin typeface="Avenir"/>
                <a:ea typeface="Avenir"/>
                <a:cs typeface="Avenir"/>
                <a:sym typeface="Avenir"/>
              </a:rPr>
              <a:t> — the red wraparound trick you already built in Project 5, reused on a smaller picture.</a:t>
            </a:r>
          </a:p>
        </p:txBody>
      </p:sp>
      <p:sp>
        <p:nvSpPr>
          <p:cNvPr id="8" name="blk0005"/>
          <p:cNvSpPr/>
          <p:nvPr/>
        </p:nvSpPr>
        <p:spPr>
          <a:xfrm>
            <a:off x="741600" y="5035635"/>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05"/>
          <p:cNvSpPr txBox="1"/>
          <p:nvPr/>
        </p:nvSpPr>
        <p:spPr>
          <a:xfrm>
            <a:off x="1252800" y="5006835"/>
            <a:ext cx="8118000" cy="720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 board as data</a:t>
            </a:r>
            <a:r>
              <a:rPr sz="1600" b="0" i="0">
                <a:solidFill>
                  <a:srgbClr val="FFFFFF"/>
                </a:solidFill>
                <a:latin typeface="Avenir"/>
                <a:ea typeface="Avenir"/>
                <a:cs typeface="Avenir"/>
                <a:sym typeface="Avenir"/>
              </a:rPr>
              <a:t> — nine single characters in a 3x3 list, which is something a program can reason about.</a:t>
            </a:r>
          </a:p>
        </p:txBody>
      </p:sp>
      <p:sp>
        <p:nvSpPr>
          <p:cNvPr id="10" name="blk0006"/>
          <p:cNvSpPr/>
          <p:nvPr/>
        </p:nvSpPr>
        <p:spPr>
          <a:xfrm>
            <a:off x="687600" y="5903999"/>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06"/>
          <p:cNvSpPr/>
          <p:nvPr/>
        </p:nvSpPr>
        <p:spPr>
          <a:xfrm>
            <a:off x="885600" y="621791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006"/>
          <p:cNvSpPr txBox="1"/>
          <p:nvPr/>
        </p:nvSpPr>
        <p:spPr>
          <a:xfrm>
            <a:off x="1162800" y="6047999"/>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output of this project is not a game. It is a truth about the world, refreshed continuously: what is on the board, right now.</a:t>
            </a:r>
          </a:p>
        </p:txBody>
      </p:sp>
      <p:sp>
        <p:nvSpPr>
          <p:cNvPr id="13" name="blk0007"/>
          <p:cNvSpPr txBox="1"/>
          <p:nvPr/>
        </p:nvSpPr>
        <p:spPr>
          <a:xfrm>
            <a:off x="687600" y="677663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Project 8 builds a real opponent on this </a:t>
            </a:r>
            <a:r>
              <a:rPr sz="1419" b="0" i="0">
                <a:solidFill>
                  <a:srgbClr val="FFFFFF"/>
                </a:solidFill>
                <a:latin typeface="Courier New"/>
                <a:ea typeface="Courier New"/>
                <a:cs typeface="Courier New"/>
                <a:sym typeface="Courier New"/>
              </a:rPr>
              <a:t>parse_board_state</a:t>
            </a:r>
            <a:r>
              <a:rPr sz="1650" b="0" i="0">
                <a:solidFill>
                  <a:srgbClr val="FFFFFF"/>
                </a:solidFill>
                <a:latin typeface="Avenir"/>
                <a:ea typeface="Avenir"/>
                <a:cs typeface="Avenir"/>
                <a:sym typeface="Avenir"/>
              </a:rPr>
              <a:t>. Everything you write this week feeds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Nine cells, one loop</a:t>
            </a:r>
          </a:p>
        </p:txBody>
      </p:sp>
      <p:sp>
        <p:nvSpPr>
          <p:cNvPr id="3" name="blk000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entire program is one loop that runs forever and does four things, over and over:</a:t>
            </a:r>
          </a:p>
        </p:txBody>
      </p:sp>
      <p:sp>
        <p:nvSpPr>
          <p:cNvPr id="4" name="blk0010"/>
          <p:cNvSpPr/>
          <p:nvPr/>
        </p:nvSpPr>
        <p:spPr>
          <a:xfrm>
            <a:off x="687600" y="2520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10"/>
          <p:cNvSpPr txBox="1"/>
          <p:nvPr/>
        </p:nvSpPr>
        <p:spPr>
          <a:xfrm>
            <a:off x="687600" y="2520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010"/>
          <p:cNvSpPr txBox="1"/>
          <p:nvPr/>
        </p:nvSpPr>
        <p:spPr>
          <a:xfrm>
            <a:off x="1252800" y="2498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Read a frame</a:t>
            </a:r>
          </a:p>
        </p:txBody>
      </p:sp>
      <p:sp>
        <p:nvSpPr>
          <p:cNvPr id="7" name="blk0010"/>
          <p:cNvSpPr txBox="1"/>
          <p:nvPr/>
        </p:nvSpPr>
        <p:spPr>
          <a:xfrm>
            <a:off x="1252800" y="281880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One picture from the camera, 640 by 480.</a:t>
            </a:r>
          </a:p>
        </p:txBody>
      </p:sp>
      <p:sp>
        <p:nvSpPr>
          <p:cNvPr id="8" name="blk0011"/>
          <p:cNvSpPr/>
          <p:nvPr/>
        </p:nvSpPr>
        <p:spPr>
          <a:xfrm>
            <a:off x="687600" y="322272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11"/>
          <p:cNvSpPr txBox="1"/>
          <p:nvPr/>
        </p:nvSpPr>
        <p:spPr>
          <a:xfrm>
            <a:off x="687600" y="322272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011"/>
          <p:cNvSpPr txBox="1"/>
          <p:nvPr/>
        </p:nvSpPr>
        <p:spPr>
          <a:xfrm>
            <a:off x="1252800" y="320112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Cut it into nine</a:t>
            </a:r>
          </a:p>
        </p:txBody>
      </p:sp>
      <p:sp>
        <p:nvSpPr>
          <p:cNvPr id="11" name="blk0011"/>
          <p:cNvSpPr txBox="1"/>
          <p:nvPr/>
        </p:nvSpPr>
        <p:spPr>
          <a:xfrm>
            <a:off x="1252800" y="352152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Nine rectangles, using arithmetic rather than a mouse.</a:t>
            </a:r>
          </a:p>
        </p:txBody>
      </p:sp>
      <p:sp>
        <p:nvSpPr>
          <p:cNvPr id="12" name="blk0012"/>
          <p:cNvSpPr/>
          <p:nvPr/>
        </p:nvSpPr>
        <p:spPr>
          <a:xfrm>
            <a:off x="687600" y="392544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012"/>
          <p:cNvSpPr txBox="1"/>
          <p:nvPr/>
        </p:nvSpPr>
        <p:spPr>
          <a:xfrm>
            <a:off x="687600" y="392544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012"/>
          <p:cNvSpPr txBox="1"/>
          <p:nvPr/>
        </p:nvSpPr>
        <p:spPr>
          <a:xfrm>
            <a:off x="1252800" y="390384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Test each one</a:t>
            </a:r>
          </a:p>
        </p:txBody>
      </p:sp>
      <p:sp>
        <p:nvSpPr>
          <p:cNvPr id="15" name="blk0012"/>
          <p:cNvSpPr txBox="1"/>
          <p:nvPr/>
        </p:nvSpPr>
        <p:spPr>
          <a:xfrm>
            <a:off x="1252800" y="422424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Red, blue, or nothing. One character returned.</a:t>
            </a:r>
          </a:p>
        </p:txBody>
      </p:sp>
      <p:sp>
        <p:nvSpPr>
          <p:cNvPr id="16" name="blk0013"/>
          <p:cNvSpPr/>
          <p:nvPr/>
        </p:nvSpPr>
        <p:spPr>
          <a:xfrm>
            <a:off x="687600" y="462816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013"/>
          <p:cNvSpPr txBox="1"/>
          <p:nvPr/>
        </p:nvSpPr>
        <p:spPr>
          <a:xfrm>
            <a:off x="687600" y="462816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013"/>
          <p:cNvSpPr txBox="1"/>
          <p:nvPr/>
        </p:nvSpPr>
        <p:spPr>
          <a:xfrm>
            <a:off x="1252800" y="460656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Draw it back</a:t>
            </a:r>
          </a:p>
        </p:txBody>
      </p:sp>
      <p:sp>
        <p:nvSpPr>
          <p:cNvPr id="19" name="blk0013"/>
          <p:cNvSpPr txBox="1"/>
          <p:nvPr/>
        </p:nvSpPr>
        <p:spPr>
          <a:xfrm>
            <a:off x="1252800" y="492696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The grid, the pieces, and a label, over the top of the picture.</a:t>
            </a:r>
          </a:p>
        </p:txBody>
      </p:sp>
      <p:sp>
        <p:nvSpPr>
          <p:cNvPr id="20" name="blk0014"/>
          <p:cNvSpPr txBox="1"/>
          <p:nvPr/>
        </p:nvSpPr>
        <p:spPr>
          <a:xfrm>
            <a:off x="687600" y="5328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Steps 2 and 3 are the whole project. Step 4 exists so that a human can check the answer without reading a single line of Python — and in this module that has turned out to matter more than expected.</a:t>
            </a:r>
          </a:p>
        </p:txBody>
      </p:sp>
      <p:sp>
        <p:nvSpPr>
          <p:cNvPr id="21" name="blk0015"/>
          <p:cNvSpPr/>
          <p:nvPr/>
        </p:nvSpPr>
        <p:spPr>
          <a:xfrm>
            <a:off x="687600" y="6341256"/>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blk0015"/>
          <p:cNvSpPr/>
          <p:nvPr/>
        </p:nvSpPr>
        <p:spPr>
          <a:xfrm>
            <a:off x="885600" y="6655176"/>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lk0015"/>
          <p:cNvSpPr txBox="1"/>
          <p:nvPr/>
        </p:nvSpPr>
        <p:spPr>
          <a:xfrm>
            <a:off x="1162800" y="6485255"/>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Nothing here is slow. Nine small colour tests take well under a millisecond, which is why a plain loop with no threading is enough.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BGR is not a colour name</a:t>
            </a:r>
          </a:p>
        </p:txBody>
      </p:sp>
      <p:sp>
        <p:nvSpPr>
          <p:cNvPr id="3" name="blk001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OpenCV does not hand you "red". It hands you three numbers per pixel, in the order blue, green, red — and each one ranges from 0 to 255. So the brightest red is not </a:t>
            </a:r>
            <a:r>
              <a:rPr sz="1743" b="0" i="0">
                <a:solidFill>
                  <a:srgbClr val="FFFFFF"/>
                </a:solidFill>
                <a:latin typeface="Courier New"/>
                <a:ea typeface="Courier New"/>
                <a:cs typeface="Courier New"/>
                <a:sym typeface="Courier New"/>
              </a:rPr>
              <a:t>(255, 0, 0)</a:t>
            </a:r>
            <a:r>
              <a:rPr sz="2027" b="0" i="0">
                <a:solidFill>
                  <a:srgbClr val="FFFFFF"/>
                </a:solidFill>
                <a:latin typeface="Avenir"/>
                <a:ea typeface="Avenir"/>
                <a:cs typeface="Avenir"/>
                <a:sym typeface="Avenir"/>
              </a:rPr>
              <a:t>, it is </a:t>
            </a:r>
            <a:r>
              <a:rPr sz="1743" b="0" i="0">
                <a:solidFill>
                  <a:srgbClr val="FFFFFF"/>
                </a:solidFill>
                <a:latin typeface="Courier New"/>
                <a:ea typeface="Courier New"/>
                <a:cs typeface="Courier New"/>
                <a:sym typeface="Courier New"/>
              </a:rPr>
              <a:t>(0, 0, 255)</a:t>
            </a:r>
            <a:r>
              <a:rPr sz="2027" b="0" i="0">
                <a:solidFill>
                  <a:srgbClr val="FFFFFF"/>
                </a:solidFill>
                <a:latin typeface="Avenir"/>
                <a:ea typeface="Avenir"/>
                <a:cs typeface="Avenir"/>
                <a:sym typeface="Avenir"/>
              </a:rPr>
              <a:t>.</a:t>
            </a:r>
          </a:p>
          <a:p>
            <a:pPr algn="l">
              <a:lnSpc>
                <a:spcPct val="100000"/>
              </a:lnSpc>
            </a:pPr>
            <a:r>
              <a:rPr sz="2027" b="0" i="0">
                <a:solidFill>
                  <a:srgbClr val="FFFFFF"/>
                </a:solidFill>
                <a:latin typeface="Avenir"/>
                <a:ea typeface="Avenir"/>
                <a:cs typeface="Avenir"/>
                <a:sym typeface="Avenir"/>
              </a:rPr>
              <a:t>Testing a colour that way means writing down a range of possibilities for all three numbers at once. The conversion below moves the problem into a space where one number carries the hue:</a:t>
            </a:r>
          </a:p>
        </p:txBody>
      </p:sp>
      <p:sp>
        <p:nvSpPr>
          <p:cNvPr id="4" name="blk0018"/>
          <p:cNvSpPr/>
          <p:nvPr/>
        </p:nvSpPr>
        <p:spPr>
          <a:xfrm>
            <a:off x="687600" y="3929318"/>
            <a:ext cx="8686800" cy="55562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18"/>
          <p:cNvSpPr txBox="1"/>
          <p:nvPr/>
        </p:nvSpPr>
        <p:spPr>
          <a:xfrm>
            <a:off x="910799" y="4091317"/>
            <a:ext cx="8240400" cy="231626"/>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hsv = cv2.cvtColor(cell_roi, cv2.COLOR_BGR2HSV)</a:t>
            </a:r>
          </a:p>
        </p:txBody>
      </p:sp>
      <p:sp>
        <p:nvSpPr>
          <p:cNvPr id="6" name="blk0019"/>
          <p:cNvSpPr/>
          <p:nvPr/>
        </p:nvSpPr>
        <p:spPr>
          <a:xfrm>
            <a:off x="741600" y="4621744"/>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19"/>
          <p:cNvSpPr txBox="1"/>
          <p:nvPr/>
        </p:nvSpPr>
        <p:spPr>
          <a:xfrm>
            <a:off x="1252800" y="4592944"/>
            <a:ext cx="8118000" cy="68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H</a:t>
            </a:r>
            <a:r>
              <a:rPr sz="1600" b="0" i="0">
                <a:solidFill>
                  <a:srgbClr val="FFFFFF"/>
                </a:solidFill>
                <a:latin typeface="Avenir"/>
                <a:ea typeface="Avenir"/>
                <a:cs typeface="Avenir"/>
                <a:sym typeface="Avenir"/>
              </a:rPr>
              <a:t> is hue — where on the colour wheel the colour sits, 0 to 180 in OpenCV.</a:t>
            </a:r>
          </a:p>
        </p:txBody>
      </p:sp>
      <p:sp>
        <p:nvSpPr>
          <p:cNvPr id="8" name="blk0020"/>
          <p:cNvSpPr/>
          <p:nvPr/>
        </p:nvSpPr>
        <p:spPr>
          <a:xfrm>
            <a:off x="741600" y="510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20"/>
          <p:cNvSpPr txBox="1"/>
          <p:nvPr/>
        </p:nvSpPr>
        <p:spPr>
          <a:xfrm>
            <a:off x="1252800" y="5076000"/>
            <a:ext cx="8118000" cy="68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S</a:t>
            </a:r>
            <a:r>
              <a:rPr sz="1600" b="0" i="0">
                <a:solidFill>
                  <a:srgbClr val="FFFFFF"/>
                </a:solidFill>
                <a:latin typeface="Avenir"/>
                <a:ea typeface="Avenir"/>
                <a:cs typeface="Avenir"/>
                <a:sym typeface="Avenir"/>
              </a:rPr>
              <a:t> is saturation — how vivid it is. Low S means grey, whatever the hue says.</a:t>
            </a:r>
          </a:p>
        </p:txBody>
      </p:sp>
      <p:sp>
        <p:nvSpPr>
          <p:cNvPr id="10" name="blk0021"/>
          <p:cNvSpPr/>
          <p:nvPr/>
        </p:nvSpPr>
        <p:spPr>
          <a:xfrm>
            <a:off x="741600" y="5788799"/>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21"/>
          <p:cNvSpPr txBox="1"/>
          <p:nvPr/>
        </p:nvSpPr>
        <p:spPr>
          <a:xfrm>
            <a:off x="1252800" y="5760000"/>
            <a:ext cx="8118000" cy="68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V</a:t>
            </a:r>
            <a:r>
              <a:rPr sz="1600" b="0" i="0">
                <a:solidFill>
                  <a:srgbClr val="FFFFFF"/>
                </a:solidFill>
                <a:latin typeface="Avenir"/>
                <a:ea typeface="Avenir"/>
                <a:cs typeface="Avenir"/>
                <a:sym typeface="Avenir"/>
              </a:rPr>
              <a:t> is value — how bright it is. Low V means dark, and dark red is black.</a:t>
            </a:r>
          </a:p>
        </p:txBody>
      </p:sp>
      <p:sp>
        <p:nvSpPr>
          <p:cNvPr id="12" name="blk0022"/>
          <p:cNvSpPr txBox="1"/>
          <p:nvPr/>
        </p:nvSpPr>
        <p:spPr>
          <a:xfrm>
            <a:off x="687600" y="6552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Converting does not make the threshold easier to write. It makes it possible to write one that survives a change in lighting, because hue is roughly stable under brightness changes and BGR is not.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Hue is a circle</a:t>
            </a:r>
          </a:p>
        </p:txBody>
      </p:sp>
      <p:sp>
        <p:nvSpPr>
          <p:cNvPr id="3" name="blk002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detail that makes hue different from the other two channels, and it is the whole reason this project has two red ranges instead of one.</a:t>
            </a:r>
          </a:p>
          <a:p>
            <a:pPr algn="l">
              <a:lnSpc>
                <a:spcPct val="100000"/>
              </a:lnSpc>
            </a:pPr>
            <a:r>
              <a:rPr sz="2027" b="0" i="0">
                <a:solidFill>
                  <a:srgbClr val="FFFFFF"/>
                </a:solidFill>
                <a:latin typeface="Avenir"/>
                <a:ea typeface="Avenir"/>
                <a:cs typeface="Avenir"/>
                <a:sym typeface="Avenir"/>
              </a:rPr>
              <a:t>Hue starts at 0 for red and runs to 180 for red again. There is no 181. Red is at both ends of the scale, so a single </a:t>
            </a:r>
            <a:r>
              <a:rPr sz="1743" b="0" i="0">
                <a:solidFill>
                  <a:srgbClr val="FFFFFF"/>
                </a:solidFill>
                <a:latin typeface="Courier New"/>
                <a:ea typeface="Courier New"/>
                <a:cs typeface="Courier New"/>
                <a:sym typeface="Courier New"/>
              </a:rPr>
              <a:t>inRange</a:t>
            </a:r>
            <a:r>
              <a:rPr sz="2027" b="0" i="0">
                <a:solidFill>
                  <a:srgbClr val="FFFFFF"/>
                </a:solidFill>
                <a:latin typeface="Avenir"/>
                <a:ea typeface="Avenir"/>
                <a:cs typeface="Avenir"/>
                <a:sym typeface="Avenir"/>
              </a:rPr>
              <a:t> can never capture it.</a:t>
            </a:r>
          </a:p>
        </p:txBody>
      </p:sp>
      <p:sp>
        <p:nvSpPr>
          <p:cNvPr id="4" name="blk0025"/>
          <p:cNvSpPr/>
          <p:nvPr/>
        </p:nvSpPr>
        <p:spPr>
          <a:xfrm>
            <a:off x="687600" y="3311488"/>
            <a:ext cx="8686800" cy="5390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25"/>
          <p:cNvSpPr txBox="1"/>
          <p:nvPr/>
        </p:nvSpPr>
        <p:spPr>
          <a:xfrm>
            <a:off x="910799" y="3473488"/>
            <a:ext cx="8240400" cy="215081"/>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RED = 0     ... and RED = 180     # the same colour, opposite ends</a:t>
            </a:r>
          </a:p>
        </p:txBody>
      </p:sp>
      <p:sp>
        <p:nvSpPr>
          <p:cNvPr id="6" name="blk0026"/>
          <p:cNvSpPr txBox="1"/>
          <p:nvPr/>
        </p:nvSpPr>
        <p:spPr>
          <a:xfrm>
            <a:off x="687600" y="3960000"/>
            <a:ext cx="7542000" cy="366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ranges are written to cover both ends, and each is a valid slice of the wheel on its own. The first is the 0 end, the second is the 180 end:</a:t>
            </a:r>
          </a:p>
        </p:txBody>
      </p:sp>
      <p:sp>
        <p:nvSpPr>
          <p:cNvPr id="7" name="blk0027"/>
          <p:cNvSpPr/>
          <p:nvPr/>
        </p:nvSpPr>
        <p:spPr>
          <a:xfrm>
            <a:off x="687600" y="4994744"/>
            <a:ext cx="8686800" cy="111814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27"/>
          <p:cNvSpPr txBox="1"/>
          <p:nvPr/>
        </p:nvSpPr>
        <p:spPr>
          <a:xfrm>
            <a:off x="910799" y="5156744"/>
            <a:ext cx="8240400" cy="794146"/>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LOWER_RED1 = np.array([0, 120, 100])</a:t>
            </a:r>
          </a:p>
          <a:p>
            <a:pPr algn="l">
              <a:lnSpc>
                <a:spcPct val="115000"/>
              </a:lnSpc>
            </a:pPr>
            <a:r>
              <a:rPr sz="1200" b="0" i="0">
                <a:solidFill>
                  <a:srgbClr val="FFFFFF"/>
                </a:solidFill>
                <a:latin typeface="Courier New"/>
                <a:ea typeface="Courier New"/>
                <a:cs typeface="Courier New"/>
                <a:sym typeface="Courier New"/>
              </a:rPr>
              <a:t>UPPER_RED1 = np.array([10, 255, 255])</a:t>
            </a:r>
          </a:p>
          <a:p>
            <a:pPr algn="l">
              <a:lnSpc>
                <a:spcPct val="115000"/>
              </a:lnSpc>
            </a:pPr>
            <a:r>
              <a:rPr sz="1200" b="0" i="0">
                <a:solidFill>
                  <a:srgbClr val="FFFFFF"/>
                </a:solidFill>
                <a:latin typeface="Courier New"/>
                <a:ea typeface="Courier New"/>
                <a:cs typeface="Courier New"/>
                <a:sym typeface="Courier New"/>
              </a:rPr>
              <a:t>LOWER_RED2 = np.array([170, 120, 100])</a:t>
            </a:r>
          </a:p>
          <a:p>
            <a:pPr algn="l">
              <a:lnSpc>
                <a:spcPct val="115000"/>
              </a:lnSpc>
            </a:pPr>
            <a:r>
              <a:rPr sz="1200" b="0" i="0">
                <a:solidFill>
                  <a:srgbClr val="FFFFFF"/>
                </a:solidFill>
                <a:latin typeface="Courier New"/>
                <a:ea typeface="Courier New"/>
                <a:cs typeface="Courier New"/>
                <a:sym typeface="Courier New"/>
              </a:rPr>
              <a:t>UPPER_RED2 = np.array([180, 255, 255])</a:t>
            </a:r>
          </a:p>
        </p:txBody>
      </p:sp>
      <p:sp>
        <p:nvSpPr>
          <p:cNvPr id="9" name="blk0028"/>
          <p:cNvSpPr/>
          <p:nvPr/>
        </p:nvSpPr>
        <p:spPr>
          <a:xfrm>
            <a:off x="687600" y="6263999"/>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28"/>
          <p:cNvSpPr/>
          <p:nvPr/>
        </p:nvSpPr>
        <p:spPr>
          <a:xfrm>
            <a:off x="885600" y="671507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28"/>
          <p:cNvSpPr txBox="1"/>
          <p:nvPr/>
        </p:nvSpPr>
        <p:spPr>
          <a:xfrm>
            <a:off x="1162800" y="640799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You wrote this exact structure in Project 5 for a red ball on a blue table. It is the same problem at a smaller scale, which is the point — a pattern worth learning once should be recognisable the second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 mask is a picture</a:t>
            </a:r>
          </a:p>
        </p:txBody>
      </p:sp>
      <p:sp>
        <p:nvSpPr>
          <p:cNvPr id="3" name="blk003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 colour test in OpenCV produces an image of the same size as its input, where each pixel is one of two values. Inside the range it is 255. Outside the range it is 0. That picture is called a mask, and it is why colour detection is arithmetic rather than guessing.</a:t>
            </a:r>
          </a:p>
        </p:txBody>
      </p:sp>
      <p:sp>
        <p:nvSpPr>
          <p:cNvPr id="4" name="blk0031"/>
          <p:cNvSpPr/>
          <p:nvPr/>
        </p:nvSpPr>
        <p:spPr>
          <a:xfrm>
            <a:off x="687600" y="3096000"/>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1"/>
          <p:cNvSpPr txBox="1"/>
          <p:nvPr/>
        </p:nvSpPr>
        <p:spPr>
          <a:xfrm>
            <a:off x="910799" y="3257999"/>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 Blue Mask</a:t>
            </a:r>
          </a:p>
          <a:p>
            <a:pPr algn="l">
              <a:lnSpc>
                <a:spcPct val="115000"/>
              </a:lnSpc>
            </a:pPr>
            <a:r>
              <a:rPr sz="1300" b="0" i="0">
                <a:solidFill>
                  <a:srgbClr val="FFFFFF"/>
                </a:solidFill>
                <a:latin typeface="Courier New"/>
                <a:ea typeface="Courier New"/>
                <a:cs typeface="Courier New"/>
                <a:sym typeface="Courier New"/>
              </a:rPr>
              <a:t>    mask_blue = cv2.inRange(hsv, LOWER_BLUE, UPPER_BLUE)</a:t>
            </a:r>
          </a:p>
        </p:txBody>
      </p:sp>
      <p:sp>
        <p:nvSpPr>
          <p:cNvPr id="6" name="blk0032"/>
          <p:cNvSpPr txBox="1"/>
          <p:nvPr/>
        </p:nvSpPr>
        <p:spPr>
          <a:xfrm>
            <a:off x="687600" y="4031999"/>
            <a:ext cx="7542000" cy="359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For blue, one range is enough, because blue sits in the middle of the hue scale and wraps around nothing:</a:t>
            </a:r>
          </a:p>
        </p:txBody>
      </p:sp>
      <p:sp>
        <p:nvSpPr>
          <p:cNvPr id="7" name="blk0033"/>
          <p:cNvSpPr/>
          <p:nvPr/>
        </p:nvSpPr>
        <p:spPr>
          <a:xfrm>
            <a:off x="687600" y="4757828"/>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33"/>
          <p:cNvSpPr txBox="1"/>
          <p:nvPr/>
        </p:nvSpPr>
        <p:spPr>
          <a:xfrm>
            <a:off x="910799" y="4919827"/>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LOWER_BLUE = np.array([90, 120, 100])</a:t>
            </a:r>
          </a:p>
          <a:p>
            <a:pPr algn="l">
              <a:lnSpc>
                <a:spcPct val="115000"/>
              </a:lnSpc>
            </a:pPr>
            <a:r>
              <a:rPr sz="1300" b="0" i="0">
                <a:solidFill>
                  <a:srgbClr val="FFFFFF"/>
                </a:solidFill>
                <a:latin typeface="Courier New"/>
                <a:ea typeface="Courier New"/>
                <a:cs typeface="Courier New"/>
                <a:sym typeface="Courier New"/>
              </a:rPr>
              <a:t>UPPER_BLUE = np.array([130, 255, 255])</a:t>
            </a:r>
          </a:p>
        </p:txBody>
      </p:sp>
      <p:sp>
        <p:nvSpPr>
          <p:cNvPr id="9" name="blk0034"/>
          <p:cNvSpPr/>
          <p:nvPr/>
        </p:nvSpPr>
        <p:spPr>
          <a:xfrm>
            <a:off x="687600" y="5903999"/>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34"/>
          <p:cNvSpPr/>
          <p:nvPr/>
        </p:nvSpPr>
        <p:spPr>
          <a:xfrm>
            <a:off x="885600" y="62316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34"/>
          <p:cNvSpPr txBox="1"/>
          <p:nvPr/>
        </p:nvSpPr>
        <p:spPr>
          <a:xfrm>
            <a:off x="1162800" y="6047999"/>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mask for a red piece is built from two ranges, which means two masks. The next line combines them, and a pixel counts as red if it landed in either one.</a:t>
            </a:r>
          </a:p>
        </p:txBody>
      </p:sp>
      <p:sp>
        <p:nvSpPr>
          <p:cNvPr id="12" name="blk0035"/>
          <p:cNvSpPr txBox="1"/>
          <p:nvPr/>
        </p:nvSpPr>
        <p:spPr>
          <a:xfrm>
            <a:off x="687600" y="6803999"/>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S and V floors — 120 and 100 — stop a shadowed white cell from reading as a piece.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Two masks, one colour</a:t>
            </a:r>
          </a:p>
        </p:txBody>
      </p:sp>
      <p:sp>
        <p:nvSpPr>
          <p:cNvPr id="3" name="blk003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Because red needed two ranges, it needs two masks — and then a way to treat them as a single answer:</a:t>
            </a:r>
          </a:p>
        </p:txBody>
      </p:sp>
      <p:sp>
        <p:nvSpPr>
          <p:cNvPr id="4" name="blk0038"/>
          <p:cNvSpPr/>
          <p:nvPr/>
        </p:nvSpPr>
        <p:spPr>
          <a:xfrm>
            <a:off x="687600" y="2448000"/>
            <a:ext cx="8686800" cy="94442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8"/>
          <p:cNvSpPr txBox="1"/>
          <p:nvPr/>
        </p:nvSpPr>
        <p:spPr>
          <a:xfrm>
            <a:off x="910799" y="2610000"/>
            <a:ext cx="8240400" cy="620427"/>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mask_red1 = cv2.inRange(hsv, LOWER_RED1, UPPER_RED1)</a:t>
            </a:r>
          </a:p>
          <a:p>
            <a:pPr algn="l">
              <a:lnSpc>
                <a:spcPct val="115000"/>
              </a:lnSpc>
            </a:pPr>
            <a:r>
              <a:rPr sz="1250" b="0" i="0">
                <a:solidFill>
                  <a:srgbClr val="FFFFFF"/>
                </a:solidFill>
                <a:latin typeface="Courier New"/>
                <a:ea typeface="Courier New"/>
                <a:cs typeface="Courier New"/>
                <a:sym typeface="Courier New"/>
              </a:rPr>
              <a:t>    mask_red2 = cv2.inRange(hsv, LOWER_RED2, UPPER_RED2)</a:t>
            </a:r>
          </a:p>
          <a:p>
            <a:pPr algn="l">
              <a:lnSpc>
                <a:spcPct val="115000"/>
              </a:lnSpc>
            </a:pPr>
            <a:r>
              <a:rPr sz="1250" b="0" i="0">
                <a:solidFill>
                  <a:srgbClr val="FFFFFF"/>
                </a:solidFill>
                <a:latin typeface="Courier New"/>
                <a:ea typeface="Courier New"/>
                <a:cs typeface="Courier New"/>
                <a:sym typeface="Courier New"/>
              </a:rPr>
              <a:t>    mask_red = cv2.bitwise_or(mask_red1, mask_red2)</a:t>
            </a:r>
          </a:p>
        </p:txBody>
      </p:sp>
      <p:sp>
        <p:nvSpPr>
          <p:cNvPr id="6" name="blk0039"/>
          <p:cNvSpPr txBox="1"/>
          <p:nvPr/>
        </p:nvSpPr>
        <p:spPr>
          <a:xfrm>
            <a:off x="687600" y="3671999"/>
            <a:ext cx="7542000" cy="395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Read that third line as a sentence: a pixel is part of </a:t>
            </a:r>
            <a:r>
              <a:rPr sz="1743" b="0" i="0">
                <a:solidFill>
                  <a:srgbClr val="FFFFFF"/>
                </a:solidFill>
                <a:latin typeface="Courier New"/>
                <a:ea typeface="Courier New"/>
                <a:cs typeface="Courier New"/>
                <a:sym typeface="Courier New"/>
              </a:rPr>
              <a:t>mask_red</a:t>
            </a:r>
            <a:r>
              <a:rPr sz="2027" b="0" i="0">
                <a:solidFill>
                  <a:srgbClr val="FFFFFF"/>
                </a:solidFill>
                <a:latin typeface="Avenir"/>
                <a:ea typeface="Avenir"/>
                <a:cs typeface="Avenir"/>
                <a:sym typeface="Avenir"/>
              </a:rPr>
              <a:t> if it is part of </a:t>
            </a:r>
            <a:r>
              <a:rPr sz="1743" b="0" i="0">
                <a:solidFill>
                  <a:srgbClr val="FFFFFF"/>
                </a:solidFill>
                <a:latin typeface="Courier New"/>
                <a:ea typeface="Courier New"/>
                <a:cs typeface="Courier New"/>
                <a:sym typeface="Courier New"/>
              </a:rPr>
              <a:t>mask_red1</a:t>
            </a:r>
            <a:r>
              <a:rPr sz="2027" b="0" i="0">
                <a:solidFill>
                  <a:srgbClr val="FFFFFF"/>
                </a:solidFill>
                <a:latin typeface="Avenir"/>
                <a:ea typeface="Avenir"/>
                <a:cs typeface="Avenir"/>
                <a:sym typeface="Avenir"/>
              </a:rPr>
              <a:t> or part of </a:t>
            </a:r>
            <a:r>
              <a:rPr sz="1743" b="0" i="0">
                <a:solidFill>
                  <a:srgbClr val="FFFFFF"/>
                </a:solidFill>
                <a:latin typeface="Courier New"/>
                <a:ea typeface="Courier New"/>
                <a:cs typeface="Courier New"/>
                <a:sym typeface="Courier New"/>
              </a:rPr>
              <a:t>mask_red2</a:t>
            </a:r>
            <a:r>
              <a:rPr sz="2027" b="0" i="0">
                <a:solidFill>
                  <a:srgbClr val="FFFFFF"/>
                </a:solidFill>
                <a:latin typeface="Avenir"/>
                <a:ea typeface="Avenir"/>
                <a:cs typeface="Avenir"/>
                <a:sym typeface="Avenir"/>
              </a:rPr>
              <a:t>. The output is a new mask of the same size, not a count and not a boolean.</a:t>
            </a:r>
          </a:p>
        </p:txBody>
      </p:sp>
      <p:sp>
        <p:nvSpPr>
          <p:cNvPr id="7" name="blk0040"/>
          <p:cNvSpPr/>
          <p:nvPr/>
        </p:nvSpPr>
        <p:spPr>
          <a:xfrm>
            <a:off x="687600" y="5015658"/>
            <a:ext cx="8686800" cy="1080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40"/>
          <p:cNvSpPr/>
          <p:nvPr/>
        </p:nvSpPr>
        <p:spPr>
          <a:xfrm>
            <a:off x="885600" y="548725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40"/>
          <p:cNvSpPr txBox="1"/>
          <p:nvPr/>
        </p:nvSpPr>
        <p:spPr>
          <a:xfrm>
            <a:off x="1162800" y="5159658"/>
            <a:ext cx="7956000" cy="792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the line that would be wrong if the two ranges were merged with a single </a:t>
            </a:r>
            <a:r>
              <a:rPr sz="1290" b="0" i="1">
                <a:solidFill>
                  <a:srgbClr val="FFCF08"/>
                </a:solidFill>
                <a:latin typeface="Courier New"/>
                <a:ea typeface="Courier New"/>
                <a:cs typeface="Courier New"/>
                <a:sym typeface="Courier New"/>
              </a:rPr>
              <a:t>inRange</a:t>
            </a:r>
            <a:r>
              <a:rPr sz="1500" b="0" i="1">
                <a:solidFill>
                  <a:srgbClr val="FFCF08"/>
                </a:solidFill>
                <a:latin typeface="Avenir"/>
                <a:ea typeface="Avenir"/>
                <a:cs typeface="Avenir"/>
                <a:sym typeface="Avenir"/>
              </a:rPr>
              <a:t> covering 0 to 180. That would match every colour in between — orange, yellow, green, cyan, all of it — and the board would be full of pieces that are not there.</a:t>
            </a:r>
          </a:p>
        </p:txBody>
      </p:sp>
      <p:sp>
        <p:nvSpPr>
          <p:cNvPr id="10" name="blk0041"/>
          <p:cNvSpPr txBox="1"/>
          <p:nvPr/>
        </p:nvSpPr>
        <p:spPr>
          <a:xfrm>
            <a:off x="687600" y="6203658"/>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Bitwise, not arithmetic. </a:t>
            </a:r>
            <a:r>
              <a:rPr sz="1419" b="0" i="0">
                <a:solidFill>
                  <a:srgbClr val="FFFFFF"/>
                </a:solidFill>
                <a:latin typeface="Courier New"/>
                <a:ea typeface="Courier New"/>
                <a:cs typeface="Courier New"/>
                <a:sym typeface="Courier New"/>
              </a:rPr>
              <a:t>bitwise_or</a:t>
            </a:r>
            <a:r>
              <a:rPr sz="1650" b="0" i="0">
                <a:solidFill>
                  <a:srgbClr val="FFFFFF"/>
                </a:solidFill>
                <a:latin typeface="Avenir"/>
                <a:ea typeface="Avenir"/>
                <a:cs typeface="Avenir"/>
                <a:sym typeface="Avenir"/>
              </a:rPr>
              <a:t> does not add pixel values together; it merges two pictures by rule. The distinction matters the moment a mask stops being a yes-or-no 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Counting pixels</a:t>
            </a:r>
          </a:p>
        </p:txBody>
      </p:sp>
      <p:sp>
        <p:nvSpPr>
          <p:cNvPr id="3" name="blk004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You have two masks. Each one answers a question about every pixel, and the answer you actually want is a single number: how many of them said yes.</a:t>
            </a:r>
          </a:p>
        </p:txBody>
      </p:sp>
      <p:sp>
        <p:nvSpPr>
          <p:cNvPr id="4" name="blk0044"/>
          <p:cNvSpPr/>
          <p:nvPr/>
        </p:nvSpPr>
        <p:spPr>
          <a:xfrm>
            <a:off x="687600" y="2520000"/>
            <a:ext cx="8686800" cy="77070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44"/>
          <p:cNvSpPr txBox="1"/>
          <p:nvPr/>
        </p:nvSpPr>
        <p:spPr>
          <a:xfrm>
            <a:off x="910799" y="2682000"/>
            <a:ext cx="8240400" cy="446707"/>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    red_pixels = cv2.countNonZero(mask_red)</a:t>
            </a:r>
          </a:p>
          <a:p>
            <a:pPr algn="l">
              <a:lnSpc>
                <a:spcPct val="115000"/>
              </a:lnSpc>
            </a:pPr>
            <a:r>
              <a:rPr sz="1350" b="0" i="0">
                <a:solidFill>
                  <a:srgbClr val="FFFFFF"/>
                </a:solidFill>
                <a:latin typeface="Courier New"/>
                <a:ea typeface="Courier New"/>
                <a:cs typeface="Courier New"/>
                <a:sym typeface="Courier New"/>
              </a:rPr>
              <a:t>    blue_pixels = cv2.countNonZero(mask_blue)</a:t>
            </a:r>
          </a:p>
        </p:txBody>
      </p:sp>
      <p:sp>
        <p:nvSpPr>
          <p:cNvPr id="6" name="blk0045"/>
          <p:cNvSpPr txBox="1"/>
          <p:nvPr/>
        </p:nvSpPr>
        <p:spPr>
          <a:xfrm>
            <a:off x="687600" y="3456000"/>
            <a:ext cx="7542000" cy="417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 thresholding step, no image comparison, no per-pixel loop in Python. OpenCV counts the non-zero entries and hands back an integer, which is exactly the number of pixels inside the colour range.</a:t>
            </a:r>
          </a:p>
        </p:txBody>
      </p:sp>
      <p:sp>
        <p:nvSpPr>
          <p:cNvPr id="7" name="blk0046"/>
          <p:cNvSpPr/>
          <p:nvPr/>
        </p:nvSpPr>
        <p:spPr>
          <a:xfrm>
            <a:off x="741600" y="4828459"/>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46"/>
          <p:cNvSpPr txBox="1"/>
          <p:nvPr/>
        </p:nvSpPr>
        <p:spPr>
          <a:xfrm>
            <a:off x="1252800" y="4799659"/>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 number is easier to test than a picture.</a:t>
            </a:r>
            <a:r>
              <a:rPr sz="1600" b="0" i="0">
                <a:solidFill>
                  <a:srgbClr val="FFFFFF"/>
                </a:solidFill>
                <a:latin typeface="Avenir"/>
                <a:ea typeface="Avenir"/>
                <a:cs typeface="Avenir"/>
                <a:sym typeface="Avenir"/>
              </a:rPr>
              <a:t>  Once you have 4,182 red pixels, every remaining decision is a comparison.</a:t>
            </a:r>
          </a:p>
        </p:txBody>
      </p:sp>
      <p:sp>
        <p:nvSpPr>
          <p:cNvPr id="9" name="blk0047"/>
          <p:cNvSpPr/>
          <p:nvPr/>
        </p:nvSpPr>
        <p:spPr>
          <a:xfrm>
            <a:off x="741600" y="5521675"/>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47"/>
          <p:cNvSpPr txBox="1"/>
          <p:nvPr/>
        </p:nvSpPr>
        <p:spPr>
          <a:xfrm>
            <a:off x="1252800" y="5492875"/>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This runs nine times per frame</a:t>
            </a:r>
            <a:r>
              <a:rPr sz="1600" b="0" i="0">
                <a:solidFill>
                  <a:srgbClr val="FFFFFF"/>
                </a:solidFill>
                <a:latin typeface="Avenir"/>
                <a:ea typeface="Avenir"/>
                <a:cs typeface="Avenir"/>
                <a:sym typeface="Avenir"/>
              </a:rPr>
              <a:t> — once per cell — so the number has to be small. It is.</a:t>
            </a:r>
          </a:p>
        </p:txBody>
      </p:sp>
      <p:sp>
        <p:nvSpPr>
          <p:cNvPr id="11" name="blk0048"/>
          <p:cNvSpPr/>
          <p:nvPr/>
        </p:nvSpPr>
        <p:spPr>
          <a:xfrm>
            <a:off x="687600" y="6192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048"/>
          <p:cNvSpPr/>
          <p:nvPr/>
        </p:nvSpPr>
        <p:spPr>
          <a:xfrm>
            <a:off x="885600" y="6643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048"/>
          <p:cNvSpPr txBox="1"/>
          <p:nvPr/>
        </p:nvSpPr>
        <p:spPr>
          <a:xfrm>
            <a:off x="1162800" y="633599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Counting is also why the cell size matters. The same 800-pixel threshold means something completely different in a 75x75 cell than in a 30x30 one, and that is the next idea.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 threshold is a fraction</a:t>
            </a:r>
          </a:p>
        </p:txBody>
      </p:sp>
      <p:sp>
        <p:nvSpPr>
          <p:cNvPr id="3" name="blk005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line that decides everything is this one:</a:t>
            </a:r>
          </a:p>
        </p:txBody>
      </p:sp>
      <p:sp>
        <p:nvSpPr>
          <p:cNvPr id="4" name="blk0051"/>
          <p:cNvSpPr/>
          <p:nvPr/>
        </p:nvSpPr>
        <p:spPr>
          <a:xfrm>
            <a:off x="687600" y="2088000"/>
            <a:ext cx="8686800" cy="55562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1"/>
          <p:cNvSpPr txBox="1"/>
          <p:nvPr/>
        </p:nvSpPr>
        <p:spPr>
          <a:xfrm>
            <a:off x="910799" y="2250000"/>
            <a:ext cx="8240400" cy="231626"/>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MIN_PIXELS = 800</a:t>
            </a:r>
          </a:p>
        </p:txBody>
      </p:sp>
      <p:sp>
        <p:nvSpPr>
          <p:cNvPr id="6" name="blk0052"/>
          <p:cNvSpPr txBox="1"/>
          <p:nvPr/>
        </p:nvSpPr>
        <p:spPr>
          <a:xfrm>
            <a:off x="687600" y="2751625"/>
            <a:ext cx="7542000" cy="49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800 is not a guess: it is a fraction of the cell — here 75 by 75 pixels, 5,625 in total:</a:t>
            </a:r>
          </a:p>
        </p:txBody>
      </p:sp>
      <p:sp>
        <p:nvSpPr>
          <p:cNvPr id="7" name="blk0053"/>
          <p:cNvSpPr/>
          <p:nvPr/>
        </p:nvSpPr>
        <p:spPr>
          <a:xfrm>
            <a:off x="687600" y="3816000"/>
            <a:ext cx="8686800" cy="139940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53"/>
          <p:cNvSpPr txBox="1"/>
          <p:nvPr/>
        </p:nvSpPr>
        <p:spPr>
          <a:xfrm>
            <a:off x="910799" y="3977999"/>
            <a:ext cx="8240400" cy="1075407"/>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 cell area</a:t>
            </a:r>
          </a:p>
          <a:p>
            <a:pPr algn="l">
              <a:lnSpc>
                <a:spcPct val="115000"/>
              </a:lnSpc>
            </a:pPr>
            <a:r>
              <a:rPr sz="1300" b="0" i="0">
                <a:solidFill>
                  <a:srgbClr val="FFFFFF"/>
                </a:solidFill>
                <a:latin typeface="Courier New"/>
                <a:ea typeface="Courier New"/>
                <a:cs typeface="Courier New"/>
                <a:sym typeface="Courier New"/>
              </a:rPr>
              <a:t>    75 * 75   # = 5625 px</a:t>
            </a:r>
          </a:p>
          <a:p>
            <a:pPr algn="l">
              <a:lnSpc>
                <a:spcPct val="115000"/>
              </a:lnSpc>
            </a:pPr>
            <a:r>
              <a:rPr sz="1300" b="0" i="0">
                <a:solidFill>
                  <a:srgbClr val="FFFFFF"/>
                </a:solidFill>
                <a:latin typeface="Courier New"/>
                <a:ea typeface="Courier New"/>
                <a:cs typeface="Courier New"/>
                <a:sym typeface="Courier New"/>
              </a:rPr>
              <a:t/>
            </a:r>
          </a:p>
          <a:p>
            <a:pPr algn="l">
              <a:lnSpc>
                <a:spcPct val="115000"/>
              </a:lnSpc>
            </a:pPr>
            <a:r>
              <a:rPr sz="1300" b="0" i="0">
                <a:solidFill>
                  <a:srgbClr val="FFFFFF"/>
                </a:solidFill>
                <a:latin typeface="Courier New"/>
                <a:ea typeface="Courier New"/>
                <a:cs typeface="Courier New"/>
                <a:sym typeface="Courier New"/>
              </a:rPr>
              <a:t>    # threshold as a fraction of that area</a:t>
            </a:r>
          </a:p>
          <a:p>
            <a:pPr algn="l">
              <a:lnSpc>
                <a:spcPct val="115000"/>
              </a:lnSpc>
            </a:pPr>
            <a:r>
              <a:rPr sz="1300" b="0" i="0">
                <a:solidFill>
                  <a:srgbClr val="FFFFFF"/>
                </a:solidFill>
                <a:latin typeface="Courier New"/>
                <a:ea typeface="Courier New"/>
                <a:cs typeface="Courier New"/>
                <a:sym typeface="Courier New"/>
              </a:rPr>
              <a:t>    800 / 5625   # = 0.142, about 14%</a:t>
            </a:r>
          </a:p>
        </p:txBody>
      </p:sp>
      <p:sp>
        <p:nvSpPr>
          <p:cNvPr id="9" name="blk0054"/>
          <p:cNvSpPr txBox="1"/>
          <p:nvPr/>
        </p:nvSpPr>
        <p:spPr>
          <a:xfrm>
            <a:off x="687600" y="5323407"/>
            <a:ext cx="7542000" cy="294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So 800 means "a piece has to fill at least a seventh of its cell" — forgiving about shape, strict about colour.</a:t>
            </a:r>
          </a:p>
        </p:txBody>
      </p:sp>
      <p:sp>
        <p:nvSpPr>
          <p:cNvPr id="10" name="blk0055"/>
          <p:cNvSpPr/>
          <p:nvPr/>
        </p:nvSpPr>
        <p:spPr>
          <a:xfrm>
            <a:off x="687600" y="6049236"/>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55"/>
          <p:cNvSpPr/>
          <p:nvPr/>
        </p:nvSpPr>
        <p:spPr>
          <a:xfrm>
            <a:off x="885600" y="6363156"/>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055"/>
          <p:cNvSpPr txBox="1"/>
          <p:nvPr/>
        </p:nvSpPr>
        <p:spPr>
          <a:xfrm>
            <a:off x="1162800" y="6193235"/>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Change the frame resolution and this number goes wrong silently — the geometry behind it must stay fixed.</a:t>
            </a:r>
          </a:p>
        </p:txBody>
      </p:sp>
      <p:sp>
        <p:nvSpPr>
          <p:cNvPr id="13" name="blk0056"/>
          <p:cNvSpPr txBox="1"/>
          <p:nvPr/>
        </p:nvSpPr>
        <p:spPr>
          <a:xfrm>
            <a:off x="687600" y="6921876"/>
            <a:ext cx="7542000" cy="57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It is defined inside the function, so it is rebuilt on all nine calls per frame — cheap, but worth knowing.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Cell by cell</a:t>
            </a:r>
          </a:p>
        </p:txBody>
      </p:sp>
      <p:sp>
        <p:nvSpPr>
          <p:cNvPr id="3" name="blk005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Everything above happens inside one function that is handed a small picture and returns one character. It knows nothing about grids, rows, columns, or the board:</a:t>
            </a:r>
          </a:p>
        </p:txBody>
      </p:sp>
      <p:sp>
        <p:nvSpPr>
          <p:cNvPr id="4" name="blk0059"/>
          <p:cNvSpPr/>
          <p:nvPr/>
        </p:nvSpPr>
        <p:spPr>
          <a:xfrm>
            <a:off x="687600" y="2664000"/>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9"/>
          <p:cNvSpPr txBox="1"/>
          <p:nvPr/>
        </p:nvSpPr>
        <p:spPr>
          <a:xfrm>
            <a:off x="910799" y="2826000"/>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def scan_cell(cell_roi):</a:t>
            </a:r>
          </a:p>
          <a:p>
            <a:pPr algn="l">
              <a:lnSpc>
                <a:spcPct val="115000"/>
              </a:lnSpc>
            </a:pPr>
            <a:r>
              <a:rPr sz="1300" b="0" i="0">
                <a:solidFill>
                  <a:srgbClr val="FFFFFF"/>
                </a:solidFill>
                <a:latin typeface="Courier New"/>
                <a:ea typeface="Courier New"/>
                <a:cs typeface="Courier New"/>
                <a:sym typeface="Courier New"/>
              </a:rPr>
              <a:t>    """Inspects a single cell ROI and returns 'X', 'O', or ' '."""</a:t>
            </a:r>
          </a:p>
        </p:txBody>
      </p:sp>
      <p:sp>
        <p:nvSpPr>
          <p:cNvPr id="6" name="blk0060"/>
          <p:cNvSpPr txBox="1"/>
          <p:nvPr/>
        </p:nvSpPr>
        <p:spPr>
          <a:xfrm>
            <a:off x="687600" y="3600000"/>
            <a:ext cx="7542000" cy="402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job, one return value, three possible answers. The caller will assemble nine of these characters into a board, but this function never has to know that.</a:t>
            </a:r>
          </a:p>
        </p:txBody>
      </p:sp>
      <p:sp>
        <p:nvSpPr>
          <p:cNvPr id="7" name="blk0061"/>
          <p:cNvSpPr/>
          <p:nvPr/>
        </p:nvSpPr>
        <p:spPr>
          <a:xfrm>
            <a:off x="687600" y="4634744"/>
            <a:ext cx="8686800" cy="135804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61"/>
          <p:cNvSpPr txBox="1"/>
          <p:nvPr/>
        </p:nvSpPr>
        <p:spPr>
          <a:xfrm>
            <a:off x="910799" y="4796744"/>
            <a:ext cx="8240400" cy="1034045"/>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if red_pixels &gt; MIN_PIXELS and red_pixels &gt; blue_pixels:</a:t>
            </a:r>
          </a:p>
          <a:p>
            <a:pPr algn="l">
              <a:lnSpc>
                <a:spcPct val="115000"/>
              </a:lnSpc>
            </a:pPr>
            <a:r>
              <a:rPr sz="1250" b="0" i="0">
                <a:solidFill>
                  <a:srgbClr val="FFFFFF"/>
                </a:solidFill>
                <a:latin typeface="Courier New"/>
                <a:ea typeface="Courier New"/>
                <a:cs typeface="Courier New"/>
                <a:sym typeface="Courier New"/>
              </a:rPr>
              <a:t>        return 'X'</a:t>
            </a:r>
          </a:p>
          <a:p>
            <a:pPr algn="l">
              <a:lnSpc>
                <a:spcPct val="115000"/>
              </a:lnSpc>
            </a:pPr>
            <a:r>
              <a:rPr sz="1250" b="0" i="0">
                <a:solidFill>
                  <a:srgbClr val="FFFFFF"/>
                </a:solidFill>
                <a:latin typeface="Courier New"/>
                <a:ea typeface="Courier New"/>
                <a:cs typeface="Courier New"/>
                <a:sym typeface="Courier New"/>
              </a:rPr>
              <a:t>    elif blue_pixels &gt; MIN_PIXELS and blue_pixels &gt; red_pixels:</a:t>
            </a:r>
          </a:p>
          <a:p>
            <a:pPr algn="l">
              <a:lnSpc>
                <a:spcPct val="115000"/>
              </a:lnSpc>
            </a:pPr>
            <a:r>
              <a:rPr sz="1250" b="0" i="0">
                <a:solidFill>
                  <a:srgbClr val="FFFFFF"/>
                </a:solidFill>
                <a:latin typeface="Courier New"/>
                <a:ea typeface="Courier New"/>
                <a:cs typeface="Courier New"/>
                <a:sym typeface="Courier New"/>
              </a:rPr>
              <a:t>        return 'O'</a:t>
            </a:r>
          </a:p>
          <a:p>
            <a:pPr algn="l">
              <a:lnSpc>
                <a:spcPct val="115000"/>
              </a:lnSpc>
            </a:pPr>
            <a:r>
              <a:rPr sz="1250" b="0" i="0">
                <a:solidFill>
                  <a:srgbClr val="FFFFFF"/>
                </a:solidFill>
                <a:latin typeface="Courier New"/>
                <a:ea typeface="Courier New"/>
                <a:cs typeface="Courier New"/>
                <a:sym typeface="Courier New"/>
              </a:rPr>
              <a:t>    return ' '</a:t>
            </a:r>
          </a:p>
        </p:txBody>
      </p:sp>
      <p:sp>
        <p:nvSpPr>
          <p:cNvPr id="9" name="blk0062"/>
          <p:cNvSpPr txBox="1"/>
          <p:nvPr/>
        </p:nvSpPr>
        <p:spPr>
          <a:xfrm>
            <a:off x="687600" y="610078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Both halves matter: the threshold says the colour is present; the comparison says which one won.</a:t>
            </a:r>
          </a:p>
        </p:txBody>
      </p:sp>
      <p:sp>
        <p:nvSpPr>
          <p:cNvPr id="10" name="blk0063"/>
          <p:cNvSpPr/>
          <p:nvPr/>
        </p:nvSpPr>
        <p:spPr>
          <a:xfrm>
            <a:off x="687600" y="6840000"/>
            <a:ext cx="8686800" cy="576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63"/>
          <p:cNvSpPr/>
          <p:nvPr/>
        </p:nvSpPr>
        <p:spPr>
          <a:xfrm>
            <a:off x="885600" y="70596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063"/>
          <p:cNvSpPr txBox="1"/>
          <p:nvPr/>
        </p:nvSpPr>
        <p:spPr>
          <a:xfrm>
            <a:off x="1162800" y="6983999"/>
            <a:ext cx="7956000" cy="288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space means an untouched cell is already the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Slicing is a rectangle</a:t>
            </a:r>
          </a:p>
        </p:txBody>
      </p:sp>
      <p:sp>
        <p:nvSpPr>
          <p:cNvPr id="3" name="blk006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Getting a single cell out of the frame is two brackets and four numbers. The frame is a list of rows, so the first bracket takes rows and the second takes columns inside each row:</a:t>
            </a:r>
          </a:p>
        </p:txBody>
      </p:sp>
      <p:sp>
        <p:nvSpPr>
          <p:cNvPr id="4" name="blk0066"/>
          <p:cNvSpPr/>
          <p:nvPr/>
        </p:nvSpPr>
        <p:spPr>
          <a:xfrm>
            <a:off x="687600" y="2808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66"/>
          <p:cNvSpPr txBox="1"/>
          <p:nvPr/>
        </p:nvSpPr>
        <p:spPr>
          <a:xfrm>
            <a:off x="910799" y="2970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frame[y1:y2, x1:x2]</a:t>
            </a:r>
          </a:p>
        </p:txBody>
      </p:sp>
      <p:sp>
        <p:nvSpPr>
          <p:cNvPr id="6" name="blk0067"/>
          <p:cNvSpPr txBox="1"/>
          <p:nvPr/>
        </p:nvSpPr>
        <p:spPr>
          <a:xfrm>
            <a:off x="687600" y="3671999"/>
            <a:ext cx="7542000" cy="395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bracket takes rows, the second takes columns. Row first, column second — that order is the only thing worth memorising here.</a:t>
            </a:r>
          </a:p>
        </p:txBody>
      </p:sp>
      <p:sp>
        <p:nvSpPr>
          <p:cNvPr id="7" name="blk0068"/>
          <p:cNvSpPr txBox="1"/>
          <p:nvPr/>
        </p:nvSpPr>
        <p:spPr>
          <a:xfrm>
            <a:off x="687600" y="4706743"/>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Order is row first, column second — the only part worth memorising. The result is a real array, not a view onto the original.</a:t>
            </a:r>
          </a:p>
        </p:txBody>
      </p:sp>
      <p:sp>
        <p:nvSpPr>
          <p:cNvPr id="8" name="blk0069"/>
          <p:cNvSpPr/>
          <p:nvPr/>
        </p:nvSpPr>
        <p:spPr>
          <a:xfrm>
            <a:off x="687600" y="5741487"/>
            <a:ext cx="8686800" cy="100799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69"/>
          <p:cNvSpPr/>
          <p:nvPr/>
        </p:nvSpPr>
        <p:spPr>
          <a:xfrm>
            <a:off x="885600" y="6177087"/>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69"/>
          <p:cNvSpPr txBox="1"/>
          <p:nvPr/>
        </p:nvSpPr>
        <p:spPr>
          <a:xfrm>
            <a:off x="1162800" y="5885487"/>
            <a:ext cx="7956000" cy="71999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Nothing checks the rectangle is inside the picture.</a:t>
            </a:r>
          </a:p>
        </p:txBody>
      </p:sp>
      <p:sp>
        <p:nvSpPr>
          <p:cNvPr id="11" name="blk0070"/>
          <p:cNvSpPr txBox="1"/>
          <p:nvPr/>
        </p:nvSpPr>
        <p:spPr>
          <a:xfrm>
            <a:off x="687600" y="6857486"/>
            <a:ext cx="7542000" cy="57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calibration in this project keeps every cell inside the frame, so this is a thing to know rather than a bug to hit.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Nine cells to a matrix</a:t>
            </a:r>
          </a:p>
        </p:txBody>
      </p:sp>
      <p:sp>
        <p:nvSpPr>
          <p:cNvPr id="3" name="blk007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outer function cuts nine rectangles and calls the first one nine times. The arithmetic is two lines because the grid is evenly divided:</a:t>
            </a:r>
          </a:p>
        </p:txBody>
      </p:sp>
      <p:sp>
        <p:nvSpPr>
          <p:cNvPr id="4" name="blk0073"/>
          <p:cNvSpPr/>
          <p:nvPr/>
        </p:nvSpPr>
        <p:spPr>
          <a:xfrm>
            <a:off x="687600" y="2592000"/>
            <a:ext cx="8686800" cy="156485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3"/>
          <p:cNvSpPr txBox="1"/>
          <p:nvPr/>
        </p:nvSpPr>
        <p:spPr>
          <a:xfrm>
            <a:off x="910799" y="2754000"/>
            <a:ext cx="8240400" cy="1240854"/>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for row in range(3):</a:t>
            </a:r>
          </a:p>
          <a:p>
            <a:pPr algn="l">
              <a:lnSpc>
                <a:spcPct val="115000"/>
              </a:lnSpc>
            </a:pPr>
            <a:r>
              <a:rPr sz="1250" b="0" i="0">
                <a:solidFill>
                  <a:srgbClr val="FFFFFF"/>
                </a:solidFill>
                <a:latin typeface="Courier New"/>
                <a:ea typeface="Courier New"/>
                <a:cs typeface="Courier New"/>
                <a:sym typeface="Courier New"/>
              </a:rPr>
              <a:t>        for col in range(3):</a:t>
            </a:r>
          </a:p>
          <a:p>
            <a:pPr algn="l">
              <a:lnSpc>
                <a:spcPct val="115000"/>
              </a:lnSpc>
            </a:pPr>
            <a:r>
              <a:rPr sz="1250" b="0" i="0">
                <a:solidFill>
                  <a:srgbClr val="FFFFFF"/>
                </a:solidFill>
                <a:latin typeface="Courier New"/>
                <a:ea typeface="Courier New"/>
                <a:cs typeface="Courier New"/>
                <a:sym typeface="Courier New"/>
              </a:rPr>
              <a:t>            x1 = GRID_X_MIN + col * CELL_W</a:t>
            </a:r>
          </a:p>
          <a:p>
            <a:pPr algn="l">
              <a:lnSpc>
                <a:spcPct val="115000"/>
              </a:lnSpc>
            </a:pPr>
            <a:r>
              <a:rPr sz="1250" b="0" i="0">
                <a:solidFill>
                  <a:srgbClr val="FFFFFF"/>
                </a:solidFill>
                <a:latin typeface="Courier New"/>
                <a:ea typeface="Courier New"/>
                <a:cs typeface="Courier New"/>
                <a:sym typeface="Courier New"/>
              </a:rPr>
              <a:t>            y1 = GRID_Y_MIN + row * CELL_H</a:t>
            </a:r>
          </a:p>
          <a:p>
            <a:pPr algn="l">
              <a:lnSpc>
                <a:spcPct val="115000"/>
              </a:lnSpc>
            </a:pPr>
            <a:r>
              <a:rPr sz="1250" b="0" i="0">
                <a:solidFill>
                  <a:srgbClr val="FFFFFF"/>
                </a:solidFill>
                <a:latin typeface="Courier New"/>
                <a:ea typeface="Courier New"/>
                <a:cs typeface="Courier New"/>
                <a:sym typeface="Courier New"/>
              </a:rPr>
              <a:t>            x2 = x1 + CELL_W</a:t>
            </a:r>
          </a:p>
          <a:p>
            <a:pPr algn="l">
              <a:lnSpc>
                <a:spcPct val="115000"/>
              </a:lnSpc>
            </a:pPr>
            <a:r>
              <a:rPr sz="1250" b="0" i="0">
                <a:solidFill>
                  <a:srgbClr val="FFFFFF"/>
                </a:solidFill>
                <a:latin typeface="Courier New"/>
                <a:ea typeface="Courier New"/>
                <a:cs typeface="Courier New"/>
                <a:sym typeface="Courier New"/>
              </a:rPr>
              <a:t>            y2 = y1 + CELL_H</a:t>
            </a:r>
          </a:p>
        </p:txBody>
      </p:sp>
      <p:sp>
        <p:nvSpPr>
          <p:cNvPr id="6" name="blk0074"/>
          <p:cNvSpPr txBox="1"/>
          <p:nvPr/>
        </p:nvSpPr>
        <p:spPr>
          <a:xfrm>
            <a:off x="687600" y="4264854"/>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Multiplying by the cell size walks across or down; adding the grid origin converts a cell index into a pixel. Every number in the picture comes from that one pattern, which is why the drawing code later in the file looks almost identical.</a:t>
            </a:r>
          </a:p>
        </p:txBody>
      </p:sp>
      <p:sp>
        <p:nvSpPr>
          <p:cNvPr id="7" name="blk0075"/>
          <p:cNvSpPr/>
          <p:nvPr/>
        </p:nvSpPr>
        <p:spPr>
          <a:xfrm>
            <a:off x="687600" y="5608513"/>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75"/>
          <p:cNvSpPr txBox="1"/>
          <p:nvPr/>
        </p:nvSpPr>
        <p:spPr>
          <a:xfrm>
            <a:off x="910799" y="5770513"/>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cell_roi = frame[y1:y2, x1:x2]</a:t>
            </a:r>
          </a:p>
          <a:p>
            <a:pPr algn="l">
              <a:lnSpc>
                <a:spcPct val="115000"/>
              </a:lnSpc>
            </a:pPr>
            <a:r>
              <a:rPr sz="1300" b="0" i="0">
                <a:solidFill>
                  <a:srgbClr val="FFFFFF"/>
                </a:solidFill>
                <a:latin typeface="Courier New"/>
                <a:ea typeface="Courier New"/>
                <a:cs typeface="Courier New"/>
                <a:sym typeface="Courier New"/>
              </a:rPr>
              <a:t>            board[row][col] = scan_cell(cell_roi)</a:t>
            </a:r>
          </a:p>
        </p:txBody>
      </p:sp>
      <p:sp>
        <p:nvSpPr>
          <p:cNvPr id="9" name="blk0076"/>
          <p:cNvSpPr/>
          <p:nvPr/>
        </p:nvSpPr>
        <p:spPr>
          <a:xfrm>
            <a:off x="687600" y="6470675"/>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76"/>
          <p:cNvSpPr/>
          <p:nvPr/>
        </p:nvSpPr>
        <p:spPr>
          <a:xfrm>
            <a:off x="885600" y="6921755"/>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76"/>
          <p:cNvSpPr txBox="1"/>
          <p:nvPr/>
        </p:nvSpPr>
        <p:spPr>
          <a:xfrm>
            <a:off x="1162800" y="6614674"/>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Look closely at the indexing order: </a:t>
            </a:r>
            <a:r>
              <a:rPr sz="1290" b="0" i="1">
                <a:solidFill>
                  <a:srgbClr val="FFCF08"/>
                </a:solidFill>
                <a:latin typeface="Courier New"/>
                <a:ea typeface="Courier New"/>
                <a:cs typeface="Courier New"/>
                <a:sym typeface="Courier New"/>
              </a:rPr>
              <a:t>board[row][col]</a:t>
            </a:r>
            <a:r>
              <a:rPr sz="1500" b="0" i="1">
                <a:solidFill>
                  <a:srgbClr val="FFCF08"/>
                </a:solidFill>
                <a:latin typeface="Avenir"/>
                <a:ea typeface="Avenir"/>
                <a:cs typeface="Avenir"/>
                <a:sym typeface="Avenir"/>
              </a:rPr>
              <a:t> and </a:t>
            </a:r>
            <a:r>
              <a:rPr sz="1290" b="0" i="1">
                <a:solidFill>
                  <a:srgbClr val="FFCF08"/>
                </a:solidFill>
                <a:latin typeface="Courier New"/>
                <a:ea typeface="Courier New"/>
                <a:cs typeface="Courier New"/>
                <a:sym typeface="Courier New"/>
              </a:rPr>
              <a:t>x1</a:t>
            </a:r>
            <a:r>
              <a:rPr sz="1500" b="0" i="1">
                <a:solidFill>
                  <a:srgbClr val="FFCF08"/>
                </a:solidFill>
                <a:latin typeface="Avenir"/>
                <a:ea typeface="Avenir"/>
                <a:cs typeface="Avenir"/>
                <a:sym typeface="Avenir"/>
              </a:rPr>
              <a:t> from </a:t>
            </a:r>
            <a:r>
              <a:rPr sz="1290" b="0" i="1">
                <a:solidFill>
                  <a:srgbClr val="FFCF08"/>
                </a:solidFill>
                <a:latin typeface="Courier New"/>
                <a:ea typeface="Courier New"/>
                <a:cs typeface="Courier New"/>
                <a:sym typeface="Courier New"/>
              </a:rPr>
              <a:t>col</a:t>
            </a:r>
            <a:r>
              <a:rPr sz="1500" b="0" i="1">
                <a:solidFill>
                  <a:srgbClr val="FFCF08"/>
                </a:solidFill>
                <a:latin typeface="Avenir"/>
                <a:ea typeface="Avenir"/>
                <a:cs typeface="Avenir"/>
                <a:sym typeface="Avenir"/>
              </a:rPr>
              <a:t> while </a:t>
            </a:r>
            <a:r>
              <a:rPr sz="1290" b="0" i="1">
                <a:solidFill>
                  <a:srgbClr val="FFCF08"/>
                </a:solidFill>
                <a:latin typeface="Courier New"/>
                <a:ea typeface="Courier New"/>
                <a:cs typeface="Courier New"/>
                <a:sym typeface="Courier New"/>
              </a:rPr>
              <a:t>y1</a:t>
            </a:r>
            <a:r>
              <a:rPr sz="1500" b="0" i="1">
                <a:solidFill>
                  <a:srgbClr val="FFCF08"/>
                </a:solidFill>
                <a:latin typeface="Avenir"/>
                <a:ea typeface="Avenir"/>
                <a:cs typeface="Avenir"/>
                <a:sym typeface="Avenir"/>
              </a:rPr>
              <a:t> comes from </a:t>
            </a:r>
            <a:r>
              <a:rPr sz="1290" b="0" i="1">
                <a:solidFill>
                  <a:srgbClr val="FFCF08"/>
                </a:solidFill>
                <a:latin typeface="Courier New"/>
                <a:ea typeface="Courier New"/>
                <a:cs typeface="Courier New"/>
                <a:sym typeface="Courier New"/>
              </a:rPr>
              <a:t>row</a:t>
            </a:r>
            <a:r>
              <a:rPr sz="1500" b="0" i="1">
                <a:solidFill>
                  <a:srgbClr val="FFCF08"/>
                </a:solidFill>
                <a:latin typeface="Avenir"/>
                <a:ea typeface="Avenir"/>
                <a:cs typeface="Avenir"/>
                <a:sym typeface="Avenir"/>
              </a:rPr>
              <a:t>. Swapping those two is the single most likely mistake in this function, and it produces a board that is transposed rather than wrong.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Row, column, index</a:t>
            </a:r>
          </a:p>
        </p:txBody>
      </p:sp>
      <p:sp>
        <p:nvSpPr>
          <p:cNvPr id="3" name="blk007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board is a list of lists, and it starts as nine spaces — already correct before anything is detected:</a:t>
            </a:r>
          </a:p>
        </p:txBody>
      </p:sp>
      <p:sp>
        <p:nvSpPr>
          <p:cNvPr id="4" name="blk0079"/>
          <p:cNvSpPr/>
          <p:nvPr/>
        </p:nvSpPr>
        <p:spPr>
          <a:xfrm>
            <a:off x="687600" y="2448000"/>
            <a:ext cx="8686800" cy="54735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9"/>
          <p:cNvSpPr txBox="1"/>
          <p:nvPr/>
        </p:nvSpPr>
        <p:spPr>
          <a:xfrm>
            <a:off x="910799" y="2610000"/>
            <a:ext cx="8240400" cy="223353"/>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    board = [[' ' for _ in range(3)] for _ in range(3)]</a:t>
            </a:r>
          </a:p>
        </p:txBody>
      </p:sp>
      <p:sp>
        <p:nvSpPr>
          <p:cNvPr id="6" name="blk0080"/>
          <p:cNvSpPr txBox="1"/>
          <p:nvPr/>
        </p:nvSpPr>
        <p:spPr>
          <a:xfrm>
            <a:off x="687600" y="3240000"/>
            <a:ext cx="7542000" cy="438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Each </a:t>
            </a:r>
            <a:r>
              <a:rPr sz="1743" b="0" i="0">
                <a:solidFill>
                  <a:srgbClr val="FFFFFF"/>
                </a:solidFill>
                <a:latin typeface="Courier New"/>
                <a:ea typeface="Courier New"/>
                <a:cs typeface="Courier New"/>
                <a:sym typeface="Courier New"/>
              </a:rPr>
              <a:t>_</a:t>
            </a:r>
            <a:r>
              <a:rPr sz="2027" b="0" i="0">
                <a:solidFill>
                  <a:srgbClr val="FFFFFF"/>
                </a:solidFill>
                <a:latin typeface="Avenir"/>
                <a:ea typeface="Avenir"/>
                <a:cs typeface="Avenir"/>
                <a:sym typeface="Avenir"/>
              </a:rPr>
              <a:t> is a throwaway variable that repeats the inner pattern three times, giving three separate lists rather than three references to one. The same question comes up in Project 8.</a:t>
            </a:r>
          </a:p>
        </p:txBody>
      </p:sp>
      <p:sp>
        <p:nvSpPr>
          <p:cNvPr id="7" name="blk0081"/>
          <p:cNvSpPr/>
          <p:nvPr/>
        </p:nvSpPr>
        <p:spPr>
          <a:xfrm>
            <a:off x="687600" y="4583659"/>
            <a:ext cx="8686800" cy="77070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81"/>
          <p:cNvSpPr txBox="1"/>
          <p:nvPr/>
        </p:nvSpPr>
        <p:spPr>
          <a:xfrm>
            <a:off x="910799" y="4745659"/>
            <a:ext cx="8240400" cy="446707"/>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board[0][0] = 'X'</a:t>
            </a:r>
          </a:p>
          <a:p>
            <a:pPr algn="l">
              <a:lnSpc>
                <a:spcPct val="115000"/>
              </a:lnSpc>
            </a:pPr>
            <a:r>
              <a:rPr sz="1350" b="0" i="0">
                <a:solidFill>
                  <a:srgbClr val="FFFFFF"/>
                </a:solidFill>
                <a:latin typeface="Courier New"/>
                <a:ea typeface="Courier New"/>
                <a:cs typeface="Courier New"/>
                <a:sym typeface="Courier New"/>
              </a:rPr>
              <a:t>board[2][2] = 'O'</a:t>
            </a:r>
          </a:p>
        </p:txBody>
      </p:sp>
      <p:sp>
        <p:nvSpPr>
          <p:cNvPr id="9" name="blk0082"/>
          <p:cNvSpPr/>
          <p:nvPr/>
        </p:nvSpPr>
        <p:spPr>
          <a:xfrm>
            <a:off x="687600" y="5544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82"/>
          <p:cNvSpPr/>
          <p:nvPr/>
        </p:nvSpPr>
        <p:spPr>
          <a:xfrm>
            <a:off x="885600" y="599507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82"/>
          <p:cNvSpPr txBox="1"/>
          <p:nvPr/>
        </p:nvSpPr>
        <p:spPr>
          <a:xfrm>
            <a:off x="1162800" y="5688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Printing the board is the fastest possible test of whether the indexing is right, and it costs one line. Put a token in the top left and check that it appears in the top left.</a:t>
            </a:r>
          </a:p>
        </p:txBody>
      </p:sp>
      <p:sp>
        <p:nvSpPr>
          <p:cNvPr id="12" name="blk0083"/>
          <p:cNvSpPr txBox="1"/>
          <p:nvPr/>
        </p:nvSpPr>
        <p:spPr>
          <a:xfrm>
            <a:off x="687600" y="669095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first project where the program holds a description of something in the world rather than a reaction to it. The list is the whole point of the project.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Drawing the answer</a:t>
            </a:r>
          </a:p>
        </p:txBody>
      </p:sp>
      <p:sp>
        <p:nvSpPr>
          <p:cNvPr id="3" name="blk008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scanner nobody can check is not much use, so the loop writes its answer back onto the picture. Three calls:</a:t>
            </a:r>
          </a:p>
        </p:txBody>
      </p:sp>
      <p:sp>
        <p:nvSpPr>
          <p:cNvPr id="4" name="blk0086"/>
          <p:cNvSpPr/>
          <p:nvPr/>
        </p:nvSpPr>
        <p:spPr>
          <a:xfrm>
            <a:off x="687600" y="2448000"/>
            <a:ext cx="8686800" cy="51426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6"/>
          <p:cNvSpPr txBox="1"/>
          <p:nvPr/>
        </p:nvSpPr>
        <p:spPr>
          <a:xfrm>
            <a:off x="910799" y="2610000"/>
            <a:ext cx="8240400" cy="190264"/>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cv2.rectangle(frame, (x1, y1), (x2, y2), (255, 255, 255), 2)</a:t>
            </a:r>
          </a:p>
        </p:txBody>
      </p:sp>
      <p:sp>
        <p:nvSpPr>
          <p:cNvPr id="6" name="blk0087"/>
          <p:cNvSpPr txBox="1"/>
          <p:nvPr/>
        </p:nvSpPr>
        <p:spPr>
          <a:xfrm>
            <a:off x="687600" y="3096000"/>
            <a:ext cx="7542000" cy="45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corners and a thickness. Nine of these produce a grid, and you can check instantly whether the calibration is right — a grid that is off the paper is a grid that will misread the paper.</a:t>
            </a:r>
          </a:p>
        </p:txBody>
      </p:sp>
      <p:sp>
        <p:nvSpPr>
          <p:cNvPr id="7" name="blk0088"/>
          <p:cNvSpPr/>
          <p:nvPr/>
        </p:nvSpPr>
        <p:spPr>
          <a:xfrm>
            <a:off x="687600" y="4439659"/>
            <a:ext cx="8686800" cy="79552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88"/>
          <p:cNvSpPr txBox="1"/>
          <p:nvPr/>
        </p:nvSpPr>
        <p:spPr>
          <a:xfrm>
            <a:off x="910799" y="4601659"/>
            <a:ext cx="8240400" cy="471524"/>
          </a:xfrm>
          <a:prstGeom prst="rect">
            <a:avLst/>
          </a:prstGeom>
          <a:noFill/>
        </p:spPr>
        <p:txBody>
          <a:bodyPr wrap="square" anchor="t" lIns="0" rIns="0" tIns="0" bIns="0">
            <a:noAutofit/>
          </a:bodyPr>
          <a:lstStyle/>
          <a:p>
            <a:pPr algn="l">
              <a:lnSpc>
                <a:spcPct val="115000"/>
              </a:lnSpc>
            </a:pPr>
            <a:r>
              <a:rPr sz="950" b="0" i="0">
                <a:solidFill>
                  <a:srgbClr val="FFFFFF"/>
                </a:solidFill>
                <a:latin typeface="Courier New"/>
                <a:ea typeface="Courier New"/>
                <a:cs typeface="Courier New"/>
                <a:sym typeface="Courier New"/>
              </a:rPr>
              <a:t>                if token != ' ':</a:t>
            </a:r>
          </a:p>
          <a:p>
            <a:pPr algn="l">
              <a:lnSpc>
                <a:spcPct val="115000"/>
              </a:lnSpc>
            </a:pPr>
            <a:r>
              <a:rPr sz="950" b="0" i="0">
                <a:solidFill>
                  <a:srgbClr val="FFFFFF"/>
                </a:solidFill>
                <a:latin typeface="Courier New"/>
                <a:ea typeface="Courier New"/>
                <a:cs typeface="Courier New"/>
                <a:sym typeface="Courier New"/>
              </a:rPr>
              <a:t>                    cv2.putText(frame, token, (x1 + CELL_W // 3, y1 + 2 * CELL_H // 3),</a:t>
            </a:r>
          </a:p>
          <a:p>
            <a:pPr algn="l">
              <a:lnSpc>
                <a:spcPct val="115000"/>
              </a:lnSpc>
            </a:pPr>
            <a:r>
              <a:rPr sz="950" b="0" i="0">
                <a:solidFill>
                  <a:srgbClr val="FFFFFF"/>
                </a:solidFill>
                <a:latin typeface="Courier New"/>
                <a:ea typeface="Courier New"/>
                <a:cs typeface="Courier New"/>
                <a:sym typeface="Courier New"/>
              </a:rPr>
              <a:t>                                cv2.FONT_HERSHEY_SIMPLEX, 1.5, color, 3)</a:t>
            </a:r>
          </a:p>
        </p:txBody>
      </p:sp>
      <p:sp>
        <p:nvSpPr>
          <p:cNvPr id="9" name="blk0089"/>
          <p:cNvSpPr txBox="1"/>
          <p:nvPr/>
        </p:nvSpPr>
        <p:spPr>
          <a:xfrm>
            <a:off x="687600" y="5343183"/>
            <a:ext cx="7542000" cy="24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character is written at roughly two thirds across and down, which is a compromise position that happens to look centred. The </a:t>
            </a:r>
            <a:r>
              <a:rPr sz="1743" b="0" i="0">
                <a:solidFill>
                  <a:srgbClr val="FFFFFF"/>
                </a:solidFill>
                <a:latin typeface="Courier New"/>
                <a:ea typeface="Courier New"/>
                <a:cs typeface="Courier New"/>
                <a:sym typeface="Courier New"/>
              </a:rPr>
              <a:t>token != ' '</a:t>
            </a:r>
            <a:r>
              <a:rPr sz="2027" b="0" i="0">
                <a:solidFill>
                  <a:srgbClr val="FFFFFF"/>
                </a:solidFill>
                <a:latin typeface="Avenir"/>
                <a:ea typeface="Avenir"/>
                <a:cs typeface="Avenir"/>
                <a:sym typeface="Avenir"/>
              </a:rPr>
              <a:t> test is what stops nine spaces from being drawn nine times over empty cells.</a:t>
            </a:r>
          </a:p>
        </p:txBody>
      </p:sp>
      <p:sp>
        <p:nvSpPr>
          <p:cNvPr id="10" name="blk0090"/>
          <p:cNvSpPr/>
          <p:nvPr/>
        </p:nvSpPr>
        <p:spPr>
          <a:xfrm>
            <a:off x="687600" y="6686842"/>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90"/>
          <p:cNvSpPr/>
          <p:nvPr/>
        </p:nvSpPr>
        <p:spPr>
          <a:xfrm>
            <a:off x="885600" y="7014442"/>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090"/>
          <p:cNvSpPr txBox="1"/>
          <p:nvPr/>
        </p:nvSpPr>
        <p:spPr>
          <a:xfrm>
            <a:off x="1162800" y="6830841"/>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colour is chosen one line earlier from the token itself, which is why the text is drawn in the same red or blue the detector just found.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Telemetry is evidence</a:t>
            </a:r>
          </a:p>
        </p:txBody>
      </p:sp>
      <p:sp>
        <p:nvSpPr>
          <p:cNvPr id="3" name="blk009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more line of text, placed in the corner, naming what the program thinks it is doing:</a:t>
            </a:r>
          </a:p>
        </p:txBody>
      </p:sp>
      <p:sp>
        <p:nvSpPr>
          <p:cNvPr id="4" name="blk0093"/>
          <p:cNvSpPr/>
          <p:nvPr/>
        </p:nvSpPr>
        <p:spPr>
          <a:xfrm>
            <a:off x="687600" y="2160000"/>
            <a:ext cx="8686800" cy="47290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93"/>
          <p:cNvSpPr txBox="1"/>
          <p:nvPr/>
        </p:nvSpPr>
        <p:spPr>
          <a:xfrm>
            <a:off x="910799" y="2322000"/>
            <a:ext cx="8240400" cy="148902"/>
          </a:xfrm>
          <a:prstGeom prst="rect">
            <a:avLst/>
          </a:prstGeom>
          <a:noFill/>
        </p:spPr>
        <p:txBody>
          <a:bodyPr wrap="square" anchor="t" lIns="0" rIns="0" tIns="0" bIns="0">
            <a:noAutofit/>
          </a:bodyPr>
          <a:lstStyle/>
          <a:p>
            <a:pPr algn="l">
              <a:lnSpc>
                <a:spcPct val="115000"/>
              </a:lnSpc>
            </a:pPr>
            <a:r>
              <a:rPr sz="900" b="0" i="0">
                <a:solidFill>
                  <a:srgbClr val="FFFFFF"/>
                </a:solidFill>
                <a:latin typeface="Courier New"/>
                <a:ea typeface="Courier New"/>
                <a:cs typeface="Courier New"/>
                <a:sym typeface="Courier New"/>
              </a:rPr>
              <a:t>        cv2.putText(frame, "Tic-Tac-Toe Vision Parser", (20, 40), cv2.FONT_HERSHEY_SIMPLEX, 0.8, (255, 255, 255), 2)</a:t>
            </a:r>
          </a:p>
        </p:txBody>
      </p:sp>
      <p:sp>
        <p:nvSpPr>
          <p:cNvPr id="6" name="blk0094"/>
          <p:cNvSpPr txBox="1"/>
          <p:nvPr/>
        </p:nvSpPr>
        <p:spPr>
          <a:xfrm>
            <a:off x="687600" y="2880000"/>
            <a:ext cx="7542000" cy="474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If that line is missing, the window you are looking at is not from this program. That sounds trivial. It is not — a stale window from a previous run is the single most common way to spend an hour debugging a program that is working perfectly.</a:t>
            </a:r>
          </a:p>
        </p:txBody>
      </p:sp>
      <p:sp>
        <p:nvSpPr>
          <p:cNvPr id="7" name="blk0095"/>
          <p:cNvSpPr/>
          <p:nvPr/>
        </p:nvSpPr>
        <p:spPr>
          <a:xfrm>
            <a:off x="741600" y="4561374"/>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95"/>
          <p:cNvSpPr txBox="1"/>
          <p:nvPr/>
        </p:nvSpPr>
        <p:spPr>
          <a:xfrm>
            <a:off x="1252800" y="4532574"/>
            <a:ext cx="8118000" cy="720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It proves the loop reached this line.</a:t>
            </a:r>
            <a:r>
              <a:rPr sz="1600" b="0" i="0">
                <a:solidFill>
                  <a:srgbClr val="FFFFFF"/>
                </a:solidFill>
                <a:latin typeface="Avenir"/>
                <a:ea typeface="Avenir"/>
                <a:cs typeface="Avenir"/>
                <a:sym typeface="Avenir"/>
              </a:rPr>
              <a:t> Not a guess — proof.</a:t>
            </a:r>
          </a:p>
        </p:txBody>
      </p:sp>
      <p:sp>
        <p:nvSpPr>
          <p:cNvPr id="9" name="blk0096"/>
          <p:cNvSpPr/>
          <p:nvPr/>
        </p:nvSpPr>
        <p:spPr>
          <a:xfrm>
            <a:off x="741600" y="4961982"/>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96"/>
          <p:cNvSpPr txBox="1"/>
          <p:nvPr/>
        </p:nvSpPr>
        <p:spPr>
          <a:xfrm>
            <a:off x="1252800" y="4933182"/>
            <a:ext cx="8118000" cy="720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It gives the frame a version.</a:t>
            </a:r>
            <a:r>
              <a:rPr sz="1600" b="0" i="0">
                <a:solidFill>
                  <a:srgbClr val="FFFFFF"/>
                </a:solidFill>
                <a:latin typeface="Avenir"/>
                <a:ea typeface="Avenir"/>
                <a:cs typeface="Avenir"/>
                <a:sym typeface="Avenir"/>
              </a:rPr>
              <a:t> Useful when a behaviour changes between one run and the next.</a:t>
            </a:r>
          </a:p>
        </p:txBody>
      </p:sp>
      <p:sp>
        <p:nvSpPr>
          <p:cNvPr id="11" name="blk0097"/>
          <p:cNvSpPr txBox="1"/>
          <p:nvPr/>
        </p:nvSpPr>
        <p:spPr>
          <a:xfrm>
            <a:off x="687600" y="5626398"/>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project prints far less than Project 6 did. There are no counters, no scores, no state. The evidence here is visual, and the overlay is the instrument panel.</a:t>
            </a:r>
          </a:p>
        </p:txBody>
      </p:sp>
      <p:sp>
        <p:nvSpPr>
          <p:cNvPr id="12" name="blk0098"/>
          <p:cNvSpPr/>
          <p:nvPr/>
        </p:nvSpPr>
        <p:spPr>
          <a:xfrm>
            <a:off x="687600" y="6639654"/>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098"/>
          <p:cNvSpPr/>
          <p:nvPr/>
        </p:nvSpPr>
        <p:spPr>
          <a:xfrm>
            <a:off x="885600" y="695357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lk0098"/>
          <p:cNvSpPr txBox="1"/>
          <p:nvPr/>
        </p:nvSpPr>
        <p:spPr>
          <a:xfrm>
            <a:off x="1162800" y="6783654"/>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Two lines in this file make claims about what the program does. One of them is true. You will find out which, and not from a stack trace.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"scanner" does not mean</a:t>
            </a:r>
          </a:p>
        </p:txBody>
      </p:sp>
      <p:sp>
        <p:nvSpPr>
          <p:cNvPr id="3" name="blk010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It is worth being precise about the scope, because the name suggests more than the file does. This program does not:</a:t>
            </a:r>
          </a:p>
        </p:txBody>
      </p:sp>
      <p:sp>
        <p:nvSpPr>
          <p:cNvPr id="4" name="blk0101"/>
          <p:cNvSpPr/>
          <p:nvPr/>
        </p:nvSpPr>
        <p:spPr>
          <a:xfrm>
            <a:off x="741600" y="276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1"/>
          <p:cNvSpPr txBox="1"/>
          <p:nvPr/>
        </p:nvSpPr>
        <p:spPr>
          <a:xfrm>
            <a:off x="1252800" y="2736000"/>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know the rules</a:t>
            </a:r>
            <a:r>
              <a:rPr sz="1600" b="0" i="0">
                <a:solidFill>
                  <a:srgbClr val="FFFFFF"/>
                </a:solidFill>
                <a:latin typeface="Avenir"/>
                <a:ea typeface="Avenir"/>
                <a:cs typeface="Avenir"/>
                <a:sym typeface="Avenir"/>
              </a:rPr>
              <a:t>  — nothing checks for three in a row, and nothing decides whose turn it is.</a:t>
            </a:r>
          </a:p>
        </p:txBody>
      </p:sp>
      <p:sp>
        <p:nvSpPr>
          <p:cNvPr id="6" name="blk0102"/>
          <p:cNvSpPr/>
          <p:nvPr/>
        </p:nvSpPr>
        <p:spPr>
          <a:xfrm>
            <a:off x="741600" y="359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02"/>
          <p:cNvSpPr txBox="1"/>
          <p:nvPr/>
        </p:nvSpPr>
        <p:spPr>
          <a:xfrm>
            <a:off x="1252800" y="3564000"/>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move the arm</a:t>
            </a:r>
            <a:r>
              <a:rPr sz="1600" b="0" i="0">
                <a:solidFill>
                  <a:srgbClr val="FFFFFF"/>
                </a:solidFill>
                <a:latin typeface="Avenir"/>
                <a:ea typeface="Avenir"/>
                <a:cs typeface="Avenir"/>
                <a:sym typeface="Avenir"/>
              </a:rPr>
              <a:t>  — the arm is powered on and sent home at startup, then never touched again.</a:t>
            </a:r>
          </a:p>
        </p:txBody>
      </p:sp>
      <p:sp>
        <p:nvSpPr>
          <p:cNvPr id="8" name="blk0103"/>
          <p:cNvSpPr/>
          <p:nvPr/>
        </p:nvSpPr>
        <p:spPr>
          <a:xfrm>
            <a:off x="741600" y="442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03"/>
          <p:cNvSpPr txBox="1"/>
          <p:nvPr/>
        </p:nvSpPr>
        <p:spPr>
          <a:xfrm>
            <a:off x="1252800" y="4392000"/>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remember anything</a:t>
            </a:r>
            <a:r>
              <a:rPr sz="1600" b="0" i="0">
                <a:solidFill>
                  <a:srgbClr val="FFFFFF"/>
                </a:solidFill>
                <a:latin typeface="Avenir"/>
                <a:ea typeface="Avenir"/>
                <a:cs typeface="Avenir"/>
                <a:sym typeface="Avenir"/>
              </a:rPr>
              <a:t>  — the board from the previous frame is overwritten without ever being compared.</a:t>
            </a:r>
          </a:p>
        </p:txBody>
      </p:sp>
      <p:sp>
        <p:nvSpPr>
          <p:cNvPr id="10" name="blk0104"/>
          <p:cNvSpPr/>
          <p:nvPr/>
        </p:nvSpPr>
        <p:spPr>
          <a:xfrm>
            <a:off x="741600" y="52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04"/>
          <p:cNvSpPr txBox="1"/>
          <p:nvPr/>
        </p:nvSpPr>
        <p:spPr>
          <a:xfrm>
            <a:off x="1252800" y="5220000"/>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care about perspective</a:t>
            </a:r>
            <a:r>
              <a:rPr sz="1600" b="0" i="0">
                <a:solidFill>
                  <a:srgbClr val="FFFFFF"/>
                </a:solidFill>
                <a:latin typeface="Avenir"/>
                <a:ea typeface="Avenir"/>
                <a:cs typeface="Avenir"/>
                <a:sym typeface="Avenir"/>
              </a:rPr>
              <a:t>  — the calibration assumes a flat board seen from roughly above.</a:t>
            </a:r>
          </a:p>
        </p:txBody>
      </p:sp>
      <p:sp>
        <p:nvSpPr>
          <p:cNvPr id="12" name="blk0105"/>
          <p:cNvSpPr/>
          <p:nvPr/>
        </p:nvSpPr>
        <p:spPr>
          <a:xfrm>
            <a:off x="687600" y="6192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105"/>
          <p:cNvSpPr/>
          <p:nvPr/>
        </p:nvSpPr>
        <p:spPr>
          <a:xfrm>
            <a:off x="885600" y="6643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lk0105"/>
          <p:cNvSpPr txBox="1"/>
          <p:nvPr/>
        </p:nvSpPr>
        <p:spPr>
          <a:xfrm>
            <a:off x="1162800" y="633599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Those are not omissions, they are the syllabus. Rules and robot moves are Project 8. A module that builds a whole game in one file builds something nobody can debug.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Claims and evidence</a:t>
            </a:r>
          </a:p>
        </p:txBody>
      </p:sp>
      <p:sp>
        <p:nvSpPr>
          <p:cNvPr id="3" name="blk010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Most of this module has taught you to write code that tells you when it fails. This project mostly works, and that creates a different problem: a working program gives you very little to check against.</a:t>
            </a:r>
          </a:p>
          <a:p>
            <a:pPr algn="l">
              <a:lnSpc>
                <a:spcPct val="100000"/>
              </a:lnSpc>
            </a:pPr>
            <a:r>
              <a:rPr sz="2027" b="0" i="0">
                <a:solidFill>
                  <a:srgbClr val="FFFFFF"/>
                </a:solidFill>
                <a:latin typeface="Avenir"/>
                <a:ea typeface="Avenir"/>
                <a:cs typeface="Avenir"/>
                <a:sym typeface="Avenir"/>
              </a:rPr>
              <a:t>So the habit for this week is the Project 6 habit applied to a project that mostly succeeds. Before you move on, find the claims, write them down, and verify each one by hand.</a:t>
            </a:r>
          </a:p>
        </p:txBody>
      </p:sp>
      <p:sp>
        <p:nvSpPr>
          <p:cNvPr id="4" name="blk0108"/>
          <p:cNvSpPr/>
          <p:nvPr/>
        </p:nvSpPr>
        <p:spPr>
          <a:xfrm>
            <a:off x="687600" y="3744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8"/>
          <p:cNvSpPr/>
          <p:nvPr/>
        </p:nvSpPr>
        <p:spPr>
          <a:xfrm>
            <a:off x="885600" y="4195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108"/>
          <p:cNvSpPr txBox="1"/>
          <p:nvPr/>
        </p:nvSpPr>
        <p:spPr>
          <a:xfrm>
            <a:off x="1162800" y="3888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Two lines in this program make a statement about behaviour. One of them is checked every single time you press a key, and you have probably pressed the key a hundred times without noticing that it does nothing.</a:t>
            </a:r>
          </a:p>
        </p:txBody>
      </p:sp>
      <p:sp>
        <p:nvSpPr>
          <p:cNvPr id="7" name="blk0109"/>
          <p:cNvSpPr/>
          <p:nvPr/>
        </p:nvSpPr>
        <p:spPr>
          <a:xfrm>
            <a:off x="741600" y="499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09"/>
          <p:cNvSpPr txBox="1"/>
          <p:nvPr/>
        </p:nvSpPr>
        <p:spPr>
          <a:xfrm>
            <a:off x="1252800" y="4968000"/>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 promise made by a program</a:t>
            </a:r>
            <a:r>
              <a:rPr sz="1600" b="0" i="0">
                <a:solidFill>
                  <a:srgbClr val="FFFFFF"/>
                </a:solidFill>
                <a:latin typeface="Avenir"/>
                <a:ea typeface="Avenir"/>
                <a:cs typeface="Avenir"/>
                <a:sym typeface="Avenir"/>
              </a:rPr>
              <a:t> is a testable statement, exactly like a promise made by a person.</a:t>
            </a:r>
          </a:p>
        </p:txBody>
      </p:sp>
      <p:sp>
        <p:nvSpPr>
          <p:cNvPr id="9" name="blk0110"/>
          <p:cNvSpPr/>
          <p:nvPr/>
        </p:nvSpPr>
        <p:spPr>
          <a:xfrm>
            <a:off x="741600" y="5788799"/>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10"/>
          <p:cNvSpPr txBox="1"/>
          <p:nvPr/>
        </p:nvSpPr>
        <p:spPr>
          <a:xfrm>
            <a:off x="1252800" y="5760000"/>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 promise that holds</a:t>
            </a:r>
            <a:r>
              <a:rPr sz="1600" b="0" i="0">
                <a:solidFill>
                  <a:srgbClr val="FFFFFF"/>
                </a:solidFill>
                <a:latin typeface="Avenir"/>
                <a:ea typeface="Avenir"/>
                <a:cs typeface="Avenir"/>
                <a:sym typeface="Avenir"/>
              </a:rPr>
              <a:t> is worth recording too. It is the only way to know which of your instincts are reliable.</a:t>
            </a:r>
          </a:p>
        </p:txBody>
      </p:sp>
      <p:sp>
        <p:nvSpPr>
          <p:cNvPr id="11" name="blk0111"/>
          <p:cNvSpPr txBox="1"/>
          <p:nvPr/>
        </p:nvSpPr>
        <p:spPr>
          <a:xfrm>
            <a:off x="687600" y="6623999"/>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Three of the four things this project appears to claim are true, and verifying those took as much work as catching the false one did.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Before you type anything</a:t>
            </a:r>
          </a:p>
        </p:txBody>
      </p:sp>
      <p:sp>
        <p:nvSpPr>
          <p:cNvPr id="3" name="blk011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Copy the starter across and run it once before filling in a single TODO. This is the output, on a machine with no robot attached:</a:t>
            </a:r>
          </a:p>
        </p:txBody>
      </p:sp>
      <p:sp>
        <p:nvSpPr>
          <p:cNvPr id="4" name="blk0114"/>
          <p:cNvSpPr/>
          <p:nvPr/>
        </p:nvSpPr>
        <p:spPr>
          <a:xfrm>
            <a:off x="687600" y="2384744"/>
            <a:ext cx="8686800" cy="151522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4"/>
          <p:cNvSpPr txBox="1"/>
          <p:nvPr/>
        </p:nvSpPr>
        <p:spPr>
          <a:xfrm>
            <a:off x="910799" y="2546744"/>
            <a:ext cx="8240400" cy="1191220"/>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Robot ready.</a:t>
            </a:r>
          </a:p>
          <a:p>
            <a:pPr algn="l">
              <a:lnSpc>
                <a:spcPct val="115000"/>
              </a:lnSpc>
            </a:pPr>
            <a:r>
              <a:rPr sz="1200" b="0" i="0">
                <a:solidFill>
                  <a:srgbClr val="FFFFFF"/>
                </a:solidFill>
                <a:latin typeface="Courier New"/>
                <a:ea typeface="Courier New"/>
                <a:cs typeface="Courier New"/>
                <a:sym typeface="Courier New"/>
              </a:rPr>
              <a:t>Traceback (most recent call last):</a:t>
            </a:r>
          </a:p>
          <a:p>
            <a:pPr algn="l">
              <a:lnSpc>
                <a:spcPct val="115000"/>
              </a:lnSpc>
            </a:pPr>
            <a:r>
              <a:rPr sz="1200" b="0" i="0">
                <a:solidFill>
                  <a:srgbClr val="FFFFFF"/>
                </a:solidFill>
                <a:latin typeface="Courier New"/>
                <a:ea typeface="Courier New"/>
                <a:cs typeface="Courier New"/>
                <a:sym typeface="Courier New"/>
              </a:rPr>
              <a:t>  File "M2-P7-Starter.py", line 58, in &lt;module&gt;</a:t>
            </a:r>
          </a:p>
          <a:p>
            <a:pPr algn="l">
              <a:lnSpc>
                <a:spcPct val="115000"/>
              </a:lnSpc>
            </a:pPr>
            <a:r>
              <a:rPr sz="1200" b="0" i="0">
                <a:solidFill>
                  <a:srgbClr val="FFFFFF"/>
                </a:solidFill>
                <a:latin typeface="Courier New"/>
                <a:ea typeface="Courier New"/>
                <a:cs typeface="Courier New"/>
                <a:sym typeface="Courier New"/>
              </a:rPr>
              <a:t>    LOWER_RED1 = np.array([0, 120, 100])</a:t>
            </a:r>
          </a:p>
          <a:p>
            <a:pPr algn="l">
              <a:lnSpc>
                <a:spcPct val="115000"/>
              </a:lnSpc>
            </a:pPr>
            <a:r>
              <a:rPr sz="1200" b="0" i="0">
                <a:solidFill>
                  <a:srgbClr val="FFFFFF"/>
                </a:solidFill>
                <a:latin typeface="Courier New"/>
                <a:ea typeface="Courier New"/>
                <a:cs typeface="Courier New"/>
                <a:sym typeface="Courier New"/>
              </a:rPr>
              <a:t>                     ^^</a:t>
            </a:r>
          </a:p>
          <a:p>
            <a:pPr algn="l">
              <a:lnSpc>
                <a:spcPct val="115000"/>
              </a:lnSpc>
            </a:pPr>
            <a:r>
              <a:rPr sz="1200" b="0" i="0">
                <a:solidFill>
                  <a:srgbClr val="FFFFFF"/>
                </a:solidFill>
                <a:latin typeface="Courier New"/>
                <a:ea typeface="Courier New"/>
                <a:cs typeface="Courier New"/>
                <a:sym typeface="Courier New"/>
              </a:rPr>
              <a:t>NameError: name 'np' is not defined</a:t>
            </a:r>
          </a:p>
        </p:txBody>
      </p:sp>
      <p:sp>
        <p:nvSpPr>
          <p:cNvPr id="6" name="blk0115"/>
          <p:cNvSpPr txBox="1"/>
          <p:nvPr/>
        </p:nvSpPr>
        <p:spPr>
          <a:xfrm>
            <a:off x="687600" y="4104000"/>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things to notice, and the first one is the interesting one.</a:t>
            </a:r>
          </a:p>
        </p:txBody>
      </p:sp>
      <p:sp>
        <p:nvSpPr>
          <p:cNvPr id="7" name="blk0116"/>
          <p:cNvSpPr/>
          <p:nvPr/>
        </p:nvSpPr>
        <p:spPr>
          <a:xfrm>
            <a:off x="741600" y="4858629"/>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16"/>
          <p:cNvSpPr txBox="1"/>
          <p:nvPr/>
        </p:nvSpPr>
        <p:spPr>
          <a:xfrm>
            <a:off x="1252800" y="4829829"/>
            <a:ext cx="8118000" cy="864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It printed "Robot ready." first.</a:t>
            </a:r>
            <a:r>
              <a:rPr sz="1600" b="0" i="0">
                <a:solidFill>
                  <a:srgbClr val="FFFFFF"/>
                </a:solidFill>
                <a:latin typeface="Avenir"/>
                <a:ea typeface="Avenir"/>
                <a:cs typeface="Avenir"/>
                <a:sym typeface="Avenir"/>
              </a:rPr>
              <a:t>  That line is outside the TODO you have not filled in yet, so it runs and reports success before anything has actually been initialised.</a:t>
            </a:r>
          </a:p>
        </p:txBody>
      </p:sp>
      <p:sp>
        <p:nvSpPr>
          <p:cNvPr id="9" name="blk0117"/>
          <p:cNvSpPr/>
          <p:nvPr/>
        </p:nvSpPr>
        <p:spPr>
          <a:xfrm>
            <a:off x="741600" y="5844453"/>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17"/>
          <p:cNvSpPr txBox="1"/>
          <p:nvPr/>
        </p:nvSpPr>
        <p:spPr>
          <a:xfrm>
            <a:off x="1252800" y="5815653"/>
            <a:ext cx="8118000" cy="864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It failed on line 58, not line 131.</a:t>
            </a:r>
            <a:r>
              <a:rPr sz="1600" b="0" i="0">
                <a:solidFill>
                  <a:srgbClr val="FFFFFF"/>
                </a:solidFill>
                <a:latin typeface="Avenir"/>
                <a:ea typeface="Avenir"/>
                <a:cs typeface="Avenir"/>
                <a:sym typeface="Avenir"/>
              </a:rPr>
              <a:t>  The first use of </a:t>
            </a:r>
            <a:r>
              <a:rPr sz="1376" b="0" i="0">
                <a:solidFill>
                  <a:srgbClr val="FFFFFF"/>
                </a:solidFill>
                <a:latin typeface="Courier New"/>
                <a:ea typeface="Courier New"/>
                <a:cs typeface="Courier New"/>
                <a:sym typeface="Courier New"/>
              </a:rPr>
              <a:t>np</a:t>
            </a:r>
            <a:r>
              <a:rPr sz="1600" b="0" i="0">
                <a:solidFill>
                  <a:srgbClr val="FFFFFF"/>
                </a:solidFill>
                <a:latin typeface="Avenir"/>
                <a:ea typeface="Avenir"/>
                <a:cs typeface="Avenir"/>
                <a:sym typeface="Avenir"/>
              </a:rPr>
              <a:t> is in a threshold constant, well before the camera code. Read errors from the top: the first missing name is the one to fix.</a:t>
            </a:r>
          </a:p>
        </p:txBody>
      </p:sp>
      <p:sp>
        <p:nvSpPr>
          <p:cNvPr id="11" name="blk0118"/>
          <p:cNvSpPr txBox="1"/>
          <p:nvPr/>
        </p:nvSpPr>
        <p:spPr>
          <a:xfrm>
            <a:off x="687600" y="6801477"/>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Nothing here is a bug in your starter file. This is what an empty TODO looks like, and seeing it once makes the shape of the problem obvious.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import the three libraries</a:t>
            </a:r>
          </a:p>
        </p:txBody>
      </p:sp>
      <p:sp>
        <p:nvSpPr>
          <p:cNvPr id="3" name="blk012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TODO in the file. Three names you have used in every project so far:</a:t>
            </a:r>
          </a:p>
        </p:txBody>
      </p:sp>
      <p:sp>
        <p:nvSpPr>
          <p:cNvPr id="4" name="blk0121"/>
          <p:cNvSpPr/>
          <p:nvPr/>
        </p:nvSpPr>
        <p:spPr>
          <a:xfrm>
            <a:off x="687600" y="2376000"/>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1"/>
          <p:cNvSpPr txBox="1"/>
          <p:nvPr/>
        </p:nvSpPr>
        <p:spPr>
          <a:xfrm>
            <a:off x="910799" y="2538000"/>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import cv2</a:t>
            </a:r>
          </a:p>
          <a:p>
            <a:pPr algn="l">
              <a:lnSpc>
                <a:spcPct val="115000"/>
              </a:lnSpc>
            </a:pPr>
            <a:r>
              <a:rPr sz="1500" b="0" i="0">
                <a:solidFill>
                  <a:srgbClr val="FFFFFF"/>
                </a:solidFill>
                <a:latin typeface="Courier New"/>
                <a:ea typeface="Courier New"/>
                <a:cs typeface="Courier New"/>
                <a:sym typeface="Courier New"/>
              </a:rPr>
              <a:t>import numpy as np</a:t>
            </a:r>
          </a:p>
          <a:p>
            <a:pPr algn="l">
              <a:lnSpc>
                <a:spcPct val="115000"/>
              </a:lnSpc>
            </a:pPr>
            <a:r>
              <a:rPr sz="1500" b="0" i="0">
                <a:solidFill>
                  <a:srgbClr val="FFFFFF"/>
                </a:solidFill>
                <a:latin typeface="Courier New"/>
                <a:ea typeface="Courier New"/>
                <a:cs typeface="Courier New"/>
                <a:sym typeface="Courier New"/>
              </a:rPr>
              <a:t>import time</a:t>
            </a:r>
          </a:p>
        </p:txBody>
      </p:sp>
      <p:sp>
        <p:nvSpPr>
          <p:cNvPr id="6" name="blk0122"/>
          <p:cNvSpPr/>
          <p:nvPr/>
        </p:nvSpPr>
        <p:spPr>
          <a:xfrm>
            <a:off x="741600" y="3581312"/>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22"/>
          <p:cNvSpPr txBox="1"/>
          <p:nvPr/>
        </p:nvSpPr>
        <p:spPr>
          <a:xfrm>
            <a:off x="1252800" y="3552512"/>
            <a:ext cx="8118000" cy="68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cv2</a:t>
            </a:r>
            <a:r>
              <a:rPr sz="1600" b="0" i="0">
                <a:solidFill>
                  <a:srgbClr val="FFFFFF"/>
                </a:solidFill>
                <a:latin typeface="Avenir"/>
                <a:ea typeface="Avenir"/>
                <a:cs typeface="Avenir"/>
                <a:sym typeface="Avenir"/>
              </a:rPr>
              <a:t>  — the OpenCV functions, including everything colour related.</a:t>
            </a:r>
          </a:p>
        </p:txBody>
      </p:sp>
      <p:sp>
        <p:nvSpPr>
          <p:cNvPr id="8" name="blk0123"/>
          <p:cNvSpPr/>
          <p:nvPr/>
        </p:nvSpPr>
        <p:spPr>
          <a:xfrm>
            <a:off x="741600" y="424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23"/>
          <p:cNvSpPr txBox="1"/>
          <p:nvPr/>
        </p:nvSpPr>
        <p:spPr>
          <a:xfrm>
            <a:off x="1252800" y="4212000"/>
            <a:ext cx="8118000" cy="68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numpy as np</a:t>
            </a:r>
            <a:r>
              <a:rPr sz="1600" b="0" i="0">
                <a:solidFill>
                  <a:srgbClr val="FFFFFF"/>
                </a:solidFill>
                <a:latin typeface="Avenir"/>
                <a:ea typeface="Avenir"/>
                <a:cs typeface="Avenir"/>
                <a:sym typeface="Avenir"/>
              </a:rPr>
              <a:t>  — the arrays that hold the colour thresholds. This project needs it where Project 6 did not.</a:t>
            </a:r>
          </a:p>
        </p:txBody>
      </p:sp>
      <p:sp>
        <p:nvSpPr>
          <p:cNvPr id="10" name="blk0124"/>
          <p:cNvSpPr/>
          <p:nvPr/>
        </p:nvSpPr>
        <p:spPr>
          <a:xfrm>
            <a:off x="687600" y="4968000"/>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24"/>
          <p:cNvSpPr/>
          <p:nvPr/>
        </p:nvSpPr>
        <p:spPr>
          <a:xfrm>
            <a:off x="885600" y="52956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124"/>
          <p:cNvSpPr txBox="1"/>
          <p:nvPr/>
        </p:nvSpPr>
        <p:spPr>
          <a:xfrm>
            <a:off x="1162800" y="5112000"/>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If you skip this step, the first error you will see is the one from the previous slide, at line 58 — not at the line you would expect.</a:t>
            </a:r>
          </a:p>
        </p:txBody>
      </p:sp>
      <p:sp>
        <p:nvSpPr>
          <p:cNvPr id="13" name="blk0125"/>
          <p:cNvSpPr txBox="1"/>
          <p:nvPr/>
        </p:nvSpPr>
        <p:spPr>
          <a:xfrm>
            <a:off x="687600" y="5976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step that removes the </a:t>
            </a:r>
            <a:r>
              <a:rPr sz="1419" b="0" i="0">
                <a:solidFill>
                  <a:srgbClr val="FFFFFF"/>
                </a:solidFill>
                <a:latin typeface="Courier New"/>
                <a:ea typeface="Courier New"/>
                <a:cs typeface="Courier New"/>
                <a:sym typeface="Courier New"/>
              </a:rPr>
              <a:t>NameError</a:t>
            </a:r>
            <a:r>
              <a:rPr sz="1650" b="0" i="0">
                <a:solidFill>
                  <a:srgbClr val="FFFFFF"/>
                </a:solidFill>
                <a:latin typeface="Avenir"/>
                <a:ea typeface="Avenir"/>
                <a:cs typeface="Avenir"/>
                <a:sym typeface="Avenir"/>
              </a:rPr>
              <a:t> you just watched happen. Same error, same fix, and the error itself told you exactly which line was missing what.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import the robot</a:t>
            </a:r>
          </a:p>
        </p:txBody>
      </p:sp>
      <p:sp>
        <p:nvSpPr>
          <p:cNvPr id="3" name="blk012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Importing it does not touch the hardware — it only makes the class available when the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block runs.</a:t>
            </a:r>
          </a:p>
        </p:txBody>
      </p:sp>
      <p:sp>
        <p:nvSpPr>
          <p:cNvPr id="4" name="blk0128"/>
          <p:cNvSpPr/>
          <p:nvPr/>
        </p:nvSpPr>
        <p:spPr>
          <a:xfrm>
            <a:off x="687600" y="2376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8"/>
          <p:cNvSpPr txBox="1"/>
          <p:nvPr/>
        </p:nvSpPr>
        <p:spPr>
          <a:xfrm>
            <a:off x="910799" y="2538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from pymycobot.mycobot280 import MyCobot280</a:t>
            </a:r>
          </a:p>
        </p:txBody>
      </p:sp>
      <p:sp>
        <p:nvSpPr>
          <p:cNvPr id="6" name="blk0129"/>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package names, not one. </a:t>
            </a:r>
            <a:r>
              <a:rPr sz="1743" b="0" i="0">
                <a:solidFill>
                  <a:srgbClr val="FFFFFF"/>
                </a:solidFill>
                <a:latin typeface="Courier New"/>
                <a:ea typeface="Courier New"/>
                <a:cs typeface="Courier New"/>
                <a:sym typeface="Courier New"/>
              </a:rPr>
              <a:t>pymycobot</a:t>
            </a:r>
            <a:r>
              <a:rPr sz="2027" b="0" i="0">
                <a:solidFill>
                  <a:srgbClr val="FFFFFF"/>
                </a:solidFill>
                <a:latin typeface="Avenir"/>
                <a:ea typeface="Avenir"/>
                <a:cs typeface="Avenir"/>
                <a:sym typeface="Avenir"/>
              </a:rPr>
              <a:t> is the library; </a:t>
            </a:r>
            <a:r>
              <a:rPr sz="1743" b="0" i="0">
                <a:solidFill>
                  <a:srgbClr val="FFFFFF"/>
                </a:solidFill>
                <a:latin typeface="Courier New"/>
                <a:ea typeface="Courier New"/>
                <a:cs typeface="Courier New"/>
                <a:sym typeface="Courier New"/>
              </a:rPr>
              <a:t>mycobot280</a:t>
            </a:r>
            <a:r>
              <a:rPr sz="2027" b="0" i="0">
                <a:solidFill>
                  <a:srgbClr val="FFFFFF"/>
                </a:solidFill>
                <a:latin typeface="Avenir"/>
                <a:ea typeface="Avenir"/>
                <a:cs typeface="Avenir"/>
                <a:sym typeface="Avenir"/>
              </a:rPr>
              <a:t> is the module inside it; </a:t>
            </a:r>
            <a:r>
              <a:rPr sz="1743" b="0" i="0">
                <a:solidFill>
                  <a:srgbClr val="FFFFFF"/>
                </a:solidFill>
                <a:latin typeface="Courier New"/>
                <a:ea typeface="Courier New"/>
                <a:cs typeface="Courier New"/>
                <a:sym typeface="Courier New"/>
              </a:rPr>
              <a:t>MyCobot280</a:t>
            </a:r>
            <a:r>
              <a:rPr sz="2027" b="0" i="0">
                <a:solidFill>
                  <a:srgbClr val="FFFFFF"/>
                </a:solidFill>
                <a:latin typeface="Avenir"/>
                <a:ea typeface="Avenir"/>
                <a:cs typeface="Avenir"/>
                <a:sym typeface="Avenir"/>
              </a:rPr>
              <a:t> is the class you instantiate. The numbers in the name are the model number, not a version.</a:t>
            </a:r>
          </a:p>
        </p:txBody>
      </p:sp>
      <p:sp>
        <p:nvSpPr>
          <p:cNvPr id="7" name="blk0130"/>
          <p:cNvSpPr txBox="1"/>
          <p:nvPr/>
        </p:nvSpPr>
        <p:spPr>
          <a:xfrm>
            <a:off x="687600" y="4727659"/>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import has to succeed even when you are running without an arm, because it happens at the top of the file before the </a:t>
            </a:r>
            <a:r>
              <a:rPr sz="1419" b="0" i="0">
                <a:solidFill>
                  <a:srgbClr val="FFFFFF"/>
                </a:solidFill>
                <a:latin typeface="Courier New"/>
                <a:ea typeface="Courier New"/>
                <a:cs typeface="Courier New"/>
                <a:sym typeface="Courier New"/>
              </a:rPr>
              <a:t>try</a:t>
            </a:r>
            <a:r>
              <a:rPr sz="1650" b="0" i="0">
                <a:solidFill>
                  <a:srgbClr val="FFFFFF"/>
                </a:solidFill>
                <a:latin typeface="Avenir"/>
                <a:ea typeface="Avenir"/>
                <a:cs typeface="Avenir"/>
                <a:sym typeface="Avenir"/>
              </a:rPr>
              <a:t> block gives you any protection at all. The library has to be installed; the hardware does not.</a:t>
            </a:r>
          </a:p>
        </p:txBody>
      </p:sp>
      <p:sp>
        <p:nvSpPr>
          <p:cNvPr id="8" name="blk0131"/>
          <p:cNvSpPr/>
          <p:nvPr/>
        </p:nvSpPr>
        <p:spPr>
          <a:xfrm>
            <a:off x="687600" y="6042667"/>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31"/>
          <p:cNvSpPr/>
          <p:nvPr/>
        </p:nvSpPr>
        <p:spPr>
          <a:xfrm>
            <a:off x="885600" y="6370267"/>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31"/>
          <p:cNvSpPr txBox="1"/>
          <p:nvPr/>
        </p:nvSpPr>
        <p:spPr>
          <a:xfrm>
            <a:off x="1162800" y="6186666"/>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Remember this project: the arm is initialised and then never used again. The import is required by the file, not by the task.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3</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connect and power on</a:t>
            </a:r>
          </a:p>
        </p:txBody>
      </p:sp>
      <p:sp>
        <p:nvSpPr>
          <p:cNvPr id="3" name="blk013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Inside the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block that already exists in the file. Identical to Project 6:</a:t>
            </a:r>
          </a:p>
        </p:txBody>
      </p:sp>
      <p:sp>
        <p:nvSpPr>
          <p:cNvPr id="4" name="blk0134"/>
          <p:cNvSpPr/>
          <p:nvPr/>
        </p:nvSpPr>
        <p:spPr>
          <a:xfrm>
            <a:off x="687600" y="2448000"/>
            <a:ext cx="8686800" cy="166412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4"/>
          <p:cNvSpPr txBox="1"/>
          <p:nvPr/>
        </p:nvSpPr>
        <p:spPr>
          <a:xfrm>
            <a:off x="910799" y="2610000"/>
            <a:ext cx="8240400" cy="1340122"/>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    print("Connecting to myCobot280...")</a:t>
            </a:r>
          </a:p>
          <a:p>
            <a:pPr algn="l">
              <a:lnSpc>
                <a:spcPct val="115000"/>
              </a:lnSpc>
            </a:pPr>
            <a:r>
              <a:rPr sz="1350" b="0" i="0">
                <a:solidFill>
                  <a:srgbClr val="FFFFFF"/>
                </a:solidFill>
                <a:latin typeface="Courier New"/>
                <a:ea typeface="Courier New"/>
                <a:cs typeface="Courier New"/>
                <a:sym typeface="Courier New"/>
              </a:rPr>
              <a:t/>
            </a:r>
          </a:p>
          <a:p>
            <a:pPr algn="l">
              <a:lnSpc>
                <a:spcPct val="115000"/>
              </a:lnSpc>
            </a:pPr>
            <a:r>
              <a:rPr sz="1350" b="0" i="0">
                <a:solidFill>
                  <a:srgbClr val="FFFFFF"/>
                </a:solidFill>
                <a:latin typeface="Courier New"/>
                <a:ea typeface="Courier New"/>
                <a:cs typeface="Courier New"/>
                <a:sym typeface="Courier New"/>
              </a:rPr>
              <a:t>    mc = MyCobot280('/dev/ttyAMA0', 1000000)</a:t>
            </a:r>
          </a:p>
          <a:p>
            <a:pPr algn="l">
              <a:lnSpc>
                <a:spcPct val="115000"/>
              </a:lnSpc>
            </a:pPr>
            <a:r>
              <a:rPr sz="1350" b="0" i="0">
                <a:solidFill>
                  <a:srgbClr val="FFFFFF"/>
                </a:solidFill>
                <a:latin typeface="Courier New"/>
                <a:ea typeface="Courier New"/>
                <a:cs typeface="Courier New"/>
                <a:sym typeface="Courier New"/>
              </a:rPr>
              <a:t>    time.sleep(0.5)</a:t>
            </a:r>
          </a:p>
          <a:p>
            <a:pPr algn="l">
              <a:lnSpc>
                <a:spcPct val="115000"/>
              </a:lnSpc>
            </a:pPr>
            <a:r>
              <a:rPr sz="1350" b="0" i="0">
                <a:solidFill>
                  <a:srgbClr val="FFFFFF"/>
                </a:solidFill>
                <a:latin typeface="Courier New"/>
                <a:ea typeface="Courier New"/>
                <a:cs typeface="Courier New"/>
                <a:sym typeface="Courier New"/>
              </a:rPr>
              <a:t>    mc.power_on()</a:t>
            </a:r>
          </a:p>
          <a:p>
            <a:pPr algn="l">
              <a:lnSpc>
                <a:spcPct val="115000"/>
              </a:lnSpc>
            </a:pPr>
            <a:r>
              <a:rPr sz="1350" b="0" i="0">
                <a:solidFill>
                  <a:srgbClr val="FFFFFF"/>
                </a:solidFill>
                <a:latin typeface="Courier New"/>
                <a:ea typeface="Courier New"/>
                <a:cs typeface="Courier New"/>
                <a:sym typeface="Courier New"/>
              </a:rPr>
              <a:t>    time.sleep(0.5)</a:t>
            </a:r>
          </a:p>
        </p:txBody>
      </p:sp>
      <p:sp>
        <p:nvSpPr>
          <p:cNvPr id="6" name="blk0135"/>
          <p:cNvSpPr txBox="1"/>
          <p:nvPr/>
        </p:nvSpPr>
        <p:spPr>
          <a:xfrm>
            <a:off x="687600" y="4220122"/>
            <a:ext cx="7542000" cy="359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numbers that must match your hardware exactly: which serial port, and at what baud rate. The sleeps are there so the board can finish booting and acknowledge the power command before you send anything else.</a:t>
            </a:r>
          </a:p>
        </p:txBody>
      </p:sp>
      <p:sp>
        <p:nvSpPr>
          <p:cNvPr id="7" name="blk0136"/>
          <p:cNvSpPr txBox="1"/>
          <p:nvPr/>
        </p:nvSpPr>
        <p:spPr>
          <a:xfrm>
            <a:off x="687600" y="5563781"/>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the arm is not connected, the constructor raises, the </a:t>
            </a:r>
            <a:r>
              <a:rPr sz="1419" b="0" i="0">
                <a:solidFill>
                  <a:srgbClr val="FFFFFF"/>
                </a:solidFill>
                <a:latin typeface="Courier New"/>
                <a:ea typeface="Courier New"/>
                <a:cs typeface="Courier New"/>
                <a:sym typeface="Courier New"/>
              </a:rPr>
              <a:t>except</a:t>
            </a:r>
            <a:r>
              <a:rPr sz="1650" b="0" i="0">
                <a:solidFill>
                  <a:srgbClr val="FFFFFF"/>
                </a:solidFill>
                <a:latin typeface="Avenir"/>
                <a:ea typeface="Avenir"/>
                <a:cs typeface="Avenir"/>
                <a:sym typeface="Avenir"/>
              </a:rPr>
              <a:t> block runs, and the program continues. We will come back to whether that promise is actually kept.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4</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move to the home pose</a:t>
            </a:r>
          </a:p>
        </p:txBody>
      </p:sp>
      <p:sp>
        <p:nvSpPr>
          <p:cNvPr id="3" name="blk013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lines. The pose is different from Project 6, and the reason is given in the comment above it:</a:t>
            </a:r>
          </a:p>
        </p:txBody>
      </p:sp>
      <p:sp>
        <p:nvSpPr>
          <p:cNvPr id="4" name="blk0139"/>
          <p:cNvSpPr/>
          <p:nvPr/>
        </p:nvSpPr>
        <p:spPr>
          <a:xfrm>
            <a:off x="687600" y="2376000"/>
            <a:ext cx="8686800" cy="104369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9"/>
          <p:cNvSpPr txBox="1"/>
          <p:nvPr/>
        </p:nvSpPr>
        <p:spPr>
          <a:xfrm>
            <a:off x="910799" y="2538000"/>
            <a:ext cx="8240400" cy="719695"/>
          </a:xfrm>
          <a:prstGeom prst="rect">
            <a:avLst/>
          </a:prstGeom>
          <a:noFill/>
        </p:spPr>
        <p:txBody>
          <a:bodyPr wrap="square" anchor="t" lIns="0" rIns="0" tIns="0" bIns="0">
            <a:noAutofit/>
          </a:bodyPr>
          <a:lstStyle/>
          <a:p>
            <a:pPr algn="l">
              <a:lnSpc>
                <a:spcPct val="115000"/>
              </a:lnSpc>
            </a:pPr>
            <a:r>
              <a:rPr sz="1450" b="0" i="0">
                <a:solidFill>
                  <a:srgbClr val="FFFFFF"/>
                </a:solidFill>
                <a:latin typeface="Courier New"/>
                <a:ea typeface="Courier New"/>
                <a:cs typeface="Courier New"/>
                <a:sym typeface="Courier New"/>
              </a:rPr>
              <a:t>    home_pos = [0, 45, -90, -45, 0, 0]</a:t>
            </a:r>
          </a:p>
          <a:p>
            <a:pPr algn="l">
              <a:lnSpc>
                <a:spcPct val="115000"/>
              </a:lnSpc>
            </a:pPr>
            <a:r>
              <a:rPr sz="1450" b="0" i="0">
                <a:solidFill>
                  <a:srgbClr val="FFFFFF"/>
                </a:solidFill>
                <a:latin typeface="Courier New"/>
                <a:ea typeface="Courier New"/>
                <a:cs typeface="Courier New"/>
                <a:sym typeface="Courier New"/>
              </a:rPr>
              <a:t>    mc.send_angles(home_pos, 50)</a:t>
            </a:r>
          </a:p>
          <a:p>
            <a:pPr algn="l">
              <a:lnSpc>
                <a:spcPct val="115000"/>
              </a:lnSpc>
            </a:pPr>
            <a:r>
              <a:rPr sz="1450" b="0" i="0">
                <a:solidFill>
                  <a:srgbClr val="FFFFFF"/>
                </a:solidFill>
                <a:latin typeface="Courier New"/>
                <a:ea typeface="Courier New"/>
                <a:cs typeface="Courier New"/>
                <a:sym typeface="Courier New"/>
              </a:rPr>
              <a:t>    time.sleep(2.0)</a:t>
            </a:r>
          </a:p>
        </p:txBody>
      </p:sp>
      <p:sp>
        <p:nvSpPr>
          <p:cNvPr id="6" name="blk0140"/>
          <p:cNvSpPr txBox="1"/>
          <p:nvPr/>
        </p:nvSpPr>
        <p:spPr>
          <a:xfrm>
            <a:off x="687600" y="3527695"/>
            <a:ext cx="7542000" cy="417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folded position, defined by the module for this project so the arm is out of the way of the board the camera is looking at. The shape of the list is six joint angles, and </a:t>
            </a:r>
            <a:r>
              <a:rPr sz="1743" b="0" i="0">
                <a:solidFill>
                  <a:srgbClr val="FFFFFF"/>
                </a:solidFill>
                <a:latin typeface="Courier New"/>
                <a:ea typeface="Courier New"/>
                <a:cs typeface="Courier New"/>
                <a:sym typeface="Courier New"/>
              </a:rPr>
              <a:t>50</a:t>
            </a:r>
            <a:r>
              <a:rPr sz="2027" b="0" i="0">
                <a:solidFill>
                  <a:srgbClr val="FFFFFF"/>
                </a:solidFill>
                <a:latin typeface="Avenir"/>
                <a:ea typeface="Avenir"/>
                <a:cs typeface="Avenir"/>
                <a:sym typeface="Avenir"/>
              </a:rPr>
              <a:t> is a deliberately slow speed.</a:t>
            </a:r>
          </a:p>
        </p:txBody>
      </p:sp>
      <p:sp>
        <p:nvSpPr>
          <p:cNvPr id="7" name="blk0141"/>
          <p:cNvSpPr/>
          <p:nvPr/>
        </p:nvSpPr>
        <p:spPr>
          <a:xfrm>
            <a:off x="687600" y="4871354"/>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41"/>
          <p:cNvSpPr/>
          <p:nvPr/>
        </p:nvSpPr>
        <p:spPr>
          <a:xfrm>
            <a:off x="885600" y="545959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41"/>
          <p:cNvSpPr txBox="1"/>
          <p:nvPr/>
        </p:nvSpPr>
        <p:spPr>
          <a:xfrm>
            <a:off x="1162800" y="5015354"/>
            <a:ext cx="7956000" cy="102528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Compare with Project 6, where the pose lived at module level because two functions needed it. Here it is defined inside the </a:t>
            </a:r>
            <a:r>
              <a:rPr sz="1290" b="0" i="1">
                <a:solidFill>
                  <a:srgbClr val="FFCF08"/>
                </a:solidFill>
                <a:latin typeface="Courier New"/>
                <a:ea typeface="Courier New"/>
                <a:cs typeface="Courier New"/>
                <a:sym typeface="Courier New"/>
              </a:rPr>
              <a:t>try</a:t>
            </a:r>
            <a:r>
              <a:rPr sz="1500" b="0" i="1">
                <a:solidFill>
                  <a:srgbClr val="FFCF08"/>
                </a:solidFill>
                <a:latin typeface="Avenir"/>
                <a:ea typeface="Avenir"/>
                <a:cs typeface="Avenir"/>
                <a:sym typeface="Avenir"/>
              </a:rPr>
              <a:t> block and never used again — so its position in the file causes no problem at all. The rule is about use, not about where code sits.</a:t>
            </a:r>
          </a:p>
        </p:txBody>
      </p:sp>
      <p:sp>
        <p:nvSpPr>
          <p:cNvPr id="10" name="blk0142"/>
          <p:cNvSpPr txBox="1"/>
          <p:nvPr/>
        </p:nvSpPr>
        <p:spPr>
          <a:xfrm>
            <a:off x="687600" y="6292634"/>
            <a:ext cx="7542000" cy="503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last time you touch the arm in this entire project.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5</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calculate the grid</a:t>
            </a:r>
          </a:p>
        </p:txBody>
      </p:sp>
      <p:sp>
        <p:nvSpPr>
          <p:cNvPr id="3" name="blk014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TODO with real arithmetic in it. The constants above it are given to you, and they are the calibration:</a:t>
            </a:r>
          </a:p>
        </p:txBody>
      </p:sp>
      <p:sp>
        <p:nvSpPr>
          <p:cNvPr id="4" name="blk0145"/>
          <p:cNvSpPr/>
          <p:nvPr/>
        </p:nvSpPr>
        <p:spPr>
          <a:xfrm>
            <a:off x="687600" y="2376000"/>
            <a:ext cx="8686800" cy="141595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5"/>
          <p:cNvSpPr txBox="1"/>
          <p:nvPr/>
        </p:nvSpPr>
        <p:spPr>
          <a:xfrm>
            <a:off x="910799" y="2538000"/>
            <a:ext cx="8240400" cy="1091951"/>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GRID_SCALE = 0.75       # Scale factor for grid size (1.0 = original)</a:t>
            </a:r>
          </a:p>
          <a:p>
            <a:pPr algn="l">
              <a:lnSpc>
                <a:spcPct val="115000"/>
              </a:lnSpc>
            </a:pPr>
            <a:r>
              <a:rPr sz="1100" b="0" i="0">
                <a:solidFill>
                  <a:srgbClr val="FFFFFF"/>
                </a:solidFill>
                <a:latin typeface="Courier New"/>
                <a:ea typeface="Courier New"/>
                <a:cs typeface="Courier New"/>
                <a:sym typeface="Courier New"/>
              </a:rPr>
              <a:t>GRID_OFFSET_X = -10      # Horizontal offset in pixels (+X = right)</a:t>
            </a:r>
          </a:p>
          <a:p>
            <a:pPr algn="l">
              <a:lnSpc>
                <a:spcPct val="115000"/>
              </a:lnSpc>
            </a:pPr>
            <a:r>
              <a:rPr sz="1100" b="0" i="0">
                <a:solidFill>
                  <a:srgbClr val="FFFFFF"/>
                </a:solidFill>
                <a:latin typeface="Courier New"/>
                <a:ea typeface="Courier New"/>
                <a:cs typeface="Courier New"/>
                <a:sym typeface="Courier New"/>
              </a:rPr>
              <a:t>GRID_OFFSET_Y = -70      # Vertical offset in pixels (+Y = down)</a:t>
            </a:r>
          </a:p>
          <a:p>
            <a:pPr algn="l">
              <a:lnSpc>
                <a:spcPct val="115000"/>
              </a:lnSpc>
            </a:pPr>
            <a:r>
              <a:rPr sz="1100" b="0" i="0">
                <a:solidFill>
                  <a:srgbClr val="FFFFFF"/>
                </a:solidFill>
                <a:latin typeface="Courier New"/>
                <a:ea typeface="Courier New"/>
                <a:cs typeface="Courier New"/>
                <a:sym typeface="Courier New"/>
              </a:rPr>
              <a:t/>
            </a:r>
          </a:p>
          <a:p>
            <a:pPr algn="l">
              <a:lnSpc>
                <a:spcPct val="115000"/>
              </a:lnSpc>
            </a:pPr>
            <a:r>
              <a:rPr sz="1100" b="0" i="0">
                <a:solidFill>
                  <a:srgbClr val="FFFFFF"/>
                </a:solidFill>
                <a:latin typeface="Courier New"/>
                <a:ea typeface="Courier New"/>
                <a:cs typeface="Courier New"/>
                <a:sym typeface="Courier New"/>
              </a:rPr>
              <a:t>_BASE_GRID_X_MIN, _BASE_GRID_X_MAX = 170, 470</a:t>
            </a:r>
          </a:p>
          <a:p>
            <a:pPr algn="l">
              <a:lnSpc>
                <a:spcPct val="115000"/>
              </a:lnSpc>
            </a:pPr>
            <a:r>
              <a:rPr sz="1100" b="0" i="0">
                <a:solidFill>
                  <a:srgbClr val="FFFFFF"/>
                </a:solidFill>
                <a:latin typeface="Courier New"/>
                <a:ea typeface="Courier New"/>
                <a:cs typeface="Courier New"/>
                <a:sym typeface="Courier New"/>
              </a:rPr>
              <a:t>_BASE_GRID_Y_MIN, _BASE_GRID_Y_MAX = 90, 390</a:t>
            </a:r>
          </a:p>
        </p:txBody>
      </p:sp>
      <p:sp>
        <p:nvSpPr>
          <p:cNvPr id="6" name="blk0146"/>
          <p:cNvSpPr txBox="1"/>
          <p:nvPr/>
        </p:nvSpPr>
        <p:spPr>
          <a:xfrm>
            <a:off x="687600" y="3960000"/>
            <a:ext cx="7542000" cy="366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numbers to change if your board is in the wrong place or the wrong size, and the TODO turns them into the four corners the rest of the program uses:</a:t>
            </a:r>
          </a:p>
        </p:txBody>
      </p:sp>
      <p:sp>
        <p:nvSpPr>
          <p:cNvPr id="7" name="blk0147"/>
          <p:cNvSpPr/>
          <p:nvPr/>
        </p:nvSpPr>
        <p:spPr>
          <a:xfrm>
            <a:off x="687600" y="4994744"/>
            <a:ext cx="8686800" cy="173857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47"/>
          <p:cNvSpPr txBox="1"/>
          <p:nvPr/>
        </p:nvSpPr>
        <p:spPr>
          <a:xfrm>
            <a:off x="910799" y="5156744"/>
            <a:ext cx="8240400" cy="1414574"/>
          </a:xfrm>
          <a:prstGeom prst="rect">
            <a:avLst/>
          </a:prstGeom>
          <a:noFill/>
        </p:spPr>
        <p:txBody>
          <a:bodyPr wrap="square" anchor="t" lIns="0" rIns="0" tIns="0" bIns="0">
            <a:noAutofit/>
          </a:bodyPr>
          <a:lstStyle/>
          <a:p>
            <a:pPr algn="l">
              <a:lnSpc>
                <a:spcPct val="115000"/>
              </a:lnSpc>
            </a:pPr>
            <a:r>
              <a:rPr sz="950" b="0" i="0">
                <a:solidFill>
                  <a:srgbClr val="FFFFFF"/>
                </a:solidFill>
                <a:latin typeface="Courier New"/>
                <a:ea typeface="Courier New"/>
                <a:cs typeface="Courier New"/>
                <a:sym typeface="Courier New"/>
              </a:rPr>
              <a:t>grid_w = (_BASE_GRID_X_MAX - _BASE_GRID_X_MIN) * GRID_SCALE</a:t>
            </a:r>
          </a:p>
          <a:p>
            <a:pPr algn="l">
              <a:lnSpc>
                <a:spcPct val="115000"/>
              </a:lnSpc>
            </a:pPr>
            <a:r>
              <a:rPr sz="950" b="0" i="0">
                <a:solidFill>
                  <a:srgbClr val="FFFFFF"/>
                </a:solidFill>
                <a:latin typeface="Courier New"/>
                <a:ea typeface="Courier New"/>
                <a:cs typeface="Courier New"/>
                <a:sym typeface="Courier New"/>
              </a:rPr>
              <a:t>grid_h = (_BASE_GRID_Y_MAX - _BASE_GRID_Y_MIN) * GRID_SCALE</a:t>
            </a:r>
          </a:p>
          <a:p>
            <a:pPr algn="l">
              <a:lnSpc>
                <a:spcPct val="115000"/>
              </a:lnSpc>
            </a:pPr>
            <a:r>
              <a:rPr sz="950" b="0" i="0">
                <a:solidFill>
                  <a:srgbClr val="FFFFFF"/>
                </a:solidFill>
                <a:latin typeface="Courier New"/>
                <a:ea typeface="Courier New"/>
                <a:cs typeface="Courier New"/>
                <a:sym typeface="Courier New"/>
              </a:rPr>
              <a:t>center_x = (_BASE_GRID_X_MIN + _BASE_GRID_X_MAX) / 2</a:t>
            </a:r>
          </a:p>
          <a:p>
            <a:pPr algn="l">
              <a:lnSpc>
                <a:spcPct val="115000"/>
              </a:lnSpc>
            </a:pPr>
            <a:r>
              <a:rPr sz="950" b="0" i="0">
                <a:solidFill>
                  <a:srgbClr val="FFFFFF"/>
                </a:solidFill>
                <a:latin typeface="Courier New"/>
                <a:ea typeface="Courier New"/>
                <a:cs typeface="Courier New"/>
                <a:sym typeface="Courier New"/>
              </a:rPr>
              <a:t>center_y = (_BASE_GRID_Y_MIN + _BASE_GRID_Y_MAX) / 2</a:t>
            </a:r>
          </a:p>
          <a:p>
            <a:pPr algn="l">
              <a:lnSpc>
                <a:spcPct val="115000"/>
              </a:lnSpc>
            </a:pPr>
            <a:r>
              <a:rPr sz="950" b="0" i="0">
                <a:solidFill>
                  <a:srgbClr val="FFFFFF"/>
                </a:solidFill>
                <a:latin typeface="Courier New"/>
                <a:ea typeface="Courier New"/>
                <a:cs typeface="Courier New"/>
                <a:sym typeface="Courier New"/>
              </a:rPr>
              <a:t/>
            </a:r>
          </a:p>
          <a:p>
            <a:pPr algn="l">
              <a:lnSpc>
                <a:spcPct val="115000"/>
              </a:lnSpc>
            </a:pPr>
            <a:r>
              <a:rPr sz="950" b="0" i="0">
                <a:solidFill>
                  <a:srgbClr val="FFFFFF"/>
                </a:solidFill>
                <a:latin typeface="Courier New"/>
                <a:ea typeface="Courier New"/>
                <a:cs typeface="Courier New"/>
                <a:sym typeface="Courier New"/>
              </a:rPr>
              <a:t>GRID_X_MIN = int(center_x - grid_w / 2 + GRID_OFFSET_X)</a:t>
            </a:r>
          </a:p>
          <a:p>
            <a:pPr algn="l">
              <a:lnSpc>
                <a:spcPct val="115000"/>
              </a:lnSpc>
            </a:pPr>
            <a:r>
              <a:rPr sz="950" b="0" i="0">
                <a:solidFill>
                  <a:srgbClr val="FFFFFF"/>
                </a:solidFill>
                <a:latin typeface="Courier New"/>
                <a:ea typeface="Courier New"/>
                <a:cs typeface="Courier New"/>
                <a:sym typeface="Courier New"/>
              </a:rPr>
              <a:t>GRID_X_MAX = int(center_x + grid_w / 2 + GRID_OFFSET_X)</a:t>
            </a:r>
          </a:p>
          <a:p>
            <a:pPr algn="l">
              <a:lnSpc>
                <a:spcPct val="115000"/>
              </a:lnSpc>
            </a:pPr>
            <a:r>
              <a:rPr sz="950" b="0" i="0">
                <a:solidFill>
                  <a:srgbClr val="FFFFFF"/>
                </a:solidFill>
                <a:latin typeface="Courier New"/>
                <a:ea typeface="Courier New"/>
                <a:cs typeface="Courier New"/>
                <a:sym typeface="Courier New"/>
              </a:rPr>
              <a:t>GRID_Y_MIN = int(center_y - grid_h / 2 + GRID_OFFSET_Y)</a:t>
            </a:r>
          </a:p>
          <a:p>
            <a:pPr algn="l">
              <a:lnSpc>
                <a:spcPct val="115000"/>
              </a:lnSpc>
            </a:pPr>
            <a:r>
              <a:rPr sz="950" b="0" i="0">
                <a:solidFill>
                  <a:srgbClr val="FFFFFF"/>
                </a:solidFill>
                <a:latin typeface="Courier New"/>
                <a:ea typeface="Courier New"/>
                <a:cs typeface="Courier New"/>
                <a:sym typeface="Courier New"/>
              </a:rPr>
              <a:t>GRID_Y_MAX = int(center_y + grid_h / 2 + GRID_OFFSET_Y)</a:t>
            </a:r>
          </a:p>
        </p:txBody>
      </p:sp>
      <p:sp>
        <p:nvSpPr>
          <p:cNvPr id="9" name="blk0148"/>
          <p:cNvSpPr txBox="1"/>
          <p:nvPr/>
        </p:nvSpPr>
        <p:spPr>
          <a:xfrm>
            <a:off x="687600" y="6841318"/>
            <a:ext cx="7542000" cy="9324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With the shipped numbers that is X 197 to 422, Y 57 to 282 — well inside a 640x480 frame.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6</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divide into three</a:t>
            </a:r>
          </a:p>
        </p:txBody>
      </p:sp>
      <p:sp>
        <p:nvSpPr>
          <p:cNvPr id="3" name="blk015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3x3 board is just a region divided three times. Two lines:</a:t>
            </a:r>
          </a:p>
        </p:txBody>
      </p:sp>
      <p:sp>
        <p:nvSpPr>
          <p:cNvPr id="4" name="blk0151"/>
          <p:cNvSpPr/>
          <p:nvPr/>
        </p:nvSpPr>
        <p:spPr>
          <a:xfrm>
            <a:off x="687600" y="237600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1"/>
          <p:cNvSpPr txBox="1"/>
          <p:nvPr/>
        </p:nvSpPr>
        <p:spPr>
          <a:xfrm>
            <a:off x="910799" y="2538000"/>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CELL_W = (GRID_X_MAX - GRID_X_MIN) // 3</a:t>
            </a:r>
          </a:p>
          <a:p>
            <a:pPr algn="l">
              <a:lnSpc>
                <a:spcPct val="115000"/>
              </a:lnSpc>
            </a:pPr>
            <a:r>
              <a:rPr sz="1500" b="0" i="0">
                <a:solidFill>
                  <a:srgbClr val="FFFFFF"/>
                </a:solidFill>
                <a:latin typeface="Courier New"/>
                <a:ea typeface="Courier New"/>
                <a:cs typeface="Courier New"/>
                <a:sym typeface="Courier New"/>
              </a:rPr>
              <a:t>CELL_H = (GRID_Y_MAX - GRID_Y_MIN) // 3</a:t>
            </a:r>
          </a:p>
        </p:txBody>
      </p:sp>
      <p:sp>
        <p:nvSpPr>
          <p:cNvPr id="6" name="blk0152"/>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225 pixels wide and 225 tall, so each cell is exactly 75 by 75. That number is the one that matters later, because it is the denominator for the colour threshold.</a:t>
            </a:r>
          </a:p>
        </p:txBody>
      </p:sp>
      <p:sp>
        <p:nvSpPr>
          <p:cNvPr id="7" name="blk0153"/>
          <p:cNvSpPr/>
          <p:nvPr/>
        </p:nvSpPr>
        <p:spPr>
          <a:xfrm>
            <a:off x="741600" y="449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53"/>
          <p:cNvSpPr txBox="1"/>
          <p:nvPr/>
        </p:nvSpPr>
        <p:spPr>
          <a:xfrm>
            <a:off x="1252800" y="4464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double slash</a:t>
            </a:r>
            <a:r>
              <a:rPr sz="1600" b="0" i="0">
                <a:solidFill>
                  <a:srgbClr val="FFFFFF"/>
                </a:solidFill>
                <a:latin typeface="Avenir"/>
                <a:ea typeface="Avenir"/>
                <a:cs typeface="Avenir"/>
                <a:sym typeface="Avenir"/>
              </a:rPr>
              <a:t> is floor division. It guarantees a whole number, which matters because the two results are subtracted from each other when the last cell is cut.</a:t>
            </a:r>
          </a:p>
        </p:txBody>
      </p:sp>
      <p:sp>
        <p:nvSpPr>
          <p:cNvPr id="9" name="blk0154"/>
          <p:cNvSpPr/>
          <p:nvPr/>
        </p:nvSpPr>
        <p:spPr>
          <a:xfrm>
            <a:off x="741600" y="5478624"/>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54"/>
          <p:cNvSpPr txBox="1"/>
          <p:nvPr/>
        </p:nvSpPr>
        <p:spPr>
          <a:xfrm>
            <a:off x="1252800" y="5449824"/>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If the region is not evenly divisible</a:t>
            </a:r>
            <a:r>
              <a:rPr sz="1600" b="0" i="0">
                <a:solidFill>
                  <a:srgbClr val="FFFFFF"/>
                </a:solidFill>
                <a:latin typeface="Avenir"/>
                <a:ea typeface="Avenir"/>
                <a:cs typeface="Avenir"/>
                <a:sym typeface="Avenir"/>
              </a:rPr>
              <a:t>, floor division throws away the remainder rather than making one cell a pixel wider. A tiny error, and much better than nine mismatched cells.</a:t>
            </a:r>
          </a:p>
        </p:txBody>
      </p:sp>
      <p:sp>
        <p:nvSpPr>
          <p:cNvPr id="11" name="blk0155"/>
          <p:cNvSpPr txBox="1"/>
          <p:nvPr/>
        </p:nvSpPr>
        <p:spPr>
          <a:xfrm>
            <a:off x="687600" y="6435648"/>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Work out the value of 800 against 5,625 pixels now, before you need it later. It is a percentage, and knowing the percentage is what makes the threshold adjustable rather than magic.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7</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cell function</a:t>
            </a:r>
          </a:p>
        </p:txBody>
      </p:sp>
      <p:sp>
        <p:nvSpPr>
          <p:cNvPr id="3" name="blk015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signature and the docstring are inside this TODO, along with the conversion that turns a colour question into a hue question:</a:t>
            </a:r>
          </a:p>
        </p:txBody>
      </p:sp>
      <p:sp>
        <p:nvSpPr>
          <p:cNvPr id="4" name="blk0158"/>
          <p:cNvSpPr/>
          <p:nvPr/>
        </p:nvSpPr>
        <p:spPr>
          <a:xfrm>
            <a:off x="687600" y="2592000"/>
            <a:ext cx="8686800" cy="94442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8"/>
          <p:cNvSpPr txBox="1"/>
          <p:nvPr/>
        </p:nvSpPr>
        <p:spPr>
          <a:xfrm>
            <a:off x="910799" y="2754000"/>
            <a:ext cx="8240400" cy="620427"/>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def scan_cell(cell_roi):</a:t>
            </a:r>
          </a:p>
          <a:p>
            <a:pPr algn="l">
              <a:lnSpc>
                <a:spcPct val="115000"/>
              </a:lnSpc>
            </a:pPr>
            <a:r>
              <a:rPr sz="1250" b="0" i="0">
                <a:solidFill>
                  <a:srgbClr val="FFFFFF"/>
                </a:solidFill>
                <a:latin typeface="Courier New"/>
                <a:ea typeface="Courier New"/>
                <a:cs typeface="Courier New"/>
                <a:sym typeface="Courier New"/>
              </a:rPr>
              <a:t>    """Inspects a single cell ROI and returns 'X', 'O', or ' '."""</a:t>
            </a:r>
          </a:p>
          <a:p>
            <a:pPr algn="l">
              <a:lnSpc>
                <a:spcPct val="115000"/>
              </a:lnSpc>
            </a:pPr>
            <a:r>
              <a:rPr sz="1250" b="0" i="0">
                <a:solidFill>
                  <a:srgbClr val="FFFFFF"/>
                </a:solidFill>
                <a:latin typeface="Courier New"/>
                <a:ea typeface="Courier New"/>
                <a:cs typeface="Courier New"/>
                <a:sym typeface="Courier New"/>
              </a:rPr>
              <a:t>    hsv = cv2.cvtColor(cell_roi, cv2.COLOR_BGR2HSV)</a:t>
            </a:r>
          </a:p>
        </p:txBody>
      </p:sp>
      <p:sp>
        <p:nvSpPr>
          <p:cNvPr id="6" name="blk0159"/>
          <p:cNvSpPr txBox="1"/>
          <p:nvPr/>
        </p:nvSpPr>
        <p:spPr>
          <a:xfrm>
            <a:off x="687600" y="3888000"/>
            <a:ext cx="7542000" cy="374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docstring is not decoration. It states the return contract — three possible values — before a single line of logic exists, which is the cheapest way to make a function testable.</a:t>
            </a:r>
          </a:p>
        </p:txBody>
      </p:sp>
      <p:sp>
        <p:nvSpPr>
          <p:cNvPr id="7" name="blk0160"/>
          <p:cNvSpPr/>
          <p:nvPr/>
        </p:nvSpPr>
        <p:spPr>
          <a:xfrm>
            <a:off x="687600" y="4922744"/>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60"/>
          <p:cNvSpPr/>
          <p:nvPr/>
        </p:nvSpPr>
        <p:spPr>
          <a:xfrm>
            <a:off x="885600" y="537382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60"/>
          <p:cNvSpPr txBox="1"/>
          <p:nvPr/>
        </p:nvSpPr>
        <p:spPr>
          <a:xfrm>
            <a:off x="1162800" y="5066744"/>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function will be called nine times per frame, so it is written to be completely ignorant of the board. It receives a picture and returns a character. It has no idea nine of its answers will be assembled into rows.</a:t>
            </a:r>
          </a:p>
        </p:txBody>
      </p:sp>
      <p:sp>
        <p:nvSpPr>
          <p:cNvPr id="10" name="blk0161"/>
          <p:cNvSpPr txBox="1"/>
          <p:nvPr/>
        </p:nvSpPr>
        <p:spPr>
          <a:xfrm>
            <a:off x="687600" y="6120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you wanted to test this function without a camera, you would save one cell as a small image file and call </a:t>
            </a:r>
            <a:r>
              <a:rPr sz="1419" b="0" i="0">
                <a:solidFill>
                  <a:srgbClr val="FFFFFF"/>
                </a:solidFill>
                <a:latin typeface="Courier New"/>
                <a:ea typeface="Courier New"/>
                <a:cs typeface="Courier New"/>
                <a:sym typeface="Courier New"/>
              </a:rPr>
              <a:t>scan_cell</a:t>
            </a:r>
            <a:r>
              <a:rPr sz="1650" b="0" i="0">
                <a:solidFill>
                  <a:srgbClr val="FFFFFF"/>
                </a:solidFill>
                <a:latin typeface="Avenir"/>
                <a:ea typeface="Avenir"/>
                <a:cs typeface="Avenir"/>
                <a:sym typeface="Avenir"/>
              </a:rPr>
              <a:t> on it. Separating the question from the input is what makes that possible.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8</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red mask</a:t>
            </a:r>
          </a:p>
        </p:txBody>
      </p:sp>
      <p:sp>
        <p:nvSpPr>
          <p:cNvPr id="3" name="blk016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ranges because red wraps around the hue scale, and a combination step because two ranges make two masks:</a:t>
            </a:r>
          </a:p>
        </p:txBody>
      </p:sp>
      <p:sp>
        <p:nvSpPr>
          <p:cNvPr id="4" name="blk0164"/>
          <p:cNvSpPr/>
          <p:nvPr/>
        </p:nvSpPr>
        <p:spPr>
          <a:xfrm>
            <a:off x="687600" y="2448000"/>
            <a:ext cx="8686800" cy="111814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64"/>
          <p:cNvSpPr txBox="1"/>
          <p:nvPr/>
        </p:nvSpPr>
        <p:spPr>
          <a:xfrm>
            <a:off x="910799" y="2610000"/>
            <a:ext cx="8240400" cy="794146"/>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    # Red Mask (handles HSV wraparound)</a:t>
            </a:r>
          </a:p>
          <a:p>
            <a:pPr algn="l">
              <a:lnSpc>
                <a:spcPct val="115000"/>
              </a:lnSpc>
            </a:pPr>
            <a:r>
              <a:rPr sz="1200" b="0" i="0">
                <a:solidFill>
                  <a:srgbClr val="FFFFFF"/>
                </a:solidFill>
                <a:latin typeface="Courier New"/>
                <a:ea typeface="Courier New"/>
                <a:cs typeface="Courier New"/>
                <a:sym typeface="Courier New"/>
              </a:rPr>
              <a:t>    mask_red1 = cv2.inRange(hsv, LOWER_RED1, UPPER_RED1)</a:t>
            </a:r>
          </a:p>
          <a:p>
            <a:pPr algn="l">
              <a:lnSpc>
                <a:spcPct val="115000"/>
              </a:lnSpc>
            </a:pPr>
            <a:r>
              <a:rPr sz="1200" b="0" i="0">
                <a:solidFill>
                  <a:srgbClr val="FFFFFF"/>
                </a:solidFill>
                <a:latin typeface="Courier New"/>
                <a:ea typeface="Courier New"/>
                <a:cs typeface="Courier New"/>
                <a:sym typeface="Courier New"/>
              </a:rPr>
              <a:t>    mask_red2 = cv2.inRange(hsv, LOWER_RED2, UPPER_RED2)</a:t>
            </a:r>
          </a:p>
          <a:p>
            <a:pPr algn="l">
              <a:lnSpc>
                <a:spcPct val="115000"/>
              </a:lnSpc>
            </a:pPr>
            <a:r>
              <a:rPr sz="1200" b="0" i="0">
                <a:solidFill>
                  <a:srgbClr val="FFFFFF"/>
                </a:solidFill>
                <a:latin typeface="Courier New"/>
                <a:ea typeface="Courier New"/>
                <a:cs typeface="Courier New"/>
                <a:sym typeface="Courier New"/>
              </a:rPr>
              <a:t>    mask_red = cv2.bitwise_or(mask_red1, mask_red2)</a:t>
            </a:r>
          </a:p>
        </p:txBody>
      </p:sp>
      <p:sp>
        <p:nvSpPr>
          <p:cNvPr id="6" name="blk0165"/>
          <p:cNvSpPr txBox="1"/>
          <p:nvPr/>
        </p:nvSpPr>
        <p:spPr>
          <a:xfrm>
            <a:off x="687600" y="3744000"/>
            <a:ext cx="7542000" cy="38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Each </a:t>
            </a:r>
            <a:r>
              <a:rPr sz="1743" b="0" i="0">
                <a:solidFill>
                  <a:srgbClr val="FFFFFF"/>
                </a:solidFill>
                <a:latin typeface="Courier New"/>
                <a:ea typeface="Courier New"/>
                <a:cs typeface="Courier New"/>
                <a:sym typeface="Courier New"/>
              </a:rPr>
              <a:t>inRange</a:t>
            </a:r>
            <a:r>
              <a:rPr sz="2027" b="0" i="0">
                <a:solidFill>
                  <a:srgbClr val="FFFFFF"/>
                </a:solidFill>
                <a:latin typeface="Avenir"/>
                <a:ea typeface="Avenir"/>
                <a:cs typeface="Avenir"/>
                <a:sym typeface="Avenir"/>
              </a:rPr>
              <a:t> call produces a full-size black and white picture. The fourth line merges them into one mask that answers a single question: is this pixel red enough to count?</a:t>
            </a:r>
          </a:p>
        </p:txBody>
      </p:sp>
      <p:sp>
        <p:nvSpPr>
          <p:cNvPr id="7" name="blk0166"/>
          <p:cNvSpPr/>
          <p:nvPr/>
        </p:nvSpPr>
        <p:spPr>
          <a:xfrm>
            <a:off x="687600" y="4896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66"/>
          <p:cNvSpPr/>
          <p:nvPr/>
        </p:nvSpPr>
        <p:spPr>
          <a:xfrm>
            <a:off x="885600" y="5347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66"/>
          <p:cNvSpPr txBox="1"/>
          <p:nvPr/>
        </p:nvSpPr>
        <p:spPr>
          <a:xfrm>
            <a:off x="1162800" y="5040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comment is the documentation here, and it is load-bearing. Without the word "wraparound" the next reader sees a redundant-looking pair of masks and is likely to "simplify" them into one broken range.</a:t>
            </a:r>
          </a:p>
        </p:txBody>
      </p:sp>
      <p:sp>
        <p:nvSpPr>
          <p:cNvPr id="10" name="blk0167"/>
          <p:cNvSpPr txBox="1"/>
          <p:nvPr/>
        </p:nvSpPr>
        <p:spPr>
          <a:xfrm>
            <a:off x="687600" y="6042959"/>
            <a:ext cx="7542000" cy="57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third project in a row that uses this exact pattern. It is worth being able to write it without looking.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9</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blue mask</a:t>
            </a:r>
          </a:p>
        </p:txBody>
      </p:sp>
      <p:sp>
        <p:nvSpPr>
          <p:cNvPr id="3" name="blk016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Blue sits in the middle of the hue scale and wraps around nothing, so one range is genuinely enough:</a:t>
            </a:r>
          </a:p>
        </p:txBody>
      </p:sp>
      <p:sp>
        <p:nvSpPr>
          <p:cNvPr id="4" name="blk0170"/>
          <p:cNvSpPr/>
          <p:nvPr/>
        </p:nvSpPr>
        <p:spPr>
          <a:xfrm>
            <a:off x="687600" y="2448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0"/>
          <p:cNvSpPr txBox="1"/>
          <p:nvPr/>
        </p:nvSpPr>
        <p:spPr>
          <a:xfrm>
            <a:off x="910799" y="2610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 Blue Mask</a:t>
            </a:r>
          </a:p>
          <a:p>
            <a:pPr algn="l">
              <a:lnSpc>
                <a:spcPct val="115000"/>
              </a:lnSpc>
            </a:pPr>
            <a:r>
              <a:rPr sz="1400" b="0" i="0">
                <a:solidFill>
                  <a:srgbClr val="FFFFFF"/>
                </a:solidFill>
                <a:latin typeface="Courier New"/>
                <a:ea typeface="Courier New"/>
                <a:cs typeface="Courier New"/>
                <a:sym typeface="Courier New"/>
              </a:rPr>
              <a:t>    mask_blue = cv2.inRange(hsv, LOWER_BLUE, UPPER_BLUE)</a:t>
            </a:r>
          </a:p>
        </p:txBody>
      </p:sp>
      <p:sp>
        <p:nvSpPr>
          <p:cNvPr id="6" name="blk0171"/>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thresholds are given to you above the function. Read them as three questions: is the hue between 90 and 130, is the saturation at least 120, is the brightness at least 100.</a:t>
            </a:r>
          </a:p>
        </p:txBody>
      </p:sp>
      <p:sp>
        <p:nvSpPr>
          <p:cNvPr id="7" name="blk0172"/>
          <p:cNvSpPr txBox="1"/>
          <p:nvPr/>
        </p:nvSpPr>
        <p:spPr>
          <a:xfrm>
            <a:off x="687600" y="4464000"/>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saturation floor is doing more work than the hue range. Pale blue and grey-blue pixels have a correct hue but a saturation below 120, and the floor is what rejects them.</a:t>
            </a:r>
          </a:p>
        </p:txBody>
      </p:sp>
      <p:sp>
        <p:nvSpPr>
          <p:cNvPr id="8" name="blk0173"/>
          <p:cNvSpPr/>
          <p:nvPr/>
        </p:nvSpPr>
        <p:spPr>
          <a:xfrm>
            <a:off x="687600" y="5616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73"/>
          <p:cNvSpPr/>
          <p:nvPr/>
        </p:nvSpPr>
        <p:spPr>
          <a:xfrm>
            <a:off x="885600" y="606707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73"/>
          <p:cNvSpPr txBox="1"/>
          <p:nvPr/>
        </p:nvSpPr>
        <p:spPr>
          <a:xfrm>
            <a:off x="1162800" y="5760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Two ranges for one colour and one range for another is not inconsistent — it is the shape of the hue scale deciding how many slices the colour needs. Red sits at both ends, blue at one.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10</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count the pixels</a:t>
            </a:r>
          </a:p>
        </p:txBody>
      </p:sp>
      <p:sp>
        <p:nvSpPr>
          <p:cNvPr id="3" name="blk017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simplest line in the project, and the one that turns a picture into something comparable:</a:t>
            </a:r>
          </a:p>
        </p:txBody>
      </p:sp>
      <p:sp>
        <p:nvSpPr>
          <p:cNvPr id="4" name="blk0176"/>
          <p:cNvSpPr/>
          <p:nvPr/>
        </p:nvSpPr>
        <p:spPr>
          <a:xfrm>
            <a:off x="687600" y="2376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6"/>
          <p:cNvSpPr txBox="1"/>
          <p:nvPr/>
        </p:nvSpPr>
        <p:spPr>
          <a:xfrm>
            <a:off x="910799" y="2538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red_pixels = cv2.countNonZero(mask_red)</a:t>
            </a:r>
          </a:p>
          <a:p>
            <a:pPr algn="l">
              <a:lnSpc>
                <a:spcPct val="115000"/>
              </a:lnSpc>
            </a:pPr>
            <a:r>
              <a:rPr sz="1400" b="0" i="0">
                <a:solidFill>
                  <a:srgbClr val="FFFFFF"/>
                </a:solidFill>
                <a:latin typeface="Courier New"/>
                <a:ea typeface="Courier New"/>
                <a:cs typeface="Courier New"/>
                <a:sym typeface="Courier New"/>
              </a:rPr>
              <a:t>    blue_pixels = cv2.countNonZero(mask_blue)</a:t>
            </a:r>
          </a:p>
        </p:txBody>
      </p:sp>
      <p:sp>
        <p:nvSpPr>
          <p:cNvPr id="6" name="blk0177"/>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integers. Everything downstream is a comparison between them and a constant, which means you could debug this entire project by printing numbers instead of looking at pictures.</a:t>
            </a:r>
          </a:p>
        </p:txBody>
      </p:sp>
      <p:sp>
        <p:nvSpPr>
          <p:cNvPr id="7" name="blk0178"/>
          <p:cNvSpPr/>
          <p:nvPr/>
        </p:nvSpPr>
        <p:spPr>
          <a:xfrm>
            <a:off x="687600" y="4727659"/>
            <a:ext cx="8686800" cy="1080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78"/>
          <p:cNvSpPr/>
          <p:nvPr/>
        </p:nvSpPr>
        <p:spPr>
          <a:xfrm>
            <a:off x="885600" y="519925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78"/>
          <p:cNvSpPr txBox="1"/>
          <p:nvPr/>
        </p:nvSpPr>
        <p:spPr>
          <a:xfrm>
            <a:off x="1162800" y="4871659"/>
            <a:ext cx="7956000" cy="792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Do that when it misbehaves. Print </a:t>
            </a:r>
            <a:r>
              <a:rPr sz="1290" b="0" i="1">
                <a:solidFill>
                  <a:srgbClr val="FFCF08"/>
                </a:solidFill>
                <a:latin typeface="Courier New"/>
                <a:ea typeface="Courier New"/>
                <a:cs typeface="Courier New"/>
                <a:sym typeface="Courier New"/>
              </a:rPr>
              <a:t>red_pixels</a:t>
            </a:r>
            <a:r>
              <a:rPr sz="1500" b="0" i="1">
                <a:solidFill>
                  <a:srgbClr val="FFCF08"/>
                </a:solidFill>
                <a:latin typeface="Avenir"/>
                <a:ea typeface="Avenir"/>
                <a:cs typeface="Avenir"/>
                <a:sym typeface="Avenir"/>
              </a:rPr>
              <a:t> and </a:t>
            </a:r>
            <a:r>
              <a:rPr sz="1290" b="0" i="1">
                <a:solidFill>
                  <a:srgbClr val="FFCF08"/>
                </a:solidFill>
                <a:latin typeface="Courier New"/>
                <a:ea typeface="Courier New"/>
                <a:cs typeface="Courier New"/>
                <a:sym typeface="Courier New"/>
              </a:rPr>
              <a:t>blue_pixels</a:t>
            </a:r>
            <a:r>
              <a:rPr sz="1500" b="0" i="1">
                <a:solidFill>
                  <a:srgbClr val="FFCF08"/>
                </a:solidFill>
                <a:latin typeface="Avenir"/>
                <a:ea typeface="Avenir"/>
                <a:cs typeface="Avenir"/>
                <a:sym typeface="Avenir"/>
              </a:rPr>
              <a:t> for one cell and you learn far more than from staring at the window. A count of 0 means the colour was never in range; a count of 200 means it was, but not enough.</a:t>
            </a:r>
          </a:p>
        </p:txBody>
      </p:sp>
      <p:sp>
        <p:nvSpPr>
          <p:cNvPr id="10" name="blk0179"/>
          <p:cNvSpPr txBox="1"/>
          <p:nvPr/>
        </p:nvSpPr>
        <p:spPr>
          <a:xfrm>
            <a:off x="687600" y="591565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Also print </a:t>
            </a:r>
            <a:r>
              <a:rPr sz="1419" b="0" i="0">
                <a:solidFill>
                  <a:srgbClr val="FFFFFF"/>
                </a:solidFill>
                <a:latin typeface="Courier New"/>
                <a:ea typeface="Courier New"/>
                <a:cs typeface="Courier New"/>
                <a:sym typeface="Courier New"/>
              </a:rPr>
              <a:t>cell_roi.shape</a:t>
            </a:r>
            <a:r>
              <a:rPr sz="1650" b="0" i="0">
                <a:solidFill>
                  <a:srgbClr val="FFFFFF"/>
                </a:solidFill>
                <a:latin typeface="Avenir"/>
                <a:ea typeface="Avenir"/>
                <a:cs typeface="Avenir"/>
                <a:sym typeface="Avenir"/>
              </a:rPr>
              <a:t> if a cell seems to be reading wrong for no obvious reason. The shape tells you whether the region you cut was the size you expected.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decide the token</a:t>
            </a:r>
          </a:p>
        </p:txBody>
      </p:sp>
      <p:sp>
        <p:nvSpPr>
          <p:cNvPr id="3" name="blk018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threshold is already defined above this TODO. Your job is the logic that uses it:</a:t>
            </a:r>
          </a:p>
        </p:txBody>
      </p:sp>
      <p:sp>
        <p:nvSpPr>
          <p:cNvPr id="4" name="blk0182"/>
          <p:cNvSpPr/>
          <p:nvPr/>
        </p:nvSpPr>
        <p:spPr>
          <a:xfrm>
            <a:off x="687600" y="2304000"/>
            <a:ext cx="8686800" cy="139940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2"/>
          <p:cNvSpPr txBox="1"/>
          <p:nvPr/>
        </p:nvSpPr>
        <p:spPr>
          <a:xfrm>
            <a:off x="910799" y="2466000"/>
            <a:ext cx="8240400" cy="1075407"/>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if red_pixels &gt; MIN_PIXELS and red_pixels &gt; blue_pixels:</a:t>
            </a:r>
          </a:p>
          <a:p>
            <a:pPr algn="l">
              <a:lnSpc>
                <a:spcPct val="115000"/>
              </a:lnSpc>
            </a:pPr>
            <a:r>
              <a:rPr sz="1300" b="0" i="0">
                <a:solidFill>
                  <a:srgbClr val="FFFFFF"/>
                </a:solidFill>
                <a:latin typeface="Courier New"/>
                <a:ea typeface="Courier New"/>
                <a:cs typeface="Courier New"/>
                <a:sym typeface="Courier New"/>
              </a:rPr>
              <a:t>        return 'X'</a:t>
            </a:r>
          </a:p>
          <a:p>
            <a:pPr algn="l">
              <a:lnSpc>
                <a:spcPct val="115000"/>
              </a:lnSpc>
            </a:pPr>
            <a:r>
              <a:rPr sz="1300" b="0" i="0">
                <a:solidFill>
                  <a:srgbClr val="FFFFFF"/>
                </a:solidFill>
                <a:latin typeface="Courier New"/>
                <a:ea typeface="Courier New"/>
                <a:cs typeface="Courier New"/>
                <a:sym typeface="Courier New"/>
              </a:rPr>
              <a:t>    elif blue_pixels &gt; MIN_PIXELS and blue_pixels &gt; red_pixels:</a:t>
            </a:r>
          </a:p>
          <a:p>
            <a:pPr algn="l">
              <a:lnSpc>
                <a:spcPct val="115000"/>
              </a:lnSpc>
            </a:pPr>
            <a:r>
              <a:rPr sz="1300" b="0" i="0">
                <a:solidFill>
                  <a:srgbClr val="FFFFFF"/>
                </a:solidFill>
                <a:latin typeface="Courier New"/>
                <a:ea typeface="Courier New"/>
                <a:cs typeface="Courier New"/>
                <a:sym typeface="Courier New"/>
              </a:rPr>
              <a:t>        return 'O'</a:t>
            </a:r>
          </a:p>
          <a:p>
            <a:pPr algn="l">
              <a:lnSpc>
                <a:spcPct val="115000"/>
              </a:lnSpc>
            </a:pPr>
            <a:r>
              <a:rPr sz="1300" b="0" i="0">
                <a:solidFill>
                  <a:srgbClr val="FFFFFF"/>
                </a:solidFill>
                <a:latin typeface="Courier New"/>
                <a:ea typeface="Courier New"/>
                <a:cs typeface="Courier New"/>
                <a:sym typeface="Courier New"/>
              </a:rPr>
              <a:t>    return ' '</a:t>
            </a:r>
          </a:p>
        </p:txBody>
      </p:sp>
      <p:sp>
        <p:nvSpPr>
          <p:cNvPr id="6" name="blk0183"/>
          <p:cNvSpPr/>
          <p:nvPr/>
        </p:nvSpPr>
        <p:spPr>
          <a:xfrm>
            <a:off x="741600" y="3840207"/>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83"/>
          <p:cNvSpPr txBox="1"/>
          <p:nvPr/>
        </p:nvSpPr>
        <p:spPr>
          <a:xfrm>
            <a:off x="1252800" y="3811407"/>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First half of each test</a:t>
            </a:r>
            <a:r>
              <a:rPr sz="1600" b="0" i="0">
                <a:solidFill>
                  <a:srgbClr val="FFFFFF"/>
                </a:solidFill>
                <a:latin typeface="Avenir"/>
                <a:ea typeface="Avenir"/>
                <a:cs typeface="Avenir"/>
                <a:sym typeface="Avenir"/>
              </a:rPr>
              <a:t>  — is this colour present at all? Below 800 pixels is noise, whatever colour it is.</a:t>
            </a:r>
          </a:p>
        </p:txBody>
      </p:sp>
      <p:sp>
        <p:nvSpPr>
          <p:cNvPr id="8" name="blk0184"/>
          <p:cNvSpPr/>
          <p:nvPr/>
        </p:nvSpPr>
        <p:spPr>
          <a:xfrm>
            <a:off x="741600" y="460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84"/>
          <p:cNvSpPr txBox="1"/>
          <p:nvPr/>
        </p:nvSpPr>
        <p:spPr>
          <a:xfrm>
            <a:off x="1252800" y="4572000"/>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Second half</a:t>
            </a:r>
            <a:r>
              <a:rPr sz="1600" b="0" i="0">
                <a:solidFill>
                  <a:srgbClr val="FFFFFF"/>
                </a:solidFill>
                <a:latin typeface="Avenir"/>
                <a:ea typeface="Avenir"/>
                <a:cs typeface="Avenir"/>
                <a:sym typeface="Avenir"/>
              </a:rPr>
              <a:t>  — which colour dominates? A cell can easily hold more than 800 pixels of both.</a:t>
            </a:r>
          </a:p>
        </p:txBody>
      </p:sp>
      <p:sp>
        <p:nvSpPr>
          <p:cNvPr id="10" name="blk0185"/>
          <p:cNvSpPr/>
          <p:nvPr/>
        </p:nvSpPr>
        <p:spPr>
          <a:xfrm>
            <a:off x="687600" y="5472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85"/>
          <p:cNvSpPr/>
          <p:nvPr/>
        </p:nvSpPr>
        <p:spPr>
          <a:xfrm>
            <a:off x="885600" y="5923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185"/>
          <p:cNvSpPr txBox="1"/>
          <p:nvPr/>
        </p:nvSpPr>
        <p:spPr>
          <a:xfrm>
            <a:off x="1162800" y="5616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final </a:t>
            </a:r>
            <a:r>
              <a:rPr sz="1290" b="0" i="1">
                <a:solidFill>
                  <a:srgbClr val="FFCF08"/>
                </a:solidFill>
                <a:latin typeface="Courier New"/>
                <a:ea typeface="Courier New"/>
                <a:cs typeface="Courier New"/>
                <a:sym typeface="Courier New"/>
              </a:rPr>
              <a:t>return</a:t>
            </a:r>
            <a:r>
              <a:rPr sz="1500" b="0" i="1">
                <a:solidFill>
                  <a:srgbClr val="FFCF08"/>
                </a:solidFill>
                <a:latin typeface="Avenir"/>
                <a:ea typeface="Avenir"/>
                <a:cs typeface="Avenir"/>
                <a:sym typeface="Avenir"/>
              </a:rPr>
              <a:t> is not a fallback — it is the normal case. Nine out of ten cells on an empty board land here, and an empty cell should be the easiest thing this function can return.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12</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board function</a:t>
            </a:r>
          </a:p>
        </p:txBody>
      </p:sp>
      <p:sp>
        <p:nvSpPr>
          <p:cNvPr id="3" name="blk018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signature is in this TODO. The rest of the function is already written for you above it:</a:t>
            </a:r>
          </a:p>
        </p:txBody>
      </p:sp>
      <p:sp>
        <p:nvSpPr>
          <p:cNvPr id="4" name="blk0188"/>
          <p:cNvSpPr/>
          <p:nvPr/>
        </p:nvSpPr>
        <p:spPr>
          <a:xfrm>
            <a:off x="687600" y="2304000"/>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8"/>
          <p:cNvSpPr txBox="1"/>
          <p:nvPr/>
        </p:nvSpPr>
        <p:spPr>
          <a:xfrm>
            <a:off x="910799" y="2466000"/>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def parse_board_state(frame):</a:t>
            </a:r>
          </a:p>
          <a:p>
            <a:pPr algn="l">
              <a:lnSpc>
                <a:spcPct val="115000"/>
              </a:lnSpc>
            </a:pPr>
            <a:r>
              <a:rPr sz="1300" b="0" i="0">
                <a:solidFill>
                  <a:srgbClr val="FFFFFF"/>
                </a:solidFill>
                <a:latin typeface="Courier New"/>
                <a:ea typeface="Courier New"/>
                <a:cs typeface="Courier New"/>
                <a:sym typeface="Courier New"/>
              </a:rPr>
              <a:t>    """Scans all 9 grid cells and returns a 3x3 matrix."""</a:t>
            </a:r>
          </a:p>
        </p:txBody>
      </p:sp>
      <p:sp>
        <p:nvSpPr>
          <p:cNvPr id="6" name="blk0189"/>
          <p:cNvSpPr/>
          <p:nvPr/>
        </p:nvSpPr>
        <p:spPr>
          <a:xfrm>
            <a:off x="687600" y="3384000"/>
            <a:ext cx="8686800" cy="156485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89"/>
          <p:cNvSpPr txBox="1"/>
          <p:nvPr/>
        </p:nvSpPr>
        <p:spPr>
          <a:xfrm>
            <a:off x="910799" y="3546000"/>
            <a:ext cx="8240400" cy="1240854"/>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for row in range(3):</a:t>
            </a:r>
          </a:p>
          <a:p>
            <a:pPr algn="l">
              <a:lnSpc>
                <a:spcPct val="115000"/>
              </a:lnSpc>
            </a:pPr>
            <a:r>
              <a:rPr sz="1250" b="0" i="0">
                <a:solidFill>
                  <a:srgbClr val="FFFFFF"/>
                </a:solidFill>
                <a:latin typeface="Courier New"/>
                <a:ea typeface="Courier New"/>
                <a:cs typeface="Courier New"/>
                <a:sym typeface="Courier New"/>
              </a:rPr>
              <a:t>        for col in range(3):</a:t>
            </a:r>
          </a:p>
          <a:p>
            <a:pPr algn="l">
              <a:lnSpc>
                <a:spcPct val="115000"/>
              </a:lnSpc>
            </a:pPr>
            <a:r>
              <a:rPr sz="1250" b="0" i="0">
                <a:solidFill>
                  <a:srgbClr val="FFFFFF"/>
                </a:solidFill>
                <a:latin typeface="Courier New"/>
                <a:ea typeface="Courier New"/>
                <a:cs typeface="Courier New"/>
                <a:sym typeface="Courier New"/>
              </a:rPr>
              <a:t>            x1 = GRID_X_MIN + col * CELL_W</a:t>
            </a:r>
          </a:p>
          <a:p>
            <a:pPr algn="l">
              <a:lnSpc>
                <a:spcPct val="115000"/>
              </a:lnSpc>
            </a:pPr>
            <a:r>
              <a:rPr sz="1250" b="0" i="0">
                <a:solidFill>
                  <a:srgbClr val="FFFFFF"/>
                </a:solidFill>
                <a:latin typeface="Courier New"/>
                <a:ea typeface="Courier New"/>
                <a:cs typeface="Courier New"/>
                <a:sym typeface="Courier New"/>
              </a:rPr>
              <a:t>            y1 = GRID_Y_MIN + row * CELL_H</a:t>
            </a:r>
          </a:p>
          <a:p>
            <a:pPr algn="l">
              <a:lnSpc>
                <a:spcPct val="115000"/>
              </a:lnSpc>
            </a:pPr>
            <a:r>
              <a:rPr sz="1250" b="0" i="0">
                <a:solidFill>
                  <a:srgbClr val="FFFFFF"/>
                </a:solidFill>
                <a:latin typeface="Courier New"/>
                <a:ea typeface="Courier New"/>
                <a:cs typeface="Courier New"/>
                <a:sym typeface="Courier New"/>
              </a:rPr>
              <a:t>            x2 = x1 + CELL_W</a:t>
            </a:r>
          </a:p>
          <a:p>
            <a:pPr algn="l">
              <a:lnSpc>
                <a:spcPct val="115000"/>
              </a:lnSpc>
            </a:pPr>
            <a:r>
              <a:rPr sz="1250" b="0" i="0">
                <a:solidFill>
                  <a:srgbClr val="FFFFFF"/>
                </a:solidFill>
                <a:latin typeface="Courier New"/>
                <a:ea typeface="Courier New"/>
                <a:cs typeface="Courier New"/>
                <a:sym typeface="Courier New"/>
              </a:rPr>
              <a:t>            y2 = y1 + CELL_H</a:t>
            </a:r>
          </a:p>
        </p:txBody>
      </p:sp>
      <p:sp>
        <p:nvSpPr>
          <p:cNvPr id="8" name="blk0190"/>
          <p:cNvSpPr/>
          <p:nvPr/>
        </p:nvSpPr>
        <p:spPr>
          <a:xfrm>
            <a:off x="687600" y="5056854"/>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90"/>
          <p:cNvSpPr txBox="1"/>
          <p:nvPr/>
        </p:nvSpPr>
        <p:spPr>
          <a:xfrm>
            <a:off x="910799" y="5218854"/>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cell_roi = frame[y1:y2, x1:x2]</a:t>
            </a:r>
          </a:p>
          <a:p>
            <a:pPr algn="l">
              <a:lnSpc>
                <a:spcPct val="115000"/>
              </a:lnSpc>
            </a:pPr>
            <a:r>
              <a:rPr sz="1300" b="0" i="0">
                <a:solidFill>
                  <a:srgbClr val="FFFFFF"/>
                </a:solidFill>
                <a:latin typeface="Courier New"/>
                <a:ea typeface="Courier New"/>
                <a:cs typeface="Courier New"/>
                <a:sym typeface="Courier New"/>
              </a:rPr>
              <a:t>            board[row][col] = scan_cell(cell_roi)</a:t>
            </a:r>
          </a:p>
        </p:txBody>
      </p:sp>
      <p:sp>
        <p:nvSpPr>
          <p:cNvPr id="10" name="blk0191"/>
          <p:cNvSpPr txBox="1"/>
          <p:nvPr/>
        </p:nvSpPr>
        <p:spPr>
          <a:xfrm>
            <a:off x="687600" y="5919016"/>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All you typed is the function header. The behaviour was already decided; your job was to make it callable.</a:t>
            </a:r>
          </a:p>
        </p:txBody>
      </p:sp>
      <p:sp>
        <p:nvSpPr>
          <p:cNvPr id="11" name="blk0192"/>
          <p:cNvSpPr/>
          <p:nvPr/>
        </p:nvSpPr>
        <p:spPr>
          <a:xfrm>
            <a:off x="687600" y="6630520"/>
            <a:ext cx="8686800" cy="864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192"/>
          <p:cNvSpPr/>
          <p:nvPr/>
        </p:nvSpPr>
        <p:spPr>
          <a:xfrm>
            <a:off x="885600" y="69941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192"/>
          <p:cNvSpPr txBox="1"/>
          <p:nvPr/>
        </p:nvSpPr>
        <p:spPr>
          <a:xfrm>
            <a:off x="1162800" y="6774519"/>
            <a:ext cx="7956000" cy="576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That is not a shortcut, it is the shape of the project: assemble logic that was already right.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13</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open the camera</a:t>
            </a:r>
          </a:p>
        </p:txBody>
      </p:sp>
      <p:sp>
        <p:nvSpPr>
          <p:cNvPr id="3" name="blk019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lines, and the last two are new for this module:</a:t>
            </a:r>
          </a:p>
        </p:txBody>
      </p:sp>
      <p:sp>
        <p:nvSpPr>
          <p:cNvPr id="4" name="blk0195"/>
          <p:cNvSpPr/>
          <p:nvPr/>
        </p:nvSpPr>
        <p:spPr>
          <a:xfrm>
            <a:off x="687600" y="2376000"/>
            <a:ext cx="8686800" cy="99406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95"/>
          <p:cNvSpPr txBox="1"/>
          <p:nvPr/>
        </p:nvSpPr>
        <p:spPr>
          <a:xfrm>
            <a:off x="910799" y="2538000"/>
            <a:ext cx="8240400" cy="670061"/>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cap = cv2.VideoCapture(0)</a:t>
            </a:r>
          </a:p>
          <a:p>
            <a:pPr algn="l">
              <a:lnSpc>
                <a:spcPct val="115000"/>
              </a:lnSpc>
            </a:pPr>
            <a:r>
              <a:rPr sz="1350" b="0" i="0">
                <a:solidFill>
                  <a:srgbClr val="FFFFFF"/>
                </a:solidFill>
                <a:latin typeface="Courier New"/>
                <a:ea typeface="Courier New"/>
                <a:cs typeface="Courier New"/>
                <a:sym typeface="Courier New"/>
              </a:rPr>
              <a:t>cap.set(cv2.CAP_PROP_FRAME_WIDTH, 640)</a:t>
            </a:r>
          </a:p>
          <a:p>
            <a:pPr algn="l">
              <a:lnSpc>
                <a:spcPct val="115000"/>
              </a:lnSpc>
            </a:pPr>
            <a:r>
              <a:rPr sz="1350" b="0" i="0">
                <a:solidFill>
                  <a:srgbClr val="FFFFFF"/>
                </a:solidFill>
                <a:latin typeface="Courier New"/>
                <a:ea typeface="Courier New"/>
                <a:cs typeface="Courier New"/>
                <a:sym typeface="Courier New"/>
              </a:rPr>
              <a:t>cap.set(cv2.CAP_PROP_FRAME_HEIGHT, 480)</a:t>
            </a:r>
          </a:p>
        </p:txBody>
      </p:sp>
      <p:sp>
        <p:nvSpPr>
          <p:cNvPr id="6" name="blk0196"/>
          <p:cNvSpPr txBox="1"/>
          <p:nvPr/>
        </p:nvSpPr>
        <p:spPr>
          <a:xfrm>
            <a:off x="687600" y="3600000"/>
            <a:ext cx="7542000" cy="402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plain </a:t>
            </a:r>
            <a:r>
              <a:rPr sz="1743" b="0" i="0">
                <a:solidFill>
                  <a:srgbClr val="FFFFFF"/>
                </a:solidFill>
                <a:latin typeface="Courier New"/>
                <a:ea typeface="Courier New"/>
                <a:cs typeface="Courier New"/>
                <a:sym typeface="Courier New"/>
              </a:rPr>
              <a:t>VideoCapture</a:t>
            </a:r>
            <a:r>
              <a:rPr sz="2027" b="0" i="0">
                <a:solidFill>
                  <a:srgbClr val="FFFFFF"/>
                </a:solidFill>
                <a:latin typeface="Avenir"/>
                <a:ea typeface="Avenir"/>
                <a:cs typeface="Avenir"/>
                <a:sym typeface="Avenir"/>
              </a:rPr>
              <a:t>, not the threaded class from Project 6. Nothing in this loop blocks for long enough to need a thread, and a plain capture keeps the code short.</a:t>
            </a:r>
          </a:p>
        </p:txBody>
      </p:sp>
      <p:sp>
        <p:nvSpPr>
          <p:cNvPr id="7" name="blk0197"/>
          <p:cNvSpPr/>
          <p:nvPr/>
        </p:nvSpPr>
        <p:spPr>
          <a:xfrm>
            <a:off x="687600" y="4752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97"/>
          <p:cNvSpPr/>
          <p:nvPr/>
        </p:nvSpPr>
        <p:spPr>
          <a:xfrm>
            <a:off x="885600" y="5203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97"/>
          <p:cNvSpPr txBox="1"/>
          <p:nvPr/>
        </p:nvSpPr>
        <p:spPr>
          <a:xfrm>
            <a:off x="1162800" y="4896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640x480 request is not a suggestion. </a:t>
            </a:r>
            <a:r>
              <a:rPr sz="1290" b="0" i="1">
                <a:solidFill>
                  <a:srgbClr val="FFCF08"/>
                </a:solidFill>
                <a:latin typeface="Courier New"/>
                <a:ea typeface="Courier New"/>
                <a:cs typeface="Courier New"/>
                <a:sym typeface="Courier New"/>
              </a:rPr>
              <a:t>GRID_SCALE</a:t>
            </a:r>
            <a:r>
              <a:rPr sz="1500" b="0" i="1">
                <a:solidFill>
                  <a:srgbClr val="FFCF08"/>
                </a:solidFill>
                <a:latin typeface="Avenir"/>
                <a:ea typeface="Avenir"/>
                <a:cs typeface="Avenir"/>
                <a:sym typeface="Avenir"/>
              </a:rPr>
              <a:t>, the offsets, and </a:t>
            </a:r>
            <a:r>
              <a:rPr sz="1290" b="0" i="1">
                <a:solidFill>
                  <a:srgbClr val="FFCF08"/>
                </a:solidFill>
                <a:latin typeface="Courier New"/>
                <a:ea typeface="Courier New"/>
                <a:cs typeface="Courier New"/>
                <a:sym typeface="Courier New"/>
              </a:rPr>
              <a:t>MIN_PIXELS</a:t>
            </a:r>
            <a:r>
              <a:rPr sz="1500" b="0" i="1">
                <a:solidFill>
                  <a:srgbClr val="FFCF08"/>
                </a:solidFill>
                <a:latin typeface="Avenir"/>
                <a:ea typeface="Avenir"/>
                <a:cs typeface="Avenir"/>
                <a:sym typeface="Avenir"/>
              </a:rPr>
              <a:t> are all calibrated against a 640x480 frame. OpenCV will often give you a different size anyway, and the calibration constants are what you adjust when it does.</a:t>
            </a:r>
          </a:p>
        </p:txBody>
      </p:sp>
      <p:sp>
        <p:nvSpPr>
          <p:cNvPr id="10" name="blk0198"/>
          <p:cNvSpPr txBox="1"/>
          <p:nvPr/>
        </p:nvSpPr>
        <p:spPr>
          <a:xfrm>
            <a:off x="687600" y="590399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Print </a:t>
            </a:r>
            <a:r>
              <a:rPr sz="1419" b="0" i="0">
                <a:solidFill>
                  <a:srgbClr val="FFFFFF"/>
                </a:solidFill>
                <a:latin typeface="Courier New"/>
                <a:ea typeface="Courier New"/>
                <a:cs typeface="Courier New"/>
                <a:sym typeface="Courier New"/>
              </a:rPr>
              <a:t>frame.shape</a:t>
            </a:r>
            <a:r>
              <a:rPr sz="1650" b="0" i="0">
                <a:solidFill>
                  <a:srgbClr val="FFFFFF"/>
                </a:solidFill>
                <a:latin typeface="Avenir"/>
                <a:ea typeface="Avenir"/>
                <a:cs typeface="Avenir"/>
                <a:sym typeface="Avenir"/>
              </a:rPr>
              <a:t> once if the grid lands in the wrong place. The camera ignoring your requested resolution is a common and confusing source of that.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14</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open the loop</a:t>
            </a:r>
          </a:p>
        </p:txBody>
      </p:sp>
      <p:sp>
        <p:nvSpPr>
          <p:cNvPr id="3" name="blk020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lines, and the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above them is already in the file:</a:t>
            </a:r>
          </a:p>
        </p:txBody>
      </p:sp>
      <p:sp>
        <p:nvSpPr>
          <p:cNvPr id="4" name="blk0201"/>
          <p:cNvSpPr/>
          <p:nvPr/>
        </p:nvSpPr>
        <p:spPr>
          <a:xfrm>
            <a:off x="687600" y="237600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01"/>
          <p:cNvSpPr txBox="1"/>
          <p:nvPr/>
        </p:nvSpPr>
        <p:spPr>
          <a:xfrm>
            <a:off x="910799" y="2538000"/>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try:</a:t>
            </a:r>
          </a:p>
          <a:p>
            <a:pPr algn="l">
              <a:lnSpc>
                <a:spcPct val="115000"/>
              </a:lnSpc>
            </a:pPr>
            <a:r>
              <a:rPr sz="1500" b="0" i="0">
                <a:solidFill>
                  <a:srgbClr val="FFFFFF"/>
                </a:solidFill>
                <a:latin typeface="Courier New"/>
                <a:ea typeface="Courier New"/>
                <a:cs typeface="Courier New"/>
                <a:sym typeface="Courier New"/>
              </a:rPr>
              <a:t>    while cap.isOpened():</a:t>
            </a:r>
          </a:p>
        </p:txBody>
      </p:sp>
      <p:sp>
        <p:nvSpPr>
          <p:cNvPr id="6" name="blk0202"/>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loop tests whether the capture is still open, not whether there is a picture — that distinction matters at Step 15.</a:t>
            </a:r>
          </a:p>
        </p:txBody>
      </p:sp>
      <p:sp>
        <p:nvSpPr>
          <p:cNvPr id="7" name="blk0203"/>
          <p:cNvSpPr txBox="1"/>
          <p:nvPr/>
        </p:nvSpPr>
        <p:spPr>
          <a:xfrm>
            <a:off x="687600" y="4320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finally</a:t>
            </a:r>
            <a:r>
              <a:rPr sz="1650" b="0" i="0">
                <a:solidFill>
                  <a:srgbClr val="FFFFFF"/>
                </a:solidFill>
                <a:latin typeface="Avenir"/>
                <a:ea typeface="Avenir"/>
                <a:cs typeface="Avenir"/>
                <a:sym typeface="Avenir"/>
              </a:rPr>
              <a:t> block at the bottom is paired with this </a:t>
            </a:r>
            <a:r>
              <a:rPr sz="1419" b="0" i="0">
                <a:solidFill>
                  <a:srgbClr val="FFFFFF"/>
                </a:solidFill>
                <a:latin typeface="Courier New"/>
                <a:ea typeface="Courier New"/>
                <a:cs typeface="Courier New"/>
                <a:sym typeface="Courier New"/>
              </a:rPr>
              <a:t>try</a:t>
            </a:r>
            <a:r>
              <a:rPr sz="1650" b="0" i="0">
                <a:solidFill>
                  <a:srgbClr val="FFFFFF"/>
                </a:solidFill>
                <a:latin typeface="Avenir"/>
                <a:ea typeface="Avenir"/>
                <a:cs typeface="Avenir"/>
                <a:sym typeface="Avenir"/>
              </a:rPr>
              <a:t>: it releases the camera and closes the window whatever way you leave the loop.</a:t>
            </a:r>
          </a:p>
        </p:txBody>
      </p:sp>
      <p:sp>
        <p:nvSpPr>
          <p:cNvPr id="8" name="blk0204"/>
          <p:cNvSpPr/>
          <p:nvPr/>
        </p:nvSpPr>
        <p:spPr>
          <a:xfrm>
            <a:off x="687600" y="5031504"/>
            <a:ext cx="8686800" cy="96924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04"/>
          <p:cNvSpPr txBox="1"/>
          <p:nvPr/>
        </p:nvSpPr>
        <p:spPr>
          <a:xfrm>
            <a:off x="910799" y="5193504"/>
            <a:ext cx="8240400" cy="645244"/>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finally:</a:t>
            </a:r>
          </a:p>
          <a:p>
            <a:pPr algn="l">
              <a:lnSpc>
                <a:spcPct val="115000"/>
              </a:lnSpc>
            </a:pPr>
            <a:r>
              <a:rPr sz="1300" b="0" i="0">
                <a:solidFill>
                  <a:srgbClr val="FFFFFF"/>
                </a:solidFill>
                <a:latin typeface="Courier New"/>
                <a:ea typeface="Courier New"/>
                <a:cs typeface="Courier New"/>
                <a:sym typeface="Courier New"/>
              </a:rPr>
              <a:t>    cap.release()</a:t>
            </a:r>
          </a:p>
          <a:p>
            <a:pPr algn="l">
              <a:lnSpc>
                <a:spcPct val="115000"/>
              </a:lnSpc>
            </a:pPr>
            <a:r>
              <a:rPr sz="1300" b="0" i="0">
                <a:solidFill>
                  <a:srgbClr val="FFFFFF"/>
                </a:solidFill>
                <a:latin typeface="Courier New"/>
                <a:ea typeface="Courier New"/>
                <a:cs typeface="Courier New"/>
                <a:sym typeface="Courier New"/>
              </a:rPr>
              <a:t>    cv2.destroyAllWindows()</a:t>
            </a:r>
          </a:p>
        </p:txBody>
      </p:sp>
      <p:sp>
        <p:nvSpPr>
          <p:cNvPr id="10" name="blk0205"/>
          <p:cNvSpPr txBox="1"/>
          <p:nvPr/>
        </p:nvSpPr>
        <p:spPr>
          <a:xfrm>
            <a:off x="687600" y="6792747"/>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Those are the only two lines in that block, and both are things that exist — note the total absence of the arm.</a:t>
            </a:r>
          </a:p>
        </p:txBody>
      </p:sp>
      <p:sp>
        <p:nvSpPr>
          <p:cNvPr id="11" name="blk0206"/>
          <p:cNvSpPr/>
          <p:nvPr/>
        </p:nvSpPr>
        <p:spPr>
          <a:xfrm>
            <a:off x="687600" y="6108747"/>
            <a:ext cx="8686800" cy="576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06"/>
          <p:cNvSpPr/>
          <p:nvPr/>
        </p:nvSpPr>
        <p:spPr>
          <a:xfrm>
            <a:off x="885600" y="632834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06"/>
          <p:cNvSpPr txBox="1"/>
          <p:nvPr/>
        </p:nvSpPr>
        <p:spPr>
          <a:xfrm>
            <a:off x="1162800" y="6252748"/>
            <a:ext cx="7956000" cy="288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Code under the </a:t>
            </a:r>
            <a:r>
              <a:rPr sz="1290" b="0" i="1">
                <a:solidFill>
                  <a:srgbClr val="FFCF08"/>
                </a:solidFill>
                <a:latin typeface="Courier New"/>
                <a:ea typeface="Courier New"/>
                <a:cs typeface="Courier New"/>
                <a:sym typeface="Courier New"/>
              </a:rPr>
              <a:t>while</a:t>
            </a:r>
            <a:r>
              <a:rPr sz="1500" b="0" i="1">
                <a:solidFill>
                  <a:srgbClr val="FFCF08"/>
                </a:solidFill>
                <a:latin typeface="Avenir"/>
                <a:ea typeface="Avenir"/>
                <a:cs typeface="Avenir"/>
                <a:sym typeface="Avenir"/>
              </a:rPr>
              <a:t> runs every frame, until you break out.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0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15</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read a frame</a:t>
            </a:r>
          </a:p>
        </p:txBody>
      </p:sp>
      <p:sp>
        <p:nvSpPr>
          <p:cNvPr id="3" name="blk020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thing that happens in every iteration:</a:t>
            </a:r>
          </a:p>
        </p:txBody>
      </p:sp>
      <p:sp>
        <p:nvSpPr>
          <p:cNvPr id="4" name="blk0209"/>
          <p:cNvSpPr/>
          <p:nvPr/>
        </p:nvSpPr>
        <p:spPr>
          <a:xfrm>
            <a:off x="687600" y="2376000"/>
            <a:ext cx="8686800" cy="10188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09"/>
          <p:cNvSpPr txBox="1"/>
          <p:nvPr/>
        </p:nvSpPr>
        <p:spPr>
          <a:xfrm>
            <a:off x="910799" y="2538000"/>
            <a:ext cx="8240400" cy="694878"/>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ret, frame = cap.read()</a:t>
            </a:r>
          </a:p>
          <a:p>
            <a:pPr algn="l">
              <a:lnSpc>
                <a:spcPct val="115000"/>
              </a:lnSpc>
            </a:pPr>
            <a:r>
              <a:rPr sz="1400" b="0" i="0">
                <a:solidFill>
                  <a:srgbClr val="FFFFFF"/>
                </a:solidFill>
                <a:latin typeface="Courier New"/>
                <a:ea typeface="Courier New"/>
                <a:cs typeface="Courier New"/>
                <a:sym typeface="Courier New"/>
              </a:rPr>
              <a:t>        if not ret:</a:t>
            </a:r>
          </a:p>
          <a:p>
            <a:pPr algn="l">
              <a:lnSpc>
                <a:spcPct val="115000"/>
              </a:lnSpc>
            </a:pPr>
            <a:r>
              <a:rPr sz="1400" b="0" i="0">
                <a:solidFill>
                  <a:srgbClr val="FFFFFF"/>
                </a:solidFill>
                <a:latin typeface="Courier New"/>
                <a:ea typeface="Courier New"/>
                <a:cs typeface="Courier New"/>
                <a:sym typeface="Courier New"/>
              </a:rPr>
              <a:t>            break</a:t>
            </a:r>
          </a:p>
        </p:txBody>
      </p:sp>
      <p:sp>
        <p:nvSpPr>
          <p:cNvPr id="6" name="blk0210"/>
          <p:cNvSpPr txBox="1"/>
          <p:nvPr/>
        </p:nvSpPr>
        <p:spPr>
          <a:xfrm>
            <a:off x="687600" y="3502878"/>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return values, and the first is the one people forget. </a:t>
            </a:r>
            <a:r>
              <a:rPr sz="1743" b="0" i="0">
                <a:solidFill>
                  <a:srgbClr val="FFFFFF"/>
                </a:solidFill>
                <a:latin typeface="Courier New"/>
                <a:ea typeface="Courier New"/>
                <a:cs typeface="Courier New"/>
                <a:sym typeface="Courier New"/>
              </a:rPr>
              <a:t>ret</a:t>
            </a:r>
            <a:r>
              <a:rPr sz="2027" b="0" i="0">
                <a:solidFill>
                  <a:srgbClr val="FFFFFF"/>
                </a:solidFill>
                <a:latin typeface="Avenir"/>
                <a:ea typeface="Avenir"/>
                <a:cs typeface="Avenir"/>
                <a:sym typeface="Avenir"/>
              </a:rPr>
              <a:t> is a boolean saying whether a picture was actually delivered; </a:t>
            </a:r>
            <a:r>
              <a:rPr sz="1743" b="0" i="0">
                <a:solidFill>
                  <a:srgbClr val="FFFFFF"/>
                </a:solidFill>
                <a:latin typeface="Courier New"/>
                <a:ea typeface="Courier New"/>
                <a:cs typeface="Courier New"/>
                <a:sym typeface="Courier New"/>
              </a:rPr>
              <a:t>frame</a:t>
            </a:r>
            <a:r>
              <a:rPr sz="2027" b="0" i="0">
                <a:solidFill>
                  <a:srgbClr val="FFFFFF"/>
                </a:solidFill>
                <a:latin typeface="Avenir"/>
                <a:ea typeface="Avenir"/>
                <a:cs typeface="Avenir"/>
                <a:sym typeface="Avenir"/>
              </a:rPr>
              <a:t> is the picture itself, or </a:t>
            </a:r>
            <a:r>
              <a:rPr sz="1743" b="0" i="0">
                <a:solidFill>
                  <a:srgbClr val="FFFFFF"/>
                </a:solidFill>
                <a:latin typeface="Courier New"/>
                <a:ea typeface="Courier New"/>
                <a:cs typeface="Courier New"/>
                <a:sym typeface="Courier New"/>
              </a:rPr>
              <a:t>None</a:t>
            </a:r>
            <a:r>
              <a:rPr sz="2027" b="0" i="0">
                <a:solidFill>
                  <a:srgbClr val="FFFFFF"/>
                </a:solidFill>
                <a:latin typeface="Avenir"/>
                <a:ea typeface="Avenir"/>
                <a:cs typeface="Avenir"/>
                <a:sym typeface="Avenir"/>
              </a:rPr>
              <a:t> if it failed.</a:t>
            </a:r>
          </a:p>
        </p:txBody>
      </p:sp>
      <p:sp>
        <p:nvSpPr>
          <p:cNvPr id="7" name="blk0211"/>
          <p:cNvSpPr/>
          <p:nvPr/>
        </p:nvSpPr>
        <p:spPr>
          <a:xfrm>
            <a:off x="687600" y="4537622"/>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11"/>
          <p:cNvSpPr/>
          <p:nvPr/>
        </p:nvSpPr>
        <p:spPr>
          <a:xfrm>
            <a:off x="885600" y="5125862"/>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11"/>
          <p:cNvSpPr txBox="1"/>
          <p:nvPr/>
        </p:nvSpPr>
        <p:spPr>
          <a:xfrm>
            <a:off x="1162800" y="4681622"/>
            <a:ext cx="7956000" cy="102528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three lines are a set, not a sequence. Calling </a:t>
            </a:r>
            <a:r>
              <a:rPr sz="1290" b="0" i="1">
                <a:solidFill>
                  <a:srgbClr val="FFCF08"/>
                </a:solidFill>
                <a:latin typeface="Courier New"/>
                <a:ea typeface="Courier New"/>
                <a:cs typeface="Courier New"/>
                <a:sym typeface="Courier New"/>
              </a:rPr>
              <a:t>read</a:t>
            </a:r>
            <a:r>
              <a:rPr sz="1500" b="0" i="1">
                <a:solidFill>
                  <a:srgbClr val="FFCF08"/>
                </a:solidFill>
                <a:latin typeface="Avenir"/>
                <a:ea typeface="Avenir"/>
                <a:cs typeface="Avenir"/>
                <a:sym typeface="Avenir"/>
              </a:rPr>
              <a:t> without checking </a:t>
            </a:r>
            <a:r>
              <a:rPr sz="1290" b="0" i="1">
                <a:solidFill>
                  <a:srgbClr val="FFCF08"/>
                </a:solidFill>
                <a:latin typeface="Courier New"/>
                <a:ea typeface="Courier New"/>
                <a:cs typeface="Courier New"/>
                <a:sym typeface="Courier New"/>
              </a:rPr>
              <a:t>ret</a:t>
            </a:r>
            <a:r>
              <a:rPr sz="1500" b="0" i="1">
                <a:solidFill>
                  <a:srgbClr val="FFCF08"/>
                </a:solidFill>
                <a:latin typeface="Avenir"/>
                <a:ea typeface="Avenir"/>
                <a:cs typeface="Avenir"/>
                <a:sym typeface="Avenir"/>
              </a:rPr>
              <a:t> means the next line tries to slice a picture that does not exist. This is the difference between a camera that is unplugged mid-run and a program that stops with a sensible message.</a:t>
            </a:r>
          </a:p>
        </p:txBody>
      </p:sp>
      <p:sp>
        <p:nvSpPr>
          <p:cNvPr id="10" name="blk0212"/>
          <p:cNvSpPr txBox="1"/>
          <p:nvPr/>
        </p:nvSpPr>
        <p:spPr>
          <a:xfrm>
            <a:off x="687600" y="5958902"/>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same lesson as Project 5, where a dropped frame produced a confusing colour error instead of an obvious camera error.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1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16</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parse the board</a:t>
            </a:r>
          </a:p>
        </p:txBody>
      </p:sp>
      <p:sp>
        <p:nvSpPr>
          <p:cNvPr id="3" name="blk021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and it is the point of the whole project:</a:t>
            </a:r>
          </a:p>
        </p:txBody>
      </p:sp>
      <p:sp>
        <p:nvSpPr>
          <p:cNvPr id="4" name="blk0215"/>
          <p:cNvSpPr/>
          <p:nvPr/>
        </p:nvSpPr>
        <p:spPr>
          <a:xfrm>
            <a:off x="687600" y="2376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15"/>
          <p:cNvSpPr txBox="1"/>
          <p:nvPr/>
        </p:nvSpPr>
        <p:spPr>
          <a:xfrm>
            <a:off x="910799" y="2538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board_state = parse_board_state(frame)</a:t>
            </a:r>
          </a:p>
        </p:txBody>
      </p:sp>
      <p:sp>
        <p:nvSpPr>
          <p:cNvPr id="6" name="blk0216"/>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Nine colour tests, returning a 3x3 list of characters. From this line onward, the program has an answer it can reason about rather than a picture it has to keep re-examining.</a:t>
            </a:r>
          </a:p>
        </p:txBody>
      </p:sp>
      <p:sp>
        <p:nvSpPr>
          <p:cNvPr id="7" name="blk0217"/>
          <p:cNvSpPr/>
          <p:nvPr/>
        </p:nvSpPr>
        <p:spPr>
          <a:xfrm>
            <a:off x="741600" y="449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17"/>
          <p:cNvSpPr txBox="1"/>
          <p:nvPr/>
        </p:nvSpPr>
        <p:spPr>
          <a:xfrm>
            <a:off x="1252800" y="4464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name is different from the function.</a:t>
            </a:r>
            <a:r>
              <a:rPr sz="1600" b="0" i="0">
                <a:solidFill>
                  <a:srgbClr val="FFFFFF"/>
                </a:solidFill>
                <a:latin typeface="Avenir"/>
                <a:ea typeface="Avenir"/>
                <a:cs typeface="Avenir"/>
                <a:sym typeface="Avenir"/>
              </a:rPr>
              <a:t> </a:t>
            </a:r>
            <a:r>
              <a:rPr sz="1376" b="0" i="0">
                <a:solidFill>
                  <a:srgbClr val="FFFFFF"/>
                </a:solidFill>
                <a:latin typeface="Courier New"/>
                <a:ea typeface="Courier New"/>
                <a:cs typeface="Courier New"/>
                <a:sym typeface="Courier New"/>
              </a:rPr>
              <a:t>parse_board_state</a:t>
            </a:r>
            <a:r>
              <a:rPr sz="1600" b="0" i="0">
                <a:solidFill>
                  <a:srgbClr val="FFFFFF"/>
                </a:solidFill>
                <a:latin typeface="Avenir"/>
                <a:ea typeface="Avenir"/>
                <a:cs typeface="Avenir"/>
                <a:sym typeface="Avenir"/>
              </a:rPr>
              <a:t> is the function; </a:t>
            </a:r>
            <a:r>
              <a:rPr sz="1376" b="0" i="0">
                <a:solidFill>
                  <a:srgbClr val="FFFFFF"/>
                </a:solidFill>
                <a:latin typeface="Courier New"/>
                <a:ea typeface="Courier New"/>
                <a:cs typeface="Courier New"/>
                <a:sym typeface="Courier New"/>
              </a:rPr>
              <a:t>board_state</a:t>
            </a:r>
            <a:r>
              <a:rPr sz="1600" b="0" i="0">
                <a:solidFill>
                  <a:srgbClr val="FFFFFF"/>
                </a:solidFill>
                <a:latin typeface="Avenir"/>
                <a:ea typeface="Avenir"/>
                <a:cs typeface="Avenir"/>
                <a:sym typeface="Avenir"/>
              </a:rPr>
              <a:t> is this frame's result. The underscore is doing real work there.</a:t>
            </a:r>
          </a:p>
        </p:txBody>
      </p:sp>
      <p:sp>
        <p:nvSpPr>
          <p:cNvPr id="9" name="blk0218"/>
          <p:cNvSpPr/>
          <p:nvPr/>
        </p:nvSpPr>
        <p:spPr>
          <a:xfrm>
            <a:off x="687600" y="5544000"/>
            <a:ext cx="8686800" cy="864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18"/>
          <p:cNvSpPr/>
          <p:nvPr/>
        </p:nvSpPr>
        <p:spPr>
          <a:xfrm>
            <a:off x="885600" y="59076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18"/>
          <p:cNvSpPr txBox="1"/>
          <p:nvPr/>
        </p:nvSpPr>
        <p:spPr>
          <a:xfrm>
            <a:off x="1162800" y="5688000"/>
            <a:ext cx="7956000" cy="576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You now have a truth about the board, nine times a second, in a form that could drive a robot. Everything after this line is either drawing it or showing it to a human.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1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17</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draw the grid</a:t>
            </a:r>
          </a:p>
        </p:txBody>
      </p:sp>
      <p:sp>
        <p:nvSpPr>
          <p:cNvPr id="3" name="blk022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You are inside the given double loop that walks the nine cells, one line below where </a:t>
            </a:r>
            <a:r>
              <a:rPr sz="1743" b="0" i="0">
                <a:solidFill>
                  <a:srgbClr val="FFFFFF"/>
                </a:solidFill>
                <a:latin typeface="Courier New"/>
                <a:ea typeface="Courier New"/>
                <a:cs typeface="Courier New"/>
                <a:sym typeface="Courier New"/>
              </a:rPr>
              <a:t>board_state</a:t>
            </a:r>
            <a:r>
              <a:rPr sz="2027" b="0" i="0">
                <a:solidFill>
                  <a:srgbClr val="FFFFFF"/>
                </a:solidFill>
                <a:latin typeface="Avenir"/>
                <a:ea typeface="Avenir"/>
                <a:cs typeface="Avenir"/>
                <a:sym typeface="Avenir"/>
              </a:rPr>
              <a:t> came from. Its own TODO is a single call:</a:t>
            </a:r>
          </a:p>
        </p:txBody>
      </p:sp>
      <p:sp>
        <p:nvSpPr>
          <p:cNvPr id="4" name="blk0221"/>
          <p:cNvSpPr/>
          <p:nvPr/>
        </p:nvSpPr>
        <p:spPr>
          <a:xfrm>
            <a:off x="687600" y="3024000"/>
            <a:ext cx="8686800" cy="52253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21"/>
          <p:cNvSpPr txBox="1"/>
          <p:nvPr/>
        </p:nvSpPr>
        <p:spPr>
          <a:xfrm>
            <a:off x="910799" y="3186000"/>
            <a:ext cx="8240400" cy="198536"/>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                cv2.rectangle(frame, (x1, y1), (x2, y2), (255, 255, 255), 2)</a:t>
            </a:r>
          </a:p>
        </p:txBody>
      </p:sp>
      <p:sp>
        <p:nvSpPr>
          <p:cNvPr id="6" name="blk0222"/>
          <p:cNvSpPr txBox="1"/>
          <p:nvPr/>
        </p:nvSpPr>
        <p:spPr>
          <a:xfrm>
            <a:off x="687600" y="3816000"/>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Look at where </a:t>
            </a:r>
            <a:r>
              <a:rPr sz="1743" b="0" i="0">
                <a:solidFill>
                  <a:srgbClr val="FFFFFF"/>
                </a:solidFill>
                <a:latin typeface="Courier New"/>
                <a:ea typeface="Courier New"/>
                <a:cs typeface="Courier New"/>
                <a:sym typeface="Courier New"/>
              </a:rPr>
              <a:t>x1</a:t>
            </a:r>
            <a:r>
              <a:rPr sz="2027" b="0" i="0">
                <a:solidFill>
                  <a:srgbClr val="FFFFFF"/>
                </a:solidFill>
                <a:latin typeface="Avenir"/>
                <a:ea typeface="Avenir"/>
                <a:cs typeface="Avenir"/>
                <a:sym typeface="Avenir"/>
              </a:rPr>
              <a:t>, </a:t>
            </a:r>
            <a:r>
              <a:rPr sz="1743" b="0" i="0">
                <a:solidFill>
                  <a:srgbClr val="FFFFFF"/>
                </a:solidFill>
                <a:latin typeface="Courier New"/>
                <a:ea typeface="Courier New"/>
                <a:cs typeface="Courier New"/>
                <a:sym typeface="Courier New"/>
              </a:rPr>
              <a:t>y1</a:t>
            </a:r>
            <a:r>
              <a:rPr sz="2027" b="0" i="0">
                <a:solidFill>
                  <a:srgbClr val="FFFFFF"/>
                </a:solidFill>
                <a:latin typeface="Avenir"/>
                <a:ea typeface="Avenir"/>
                <a:cs typeface="Avenir"/>
                <a:sym typeface="Avenir"/>
              </a:rPr>
              <a:t>, </a:t>
            </a:r>
            <a:r>
              <a:rPr sz="1743" b="0" i="0">
                <a:solidFill>
                  <a:srgbClr val="FFFFFF"/>
                </a:solidFill>
                <a:latin typeface="Courier New"/>
                <a:ea typeface="Courier New"/>
                <a:cs typeface="Courier New"/>
                <a:sym typeface="Courier New"/>
              </a:rPr>
              <a:t>x2</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y2</a:t>
            </a:r>
            <a:r>
              <a:rPr sz="2027" b="0" i="0">
                <a:solidFill>
                  <a:srgbClr val="FFFFFF"/>
                </a:solidFill>
                <a:latin typeface="Avenir"/>
                <a:ea typeface="Avenir"/>
                <a:cs typeface="Avenir"/>
                <a:sym typeface="Avenir"/>
              </a:rPr>
              <a:t> come from. They are the given code in that loop, and they are the same four values </a:t>
            </a:r>
            <a:r>
              <a:rPr sz="1743" b="0" i="0">
                <a:solidFill>
                  <a:srgbClr val="FFFFFF"/>
                </a:solidFill>
                <a:latin typeface="Courier New"/>
                <a:ea typeface="Courier New"/>
                <a:cs typeface="Courier New"/>
                <a:sym typeface="Courier New"/>
              </a:rPr>
              <a:t>parse_board_state</a:t>
            </a:r>
            <a:r>
              <a:rPr sz="2027" b="0" i="0">
                <a:solidFill>
                  <a:srgbClr val="FFFFFF"/>
                </a:solidFill>
                <a:latin typeface="Avenir"/>
                <a:ea typeface="Avenir"/>
                <a:cs typeface="Avenir"/>
                <a:sym typeface="Avenir"/>
              </a:rPr>
              <a:t> used to cut the cells. One set of numbers, used twice, for cutting and for drawing.</a:t>
            </a:r>
          </a:p>
        </p:txBody>
      </p:sp>
      <p:sp>
        <p:nvSpPr>
          <p:cNvPr id="7" name="blk0223"/>
          <p:cNvSpPr/>
          <p:nvPr/>
        </p:nvSpPr>
        <p:spPr>
          <a:xfrm>
            <a:off x="687600" y="5184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23"/>
          <p:cNvSpPr/>
          <p:nvPr/>
        </p:nvSpPr>
        <p:spPr>
          <a:xfrm>
            <a:off x="885600" y="5635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23"/>
          <p:cNvSpPr txBox="1"/>
          <p:nvPr/>
        </p:nvSpPr>
        <p:spPr>
          <a:xfrm>
            <a:off x="1162800" y="5328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That is why the grid appears exactly where the detection happened. If the white outline sits on your drawn lines, the calibration is right. If it does not, no amount of threshold tuning will fix anything.</a:t>
            </a:r>
          </a:p>
        </p:txBody>
      </p:sp>
      <p:sp>
        <p:nvSpPr>
          <p:cNvPr id="10" name="blk0224"/>
          <p:cNvSpPr txBox="1"/>
          <p:nvPr/>
        </p:nvSpPr>
        <p:spPr>
          <a:xfrm>
            <a:off x="687600" y="6336000"/>
            <a:ext cx="7542000" cy="43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Drawing is a debugging tool before it is a user interface.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2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18</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draw the token</a:t>
            </a:r>
          </a:p>
        </p:txBody>
      </p:sp>
      <p:sp>
        <p:nvSpPr>
          <p:cNvPr id="3" name="blk022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last multi-line TODO. Text, positioned inside the cell it belongs to:</a:t>
            </a:r>
          </a:p>
        </p:txBody>
      </p:sp>
      <p:sp>
        <p:nvSpPr>
          <p:cNvPr id="4" name="blk0227"/>
          <p:cNvSpPr/>
          <p:nvPr/>
        </p:nvSpPr>
        <p:spPr>
          <a:xfrm>
            <a:off x="687600" y="252000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27"/>
          <p:cNvSpPr txBox="1"/>
          <p:nvPr/>
        </p:nvSpPr>
        <p:spPr>
          <a:xfrm>
            <a:off x="910799" y="2682000"/>
            <a:ext cx="8240400" cy="496341"/>
          </a:xfrm>
          <a:prstGeom prst="rect">
            <a:avLst/>
          </a:prstGeom>
          <a:noFill/>
        </p:spPr>
        <p:txBody>
          <a:bodyPr wrap="square" anchor="t" lIns="0" rIns="0" tIns="0" bIns="0">
            <a:noAutofit/>
          </a:bodyPr>
          <a:lstStyle/>
          <a:p>
            <a:pPr algn="l">
              <a:lnSpc>
                <a:spcPct val="115000"/>
              </a:lnSpc>
            </a:pPr>
            <a:r>
              <a:rPr sz="1000" b="0" i="0">
                <a:solidFill>
                  <a:srgbClr val="FFFFFF"/>
                </a:solidFill>
                <a:latin typeface="Courier New"/>
                <a:ea typeface="Courier New"/>
                <a:cs typeface="Courier New"/>
                <a:sym typeface="Courier New"/>
              </a:rPr>
              <a:t>                if token != ' ':</a:t>
            </a:r>
          </a:p>
          <a:p>
            <a:pPr algn="l">
              <a:lnSpc>
                <a:spcPct val="115000"/>
              </a:lnSpc>
            </a:pPr>
            <a:r>
              <a:rPr sz="1000" b="0" i="0">
                <a:solidFill>
                  <a:srgbClr val="FFFFFF"/>
                </a:solidFill>
                <a:latin typeface="Courier New"/>
                <a:ea typeface="Courier New"/>
                <a:cs typeface="Courier New"/>
                <a:sym typeface="Courier New"/>
              </a:rPr>
              <a:t>                    cv2.putText(frame, token, (x1 + CELL_W // 3, y1 + 2 * CELL_H // 3),</a:t>
            </a:r>
          </a:p>
          <a:p>
            <a:pPr algn="l">
              <a:lnSpc>
                <a:spcPct val="115000"/>
              </a:lnSpc>
            </a:pPr>
            <a:r>
              <a:rPr sz="1000" b="0" i="0">
                <a:solidFill>
                  <a:srgbClr val="FFFFFF"/>
                </a:solidFill>
                <a:latin typeface="Courier New"/>
                <a:ea typeface="Courier New"/>
                <a:cs typeface="Courier New"/>
                <a:sym typeface="Courier New"/>
              </a:rPr>
              <a:t>                                cv2.FONT_HERSHEY_SIMPLEX, 1.5, color, 3)</a:t>
            </a:r>
          </a:p>
        </p:txBody>
      </p:sp>
      <p:sp>
        <p:nvSpPr>
          <p:cNvPr id="6" name="blk0228"/>
          <p:cNvSpPr txBox="1"/>
          <p:nvPr/>
        </p:nvSpPr>
        <p:spPr>
          <a:xfrm>
            <a:off x="687600" y="3816000"/>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arguments carry most of the meaning: the character to draw, where to draw it, and how big to draw it. The position is computed from </a:t>
            </a:r>
            <a:r>
              <a:rPr sz="1743" b="0" i="0">
                <a:solidFill>
                  <a:srgbClr val="FFFFFF"/>
                </a:solidFill>
                <a:latin typeface="Courier New"/>
                <a:ea typeface="Courier New"/>
                <a:cs typeface="Courier New"/>
                <a:sym typeface="Courier New"/>
              </a:rPr>
              <a:t>CELL_W</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CELL_H</a:t>
            </a:r>
            <a:r>
              <a:rPr sz="2027" b="0" i="0">
                <a:solidFill>
                  <a:srgbClr val="FFFFFF"/>
                </a:solidFill>
                <a:latin typeface="Avenir"/>
                <a:ea typeface="Avenir"/>
                <a:cs typeface="Avenir"/>
                <a:sym typeface="Avenir"/>
              </a:rPr>
              <a:t>, so the text lands inside the right cell for any calibration.</a:t>
            </a:r>
          </a:p>
        </p:txBody>
      </p:sp>
      <p:sp>
        <p:nvSpPr>
          <p:cNvPr id="7" name="blk0229"/>
          <p:cNvSpPr txBox="1"/>
          <p:nvPr/>
        </p:nvSpPr>
        <p:spPr>
          <a:xfrm>
            <a:off x="687600" y="515965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if</a:t>
            </a:r>
            <a:r>
              <a:rPr sz="1650" b="0" i="0">
                <a:solidFill>
                  <a:srgbClr val="FFFFFF"/>
                </a:solidFill>
                <a:latin typeface="Avenir"/>
                <a:ea typeface="Avenir"/>
                <a:cs typeface="Avenir"/>
                <a:sym typeface="Avenir"/>
              </a:rPr>
              <a:t> test above it is what keeps nine empty spaces from being drawn nine times. Without it you get a board covered in faint grey spaces.</a:t>
            </a:r>
          </a:p>
        </p:txBody>
      </p:sp>
      <p:sp>
        <p:nvSpPr>
          <p:cNvPr id="8" name="blk0230"/>
          <p:cNvSpPr/>
          <p:nvPr/>
        </p:nvSpPr>
        <p:spPr>
          <a:xfrm>
            <a:off x="687600" y="5976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30"/>
          <p:cNvSpPr/>
          <p:nvPr/>
        </p:nvSpPr>
        <p:spPr>
          <a:xfrm>
            <a:off x="885600" y="6427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30"/>
          <p:cNvSpPr txBox="1"/>
          <p:nvPr/>
        </p:nvSpPr>
        <p:spPr>
          <a:xfrm>
            <a:off x="1162800" y="6120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character is drawn in red or blue because </a:t>
            </a:r>
            <a:r>
              <a:rPr sz="1290" b="0" i="1">
                <a:solidFill>
                  <a:srgbClr val="FFCF08"/>
                </a:solidFill>
                <a:latin typeface="Courier New"/>
                <a:ea typeface="Courier New"/>
                <a:cs typeface="Courier New"/>
                <a:sym typeface="Courier New"/>
              </a:rPr>
              <a:t>color</a:t>
            </a:r>
            <a:r>
              <a:rPr sz="1500" b="0" i="1">
                <a:solidFill>
                  <a:srgbClr val="FFCF08"/>
                </a:solidFill>
                <a:latin typeface="Avenir"/>
                <a:ea typeface="Avenir"/>
                <a:cs typeface="Avenir"/>
                <a:sym typeface="Avenir"/>
              </a:rPr>
              <a:t> was chosen from the detected token, not hard-coded. The picture is reporting its own finding back to you in colour.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3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19</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write the telemetry</a:t>
            </a:r>
          </a:p>
        </p:txBody>
      </p:sp>
      <p:sp>
        <p:nvSpPr>
          <p:cNvPr id="3" name="blk023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positioned in the corner of the frame rather than inside the grid:</a:t>
            </a:r>
          </a:p>
        </p:txBody>
      </p:sp>
      <p:sp>
        <p:nvSpPr>
          <p:cNvPr id="4" name="blk0233"/>
          <p:cNvSpPr/>
          <p:nvPr/>
        </p:nvSpPr>
        <p:spPr>
          <a:xfrm>
            <a:off x="687600" y="2232000"/>
            <a:ext cx="8686800" cy="47290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33"/>
          <p:cNvSpPr txBox="1"/>
          <p:nvPr/>
        </p:nvSpPr>
        <p:spPr>
          <a:xfrm>
            <a:off x="910799" y="2394000"/>
            <a:ext cx="8240400" cy="148902"/>
          </a:xfrm>
          <a:prstGeom prst="rect">
            <a:avLst/>
          </a:prstGeom>
          <a:noFill/>
        </p:spPr>
        <p:txBody>
          <a:bodyPr wrap="square" anchor="t" lIns="0" rIns="0" tIns="0" bIns="0">
            <a:noAutofit/>
          </a:bodyPr>
          <a:lstStyle/>
          <a:p>
            <a:pPr algn="l">
              <a:lnSpc>
                <a:spcPct val="115000"/>
              </a:lnSpc>
            </a:pPr>
            <a:r>
              <a:rPr sz="900" b="0" i="0">
                <a:solidFill>
                  <a:srgbClr val="FFFFFF"/>
                </a:solidFill>
                <a:latin typeface="Courier New"/>
                <a:ea typeface="Courier New"/>
                <a:cs typeface="Courier New"/>
                <a:sym typeface="Courier New"/>
              </a:rPr>
              <a:t>        cv2.putText(frame, "Tic-Tac-Toe Vision Parser", (20, 40), cv2.FONT_HERSHEY_SIMPLEX, 0.8, (255, 255, 255), 2)</a:t>
            </a:r>
          </a:p>
        </p:txBody>
      </p:sp>
      <p:sp>
        <p:nvSpPr>
          <p:cNvPr id="6" name="blk0234"/>
          <p:cNvSpPr txBox="1"/>
          <p:nvPr/>
        </p:nvSpPr>
        <p:spPr>
          <a:xfrm>
            <a:off x="687600" y="3024000"/>
            <a:ext cx="7542000" cy="46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Different from the other two </a:t>
            </a:r>
            <a:r>
              <a:rPr sz="1743" b="0" i="0">
                <a:solidFill>
                  <a:srgbClr val="FFFFFF"/>
                </a:solidFill>
                <a:latin typeface="Courier New"/>
                <a:ea typeface="Courier New"/>
                <a:cs typeface="Courier New"/>
                <a:sym typeface="Courier New"/>
              </a:rPr>
              <a:t>putText</a:t>
            </a:r>
            <a:r>
              <a:rPr sz="2027" b="0" i="0">
                <a:solidFill>
                  <a:srgbClr val="FFFFFF"/>
                </a:solidFill>
                <a:latin typeface="Avenir"/>
                <a:ea typeface="Avenir"/>
                <a:cs typeface="Avenir"/>
                <a:sym typeface="Avenir"/>
              </a:rPr>
              <a:t> calls in this file: smaller scale, thinner line, fixed coordinates, and no test in front of it. That last part is the design decision — it is unconditional, so it is on screen every single frame.</a:t>
            </a:r>
          </a:p>
        </p:txBody>
      </p:sp>
      <p:sp>
        <p:nvSpPr>
          <p:cNvPr id="7" name="blk0235"/>
          <p:cNvSpPr/>
          <p:nvPr/>
        </p:nvSpPr>
        <p:spPr>
          <a:xfrm>
            <a:off x="687600" y="4367659"/>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35"/>
          <p:cNvSpPr/>
          <p:nvPr/>
        </p:nvSpPr>
        <p:spPr>
          <a:xfrm>
            <a:off x="885600" y="469525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35"/>
          <p:cNvSpPr txBox="1"/>
          <p:nvPr/>
        </p:nvSpPr>
        <p:spPr>
          <a:xfrm>
            <a:off x="1162800" y="4511659"/>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line is also how you tell this program apart from any other OpenCV window you might have open. It names itself, once, every frame.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3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20</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show the frame</a:t>
            </a:r>
          </a:p>
        </p:txBody>
      </p:sp>
      <p:sp>
        <p:nvSpPr>
          <p:cNvPr id="3" name="blk023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last TODO in the file:</a:t>
            </a:r>
          </a:p>
        </p:txBody>
      </p:sp>
      <p:sp>
        <p:nvSpPr>
          <p:cNvPr id="4" name="blk0238"/>
          <p:cNvSpPr/>
          <p:nvPr/>
        </p:nvSpPr>
        <p:spPr>
          <a:xfrm>
            <a:off x="687600" y="2376000"/>
            <a:ext cx="8686800" cy="52253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38"/>
          <p:cNvSpPr txBox="1"/>
          <p:nvPr/>
        </p:nvSpPr>
        <p:spPr>
          <a:xfrm>
            <a:off x="910799" y="2538000"/>
            <a:ext cx="8240400" cy="198536"/>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        cv2.imshow("Mission 02 - Project 07: Board State Scanner", frame)</a:t>
            </a:r>
          </a:p>
        </p:txBody>
      </p:sp>
      <p:sp>
        <p:nvSpPr>
          <p:cNvPr id="6" name="blk0239"/>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arguments: a window title and the picture. The title is the one thing that identifies your program in the taskbar, and the string in it is the only place the project name appears on screen.</a:t>
            </a:r>
          </a:p>
        </p:txBody>
      </p:sp>
      <p:sp>
        <p:nvSpPr>
          <p:cNvPr id="7" name="blk0240"/>
          <p:cNvSpPr txBox="1"/>
          <p:nvPr/>
        </p:nvSpPr>
        <p:spPr>
          <a:xfrm>
            <a:off x="687600" y="472765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Notice this is not drawing — </a:t>
            </a:r>
            <a:r>
              <a:rPr sz="1419" b="0" i="0">
                <a:solidFill>
                  <a:srgbClr val="FFFFFF"/>
                </a:solidFill>
                <a:latin typeface="Courier New"/>
                <a:ea typeface="Courier New"/>
                <a:cs typeface="Courier New"/>
                <a:sym typeface="Courier New"/>
              </a:rPr>
              <a:t>imshow</a:t>
            </a:r>
            <a:r>
              <a:rPr sz="1650" b="0" i="0">
                <a:solidFill>
                  <a:srgbClr val="FFFFFF"/>
                </a:solidFill>
                <a:latin typeface="Avenir"/>
                <a:ea typeface="Avenir"/>
                <a:cs typeface="Avenir"/>
                <a:sym typeface="Avenir"/>
              </a:rPr>
              <a:t> puts the finished frame on screen. Everything before it modifies the frame in memory; this line is what you actually look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4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read the keyboard</a:t>
            </a:r>
          </a:p>
        </p:txBody>
      </p:sp>
      <p:sp>
        <p:nvSpPr>
          <p:cNvPr id="3" name="blk024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final TODO is the display line above. These two lines come with it, already written in the file:</a:t>
            </a:r>
          </a:p>
        </p:txBody>
      </p:sp>
      <p:sp>
        <p:nvSpPr>
          <p:cNvPr id="4" name="blk0243"/>
          <p:cNvSpPr/>
          <p:nvPr/>
        </p:nvSpPr>
        <p:spPr>
          <a:xfrm>
            <a:off x="687600" y="2448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43"/>
          <p:cNvSpPr txBox="1"/>
          <p:nvPr/>
        </p:nvSpPr>
        <p:spPr>
          <a:xfrm>
            <a:off x="910799" y="2610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if (cv2.waitKey(1) &amp; 0xFF) == ord('q'):</a:t>
            </a:r>
          </a:p>
          <a:p>
            <a:pPr algn="l">
              <a:lnSpc>
                <a:spcPct val="115000"/>
              </a:lnSpc>
            </a:pPr>
            <a:r>
              <a:rPr sz="1400" b="0" i="0">
                <a:solidFill>
                  <a:srgbClr val="FFFFFF"/>
                </a:solidFill>
                <a:latin typeface="Courier New"/>
                <a:ea typeface="Courier New"/>
                <a:cs typeface="Courier New"/>
                <a:sym typeface="Courier New"/>
              </a:rPr>
              <a:t>            break</a:t>
            </a:r>
          </a:p>
        </p:txBody>
      </p:sp>
      <p:sp>
        <p:nvSpPr>
          <p:cNvPr id="6" name="blk0244"/>
          <p:cNvSpPr txBox="1"/>
          <p:nvPr/>
        </p:nvSpPr>
        <p:spPr>
          <a:xfrm>
            <a:off x="687600" y="3528000"/>
            <a:ext cx="7542000" cy="410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things happening in one line. </a:t>
            </a:r>
            <a:r>
              <a:rPr sz="1743" b="0" i="0">
                <a:solidFill>
                  <a:srgbClr val="FFFFFF"/>
                </a:solidFill>
                <a:latin typeface="Courier New"/>
                <a:ea typeface="Courier New"/>
                <a:cs typeface="Courier New"/>
                <a:sym typeface="Courier New"/>
              </a:rPr>
              <a:t>waitKey(1)</a:t>
            </a:r>
            <a:r>
              <a:rPr sz="2027" b="0" i="0">
                <a:solidFill>
                  <a:srgbClr val="FFFFFF"/>
                </a:solidFill>
                <a:latin typeface="Avenir"/>
                <a:ea typeface="Avenir"/>
                <a:cs typeface="Avenir"/>
                <a:sym typeface="Avenir"/>
              </a:rPr>
              <a:t> waits about a millisecond and returns a key code. </a:t>
            </a:r>
            <a:r>
              <a:rPr sz="1743" b="0" i="0">
                <a:solidFill>
                  <a:srgbClr val="FFFFFF"/>
                </a:solidFill>
                <a:latin typeface="Courier New"/>
                <a:ea typeface="Courier New"/>
                <a:cs typeface="Courier New"/>
                <a:sym typeface="Courier New"/>
              </a:rPr>
              <a:t>&amp; 0xFF</a:t>
            </a:r>
            <a:r>
              <a:rPr sz="2027" b="0" i="0">
                <a:solidFill>
                  <a:srgbClr val="FFFFFF"/>
                </a:solidFill>
                <a:latin typeface="Avenir"/>
                <a:ea typeface="Avenir"/>
                <a:cs typeface="Avenir"/>
                <a:sym typeface="Avenir"/>
              </a:rPr>
              <a:t> masks that code down to eight bits. </a:t>
            </a:r>
            <a:r>
              <a:rPr sz="1743" b="0" i="0">
                <a:solidFill>
                  <a:srgbClr val="FFFFFF"/>
                </a:solidFill>
                <a:latin typeface="Courier New"/>
                <a:ea typeface="Courier New"/>
                <a:cs typeface="Courier New"/>
                <a:sym typeface="Courier New"/>
              </a:rPr>
              <a:t>== ord('q')</a:t>
            </a:r>
            <a:r>
              <a:rPr sz="2027" b="0" i="0">
                <a:solidFill>
                  <a:srgbClr val="FFFFFF"/>
                </a:solidFill>
                <a:latin typeface="Avenir"/>
                <a:ea typeface="Avenir"/>
                <a:cs typeface="Avenir"/>
                <a:sym typeface="Avenir"/>
              </a:rPr>
              <a:t> compares it to the character q.</a:t>
            </a:r>
          </a:p>
        </p:txBody>
      </p:sp>
      <p:sp>
        <p:nvSpPr>
          <p:cNvPr id="7" name="blk0245"/>
          <p:cNvSpPr/>
          <p:nvPr/>
        </p:nvSpPr>
        <p:spPr>
          <a:xfrm>
            <a:off x="741600" y="4900459"/>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45"/>
          <p:cNvSpPr txBox="1"/>
          <p:nvPr/>
        </p:nvSpPr>
        <p:spPr>
          <a:xfrm>
            <a:off x="1252800" y="4871659"/>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wait is what makes the window responsive.</a:t>
            </a:r>
            <a:r>
              <a:rPr sz="1600" b="0" i="0">
                <a:solidFill>
                  <a:srgbClr val="FFFFFF"/>
                </a:solidFill>
                <a:latin typeface="Avenir"/>
                <a:ea typeface="Avenir"/>
                <a:cs typeface="Avenir"/>
                <a:sym typeface="Avenir"/>
              </a:rPr>
              <a:t> Without it the picture freezes and no key is ever read.</a:t>
            </a:r>
          </a:p>
        </p:txBody>
      </p:sp>
      <p:sp>
        <p:nvSpPr>
          <p:cNvPr id="9" name="blk0246"/>
          <p:cNvSpPr/>
          <p:nvPr/>
        </p:nvSpPr>
        <p:spPr>
          <a:xfrm>
            <a:off x="741600" y="560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46"/>
          <p:cNvSpPr txBox="1"/>
          <p:nvPr/>
        </p:nvSpPr>
        <p:spPr>
          <a:xfrm>
            <a:off x="1252800" y="5580000"/>
            <a:ext cx="8118000" cy="75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mask is not optional.</a:t>
            </a:r>
            <a:r>
              <a:rPr sz="1600" b="0" i="0">
                <a:solidFill>
                  <a:srgbClr val="FFFFFF"/>
                </a:solidFill>
                <a:latin typeface="Avenir"/>
                <a:ea typeface="Avenir"/>
                <a:cs typeface="Avenir"/>
                <a:sym typeface="Avenir"/>
              </a:rPr>
              <a:t> Key codes can carry more than eight bits, and unmasked values will occasionally match 113 by accident.</a:t>
            </a:r>
          </a:p>
        </p:txBody>
      </p:sp>
      <p:sp>
        <p:nvSpPr>
          <p:cNvPr id="11" name="blk0247"/>
          <p:cNvSpPr/>
          <p:nvPr/>
        </p:nvSpPr>
        <p:spPr>
          <a:xfrm>
            <a:off x="687600" y="6480000"/>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47"/>
          <p:cNvSpPr/>
          <p:nvPr/>
        </p:nvSpPr>
        <p:spPr>
          <a:xfrm>
            <a:off x="885600" y="67939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47"/>
          <p:cNvSpPr txBox="1"/>
          <p:nvPr/>
        </p:nvSpPr>
        <p:spPr>
          <a:xfrm>
            <a:off x="1162800" y="6623999"/>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Read that first line carefully, including the brackets. The exact parenthesisation is load-bearing, and there is a reason for it that we are about to look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4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Run it</a:t>
            </a:r>
          </a:p>
        </p:txBody>
      </p:sp>
      <p:sp>
        <p:nvSpPr>
          <p:cNvPr id="3" name="blk024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Send the file across and start it:</a:t>
            </a:r>
          </a:p>
        </p:txBody>
      </p:sp>
      <p:sp>
        <p:nvSpPr>
          <p:cNvPr id="4" name="blk0250"/>
          <p:cNvSpPr txBox="1"/>
          <p:nvPr/>
        </p:nvSpPr>
        <p:spPr>
          <a:xfrm>
            <a:off x="687600" y="2015999"/>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scp M2-P7-Starter.py er@192.168.1.149:Documents</a:t>
            </a:r>
          </a:p>
        </p:txBody>
      </p:sp>
      <p:sp>
        <p:nvSpPr>
          <p:cNvPr id="5" name="blk0251"/>
          <p:cNvSpPr txBox="1"/>
          <p:nvPr/>
        </p:nvSpPr>
        <p:spPr>
          <a:xfrm>
            <a:off x="687600" y="2454893"/>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python M2-P7-Starter.py</a:t>
            </a:r>
          </a:p>
        </p:txBody>
      </p:sp>
      <p:sp>
        <p:nvSpPr>
          <p:cNvPr id="6" name="blk0252"/>
          <p:cNvSpPr txBox="1"/>
          <p:nvPr/>
        </p:nvSpPr>
        <p:spPr>
          <a:xfrm>
            <a:off x="687600" y="3024000"/>
            <a:ext cx="7542000" cy="46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Expected console output:</a:t>
            </a:r>
          </a:p>
        </p:txBody>
      </p:sp>
      <p:sp>
        <p:nvSpPr>
          <p:cNvPr id="7" name="blk0253"/>
          <p:cNvSpPr/>
          <p:nvPr/>
        </p:nvSpPr>
        <p:spPr>
          <a:xfrm>
            <a:off x="687600" y="3600000"/>
            <a:ext cx="8686800" cy="94442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53"/>
          <p:cNvSpPr txBox="1"/>
          <p:nvPr/>
        </p:nvSpPr>
        <p:spPr>
          <a:xfrm>
            <a:off x="910799" y="3761999"/>
            <a:ext cx="8240400" cy="620427"/>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Connecting to myCobot280...</a:t>
            </a:r>
          </a:p>
          <a:p>
            <a:pPr algn="l">
              <a:lnSpc>
                <a:spcPct val="115000"/>
              </a:lnSpc>
            </a:pPr>
            <a:r>
              <a:rPr sz="1250" b="0" i="0">
                <a:solidFill>
                  <a:srgbClr val="FFFFFF"/>
                </a:solidFill>
                <a:latin typeface="Courier New"/>
                <a:ea typeface="Courier New"/>
                <a:cs typeface="Courier New"/>
                <a:sym typeface="Courier New"/>
              </a:rPr>
              <a:t>Robot ready.</a:t>
            </a:r>
          </a:p>
          <a:p>
            <a:pPr algn="l">
              <a:lnSpc>
                <a:spcPct val="115000"/>
              </a:lnSpc>
            </a:pPr>
            <a:r>
              <a:rPr sz="1250" b="0" i="0">
                <a:solidFill>
                  <a:srgbClr val="FFFFFF"/>
                </a:solidFill>
                <a:latin typeface="Courier New"/>
                <a:ea typeface="Courier New"/>
                <a:cs typeface="Courier New"/>
                <a:sym typeface="Courier New"/>
              </a:rPr>
              <a:t>Starting Tic-Tac-Toe Vision Scanner. Press 'q' to quit.</a:t>
            </a:r>
          </a:p>
        </p:txBody>
      </p:sp>
      <p:sp>
        <p:nvSpPr>
          <p:cNvPr id="9" name="blk0254"/>
          <p:cNvSpPr txBox="1"/>
          <p:nvPr/>
        </p:nvSpPr>
        <p:spPr>
          <a:xfrm>
            <a:off x="687600" y="4896000"/>
            <a:ext cx="7542000" cy="27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Then a window opens with your camera feed, a white grid, and the telemetry line in the top left. Place a red token in a cell and the letter X appears on it.</a:t>
            </a:r>
          </a:p>
        </p:txBody>
      </p:sp>
      <p:sp>
        <p:nvSpPr>
          <p:cNvPr id="10" name="blk0255"/>
          <p:cNvSpPr/>
          <p:nvPr/>
        </p:nvSpPr>
        <p:spPr>
          <a:xfrm>
            <a:off x="687600" y="5930744"/>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55"/>
          <p:cNvSpPr/>
          <p:nvPr/>
        </p:nvSpPr>
        <p:spPr>
          <a:xfrm>
            <a:off x="885600" y="638182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55"/>
          <p:cNvSpPr txBox="1"/>
          <p:nvPr/>
        </p:nvSpPr>
        <p:spPr>
          <a:xfrm>
            <a:off x="1162800" y="6074743"/>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Three claims have now been made about this program. Two of them are about your setup; one is about the keyboard. All three are checkable by hand, and we are going to check them.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5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Verify the claims</a:t>
            </a:r>
          </a:p>
        </p:txBody>
      </p:sp>
      <p:sp>
        <p:nvSpPr>
          <p:cNvPr id="3" name="blk025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claims. Checked one at a time, without changing any code.</a:t>
            </a:r>
          </a:p>
        </p:txBody>
      </p:sp>
      <p:graphicFrame>
        <p:nvGraphicFramePr>
          <p:cNvPr id="4" name="blk0258"/>
          <p:cNvGraphicFramePr>
            <a:graphicFrameLocks noGrp="1"/>
          </p:cNvGraphicFramePr>
          <p:nvPr/>
        </p:nvGraphicFramePr>
        <p:xfrm>
          <a:off x="687600" y="2304000"/>
          <a:ext cx="5975998" cy="1691997"/>
        </p:xfrm>
        <a:graphic>
          <a:graphicData uri="http://schemas.openxmlformats.org/drawingml/2006/table">
            <a:tbl>
              <a:tblPr firstRow="0" bandRow="0"/>
              <a:tblGrid>
                <a:gridCol w="503999"/>
                <a:gridCol w="3816000"/>
                <a:gridCol w="1655999"/>
              </a:tblGrid>
              <a:tr h="450000">
                <a:tc>
                  <a:txBody>
                    <a:bodyPr wrap="square"/>
                    <a:lstStyle/>
                    <a:p>
                      <a:pPr algn="l">
                        <a:lnSpc>
                          <a:spcPct val="100000"/>
                        </a:lnSpc>
                      </a:pPr>
                      <a:r>
                        <a:rPr sz="1350" b="1" i="0">
                          <a:solidFill>
                            <a:srgbClr val="FFCF08"/>
                          </a:solidFill>
                          <a:latin typeface="Avenir"/>
                          <a:ea typeface="Avenir"/>
                          <a:cs typeface="Avenir"/>
                          <a:sym typeface="Avenir"/>
                        </a:rPr>
                        <a:t>#</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The claim</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Result</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1</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Runs without the robot attached</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True</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2</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Identifies X and O correctly</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True</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3</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Press q to quit</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False</a:t>
                      </a:r>
                    </a:p>
                  </a:txBody>
                  <a:tcPr marL="72000" marR="72000" marT="36000" marB="36000" anchor="ctr">
                    <a:solidFill>
                      <a:srgbClr val="2E338C"/>
                    </a:solidFill>
                  </a:tcPr>
                </a:tc>
              </a:tr>
            </a:tbl>
          </a:graphicData>
        </a:graphic>
      </p:graphicFrame>
      <p:sp>
        <p:nvSpPr>
          <p:cNvPr id="5" name="blk0259"/>
          <p:cNvSpPr txBox="1"/>
          <p:nvPr/>
        </p:nvSpPr>
        <p:spPr>
          <a:xfrm>
            <a:off x="687600" y="4536000"/>
            <a:ext cx="7542000" cy="30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one deserves a note. It is the promise that was a lie in Project 6, so it was the obvious one to suspect — and it holds.</a:t>
            </a:r>
          </a:p>
        </p:txBody>
      </p:sp>
      <p:sp>
        <p:nvSpPr>
          <p:cNvPr id="6" name="blk0260"/>
          <p:cNvSpPr/>
          <p:nvPr/>
        </p:nvSpPr>
        <p:spPr>
          <a:xfrm>
            <a:off x="687600" y="5570744"/>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60"/>
          <p:cNvSpPr/>
          <p:nvPr/>
        </p:nvSpPr>
        <p:spPr>
          <a:xfrm>
            <a:off x="885600" y="602182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60"/>
          <p:cNvSpPr txBox="1"/>
          <p:nvPr/>
        </p:nvSpPr>
        <p:spPr>
          <a:xfrm>
            <a:off x="1162800" y="5714744"/>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Verify every claim, not the ones you already distrust. The instinct to find a specific bug is not evidence, and a program that fails the test you expected is as surprising as one that passes.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6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 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fallback holds</a:t>
            </a:r>
          </a:p>
        </p:txBody>
      </p:sp>
      <p:sp>
        <p:nvSpPr>
          <p:cNvPr id="3" name="blk026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Unplug the arm, run the program, and this is what you get:</a:t>
            </a:r>
          </a:p>
        </p:txBody>
      </p:sp>
      <p:sp>
        <p:nvSpPr>
          <p:cNvPr id="4" name="blk0263"/>
          <p:cNvSpPr/>
          <p:nvPr/>
        </p:nvSpPr>
        <p:spPr>
          <a:xfrm>
            <a:off x="687600" y="2304000"/>
            <a:ext cx="8686800" cy="105196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63"/>
          <p:cNvSpPr txBox="1"/>
          <p:nvPr/>
        </p:nvSpPr>
        <p:spPr>
          <a:xfrm>
            <a:off x="910799" y="2466000"/>
            <a:ext cx="8240400" cy="727967"/>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Robot hardware warning: [Errno 2] No such file or directory: '/dev/ttyAMA0'</a:t>
            </a:r>
          </a:p>
          <a:p>
            <a:pPr algn="l">
              <a:lnSpc>
                <a:spcPct val="115000"/>
              </a:lnSpc>
            </a:pPr>
            <a:r>
              <a:rPr sz="1100" b="0" i="0">
                <a:solidFill>
                  <a:srgbClr val="FFFFFF"/>
                </a:solidFill>
                <a:latin typeface="Courier New"/>
                <a:ea typeface="Courier New"/>
                <a:cs typeface="Courier New"/>
                <a:sym typeface="Courier New"/>
              </a:rPr>
              <a:t>Continuing with OpenCV camera pipeline only...</a:t>
            </a:r>
          </a:p>
          <a:p>
            <a:pPr algn="l">
              <a:lnSpc>
                <a:spcPct val="115000"/>
              </a:lnSpc>
            </a:pPr>
            <a:r>
              <a:rPr sz="1100" b="0" i="0">
                <a:solidFill>
                  <a:srgbClr val="FFFFFF"/>
                </a:solidFill>
                <a:latin typeface="Courier New"/>
                <a:ea typeface="Courier New"/>
                <a:cs typeface="Courier New"/>
                <a:sym typeface="Courier New"/>
              </a:rPr>
              <a:t/>
            </a:r>
          </a:p>
          <a:p>
            <a:pPr algn="l">
              <a:lnSpc>
                <a:spcPct val="115000"/>
              </a:lnSpc>
            </a:pPr>
            <a:r>
              <a:rPr sz="1100" b="0" i="0">
                <a:solidFill>
                  <a:srgbClr val="FFFFFF"/>
                </a:solidFill>
                <a:latin typeface="Courier New"/>
                <a:ea typeface="Courier New"/>
                <a:cs typeface="Courier New"/>
                <a:sym typeface="Courier New"/>
              </a:rPr>
              <a:t>Starting Tic-Tac-Toe Vision Scanner. Press 'q' to quit.</a:t>
            </a:r>
          </a:p>
        </p:txBody>
      </p:sp>
      <p:sp>
        <p:nvSpPr>
          <p:cNvPr id="6" name="blk0264"/>
          <p:cNvSpPr txBox="1"/>
          <p:nvPr/>
        </p:nvSpPr>
        <p:spPr>
          <a:xfrm>
            <a:off x="687600" y="3744000"/>
            <a:ext cx="7542000" cy="38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program does keep going. Here is why, and the reason is structural rather than lucky:</a:t>
            </a:r>
          </a:p>
        </p:txBody>
      </p:sp>
      <p:sp>
        <p:nvSpPr>
          <p:cNvPr id="7" name="blk0265"/>
          <p:cNvSpPr/>
          <p:nvPr/>
        </p:nvSpPr>
        <p:spPr>
          <a:xfrm>
            <a:off x="741600" y="456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65"/>
          <p:cNvSpPr txBox="1"/>
          <p:nvPr/>
        </p:nvSpPr>
        <p:spPr>
          <a:xfrm>
            <a:off x="1252800" y="4536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mc is only used inside the try block.</a:t>
            </a:r>
            <a:r>
              <a:rPr sz="1600" b="0" i="0">
                <a:solidFill>
                  <a:srgbClr val="FFFFFF"/>
                </a:solidFill>
                <a:latin typeface="Avenir"/>
                <a:ea typeface="Avenir"/>
                <a:cs typeface="Avenir"/>
                <a:sym typeface="Avenir"/>
              </a:rPr>
              <a:t> Search the file after the handler and you will not find one.</a:t>
            </a:r>
          </a:p>
        </p:txBody>
      </p:sp>
      <p:sp>
        <p:nvSpPr>
          <p:cNvPr id="9" name="blk0266"/>
          <p:cNvSpPr/>
          <p:nvPr/>
        </p:nvSpPr>
        <p:spPr>
          <a:xfrm>
            <a:off x="741600" y="542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66"/>
          <p:cNvSpPr txBox="1"/>
          <p:nvPr/>
        </p:nvSpPr>
        <p:spPr>
          <a:xfrm>
            <a:off x="1252800" y="5400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finally block does not touch it.</a:t>
            </a:r>
            <a:r>
              <a:rPr sz="1600" b="0" i="0">
                <a:solidFill>
                  <a:srgbClr val="FFFFFF"/>
                </a:solidFill>
                <a:latin typeface="Avenir"/>
                <a:ea typeface="Avenir"/>
                <a:cs typeface="Avenir"/>
                <a:sym typeface="Avenir"/>
              </a:rPr>
              <a:t> That block releases the camera and closes the window — two things that always exist.</a:t>
            </a:r>
          </a:p>
        </p:txBody>
      </p:sp>
      <p:sp>
        <p:nvSpPr>
          <p:cNvPr id="11" name="blk0267"/>
          <p:cNvSpPr/>
          <p:nvPr/>
        </p:nvSpPr>
        <p:spPr>
          <a:xfrm>
            <a:off x="687600" y="6480000"/>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67"/>
          <p:cNvSpPr/>
          <p:nvPr/>
        </p:nvSpPr>
        <p:spPr>
          <a:xfrm>
            <a:off x="885600" y="67939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67"/>
          <p:cNvSpPr txBox="1"/>
          <p:nvPr/>
        </p:nvSpPr>
        <p:spPr>
          <a:xfrm>
            <a:off x="1162800" y="6623999"/>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Same message, same file shape, opposite outcome to Project 6. Identical wording tells you nothing; what the code does after the print is the whole answer.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6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 2</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four things lined up</a:t>
            </a:r>
          </a:p>
        </p:txBody>
      </p:sp>
      <p:sp>
        <p:nvSpPr>
          <p:cNvPr id="3" name="blk026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claim that the project's whole purpose rests on: red pieces read as X, blue pieces as O, empty cells as nothing.</a:t>
            </a:r>
          </a:p>
        </p:txBody>
      </p:sp>
      <p:sp>
        <p:nvSpPr>
          <p:cNvPr id="4" name="blk0270"/>
          <p:cNvSpPr txBox="1"/>
          <p:nvPr/>
        </p:nvSpPr>
        <p:spPr>
          <a:xfrm>
            <a:off x="687600" y="252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Four properties had to be true at once for that claim to hold:</a:t>
            </a:r>
          </a:p>
        </p:txBody>
      </p:sp>
      <p:sp>
        <p:nvSpPr>
          <p:cNvPr id="5" name="blk0271"/>
          <p:cNvSpPr txBox="1"/>
          <p:nvPr/>
        </p:nvSpPr>
        <p:spPr>
          <a:xfrm>
            <a:off x="687600" y="3245829"/>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1.</a:t>
            </a:r>
          </a:p>
        </p:txBody>
      </p:sp>
      <p:sp>
        <p:nvSpPr>
          <p:cNvPr id="6" name="blk0271"/>
          <p:cNvSpPr txBox="1"/>
          <p:nvPr/>
        </p:nvSpPr>
        <p:spPr>
          <a:xfrm>
            <a:off x="1252800" y="3245829"/>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The hue wraparound was handled.</a:t>
            </a:r>
            <a:r>
              <a:rPr sz="1650" b="0" i="0">
                <a:solidFill>
                  <a:srgbClr val="FFFFFF"/>
                </a:solidFill>
                <a:latin typeface="Avenir"/>
                <a:ea typeface="Avenir"/>
                <a:cs typeface="Avenir"/>
                <a:sym typeface="Avenir"/>
              </a:rPr>
              <a:t>  Two ranges and a </a:t>
            </a:r>
            <a:r>
              <a:rPr sz="1419" b="0" i="0">
                <a:solidFill>
                  <a:srgbClr val="FFFFFF"/>
                </a:solidFill>
                <a:latin typeface="Courier New"/>
                <a:ea typeface="Courier New"/>
                <a:cs typeface="Courier New"/>
                <a:sym typeface="Courier New"/>
              </a:rPr>
              <a:t>bitwise_or</a:t>
            </a:r>
            <a:r>
              <a:rPr sz="1650" b="0" i="0">
                <a:solidFill>
                  <a:srgbClr val="FFFFFF"/>
                </a:solidFill>
                <a:latin typeface="Avenir"/>
                <a:ea typeface="Avenir"/>
                <a:cs typeface="Avenir"/>
                <a:sym typeface="Avenir"/>
              </a:rPr>
              <a:t>, so the 0 end and the 180 end of the scale are both reachable.</a:t>
            </a:r>
          </a:p>
        </p:txBody>
      </p:sp>
      <p:sp>
        <p:nvSpPr>
          <p:cNvPr id="7" name="blk0272"/>
          <p:cNvSpPr txBox="1"/>
          <p:nvPr/>
        </p:nvSpPr>
        <p:spPr>
          <a:xfrm>
            <a:off x="687600" y="4031999"/>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2.</a:t>
            </a:r>
          </a:p>
        </p:txBody>
      </p:sp>
      <p:sp>
        <p:nvSpPr>
          <p:cNvPr id="8" name="blk0272"/>
          <p:cNvSpPr txBox="1"/>
          <p:nvPr/>
        </p:nvSpPr>
        <p:spPr>
          <a:xfrm>
            <a:off x="1252800" y="4031999"/>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The calibration put every cell inside the frame.</a:t>
            </a:r>
            <a:r>
              <a:rPr sz="1650" b="0" i="0">
                <a:solidFill>
                  <a:srgbClr val="FFFFFF"/>
                </a:solidFill>
                <a:latin typeface="Avenir"/>
                <a:ea typeface="Avenir"/>
                <a:cs typeface="Avenir"/>
                <a:sym typeface="Avenir"/>
              </a:rPr>
              <a:t>  X 197 to 422 and Y 57 to 282 in a 640x480 picture.</a:t>
            </a:r>
          </a:p>
        </p:txBody>
      </p:sp>
      <p:sp>
        <p:nvSpPr>
          <p:cNvPr id="9" name="blk0273"/>
          <p:cNvSpPr txBox="1"/>
          <p:nvPr/>
        </p:nvSpPr>
        <p:spPr>
          <a:xfrm>
            <a:off x="687600" y="4824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3.</a:t>
            </a:r>
          </a:p>
        </p:txBody>
      </p:sp>
      <p:sp>
        <p:nvSpPr>
          <p:cNvPr id="10" name="blk0273"/>
          <p:cNvSpPr txBox="1"/>
          <p:nvPr/>
        </p:nvSpPr>
        <p:spPr>
          <a:xfrm>
            <a:off x="1252800" y="4824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The threshold matched the cell size.</a:t>
            </a:r>
            <a:r>
              <a:rPr sz="1650" b="0" i="0">
                <a:solidFill>
                  <a:srgbClr val="FFFFFF"/>
                </a:solidFill>
                <a:latin typeface="Avenir"/>
                <a:ea typeface="Avenir"/>
                <a:cs typeface="Avenir"/>
                <a:sym typeface="Avenir"/>
              </a:rPr>
              <a:t>  800 of 5,625 pixels, about 14%.</a:t>
            </a:r>
          </a:p>
        </p:txBody>
      </p:sp>
      <p:sp>
        <p:nvSpPr>
          <p:cNvPr id="11" name="blk0274"/>
          <p:cNvSpPr txBox="1"/>
          <p:nvPr/>
        </p:nvSpPr>
        <p:spPr>
          <a:xfrm>
            <a:off x="687600" y="5616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4.</a:t>
            </a:r>
          </a:p>
        </p:txBody>
      </p:sp>
      <p:sp>
        <p:nvSpPr>
          <p:cNvPr id="12" name="blk0274"/>
          <p:cNvSpPr txBox="1"/>
          <p:nvPr/>
        </p:nvSpPr>
        <p:spPr>
          <a:xfrm>
            <a:off x="1252800" y="5616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Row and column were not swapped.</a:t>
            </a:r>
            <a:r>
              <a:rPr sz="1650" b="0" i="0">
                <a:solidFill>
                  <a:srgbClr val="FFFFFF"/>
                </a:solidFill>
                <a:latin typeface="Avenir"/>
                <a:ea typeface="Avenir"/>
                <a:cs typeface="Avenir"/>
                <a:sym typeface="Avenir"/>
              </a:rPr>
              <a:t>  </a:t>
            </a:r>
            <a:r>
              <a:rPr sz="1419" b="0" i="0">
                <a:solidFill>
                  <a:srgbClr val="FFFFFF"/>
                </a:solidFill>
                <a:latin typeface="Courier New"/>
                <a:ea typeface="Courier New"/>
                <a:cs typeface="Courier New"/>
                <a:sym typeface="Courier New"/>
              </a:rPr>
              <a:t>board[row][col]</a:t>
            </a:r>
            <a:r>
              <a:rPr sz="1650" b="0" i="0">
                <a:solidFill>
                  <a:srgbClr val="FFFFFF"/>
                </a:solidFill>
                <a:latin typeface="Avenir"/>
                <a:ea typeface="Avenir"/>
                <a:cs typeface="Avenir"/>
                <a:sym typeface="Avenir"/>
              </a:rPr>
              <a:t> fed by </a:t>
            </a:r>
            <a:r>
              <a:rPr sz="1419" b="0" i="0">
                <a:solidFill>
                  <a:srgbClr val="FFFFFF"/>
                </a:solidFill>
                <a:latin typeface="Courier New"/>
                <a:ea typeface="Courier New"/>
                <a:cs typeface="Courier New"/>
                <a:sym typeface="Courier New"/>
              </a:rPr>
              <a:t>y1</a:t>
            </a:r>
            <a:r>
              <a:rPr sz="1650" b="0" i="0">
                <a:solidFill>
                  <a:srgbClr val="FFFFFF"/>
                </a:solidFill>
                <a:latin typeface="Avenir"/>
                <a:ea typeface="Avenir"/>
                <a:cs typeface="Avenir"/>
                <a:sym typeface="Avenir"/>
              </a:rPr>
              <a:t> from </a:t>
            </a:r>
            <a:r>
              <a:rPr sz="1419" b="0" i="0">
                <a:solidFill>
                  <a:srgbClr val="FFFFFF"/>
                </a:solidFill>
                <a:latin typeface="Courier New"/>
                <a:ea typeface="Courier New"/>
                <a:cs typeface="Courier New"/>
                <a:sym typeface="Courier New"/>
              </a:rPr>
              <a:t>row</a:t>
            </a:r>
            <a:r>
              <a:rPr sz="1650" b="0" i="0">
                <a:solidFill>
                  <a:srgbClr val="FFFFFF"/>
                </a:solidFill>
                <a:latin typeface="Avenir"/>
                <a:ea typeface="Avenir"/>
                <a:cs typeface="Avenir"/>
                <a:sym typeface="Avenir"/>
              </a:rPr>
              <a:t> and </a:t>
            </a:r>
            <a:r>
              <a:rPr sz="1419" b="0" i="0">
                <a:solidFill>
                  <a:srgbClr val="FFFFFF"/>
                </a:solidFill>
                <a:latin typeface="Courier New"/>
                <a:ea typeface="Courier New"/>
                <a:cs typeface="Courier New"/>
                <a:sym typeface="Courier New"/>
              </a:rPr>
              <a:t>x1</a:t>
            </a:r>
            <a:r>
              <a:rPr sz="1650" b="0" i="0">
                <a:solidFill>
                  <a:srgbClr val="FFFFFF"/>
                </a:solidFill>
                <a:latin typeface="Avenir"/>
                <a:ea typeface="Avenir"/>
                <a:cs typeface="Avenir"/>
                <a:sym typeface="Avenir"/>
              </a:rPr>
              <a:t> from </a:t>
            </a:r>
            <a:r>
              <a:rPr sz="1419" b="0" i="0">
                <a:solidFill>
                  <a:srgbClr val="FFFFFF"/>
                </a:solidFill>
                <a:latin typeface="Courier New"/>
                <a:ea typeface="Courier New"/>
                <a:cs typeface="Courier New"/>
                <a:sym typeface="Courier New"/>
              </a:rPr>
              <a:t>col</a:t>
            </a:r>
            <a:r>
              <a:rPr sz="1650" b="0" i="0">
                <a:solidFill>
                  <a:srgbClr val="FFFFFF"/>
                </a:solidFill>
                <a:latin typeface="Avenir"/>
                <a:ea typeface="Avenir"/>
                <a:cs typeface="Avenir"/>
                <a:sym typeface="Avenir"/>
              </a:rPr>
              <a:t>.</a:t>
            </a:r>
          </a:p>
        </p:txBody>
      </p:sp>
      <p:sp>
        <p:nvSpPr>
          <p:cNvPr id="13" name="blk0275"/>
          <p:cNvSpPr txBox="1"/>
          <p:nvPr/>
        </p:nvSpPr>
        <p:spPr>
          <a:xfrm>
            <a:off x="687600" y="662399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Any one of those failing would produce a board that reads wrong in a way that looks like a colour problem. Four independent things had to be right, and all four were.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7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 3</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key that did nothing</a:t>
            </a:r>
          </a:p>
        </p:txBody>
      </p:sp>
      <p:sp>
        <p:nvSpPr>
          <p:cNvPr id="3" name="blk027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program announces its exit condition before it starts:</a:t>
            </a:r>
          </a:p>
        </p:txBody>
      </p:sp>
      <p:sp>
        <p:nvSpPr>
          <p:cNvPr id="4" name="blk0278"/>
          <p:cNvSpPr/>
          <p:nvPr/>
        </p:nvSpPr>
        <p:spPr>
          <a:xfrm>
            <a:off x="687600" y="2088000"/>
            <a:ext cx="8686800" cy="50599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78"/>
          <p:cNvSpPr txBox="1"/>
          <p:nvPr/>
        </p:nvSpPr>
        <p:spPr>
          <a:xfrm>
            <a:off x="910799" y="2250000"/>
            <a:ext cx="8240400" cy="181991"/>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print("Starting Tic-Tac-Toe Vision Scanner. Press 'q' to quit.")</a:t>
            </a:r>
          </a:p>
        </p:txBody>
      </p:sp>
      <p:sp>
        <p:nvSpPr>
          <p:cNvPr id="6" name="blk0279"/>
          <p:cNvSpPr txBox="1"/>
          <p:nvPr/>
        </p:nvSpPr>
        <p:spPr>
          <a:xfrm>
            <a:off x="687600" y="2736000"/>
            <a:ext cx="7542000" cy="48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Press q during a run and the scanner keeps going. Press it twenty times. Nothing happens — no error, no message, no crash. The window has to be closed with the mouse or the program killed from another terminal.</a:t>
            </a:r>
          </a:p>
        </p:txBody>
      </p:sp>
      <p:sp>
        <p:nvSpPr>
          <p:cNvPr id="7" name="blk0280"/>
          <p:cNvSpPr txBox="1"/>
          <p:nvPr/>
        </p:nvSpPr>
        <p:spPr>
          <a:xfrm>
            <a:off x="687600" y="4079659"/>
            <a:ext cx="7542000" cy="366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version from before this project was corrected:</a:t>
            </a:r>
          </a:p>
        </p:txBody>
      </p:sp>
      <p:sp>
        <p:nvSpPr>
          <p:cNvPr id="8" name="blk0281"/>
          <p:cNvSpPr/>
          <p:nvPr/>
        </p:nvSpPr>
        <p:spPr>
          <a:xfrm>
            <a:off x="687600" y="4536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81"/>
          <p:cNvSpPr txBox="1"/>
          <p:nvPr/>
        </p:nvSpPr>
        <p:spPr>
          <a:xfrm>
            <a:off x="910799" y="4698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if cv2.waitKey(1) &amp; 0xFF == ord('q'):</a:t>
            </a:r>
          </a:p>
          <a:p>
            <a:pPr algn="l">
              <a:lnSpc>
                <a:spcPct val="115000"/>
              </a:lnSpc>
            </a:pPr>
            <a:r>
              <a:rPr sz="1400" b="0" i="0">
                <a:solidFill>
                  <a:srgbClr val="FFFFFF"/>
                </a:solidFill>
                <a:latin typeface="Courier New"/>
                <a:ea typeface="Courier New"/>
                <a:cs typeface="Courier New"/>
                <a:sym typeface="Courier New"/>
              </a:rPr>
              <a:t>            break</a:t>
            </a:r>
          </a:p>
        </p:txBody>
      </p:sp>
      <p:sp>
        <p:nvSpPr>
          <p:cNvPr id="10" name="blk0282"/>
          <p:cNvSpPr txBox="1"/>
          <p:nvPr/>
        </p:nvSpPr>
        <p:spPr>
          <a:xfrm>
            <a:off x="687600" y="5431252"/>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corrected file you have now reads </a:t>
            </a:r>
            <a:r>
              <a:rPr sz="1419" b="0" i="0">
                <a:solidFill>
                  <a:srgbClr val="FFFFFF"/>
                </a:solidFill>
                <a:latin typeface="Courier New"/>
                <a:ea typeface="Courier New"/>
                <a:cs typeface="Courier New"/>
                <a:sym typeface="Courier New"/>
              </a:rPr>
              <a:t>if (cv2.waitKey(1) &amp; 0xFF) == ord('q'):</a:t>
            </a:r>
            <a:r>
              <a:rPr sz="1650" b="0" i="0">
                <a:solidFill>
                  <a:srgbClr val="FFFFFF"/>
                </a:solidFill>
                <a:latin typeface="Avenir"/>
                <a:ea typeface="Avenir"/>
                <a:cs typeface="Avenir"/>
                <a:sym typeface="Avenir"/>
              </a:rPr>
              <a:t> — identical apart from two brackets, which is exactly the point: the bug is the absence of something, and absence is easy to miss.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8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Why two brackets matter</a:t>
            </a:r>
          </a:p>
        </p:txBody>
      </p:sp>
      <p:sp>
        <p:nvSpPr>
          <p:cNvPr id="3" name="blk028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Python does not read that line the way it looks. Comparisons bind tighter than bitwise operators, so the line groups as:</a:t>
            </a:r>
          </a:p>
        </p:txBody>
      </p:sp>
      <p:sp>
        <p:nvSpPr>
          <p:cNvPr id="4" name="blk0285"/>
          <p:cNvSpPr/>
          <p:nvPr/>
        </p:nvSpPr>
        <p:spPr>
          <a:xfrm>
            <a:off x="687600" y="2664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85"/>
          <p:cNvSpPr txBox="1"/>
          <p:nvPr/>
        </p:nvSpPr>
        <p:spPr>
          <a:xfrm>
            <a:off x="910799" y="2826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cv2.waitKey(1)  &amp;  (0xFF == ord('q'))</a:t>
            </a:r>
          </a:p>
        </p:txBody>
      </p:sp>
      <p:sp>
        <p:nvSpPr>
          <p:cNvPr id="6" name="blk0286"/>
          <p:cNvSpPr txBox="1"/>
          <p:nvPr/>
        </p:nvSpPr>
        <p:spPr>
          <a:xfrm>
            <a:off x="687600" y="3528000"/>
            <a:ext cx="7542000" cy="410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mask and the comparison swap places. Which makes the second half a constant, evaluated once and never again:</a:t>
            </a:r>
          </a:p>
        </p:txBody>
      </p:sp>
      <p:sp>
        <p:nvSpPr>
          <p:cNvPr id="7" name="blk0287"/>
          <p:cNvSpPr/>
          <p:nvPr/>
        </p:nvSpPr>
        <p:spPr>
          <a:xfrm>
            <a:off x="687600" y="4562744"/>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87"/>
          <p:cNvSpPr txBox="1"/>
          <p:nvPr/>
        </p:nvSpPr>
        <p:spPr>
          <a:xfrm>
            <a:off x="910799" y="4724744"/>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0xFF == 113   -&gt;   False</a:t>
            </a:r>
          </a:p>
          <a:p>
            <a:pPr algn="l">
              <a:lnSpc>
                <a:spcPct val="115000"/>
              </a:lnSpc>
            </a:pPr>
            <a:r>
              <a:rPr sz="1400" b="0" i="0">
                <a:solidFill>
                  <a:srgbClr val="FFFFFF"/>
                </a:solidFill>
                <a:latin typeface="Courier New"/>
                <a:ea typeface="Courier New"/>
                <a:cs typeface="Courier New"/>
                <a:sym typeface="Courier New"/>
              </a:rPr>
              <a:t>waitKey(1) &amp; False   -&gt;   0</a:t>
            </a:r>
          </a:p>
        </p:txBody>
      </p:sp>
      <p:sp>
        <p:nvSpPr>
          <p:cNvPr id="9" name="blk0288"/>
          <p:cNvSpPr txBox="1"/>
          <p:nvPr/>
        </p:nvSpPr>
        <p:spPr>
          <a:xfrm>
            <a:off x="687600" y="5457996"/>
            <a:ext cx="7542000" cy="222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And </a:t>
            </a:r>
            <a:r>
              <a:rPr sz="1743" b="0" i="0">
                <a:solidFill>
                  <a:srgbClr val="FFFFFF"/>
                </a:solidFill>
                <a:latin typeface="Courier New"/>
                <a:ea typeface="Courier New"/>
                <a:cs typeface="Courier New"/>
                <a:sym typeface="Courier New"/>
              </a:rPr>
              <a:t>0</a:t>
            </a:r>
            <a:r>
              <a:rPr sz="2027" b="0" i="0">
                <a:solidFill>
                  <a:srgbClr val="FFFFFF"/>
                </a:solidFill>
                <a:latin typeface="Avenir"/>
                <a:ea typeface="Avenir"/>
                <a:cs typeface="Avenir"/>
                <a:sym typeface="Avenir"/>
              </a:rPr>
              <a:t> is false, so the condition is never true and the </a:t>
            </a:r>
            <a:r>
              <a:rPr sz="1743" b="0" i="0">
                <a:solidFill>
                  <a:srgbClr val="FFFFFF"/>
                </a:solidFill>
                <a:latin typeface="Courier New"/>
                <a:ea typeface="Courier New"/>
                <a:cs typeface="Courier New"/>
                <a:sym typeface="Courier New"/>
              </a:rPr>
              <a:t>break</a:t>
            </a:r>
            <a:r>
              <a:rPr sz="2027" b="0" i="0">
                <a:solidFill>
                  <a:srgbClr val="FFFFFF"/>
                </a:solidFill>
                <a:latin typeface="Avenir"/>
                <a:ea typeface="Avenir"/>
                <a:cs typeface="Avenir"/>
                <a:sym typeface="Avenir"/>
              </a:rPr>
              <a:t> is unreachable. Every key, every frame, forever.</a:t>
            </a:r>
          </a:p>
        </p:txBody>
      </p:sp>
      <p:sp>
        <p:nvSpPr>
          <p:cNvPr id="10" name="blk0289"/>
          <p:cNvSpPr/>
          <p:nvPr/>
        </p:nvSpPr>
        <p:spPr>
          <a:xfrm>
            <a:off x="687600" y="6480000"/>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89"/>
          <p:cNvSpPr/>
          <p:nvPr/>
        </p:nvSpPr>
        <p:spPr>
          <a:xfrm>
            <a:off x="885600" y="67939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89"/>
          <p:cNvSpPr txBox="1"/>
          <p:nvPr/>
        </p:nvSpPr>
        <p:spPr>
          <a:xfrm>
            <a:off x="1162800" y="6623999"/>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the most dangerous kind of bug: not a crash, not a wrong number, but a line that reads plausibly and evaluates to nothing at all.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9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that actually cost</a:t>
            </a:r>
          </a:p>
        </p:txBody>
      </p:sp>
      <p:sp>
        <p:nvSpPr>
          <p:cNvPr id="3" name="blk029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Worth being concrete about the price of two missing brackets, because "the quit key did not work" undersells it.</a:t>
            </a:r>
          </a:p>
        </p:txBody>
      </p:sp>
      <p:sp>
        <p:nvSpPr>
          <p:cNvPr id="4" name="blk0292"/>
          <p:cNvSpPr/>
          <p:nvPr/>
        </p:nvSpPr>
        <p:spPr>
          <a:xfrm>
            <a:off x="741600" y="269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92"/>
          <p:cNvSpPr txBox="1"/>
          <p:nvPr/>
        </p:nvSpPr>
        <p:spPr>
          <a:xfrm>
            <a:off x="1252800" y="2664000"/>
            <a:ext cx="8118000" cy="900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frame loop could not be left cleanly.</a:t>
            </a:r>
            <a:r>
              <a:rPr sz="1600" b="0" i="0">
                <a:solidFill>
                  <a:srgbClr val="FFFFFF"/>
                </a:solidFill>
                <a:latin typeface="Avenir"/>
                <a:ea typeface="Avenir"/>
                <a:cs typeface="Avenir"/>
                <a:sym typeface="Avenir"/>
              </a:rPr>
              <a:t>  The only exit was killing the process, so the </a:t>
            </a:r>
            <a:r>
              <a:rPr sz="1376" b="0" i="0">
                <a:solidFill>
                  <a:srgbClr val="FFFFFF"/>
                </a:solidFill>
                <a:latin typeface="Courier New"/>
                <a:ea typeface="Courier New"/>
                <a:cs typeface="Courier New"/>
                <a:sym typeface="Courier New"/>
              </a:rPr>
              <a:t>finally</a:t>
            </a:r>
            <a:r>
              <a:rPr sz="1600" b="0" i="0">
                <a:solidFill>
                  <a:srgbClr val="FFFFFF"/>
                </a:solidFill>
                <a:latin typeface="Avenir"/>
                <a:ea typeface="Avenir"/>
                <a:cs typeface="Avenir"/>
                <a:sym typeface="Avenir"/>
              </a:rPr>
              <a:t> block never ran and the camera was not released.</a:t>
            </a:r>
          </a:p>
        </p:txBody>
      </p:sp>
      <p:sp>
        <p:nvSpPr>
          <p:cNvPr id="6" name="blk0293"/>
          <p:cNvSpPr/>
          <p:nvPr/>
        </p:nvSpPr>
        <p:spPr>
          <a:xfrm>
            <a:off x="741600" y="373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93"/>
          <p:cNvSpPr txBox="1"/>
          <p:nvPr/>
        </p:nvSpPr>
        <p:spPr>
          <a:xfrm>
            <a:off x="1252800" y="3708000"/>
            <a:ext cx="8118000" cy="900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Ctrl+C raised KeyboardInterrupt</a:t>
            </a:r>
            <a:r>
              <a:rPr sz="1600" b="0" i="0">
                <a:solidFill>
                  <a:srgbClr val="FFFFFF"/>
                </a:solidFill>
                <a:latin typeface="Avenir"/>
                <a:ea typeface="Avenir"/>
                <a:cs typeface="Avenir"/>
                <a:sym typeface="Avenir"/>
              </a:rPr>
              <a:t> partway through, which means the loop died wherever it happened to be rather than at a known point.</a:t>
            </a:r>
          </a:p>
        </p:txBody>
      </p:sp>
      <p:sp>
        <p:nvSpPr>
          <p:cNvPr id="8" name="blk0294"/>
          <p:cNvSpPr/>
          <p:nvPr/>
        </p:nvSpPr>
        <p:spPr>
          <a:xfrm>
            <a:off x="741600" y="478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94"/>
          <p:cNvSpPr txBox="1"/>
          <p:nvPr/>
        </p:nvSpPr>
        <p:spPr>
          <a:xfrm>
            <a:off x="1252800" y="4752000"/>
            <a:ext cx="8118000" cy="900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camera stayed claimed by the process.</a:t>
            </a:r>
            <a:r>
              <a:rPr sz="1600" b="0" i="0">
                <a:solidFill>
                  <a:srgbClr val="FFFFFF"/>
                </a:solidFill>
                <a:latin typeface="Avenir"/>
                <a:ea typeface="Avenir"/>
                <a:cs typeface="Avenir"/>
                <a:sym typeface="Avenir"/>
              </a:rPr>
              <a:t> Running again quickly produced a camera that would not open — a second failure caused entirely by the first.</a:t>
            </a:r>
          </a:p>
        </p:txBody>
      </p:sp>
      <p:sp>
        <p:nvSpPr>
          <p:cNvPr id="10" name="blk0295"/>
          <p:cNvSpPr/>
          <p:nvPr/>
        </p:nvSpPr>
        <p:spPr>
          <a:xfrm>
            <a:off x="741600" y="582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95"/>
          <p:cNvSpPr txBox="1"/>
          <p:nvPr/>
        </p:nvSpPr>
        <p:spPr>
          <a:xfrm>
            <a:off x="1252800" y="5796000"/>
            <a:ext cx="8118000" cy="900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banner taught a lie.</a:t>
            </a:r>
            <a:r>
              <a:rPr sz="1600" b="0" i="0">
                <a:solidFill>
                  <a:srgbClr val="FFFFFF"/>
                </a:solidFill>
                <a:latin typeface="Avenir"/>
                <a:ea typeface="Avenir"/>
                <a:cs typeface="Avenir"/>
                <a:sym typeface="Avenir"/>
              </a:rPr>
              <a:t> Anyone reading the printed instructions was told q worked. It did not, and nothing on screen suggested otherwise.</a:t>
            </a:r>
          </a:p>
        </p:txBody>
      </p:sp>
      <p:sp>
        <p:nvSpPr>
          <p:cNvPr id="12" name="blk0296"/>
          <p:cNvSpPr txBox="1"/>
          <p:nvPr/>
        </p:nvSpPr>
        <p:spPr>
          <a:xfrm>
            <a:off x="687600" y="6489216"/>
            <a:ext cx="7542000" cy="648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None of that is visible in the line itself. It appears only when you trace what the expression evaluates to.</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9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habit</a:t>
            </a:r>
          </a:p>
        </p:txBody>
      </p:sp>
      <p:sp>
        <p:nvSpPr>
          <p:cNvPr id="3" name="blk029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bug, and it was found by the same method that found four in Project 6: write down what the program claims, then go and check.</a:t>
            </a:r>
          </a:p>
        </p:txBody>
      </p:sp>
      <p:sp>
        <p:nvSpPr>
          <p:cNvPr id="4" name="blk0299"/>
          <p:cNvSpPr/>
          <p:nvPr/>
        </p:nvSpPr>
        <p:spPr>
          <a:xfrm>
            <a:off x="741600" y="25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99"/>
          <p:cNvSpPr txBox="1"/>
          <p:nvPr/>
        </p:nvSpPr>
        <p:spPr>
          <a:xfrm>
            <a:off x="1252800" y="2520000"/>
            <a:ext cx="8118000" cy="864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Printed text is a promise.</a:t>
            </a:r>
            <a:r>
              <a:rPr sz="1600" b="0" i="0">
                <a:solidFill>
                  <a:srgbClr val="FFFFFF"/>
                </a:solidFill>
                <a:latin typeface="Avenir"/>
                <a:ea typeface="Avenir"/>
                <a:cs typeface="Avenir"/>
                <a:sym typeface="Avenir"/>
              </a:rPr>
              <a:t>  A banner telling you how to exit is testable in ten seconds, and nobody tests it.</a:t>
            </a:r>
          </a:p>
        </p:txBody>
      </p:sp>
      <p:sp>
        <p:nvSpPr>
          <p:cNvPr id="6" name="blk0300"/>
          <p:cNvSpPr/>
          <p:nvPr/>
        </p:nvSpPr>
        <p:spPr>
          <a:xfrm>
            <a:off x="741600" y="34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300"/>
          <p:cNvSpPr txBox="1"/>
          <p:nvPr/>
        </p:nvSpPr>
        <p:spPr>
          <a:xfrm>
            <a:off x="1252800" y="3420000"/>
            <a:ext cx="8118000" cy="864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Check the claims you expect to pass.</a:t>
            </a:r>
            <a:r>
              <a:rPr sz="1600" b="0" i="0">
                <a:solidFill>
                  <a:srgbClr val="FFFFFF"/>
                </a:solidFill>
                <a:latin typeface="Avenir"/>
                <a:ea typeface="Avenir"/>
                <a:cs typeface="Avenir"/>
                <a:sym typeface="Avenir"/>
              </a:rPr>
              <a:t>  Two of the three here were true, and confirming them is what made the third credible.</a:t>
            </a:r>
          </a:p>
        </p:txBody>
      </p:sp>
      <p:sp>
        <p:nvSpPr>
          <p:cNvPr id="8" name="blk0301"/>
          <p:cNvSpPr/>
          <p:nvPr/>
        </p:nvSpPr>
        <p:spPr>
          <a:xfrm>
            <a:off x="741600" y="43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301"/>
          <p:cNvSpPr txBox="1"/>
          <p:nvPr/>
        </p:nvSpPr>
        <p:spPr>
          <a:xfrm>
            <a:off x="1252800" y="4320000"/>
            <a:ext cx="8118000" cy="864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Brackets are not formatting.</a:t>
            </a:r>
            <a:r>
              <a:rPr sz="1600" b="0" i="0">
                <a:solidFill>
                  <a:srgbClr val="FFFFFF"/>
                </a:solidFill>
                <a:latin typeface="Avenir"/>
                <a:ea typeface="Avenir"/>
                <a:cs typeface="Avenir"/>
                <a:sym typeface="Avenir"/>
              </a:rPr>
              <a:t>  Grouping in an expression is part of the meaning, and it is invisible at a glance.</a:t>
            </a:r>
          </a:p>
        </p:txBody>
      </p:sp>
      <p:sp>
        <p:nvSpPr>
          <p:cNvPr id="10" name="blk0302"/>
          <p:cNvSpPr txBox="1"/>
          <p:nvPr/>
        </p:nvSpPr>
        <p:spPr>
          <a:xfrm>
            <a:off x="687600" y="5400000"/>
            <a:ext cx="7542000" cy="115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project was almost entirely correct. That is worth saying plainly, because the temptation after a quiet bug is to assume the file is full of them. It is not. One claim out of three was false, and it was the one nobody had any reason to doubt.</a:t>
            </a:r>
          </a:p>
        </p:txBody>
      </p:sp>
      <p:sp>
        <p:nvSpPr>
          <p:cNvPr id="11" name="blk0303"/>
          <p:cNvSpPr/>
          <p:nvPr/>
        </p:nvSpPr>
        <p:spPr>
          <a:xfrm>
            <a:off x="687600" y="6768000"/>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303"/>
          <p:cNvSpPr/>
          <p:nvPr/>
        </p:nvSpPr>
        <p:spPr>
          <a:xfrm>
            <a:off x="885600" y="70819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303"/>
          <p:cNvSpPr txBox="1"/>
          <p:nvPr/>
        </p:nvSpPr>
        <p:spPr>
          <a:xfrm>
            <a:off x="1162800" y="6912000"/>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program that mostly works is harder to check than one that crashes, because a crash tells you where to look.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30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Brief</a:t>
            </a:r>
          </a:p>
        </p:txBody>
      </p:sp>
      <p:sp>
        <p:nvSpPr>
          <p:cNvPr id="3" name="blk030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1" i="0">
                <a:solidFill>
                  <a:srgbClr val="FFCF08"/>
                </a:solidFill>
                <a:latin typeface="Avenir"/>
                <a:ea typeface="Avenir"/>
                <a:cs typeface="Avenir"/>
                <a:sym typeface="Avenir"/>
              </a:rPr>
              <a:t>Read the Board</a:t>
            </a:r>
            <a:r>
              <a:rPr sz="2027" b="0" i="0">
                <a:solidFill>
                  <a:srgbClr val="FFFFFF"/>
                </a:solidFill>
                <a:latin typeface="Avenir"/>
                <a:ea typeface="Avenir"/>
                <a:cs typeface="Avenir"/>
                <a:sym typeface="Avenir"/>
              </a:rPr>
              <a:t>
</a:t>
            </a:r>
          </a:p>
          <a:p>
            <a:pPr algn="l">
              <a:lnSpc>
                <a:spcPct val="100000"/>
              </a:lnSpc>
            </a:pPr>
            <a:r>
              <a:rPr sz="2027" b="0" i="0">
                <a:solidFill>
                  <a:srgbClr val="FFFFFF"/>
                </a:solidFill>
                <a:latin typeface="Avenir"/>
                <a:ea typeface="Avenir"/>
                <a:cs typeface="Avenir"/>
                <a:sym typeface="Avenir"/>
              </a:rPr>
              <a:t>Nine squares. Each one is cut out of a camera frame, converted to a colour space where hue is meaningful, reduced to two pixel counts, and turned into a single character.</a:t>
            </a:r>
          </a:p>
          <a:p>
            <a:pPr algn="l">
              <a:lnSpc>
                <a:spcPct val="100000"/>
              </a:lnSpc>
            </a:pPr>
            <a:r>
              <a:rPr sz="2027" b="0" i="0">
                <a:solidFill>
                  <a:srgbClr val="FFFFFF"/>
                </a:solidFill>
                <a:latin typeface="Avenir"/>
                <a:ea typeface="Avenir"/>
                <a:cs typeface="Avenir"/>
                <a:sym typeface="Avenir"/>
              </a:rPr>
              <a:t>Do that nine times and you have the state of a game — which is the only thing a tic-tac-toe program actually needs to know. Not the picture. The state.</a:t>
            </a:r>
          </a:p>
          <a:p>
            <a:pPr algn="l">
              <a:lnSpc>
                <a:spcPct val="100000"/>
              </a:lnSpc>
            </a:pPr>
            <a:r>
              <a:rPr sz="2027" b="0" i="0">
                <a:solidFill>
                  <a:srgbClr val="FFFFFF"/>
                </a:solidFill>
                <a:latin typeface="Avenir"/>
                <a:ea typeface="Avenir"/>
                <a:cs typeface="Avenir"/>
                <a:sym typeface="Avenir"/>
              </a:rPr>
              <a:t>Which means this project is mostly arithmetic, and the arithmetic is the part that has to be right.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30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Your Mission</a:t>
            </a:r>
          </a:p>
        </p:txBody>
      </p:sp>
      <p:sp>
        <p:nvSpPr>
          <p:cNvPr id="3" name="blk030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parts, in order.</a:t>
            </a:r>
          </a:p>
        </p:txBody>
      </p:sp>
      <p:sp>
        <p:nvSpPr>
          <p:cNvPr id="4" name="blk0308"/>
          <p:cNvSpPr txBox="1"/>
          <p:nvPr/>
        </p:nvSpPr>
        <p:spPr>
          <a:xfrm>
            <a:off x="687600" y="2448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1.</a:t>
            </a:r>
          </a:p>
        </p:txBody>
      </p:sp>
      <p:sp>
        <p:nvSpPr>
          <p:cNvPr id="5" name="blk0308"/>
          <p:cNvSpPr txBox="1"/>
          <p:nvPr/>
        </p:nvSpPr>
        <p:spPr>
          <a:xfrm>
            <a:off x="1252800" y="2448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Recalibrate.</a:t>
            </a:r>
            <a:r>
              <a:rPr sz="1650" b="0" i="0">
                <a:solidFill>
                  <a:srgbClr val="FFFFFF"/>
                </a:solidFill>
                <a:latin typeface="Avenir"/>
                <a:ea typeface="Avenir"/>
                <a:cs typeface="Avenir"/>
                <a:sym typeface="Avenir"/>
              </a:rPr>
              <a:t>  Change </a:t>
            </a:r>
            <a:r>
              <a:rPr sz="1419" b="0" i="0">
                <a:solidFill>
                  <a:srgbClr val="FFFFFF"/>
                </a:solidFill>
                <a:latin typeface="Courier New"/>
                <a:ea typeface="Courier New"/>
                <a:cs typeface="Courier New"/>
                <a:sym typeface="Courier New"/>
              </a:rPr>
              <a:t>GRID_SCALE</a:t>
            </a:r>
            <a:r>
              <a:rPr sz="1650" b="0" i="0">
                <a:solidFill>
                  <a:srgbClr val="FFFFFF"/>
                </a:solidFill>
                <a:latin typeface="Avenir"/>
                <a:ea typeface="Avenir"/>
                <a:cs typeface="Avenir"/>
                <a:sym typeface="Avenir"/>
              </a:rPr>
              <a:t> and the two offsets until the white grid lands on your drawn board. Record the three values you ended up with.</a:t>
            </a:r>
          </a:p>
        </p:txBody>
      </p:sp>
      <p:sp>
        <p:nvSpPr>
          <p:cNvPr id="6" name="blk0309"/>
          <p:cNvSpPr txBox="1"/>
          <p:nvPr/>
        </p:nvSpPr>
        <p:spPr>
          <a:xfrm>
            <a:off x="687600" y="3456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2.</a:t>
            </a:r>
          </a:p>
        </p:txBody>
      </p:sp>
      <p:sp>
        <p:nvSpPr>
          <p:cNvPr id="7" name="blk0309"/>
          <p:cNvSpPr txBox="1"/>
          <p:nvPr/>
        </p:nvSpPr>
        <p:spPr>
          <a:xfrm>
            <a:off x="1252800" y="3456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Move the threshold.</a:t>
            </a:r>
            <a:r>
              <a:rPr sz="1650" b="0" i="0">
                <a:solidFill>
                  <a:srgbClr val="FFFFFF"/>
                </a:solidFill>
                <a:latin typeface="Avenir"/>
                <a:ea typeface="Avenir"/>
                <a:cs typeface="Avenir"/>
                <a:sym typeface="Avenir"/>
              </a:rPr>
              <a:t>  Set </a:t>
            </a:r>
            <a:r>
              <a:rPr sz="1419" b="0" i="0">
                <a:solidFill>
                  <a:srgbClr val="FFFFFF"/>
                </a:solidFill>
                <a:latin typeface="Courier New"/>
                <a:ea typeface="Courier New"/>
                <a:cs typeface="Courier New"/>
                <a:sym typeface="Courier New"/>
              </a:rPr>
              <a:t>MIN_PIXELS</a:t>
            </a:r>
            <a:r>
              <a:rPr sz="1650" b="0" i="0">
                <a:solidFill>
                  <a:srgbClr val="FFFFFF"/>
                </a:solidFill>
                <a:latin typeface="Avenir"/>
                <a:ea typeface="Avenir"/>
                <a:cs typeface="Avenir"/>
                <a:sym typeface="Avenir"/>
              </a:rPr>
              <a:t> low enough to read a piece that is only a corner of its cell, then work backwards to the highest value that still works. Record the number.</a:t>
            </a:r>
          </a:p>
        </p:txBody>
      </p:sp>
      <p:sp>
        <p:nvSpPr>
          <p:cNvPr id="8" name="blk0310"/>
          <p:cNvSpPr txBox="1"/>
          <p:nvPr/>
        </p:nvSpPr>
        <p:spPr>
          <a:xfrm>
            <a:off x="687600" y="4469256"/>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3.</a:t>
            </a:r>
          </a:p>
        </p:txBody>
      </p:sp>
      <p:sp>
        <p:nvSpPr>
          <p:cNvPr id="9" name="blk0310"/>
          <p:cNvSpPr txBox="1"/>
          <p:nvPr/>
        </p:nvSpPr>
        <p:spPr>
          <a:xfrm>
            <a:off x="1252800" y="4469256"/>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Break a claim on purpose.</a:t>
            </a:r>
            <a:r>
              <a:rPr sz="1650" b="0" i="0">
                <a:solidFill>
                  <a:srgbClr val="FFFFFF"/>
                </a:solidFill>
                <a:latin typeface="Avenir"/>
                <a:ea typeface="Avenir"/>
                <a:cs typeface="Avenir"/>
                <a:sym typeface="Avenir"/>
              </a:rPr>
              <a:t>  Put both tokens in the same cell and record which one wins and why. Then take a piece away and record which count decides it.</a:t>
            </a:r>
          </a:p>
        </p:txBody>
      </p:sp>
      <p:sp>
        <p:nvSpPr>
          <p:cNvPr id="10" name="blk0311"/>
          <p:cNvSpPr txBox="1"/>
          <p:nvPr/>
        </p:nvSpPr>
        <p:spPr>
          <a:xfrm>
            <a:off x="687600" y="5544000"/>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All three are about the relationship between a number and what it means in the physical world — which is the actual subject of this project, and the reason it is not just an OpenCV exercise.</a:t>
            </a:r>
          </a:p>
        </p:txBody>
      </p:sp>
      <p:sp>
        <p:nvSpPr>
          <p:cNvPr id="11" name="blk0312"/>
          <p:cNvSpPr/>
          <p:nvPr/>
        </p:nvSpPr>
        <p:spPr>
          <a:xfrm>
            <a:off x="687600" y="6623999"/>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312"/>
          <p:cNvSpPr/>
          <p:nvPr/>
        </p:nvSpPr>
        <p:spPr>
          <a:xfrm>
            <a:off x="885600" y="693791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312"/>
          <p:cNvSpPr txBox="1"/>
          <p:nvPr/>
        </p:nvSpPr>
        <p:spPr>
          <a:xfrm>
            <a:off x="1162800" y="6767999"/>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Somewhere in part 3 you will find yourself wanting to press q to get out. It works. That was not always true.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31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Your Data Log</a:t>
            </a:r>
          </a:p>
        </p:txBody>
      </p:sp>
      <p:graphicFrame>
        <p:nvGraphicFramePr>
          <p:cNvPr id="3" name="blk0314"/>
          <p:cNvGraphicFramePr>
            <a:graphicFrameLocks noGrp="1"/>
          </p:cNvGraphicFramePr>
          <p:nvPr/>
        </p:nvGraphicFramePr>
        <p:xfrm>
          <a:off x="687600" y="2376000"/>
          <a:ext cx="5939999" cy="3600000"/>
        </p:xfrm>
        <a:graphic>
          <a:graphicData uri="http://schemas.openxmlformats.org/drawingml/2006/table">
            <a:tbl>
              <a:tblPr firstRow="0" bandRow="0"/>
              <a:tblGrid>
                <a:gridCol w="2015999"/>
                <a:gridCol w="1584000"/>
                <a:gridCol w="2340000"/>
              </a:tblGrid>
              <a:tr h="450000">
                <a:tc>
                  <a:txBody>
                    <a:bodyPr wrap="square"/>
                    <a:lstStyle/>
                    <a:p>
                      <a:pPr algn="l">
                        <a:lnSpc>
                          <a:spcPct val="100000"/>
                        </a:lnSpc>
                      </a:pPr>
                      <a:r>
                        <a:rPr sz="1350" b="1" i="0">
                          <a:solidFill>
                            <a:srgbClr val="FFCF08"/>
                          </a:solidFill>
                          <a:latin typeface="Avenir"/>
                          <a:ea typeface="Avenir"/>
                          <a:cs typeface="Avenir"/>
                          <a:sym typeface="Avenir"/>
                        </a:rPr>
                        <a:t>Measurement</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Your value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What you changed</a:t>
                      </a:r>
                    </a:p>
                  </a:txBody>
                  <a:tcPr marL="72000" marR="72000" marT="36000" marB="36000" anchor="ctr">
                    <a:solidFill>
                      <a:srgbClr val="3B41A0"/>
                    </a:solidFill>
                  </a:tcPr>
                </a:tc>
              </a:tr>
              <a:tr h="630000">
                <a:tc>
                  <a:txBody>
                    <a:bodyPr wrap="square"/>
                    <a:lstStyle/>
                    <a:p>
                      <a:pPr algn="l">
                        <a:lnSpc>
                          <a:spcPct val="100000"/>
                        </a:lnSpc>
                      </a:pPr>
                      <a:r>
                        <a:rPr sz="1350" b="0" i="0">
                          <a:solidFill>
                            <a:srgbClr val="FFFFFF"/>
                          </a:solidFill>
                          <a:latin typeface="Avenir"/>
                          <a:ea typeface="Avenir"/>
                          <a:cs typeface="Avenir"/>
                          <a:sym typeface="Avenir"/>
                        </a:rPr>
                        <a:t>GRID_SCALE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630000">
                <a:tc>
                  <a:txBody>
                    <a:bodyPr wrap="square"/>
                    <a:lstStyle/>
                    <a:p>
                      <a:pPr algn="l">
                        <a:lnSpc>
                          <a:spcPct val="100000"/>
                        </a:lnSpc>
                      </a:pPr>
                      <a:r>
                        <a:rPr sz="1350" b="0" i="0">
                          <a:solidFill>
                            <a:srgbClr val="FFFFFF"/>
                          </a:solidFill>
                          <a:latin typeface="Avenir"/>
                          <a:ea typeface="Avenir"/>
                          <a:cs typeface="Avenir"/>
                          <a:sym typeface="Avenir"/>
                        </a:rPr>
                        <a:t>GRID_OFFSET_X</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630000">
                <a:tc>
                  <a:txBody>
                    <a:bodyPr wrap="square"/>
                    <a:lstStyle/>
                    <a:p>
                      <a:pPr algn="l">
                        <a:lnSpc>
                          <a:spcPct val="100000"/>
                        </a:lnSpc>
                      </a:pPr>
                      <a:r>
                        <a:rPr sz="1350" b="0" i="0">
                          <a:solidFill>
                            <a:srgbClr val="FFFFFF"/>
                          </a:solidFill>
                          <a:latin typeface="Avenir"/>
                          <a:ea typeface="Avenir"/>
                          <a:cs typeface="Avenir"/>
                          <a:sym typeface="Avenir"/>
                        </a:rPr>
                        <a:t>GRID_OFFSET_Y</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630000">
                <a:tc>
                  <a:txBody>
                    <a:bodyPr wrap="square"/>
                    <a:lstStyle/>
                    <a:p>
                      <a:pPr algn="l">
                        <a:lnSpc>
                          <a:spcPct val="100000"/>
                        </a:lnSpc>
                      </a:pPr>
                      <a:r>
                        <a:rPr sz="1350" b="0" i="0">
                          <a:solidFill>
                            <a:srgbClr val="FFFFFF"/>
                          </a:solidFill>
                          <a:latin typeface="Avenir"/>
                          <a:ea typeface="Avenir"/>
                          <a:cs typeface="Avenir"/>
                          <a:sym typeface="Avenir"/>
                        </a:rPr>
                        <a:t>MIN_PIXELS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630000">
                <a:tc>
                  <a:txBody>
                    <a:bodyPr wrap="square"/>
                    <a:lstStyle/>
                    <a:p>
                      <a:pPr algn="l">
                        <a:lnSpc>
                          <a:spcPct val="100000"/>
                        </a:lnSpc>
                      </a:pPr>
                      <a:r>
                        <a:rPr sz="1350" b="0" i="0">
                          <a:solidFill>
                            <a:srgbClr val="FFFFFF"/>
                          </a:solidFill>
                          <a:latin typeface="Avenir"/>
                          <a:ea typeface="Avenir"/>
                          <a:cs typeface="Avenir"/>
                          <a:sym typeface="Avenir"/>
                        </a:rPr>
                        <a:t>Cell size (W x H)</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bl>
          </a:graphicData>
        </a:graphic>
      </p:graphicFrame>
      <p:sp>
        <p:nvSpPr>
          <p:cNvPr id="4" name="blk0315"/>
          <p:cNvSpPr txBox="1"/>
          <p:nvPr/>
        </p:nvSpPr>
        <p:spPr>
          <a:xfrm>
            <a:off x="687600" y="6192000"/>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Write MIN_PIXELS as a percentage of the cell, not as a bare number. The whole point of Step 11 was that 800 is really 14% — a percentage survives a change of resolution and a bare integer does not.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31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Definition of Done</a:t>
            </a:r>
          </a:p>
        </p:txBody>
      </p:sp>
      <p:sp>
        <p:nvSpPr>
          <p:cNvPr id="3" name="blk0317"/>
          <p:cNvSpPr/>
          <p:nvPr/>
        </p:nvSpPr>
        <p:spPr>
          <a:xfrm>
            <a:off x="705600" y="2448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317"/>
          <p:cNvSpPr txBox="1"/>
          <p:nvPr/>
        </p:nvSpPr>
        <p:spPr>
          <a:xfrm>
            <a:off x="1252800" y="2426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All twenty-one TODOs filled in and the file runs on the Pi.</a:t>
            </a:r>
          </a:p>
        </p:txBody>
      </p:sp>
      <p:sp>
        <p:nvSpPr>
          <p:cNvPr id="5" name="blk0318"/>
          <p:cNvSpPr/>
          <p:nvPr/>
        </p:nvSpPr>
        <p:spPr>
          <a:xfrm>
            <a:off x="705600" y="309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318"/>
          <p:cNvSpPr txBox="1"/>
          <p:nvPr/>
        </p:nvSpPr>
        <p:spPr>
          <a:xfrm>
            <a:off x="1252800" y="3074399"/>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No </a:t>
            </a:r>
            <a:r>
              <a:rPr sz="1376" b="0" i="0">
                <a:solidFill>
                  <a:srgbClr val="FFFFFF"/>
                </a:solidFill>
                <a:latin typeface="Courier New"/>
                <a:ea typeface="Courier New"/>
                <a:cs typeface="Courier New"/>
                <a:sym typeface="Courier New"/>
              </a:rPr>
              <a:t>TODO</a:t>
            </a:r>
            <a:r>
              <a:rPr sz="1600" b="0" i="0">
                <a:solidFill>
                  <a:srgbClr val="FFFFFF"/>
                </a:solidFill>
                <a:latin typeface="Avenir"/>
                <a:ea typeface="Avenir"/>
                <a:cs typeface="Avenir"/>
                <a:sym typeface="Avenir"/>
              </a:rPr>
              <a:t> markers left anywhere in the file.</a:t>
            </a:r>
          </a:p>
        </p:txBody>
      </p:sp>
      <p:sp>
        <p:nvSpPr>
          <p:cNvPr id="7" name="blk0319"/>
          <p:cNvSpPr/>
          <p:nvPr/>
        </p:nvSpPr>
        <p:spPr>
          <a:xfrm>
            <a:off x="705600" y="374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319"/>
          <p:cNvSpPr txBox="1"/>
          <p:nvPr/>
        </p:nvSpPr>
        <p:spPr>
          <a:xfrm>
            <a:off x="1252800" y="3722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white grid sits on your drawn board, in every cell.</a:t>
            </a:r>
          </a:p>
        </p:txBody>
      </p:sp>
      <p:sp>
        <p:nvSpPr>
          <p:cNvPr id="9" name="blk0320"/>
          <p:cNvSpPr/>
          <p:nvPr/>
        </p:nvSpPr>
        <p:spPr>
          <a:xfrm>
            <a:off x="705600" y="4392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320"/>
          <p:cNvSpPr txBox="1"/>
          <p:nvPr/>
        </p:nvSpPr>
        <p:spPr>
          <a:xfrm>
            <a:off x="1252800" y="4370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 red piece reads as X and a blue piece as O, from any position in the frame.</a:t>
            </a:r>
          </a:p>
        </p:txBody>
      </p:sp>
      <p:sp>
        <p:nvSpPr>
          <p:cNvPr id="11" name="blk0321"/>
          <p:cNvSpPr/>
          <p:nvPr/>
        </p:nvSpPr>
        <p:spPr>
          <a:xfrm>
            <a:off x="705600" y="504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321"/>
          <p:cNvSpPr txBox="1"/>
          <p:nvPr/>
        </p:nvSpPr>
        <p:spPr>
          <a:xfrm>
            <a:off x="1252800" y="5018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An empty cell stays empty even under a shadow.</a:t>
            </a:r>
          </a:p>
        </p:txBody>
      </p:sp>
      <p:sp>
        <p:nvSpPr>
          <p:cNvPr id="13" name="blk0322"/>
          <p:cNvSpPr/>
          <p:nvPr/>
        </p:nvSpPr>
        <p:spPr>
          <a:xfrm>
            <a:off x="705600" y="5688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lk0322"/>
          <p:cNvSpPr txBox="1"/>
          <p:nvPr/>
        </p:nvSpPr>
        <p:spPr>
          <a:xfrm>
            <a:off x="1252800" y="5666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q quits the program and the camera is released cleanly.</a:t>
            </a:r>
          </a:p>
        </p:txBody>
      </p:sp>
      <p:sp>
        <p:nvSpPr>
          <p:cNvPr id="15" name="blk0323"/>
          <p:cNvSpPr/>
          <p:nvPr/>
        </p:nvSpPr>
        <p:spPr>
          <a:xfrm>
            <a:off x="687600" y="6408000"/>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lk0323"/>
          <p:cNvSpPr/>
          <p:nvPr/>
        </p:nvSpPr>
        <p:spPr>
          <a:xfrm>
            <a:off x="885600" y="67219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323"/>
          <p:cNvSpPr txBox="1"/>
          <p:nvPr/>
        </p:nvSpPr>
        <p:spPr>
          <a:xfrm>
            <a:off x="1162800" y="6552000"/>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That last one is the difference between this file and the version it was corrected from. Both of them draw the board correctly.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32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Go Further</a:t>
            </a:r>
          </a:p>
        </p:txBody>
      </p:sp>
      <p:sp>
        <p:nvSpPr>
          <p:cNvPr id="3" name="blk0325"/>
          <p:cNvSpPr/>
          <p:nvPr/>
        </p:nvSpPr>
        <p:spPr>
          <a:xfrm>
            <a:off x="741600" y="247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325"/>
          <p:cNvSpPr txBox="1"/>
          <p:nvPr/>
        </p:nvSpPr>
        <p:spPr>
          <a:xfrm>
            <a:off x="1252800" y="2448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Break the calibration.</a:t>
            </a:r>
            <a:r>
              <a:rPr sz="1600" b="0" i="0">
                <a:solidFill>
                  <a:srgbClr val="FFFFFF"/>
                </a:solidFill>
                <a:latin typeface="Avenir"/>
                <a:ea typeface="Avenir"/>
                <a:cs typeface="Avenir"/>
                <a:sym typeface="Avenir"/>
              </a:rPr>
              <a:t>  Set </a:t>
            </a:r>
            <a:r>
              <a:rPr sz="1376" b="0" i="0">
                <a:solidFill>
                  <a:srgbClr val="FFFFFF"/>
                </a:solidFill>
                <a:latin typeface="Courier New"/>
                <a:ea typeface="Courier New"/>
                <a:cs typeface="Courier New"/>
                <a:sym typeface="Courier New"/>
              </a:rPr>
              <a:t>GRID_OFFSET_Y</a:t>
            </a:r>
            <a:r>
              <a:rPr sz="1600" b="0" i="0">
                <a:solidFill>
                  <a:srgbClr val="FFFFFF"/>
                </a:solidFill>
                <a:latin typeface="Avenir"/>
                <a:ea typeface="Avenir"/>
                <a:cs typeface="Avenir"/>
                <a:sym typeface="Avenir"/>
              </a:rPr>
              <a:t> far enough off that cells fall outside the frame, and find out what a mis-sized ROI does to </a:t>
            </a:r>
            <a:r>
              <a:rPr sz="1376" b="0" i="0">
                <a:solidFill>
                  <a:srgbClr val="FFFFFF"/>
                </a:solidFill>
                <a:latin typeface="Courier New"/>
                <a:ea typeface="Courier New"/>
                <a:cs typeface="Courier New"/>
                <a:sym typeface="Courier New"/>
              </a:rPr>
              <a:t>cvtColor</a:t>
            </a:r>
            <a:r>
              <a:rPr sz="1600" b="0" i="0">
                <a:solidFill>
                  <a:srgbClr val="FFFFFF"/>
                </a:solidFill>
                <a:latin typeface="Avenir"/>
                <a:ea typeface="Avenir"/>
                <a:cs typeface="Avenir"/>
                <a:sym typeface="Avenir"/>
              </a:rPr>
              <a:t>.</a:t>
            </a:r>
          </a:p>
        </p:txBody>
      </p:sp>
      <p:sp>
        <p:nvSpPr>
          <p:cNvPr id="5" name="blk0326"/>
          <p:cNvSpPr/>
          <p:nvPr/>
        </p:nvSpPr>
        <p:spPr>
          <a:xfrm>
            <a:off x="741600" y="330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326"/>
          <p:cNvSpPr txBox="1"/>
          <p:nvPr/>
        </p:nvSpPr>
        <p:spPr>
          <a:xfrm>
            <a:off x="1252800" y="3276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Report the counts.</a:t>
            </a:r>
            <a:r>
              <a:rPr sz="1600" b="0" i="0">
                <a:solidFill>
                  <a:srgbClr val="FFFFFF"/>
                </a:solidFill>
                <a:latin typeface="Avenir"/>
                <a:ea typeface="Avenir"/>
                <a:cs typeface="Avenir"/>
                <a:sym typeface="Avenir"/>
              </a:rPr>
              <a:t>  Print </a:t>
            </a:r>
            <a:r>
              <a:rPr sz="1376" b="0" i="0">
                <a:solidFill>
                  <a:srgbClr val="FFFFFF"/>
                </a:solidFill>
                <a:latin typeface="Courier New"/>
                <a:ea typeface="Courier New"/>
                <a:cs typeface="Courier New"/>
                <a:sym typeface="Courier New"/>
              </a:rPr>
              <a:t>red_pixels</a:t>
            </a:r>
            <a:r>
              <a:rPr sz="1600" b="0" i="0">
                <a:solidFill>
                  <a:srgbClr val="FFFFFF"/>
                </a:solidFill>
                <a:latin typeface="Avenir"/>
                <a:ea typeface="Avenir"/>
                <a:cs typeface="Avenir"/>
                <a:sym typeface="Avenir"/>
              </a:rPr>
              <a:t> and </a:t>
            </a:r>
            <a:r>
              <a:rPr sz="1376" b="0" i="0">
                <a:solidFill>
                  <a:srgbClr val="FFFFFF"/>
                </a:solidFill>
                <a:latin typeface="Courier New"/>
                <a:ea typeface="Courier New"/>
                <a:cs typeface="Courier New"/>
                <a:sym typeface="Courier New"/>
              </a:rPr>
              <a:t>blue_pixels</a:t>
            </a:r>
            <a:r>
              <a:rPr sz="1600" b="0" i="0">
                <a:solidFill>
                  <a:srgbClr val="FFFFFF"/>
                </a:solidFill>
                <a:latin typeface="Avenir"/>
                <a:ea typeface="Avenir"/>
                <a:cs typeface="Avenir"/>
                <a:sym typeface="Avenir"/>
              </a:rPr>
              <a:t> for the centre cell each frame, and watch them move as you slide a piece across it.</a:t>
            </a:r>
          </a:p>
        </p:txBody>
      </p:sp>
      <p:sp>
        <p:nvSpPr>
          <p:cNvPr id="7" name="blk0327"/>
          <p:cNvSpPr/>
          <p:nvPr/>
        </p:nvSpPr>
        <p:spPr>
          <a:xfrm>
            <a:off x="741600" y="413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327"/>
          <p:cNvSpPr txBox="1"/>
          <p:nvPr/>
        </p:nvSpPr>
        <p:spPr>
          <a:xfrm>
            <a:off x="1252800" y="4104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Notice the dead branch.</a:t>
            </a:r>
            <a:r>
              <a:rPr sz="1600" b="0" i="0">
                <a:solidFill>
                  <a:srgbClr val="FFFFFF"/>
                </a:solidFill>
                <a:latin typeface="Avenir"/>
                <a:ea typeface="Avenir"/>
                <a:cs typeface="Avenir"/>
                <a:sym typeface="Avenir"/>
              </a:rPr>
              <a:t>  The </a:t>
            </a:r>
            <a:r>
              <a:rPr sz="1376" b="0" i="0">
                <a:solidFill>
                  <a:srgbClr val="FFFFFF"/>
                </a:solidFill>
                <a:latin typeface="Courier New"/>
                <a:ea typeface="Courier New"/>
                <a:cs typeface="Courier New"/>
                <a:sym typeface="Courier New"/>
              </a:rPr>
              <a:t>color</a:t>
            </a:r>
            <a:r>
              <a:rPr sz="1600" b="0" i="0">
                <a:solidFill>
                  <a:srgbClr val="FFFFFF"/>
                </a:solidFill>
                <a:latin typeface="Avenir"/>
                <a:ea typeface="Avenir"/>
                <a:cs typeface="Avenir"/>
                <a:sym typeface="Avenir"/>
              </a:rPr>
              <a:t> value for an empty cell is computed on every iteration and then never used. Find every one of those in your own code.</a:t>
            </a:r>
          </a:p>
        </p:txBody>
      </p:sp>
      <p:sp>
        <p:nvSpPr>
          <p:cNvPr id="9" name="blk0328"/>
          <p:cNvSpPr/>
          <p:nvPr/>
        </p:nvSpPr>
        <p:spPr>
          <a:xfrm>
            <a:off x="741600" y="496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328"/>
          <p:cNvSpPr txBox="1"/>
          <p:nvPr/>
        </p:nvSpPr>
        <p:spPr>
          <a:xfrm>
            <a:off x="1252800" y="4932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Compare consecutive frames.</a:t>
            </a:r>
            <a:r>
              <a:rPr sz="1600" b="0" i="0">
                <a:solidFill>
                  <a:srgbClr val="FFFFFF"/>
                </a:solidFill>
                <a:latin typeface="Avenir"/>
                <a:ea typeface="Avenir"/>
                <a:cs typeface="Avenir"/>
                <a:sym typeface="Avenir"/>
              </a:rPr>
              <a:t>  Keep the last board and report only when it changes. That is the first step towards not re-reading a board that has not moved.</a:t>
            </a:r>
          </a:p>
        </p:txBody>
      </p:sp>
      <p:sp>
        <p:nvSpPr>
          <p:cNvPr id="11" name="blk0329"/>
          <p:cNvSpPr txBox="1"/>
          <p:nvPr/>
        </p:nvSpPr>
        <p:spPr>
          <a:xfrm>
            <a:off x="687600" y="5917824"/>
            <a:ext cx="7542000" cy="36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Pick one. Not all four.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330"/>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Debrief</a:t>
            </a:r>
          </a:p>
        </p:txBody>
      </p:sp>
      <p:sp>
        <p:nvSpPr>
          <p:cNvPr id="3" name="blk0331"/>
          <p:cNvSpPr txBox="1"/>
          <p:nvPr/>
        </p:nvSpPr>
        <p:spPr>
          <a:xfrm>
            <a:off x="687600" y="13356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was the shortest project so far, and almost all of it was arithmetic.</a:t>
            </a:r>
          </a:p>
          <a:p>
            <a:pPr algn="l">
              <a:lnSpc>
                <a:spcPct val="100000"/>
              </a:lnSpc>
            </a:pPr>
            <a:r>
              <a:rPr sz="2027" b="0" i="0">
                <a:solidFill>
                  <a:srgbClr val="FFFFFF"/>
                </a:solidFill>
                <a:latin typeface="Avenir"/>
                <a:ea typeface="Avenir"/>
                <a:cs typeface="Avenir"/>
                <a:sym typeface="Avenir"/>
              </a:rPr>
              <a:t>The vision was the part we already knew — hue, masks, a threshold — and almost all of the real work was deciding where the grid was and how big each cell was. Two claims out of three were true, and the one that was false came down to a pair of missing brackets in a line that read perfectly well.</a:t>
            </a:r>
          </a:p>
          <a:p>
            <a:pPr algn="l">
              <a:lnSpc>
                <a:spcPct val="100000"/>
              </a:lnSpc>
            </a:pPr>
            <a:r>
              <a:rPr sz="2027" b="0" i="0">
                <a:solidFill>
                  <a:srgbClr val="FFFFFF"/>
                </a:solidFill>
                <a:latin typeface="Avenir"/>
                <a:ea typeface="Avenir"/>
                <a:cs typeface="Avenir"/>
                <a:sym typeface="Avenir"/>
              </a:rPr>
              <a:t>Nothing crashed. Nothing printed an error. The program simply did not do the one thing it said it would let you do.</a:t>
            </a:r>
          </a:p>
          <a:p>
            <a:pPr algn="l">
              <a:lnSpc>
                <a:spcPct val="100000"/>
              </a:lnSpc>
            </a:pPr>
            <a:r>
              <a:rPr sz="2027" b="0" i="0">
                <a:solidFill>
                  <a:srgbClr val="FFFFFF"/>
                </a:solidFill>
                <a:latin typeface="Avenir"/>
                <a:ea typeface="Avenir"/>
                <a:cs typeface="Avenir"/>
                <a:sym typeface="Avenir"/>
              </a:rPr>
              <a:t>Write the claim down first. Run it second.</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