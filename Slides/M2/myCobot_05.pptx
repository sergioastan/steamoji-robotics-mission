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5</a:t>
            </a:r>
          </a:p>
          <a:p>
            <a:pPr algn="l">
              <a:lnSpc>
                <a:spcPct val="100000"/>
              </a:lnSpc>
            </a:pPr>
            <a:r>
              <a:rPr sz="4400" b="0" i="0">
                <a:solidFill>
                  <a:srgbClr val="FFFFFF"/>
                </a:solidFill>
                <a:latin typeface="Bungee"/>
                <a:ea typeface="Bungee"/>
                <a:cs typeface="Bungee"/>
                <a:sym typeface="Bungee"/>
              </a:rPr>
              <a:t>Sorting Good Parts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this project decides</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4 asked a question about your hand. This one asks a question about an object, and it has to answer it the same way every time.</a:t>
            </a:r>
          </a:p>
          <a:p>
            <a:pPr algn="l">
              <a:lnSpc>
                <a:spcPct val="100000"/>
              </a:lnSpc>
            </a:pPr>
            <a:r>
              <a:rPr sz="2027" b="0" i="0">
                <a:solidFill>
                  <a:srgbClr val="FFFFFF"/>
                </a:solidFill>
                <a:latin typeface="Avenir"/>
                <a:ea typeface="Avenir"/>
                <a:cs typeface="Avenir"/>
                <a:sym typeface="Avenir"/>
              </a:rPr>
              <a:t>Put a part in the inspection zone and the program returns one of two words, plus a reason you can read from across the room:</a:t>
            </a:r>
          </a:p>
        </p:txBody>
      </p:sp>
      <p:sp>
        <p:nvSpPr>
          <p:cNvPr id="4" name="blk0003"/>
          <p:cNvSpPr/>
          <p:nvPr/>
        </p:nvSpPr>
        <p:spPr>
          <a:xfrm>
            <a:off x="687600" y="3456000"/>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3"/>
          <p:cNvSpPr txBox="1"/>
          <p:nvPr/>
        </p:nvSpPr>
        <p:spPr>
          <a:xfrm>
            <a:off x="910799" y="3617999"/>
            <a:ext cx="8240400" cy="992683"/>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PASS   Good Part (2841px)</a:t>
            </a:r>
          </a:p>
          <a:p>
            <a:pPr algn="l">
              <a:lnSpc>
                <a:spcPct val="115000"/>
              </a:lnSpc>
            </a:pPr>
            <a:r>
              <a:rPr sz="1500" b="0" i="0">
                <a:solidFill>
                  <a:srgbClr val="FFFFFF"/>
                </a:solidFill>
                <a:latin typeface="Courier New"/>
                <a:ea typeface="Courier New"/>
                <a:cs typeface="Courier New"/>
                <a:sym typeface="Courier New"/>
              </a:rPr>
              <a:t>FAIL   Too Small (940px)</a:t>
            </a:r>
          </a:p>
          <a:p>
            <a:pPr algn="l">
              <a:lnSpc>
                <a:spcPct val="115000"/>
              </a:lnSpc>
            </a:pPr>
            <a:r>
              <a:rPr sz="1500" b="0" i="0">
                <a:solidFill>
                  <a:srgbClr val="FFFFFF"/>
                </a:solidFill>
                <a:latin typeface="Courier New"/>
                <a:ea typeface="Courier New"/>
                <a:cs typeface="Courier New"/>
                <a:sym typeface="Courier New"/>
              </a:rPr>
              <a:t>FAIL   Shape Defect (Ratio: 1.62)</a:t>
            </a:r>
          </a:p>
          <a:p>
            <a:pPr algn="l">
              <a:lnSpc>
                <a:spcPct val="115000"/>
              </a:lnSpc>
            </a:pPr>
            <a:r>
              <a:rPr sz="1500" b="0" i="0">
                <a:solidFill>
                  <a:srgbClr val="FFFFFF"/>
                </a:solidFill>
                <a:latin typeface="Courier New"/>
                <a:ea typeface="Courier New"/>
                <a:cs typeface="Courier New"/>
                <a:sym typeface="Courier New"/>
              </a:rPr>
              <a:t>FAIL   No Item / Wrong Color</a:t>
            </a:r>
          </a:p>
        </p:txBody>
      </p:sp>
      <p:sp>
        <p:nvSpPr>
          <p:cNvPr id="6" name="blk0004"/>
          <p:cNvSpPr/>
          <p:nvPr/>
        </p:nvSpPr>
        <p:spPr>
          <a:xfrm>
            <a:off x="687600" y="489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04"/>
          <p:cNvSpPr/>
          <p:nvPr/>
        </p:nvSpPr>
        <p:spPr>
          <a:xfrm>
            <a:off x="885600" y="534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04"/>
          <p:cNvSpPr txBox="1"/>
          <p:nvPr/>
        </p:nvSpPr>
        <p:spPr>
          <a:xfrm>
            <a:off x="1162800" y="504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The reason is the whole point. A quality control system that says only "no" is useless, because somebody still has to work out what to do about it. Every </a:t>
            </a:r>
            <a:r>
              <a:rPr sz="1290" b="0" i="1">
                <a:solidFill>
                  <a:srgbClr val="FFCF08"/>
                </a:solidFill>
                <a:latin typeface="Courier New"/>
                <a:ea typeface="Courier New"/>
                <a:cs typeface="Courier New"/>
                <a:sym typeface="Courier New"/>
              </a:rPr>
              <a:t>return</a:t>
            </a:r>
            <a:r>
              <a:rPr sz="1500" b="0" i="1">
                <a:solidFill>
                  <a:srgbClr val="FFCF08"/>
                </a:solidFill>
                <a:latin typeface="Avenir"/>
                <a:ea typeface="Avenir"/>
                <a:cs typeface="Avenir"/>
                <a:sym typeface="Avenir"/>
              </a:rPr>
              <a:t> in this program carries its own explanation.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robot is optional this time</a:t>
            </a:r>
          </a:p>
        </p:txBody>
      </p:sp>
      <p:sp>
        <p:nvSpPr>
          <p:cNvPr id="3" name="blk000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the robot setup in Project 4 again: the arm was created at the top level, outside any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so no arm meant no program. This project does the opposite.</a:t>
            </a:r>
          </a:p>
        </p:txBody>
      </p:sp>
      <p:sp>
        <p:nvSpPr>
          <p:cNvPr id="4" name="blk0007"/>
          <p:cNvSpPr/>
          <p:nvPr/>
        </p:nvSpPr>
        <p:spPr>
          <a:xfrm>
            <a:off x="687600" y="3024000"/>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7"/>
          <p:cNvSpPr txBox="1"/>
          <p:nvPr/>
        </p:nvSpPr>
        <p:spPr>
          <a:xfrm>
            <a:off x="910799" y="3186000"/>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except Exception as e:</a:t>
            </a:r>
          </a:p>
          <a:p>
            <a:pPr algn="l">
              <a:lnSpc>
                <a:spcPct val="115000"/>
              </a:lnSpc>
            </a:pPr>
            <a:r>
              <a:rPr sz="1300" b="0" i="0">
                <a:solidFill>
                  <a:srgbClr val="FFFFFF"/>
                </a:solidFill>
                <a:latin typeface="Courier New"/>
                <a:ea typeface="Courier New"/>
                <a:cs typeface="Courier New"/>
                <a:sym typeface="Courier New"/>
              </a:rPr>
              <a:t>    print(f"Robot hardware warning: {e}")</a:t>
            </a:r>
          </a:p>
          <a:p>
            <a:pPr algn="l">
              <a:lnSpc>
                <a:spcPct val="115000"/>
              </a:lnSpc>
            </a:pPr>
            <a:r>
              <a:rPr sz="1300" b="0" i="0">
                <a:solidFill>
                  <a:srgbClr val="FFFFFF"/>
                </a:solidFill>
                <a:latin typeface="Courier New"/>
                <a:ea typeface="Courier New"/>
                <a:cs typeface="Courier New"/>
                <a:sym typeface="Courier New"/>
              </a:rPr>
              <a:t>    print("Continuing with OpenCV camera pipeline only...\n")</a:t>
            </a:r>
          </a:p>
        </p:txBody>
      </p:sp>
      <p:sp>
        <p:nvSpPr>
          <p:cNvPr id="6" name="blk0008"/>
          <p:cNvSpPr txBox="1"/>
          <p:nvPr/>
        </p:nvSpPr>
        <p:spPr>
          <a:xfrm>
            <a:off x="687600" y="4320000"/>
            <a:ext cx="7542000" cy="330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If the arm is missing, unplugged, or sulking, this program says so and carries on with the camera. You can do this entire project on a laptop.</a:t>
            </a:r>
          </a:p>
        </p:txBody>
      </p:sp>
      <p:sp>
        <p:nvSpPr>
          <p:cNvPr id="7" name="blk0009"/>
          <p:cNvSpPr txBox="1"/>
          <p:nvPr/>
        </p:nvSpPr>
        <p:spPr>
          <a:xfrm>
            <a:off x="687600" y="5354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Now notice something stranger. Look at what the arm is actually used for in this file: it is switched on and folded into a home position, and then never mentioned again. The inspection runs entirely on the camera. That is worth knowing before you go looking for the part the arm is supposed to be doing.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questions, asked in order</a:t>
            </a:r>
          </a:p>
        </p:txBody>
      </p:sp>
      <p:sp>
        <p:nvSpPr>
          <p:cNvPr id="3" name="blk001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in </a:t>
            </a:r>
            <a:r>
              <a:rPr sz="1743" b="0" i="0">
                <a:solidFill>
                  <a:srgbClr val="FFFFFF"/>
                </a:solidFill>
                <a:latin typeface="Courier New"/>
                <a:ea typeface="Courier New"/>
                <a:cs typeface="Courier New"/>
                <a:sym typeface="Courier New"/>
              </a:rPr>
              <a:t>inspect_part</a:t>
            </a:r>
            <a:r>
              <a:rPr sz="2027" b="0" i="0">
                <a:solidFill>
                  <a:srgbClr val="FFFFFF"/>
                </a:solidFill>
                <a:latin typeface="Avenir"/>
                <a:ea typeface="Avenir"/>
                <a:cs typeface="Avenir"/>
                <a:sym typeface="Avenir"/>
              </a:rPr>
              <a:t> is an answer to one of two questions, asked in this order and never any other:</a:t>
            </a:r>
          </a:p>
        </p:txBody>
      </p:sp>
      <p:sp>
        <p:nvSpPr>
          <p:cNvPr id="4" name="blk0012"/>
          <p:cNvSpPr/>
          <p:nvPr/>
        </p:nvSpPr>
        <p:spPr>
          <a:xfrm>
            <a:off x="687600" y="3096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2"/>
          <p:cNvSpPr txBox="1"/>
          <p:nvPr/>
        </p:nvSpPr>
        <p:spPr>
          <a:xfrm>
            <a:off x="687600" y="3096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012"/>
          <p:cNvSpPr txBox="1"/>
          <p:nvPr/>
        </p:nvSpPr>
        <p:spPr>
          <a:xfrm>
            <a:off x="1252800" y="3074399"/>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Is anything there, and is it the right colour?</a:t>
            </a:r>
          </a:p>
        </p:txBody>
      </p:sp>
      <p:sp>
        <p:nvSpPr>
          <p:cNvPr id="7" name="blk0012"/>
          <p:cNvSpPr txBox="1"/>
          <p:nvPr/>
        </p:nvSpPr>
        <p:spPr>
          <a:xfrm>
            <a:off x="1252800" y="3394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Find the green pixels. If there are none, stop immediately.</a:t>
            </a:r>
          </a:p>
        </p:txBody>
      </p:sp>
      <p:sp>
        <p:nvSpPr>
          <p:cNvPr id="8" name="blk0013"/>
          <p:cNvSpPr/>
          <p:nvPr/>
        </p:nvSpPr>
        <p:spPr>
          <a:xfrm>
            <a:off x="687600" y="3798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3"/>
          <p:cNvSpPr txBox="1"/>
          <p:nvPr/>
        </p:nvSpPr>
        <p:spPr>
          <a:xfrm>
            <a:off x="687600" y="3798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013"/>
          <p:cNvSpPr txBox="1"/>
          <p:nvPr/>
        </p:nvSpPr>
        <p:spPr>
          <a:xfrm>
            <a:off x="1252800" y="3777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Is it the right size and the right shape?</a:t>
            </a:r>
          </a:p>
        </p:txBody>
      </p:sp>
      <p:sp>
        <p:nvSpPr>
          <p:cNvPr id="11" name="blk0013"/>
          <p:cNvSpPr txBox="1"/>
          <p:nvPr/>
        </p:nvSpPr>
        <p:spPr>
          <a:xfrm>
            <a:off x="1252800" y="4097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Measure the biggest green shape and compare it to the spec.</a:t>
            </a:r>
          </a:p>
        </p:txBody>
      </p:sp>
      <p:sp>
        <p:nvSpPr>
          <p:cNvPr id="12" name="blk0014"/>
          <p:cNvSpPr txBox="1"/>
          <p:nvPr/>
        </p:nvSpPr>
        <p:spPr>
          <a:xfrm>
            <a:off x="687600" y="4608000"/>
            <a:ext cx="7542000" cy="302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Colour first, then size and shape. The order is not arbitrary — without the first question there is nothing for the second one to measure.</a:t>
            </a:r>
          </a:p>
        </p:txBody>
      </p:sp>
      <p:sp>
        <p:nvSpPr>
          <p:cNvPr id="13" name="blk0015"/>
          <p:cNvSpPr/>
          <p:nvPr/>
        </p:nvSpPr>
        <p:spPr>
          <a:xfrm>
            <a:off x="687600" y="5642744"/>
            <a:ext cx="8686800" cy="76464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lk0015"/>
          <p:cNvSpPr/>
          <p:nvPr/>
        </p:nvSpPr>
        <p:spPr>
          <a:xfrm>
            <a:off x="885600" y="595666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015"/>
          <p:cNvSpPr txBox="1"/>
          <p:nvPr/>
        </p:nvSpPr>
        <p:spPr>
          <a:xfrm>
            <a:off x="1162800" y="5786744"/>
            <a:ext cx="7956000" cy="47664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shape of almost every inspection program you will ever write: cheap and decisive tests first, expensive and fiddly ones last.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Colour is three numbers, badly</a:t>
            </a:r>
          </a:p>
        </p:txBody>
      </p:sp>
      <p:sp>
        <p:nvSpPr>
          <p:cNvPr id="3" name="blk00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pixel in the pictures you have been using is three numbers: blue, green, red, each from 0 to 255. To ask "is this green?" in that system you have to accept a fuzzy three-dimensional region — high green, low red, low-ish blue — and describe it as a shape in a cube.</a:t>
            </a:r>
          </a:p>
          <a:p>
            <a:pPr algn="l">
              <a:lnSpc>
                <a:spcPct val="100000"/>
              </a:lnSpc>
            </a:pPr>
            <a:r>
              <a:rPr sz="2027" b="0" i="0">
                <a:solidFill>
                  <a:srgbClr val="FFFFFF"/>
                </a:solidFill>
                <a:latin typeface="Avenir"/>
                <a:ea typeface="Avenir"/>
                <a:cs typeface="Avenir"/>
                <a:sym typeface="Avenir"/>
              </a:rPr>
              <a:t>It works, and it is miserable to tune. Move the lamp and the region you need moves with it.</a:t>
            </a:r>
          </a:p>
        </p:txBody>
      </p:sp>
      <p:sp>
        <p:nvSpPr>
          <p:cNvPr id="4" name="blk0018"/>
          <p:cNvSpPr txBox="1"/>
          <p:nvPr/>
        </p:nvSpPr>
        <p:spPr>
          <a:xfrm>
            <a:off x="687600" y="4464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same problem Project 4 had with colour order, seen from the other side. There, the fix was a swap that made detection quietly better. Here the fix is a whole colour space, and it is the single most useful idea in this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HSV puts colour on one axis</a:t>
            </a:r>
          </a:p>
        </p:txBody>
      </p:sp>
      <p:sp>
        <p:nvSpPr>
          <p:cNvPr id="3" name="blk002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HSV is a different way of writing the same three numbers. Hue is the colour itself, as a single number around a wheel. Saturation is how strong the colour is. Value is how bright it is.</a:t>
            </a:r>
          </a:p>
          <a:p>
            <a:pPr algn="l">
              <a:lnSpc>
                <a:spcPct val="100000"/>
              </a:lnSpc>
            </a:pPr>
            <a:r>
              <a:rPr sz="2027" b="0" i="0">
                <a:solidFill>
                  <a:srgbClr val="FFFFFF"/>
                </a:solidFill>
                <a:latin typeface="Avenir"/>
                <a:ea typeface="Avenir"/>
                <a:cs typeface="Avenir"/>
                <a:sym typeface="Avenir"/>
              </a:rPr>
              <a:t>Because hue is one axis, "green" stops being a region and becomes an interval. Two numbers now describe it.</a:t>
            </a:r>
          </a:p>
        </p:txBody>
      </p:sp>
      <p:sp>
        <p:nvSpPr>
          <p:cNvPr id="4" name="blk0021"/>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Saturation and Value are what make it survive bad lighting. A dark green and a bright green have the same hue, so a range on hue alone still finds both — which is exactly what you want when the lighting in the lab is not what you planned for.</a:t>
            </a:r>
          </a:p>
        </p:txBody>
      </p:sp>
      <p:sp>
        <p:nvSpPr>
          <p:cNvPr id="5" name="blk0022"/>
          <p:cNvSpPr txBox="1"/>
          <p:nvPr/>
        </p:nvSpPr>
        <p:spPr>
          <a:xfrm>
            <a:off x="687600" y="575657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You still have to give inRange a value for S and V, and this project gives them the widest legal range: 70 up to 255. Only the hue is being restricted. That is deliberate, and it is worth saying out loud in the debrief: this scanner accepts any brightness and any richness of green, and only cares which colour it 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OpenCV stops at 179</a:t>
            </a:r>
          </a:p>
        </p:txBody>
      </p:sp>
      <p:sp>
        <p:nvSpPr>
          <p:cNvPr id="3" name="blk002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 mathematics, hue runs from 0 to 360. In OpenCV it runs from 0 to 179, because the value is squeezed into a single byte.</a:t>
            </a:r>
          </a:p>
          <a:p>
            <a:pPr algn="l">
              <a:lnSpc>
                <a:spcPct val="100000"/>
              </a:lnSpc>
            </a:pPr>
            <a:r>
              <a:rPr sz="2027" b="0" i="0">
                <a:solidFill>
                  <a:srgbClr val="FFFFFF"/>
                </a:solidFill>
                <a:latin typeface="Avenir"/>
                <a:ea typeface="Avenir"/>
                <a:cs typeface="Avenir"/>
                <a:sym typeface="Avenir"/>
              </a:rPr>
              <a:t>So green, which you might expect to sit at 120, is actually near 60. And the numbers in this file bracket it:</a:t>
            </a:r>
          </a:p>
        </p:txBody>
      </p:sp>
      <p:sp>
        <p:nvSpPr>
          <p:cNvPr id="4" name="blk0025"/>
          <p:cNvSpPr/>
          <p:nvPr/>
        </p:nvSpPr>
        <p:spPr>
          <a:xfrm>
            <a:off x="687600" y="4104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5"/>
          <p:cNvSpPr txBox="1"/>
          <p:nvPr/>
        </p:nvSpPr>
        <p:spPr>
          <a:xfrm>
            <a:off x="910799" y="4266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LOWER_GREEN = np.array([35, 70, 70])</a:t>
            </a:r>
          </a:p>
          <a:p>
            <a:pPr algn="l">
              <a:lnSpc>
                <a:spcPct val="115000"/>
              </a:lnSpc>
            </a:pPr>
            <a:r>
              <a:rPr sz="1500" b="0" i="0">
                <a:solidFill>
                  <a:srgbClr val="FFFFFF"/>
                </a:solidFill>
                <a:latin typeface="Courier New"/>
                <a:ea typeface="Courier New"/>
                <a:cs typeface="Courier New"/>
                <a:sym typeface="Courier New"/>
              </a:rPr>
              <a:t>UPPER_GREEN = np.array([85, 255, 255])</a:t>
            </a:r>
          </a:p>
        </p:txBody>
      </p:sp>
      <p:sp>
        <p:nvSpPr>
          <p:cNvPr id="6" name="blk0026"/>
          <p:cNvSpPr txBox="1"/>
          <p:nvPr/>
        </p:nvSpPr>
        <p:spPr>
          <a:xfrm>
            <a:off x="687600" y="5032341"/>
            <a:ext cx="7542000" cy="266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35 to 85 is a band around 60 — green, with room on both sides. Hue 0 is red, and because the wheel closes, red is also at the far end of the scale. That wrap-around is why a colour at one end cannot be described by a single range.</a:t>
            </a:r>
          </a:p>
        </p:txBody>
      </p:sp>
      <p:sp>
        <p:nvSpPr>
          <p:cNvPr id="7" name="blk0027"/>
          <p:cNvSpPr txBox="1"/>
          <p:nvPr/>
        </p:nvSpPr>
        <p:spPr>
          <a:xfrm>
            <a:off x="687600" y="6376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hue band this wide is a wide net. If the mask surprises you, print the hue of the pixels you did not want — read, then choose.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Why those brackets are arrays</a:t>
            </a:r>
          </a:p>
        </p:txBody>
      </p:sp>
      <p:sp>
        <p:nvSpPr>
          <p:cNvPr id="3" name="blk002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Python list would have been the obvious way to write those two lines. It is a NumPy array instead, because the next function is about to hand all three numbers to OpenCV at once and it wants something it can index numerically.</a:t>
            </a:r>
          </a:p>
          <a:p>
            <a:pPr algn="l">
              <a:lnSpc>
                <a:spcPct val="100000"/>
              </a:lnSpc>
            </a:pPr>
            <a:r>
              <a:rPr sz="2027" b="0" i="0">
                <a:solidFill>
                  <a:srgbClr val="FFFFFF"/>
                </a:solidFill>
                <a:latin typeface="Avenir"/>
                <a:ea typeface="Avenir"/>
                <a:cs typeface="Avenir"/>
                <a:sym typeface="Avenir"/>
              </a:rPr>
              <a:t>This is the first project where numpy earns its import. Project 4 imported it and never used it; here it appears twice — once for these bounds and once for the kernel in a few slides.</a:t>
            </a:r>
          </a:p>
        </p:txBody>
      </p:sp>
      <p:sp>
        <p:nvSpPr>
          <p:cNvPr id="4" name="blk0030"/>
          <p:cNvSpPr/>
          <p:nvPr/>
        </p:nvSpPr>
        <p:spPr>
          <a:xfrm>
            <a:off x="687600" y="453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0"/>
          <p:cNvSpPr/>
          <p:nvPr/>
        </p:nvSpPr>
        <p:spPr>
          <a:xfrm>
            <a:off x="885600" y="498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30"/>
          <p:cNvSpPr txBox="1"/>
          <p:nvPr/>
        </p:nvSpPr>
        <p:spPr>
          <a:xfrm>
            <a:off x="1162800" y="468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Every project in this module carries </a:t>
            </a:r>
            <a:r>
              <a:rPr sz="1290" b="0" i="1">
                <a:solidFill>
                  <a:srgbClr val="FFCF08"/>
                </a:solidFill>
                <a:latin typeface="Courier New"/>
                <a:ea typeface="Courier New"/>
                <a:cs typeface="Courier New"/>
                <a:sym typeface="Courier New"/>
              </a:rPr>
              <a:t>import numpy as np</a:t>
            </a:r>
            <a:r>
              <a:rPr sz="1500" b="0" i="1">
                <a:solidFill>
                  <a:srgbClr val="FFCF08"/>
                </a:solidFill>
                <a:latin typeface="Avenir"/>
                <a:ea typeface="Avenir"/>
                <a:cs typeface="Avenir"/>
                <a:sym typeface="Avenir"/>
              </a:rPr>
              <a:t> in the same place whether or not it needs it, so seeing it in the import block tells you nothing. What tells you something is where it gets used.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inRange: your first threshold</a:t>
            </a:r>
          </a:p>
        </p:txBody>
      </p:sp>
      <p:sp>
        <p:nvSpPr>
          <p:cNvPr id="3" name="blk003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and it is the moment this project turns into computer vision:</a:t>
            </a:r>
          </a:p>
        </p:txBody>
      </p:sp>
      <p:sp>
        <p:nvSpPr>
          <p:cNvPr id="4" name="blk0033"/>
          <p:cNvSpPr/>
          <p:nvPr/>
        </p:nvSpPr>
        <p:spPr>
          <a:xfrm>
            <a:off x="687600" y="2304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3"/>
          <p:cNvSpPr txBox="1"/>
          <p:nvPr/>
        </p:nvSpPr>
        <p:spPr>
          <a:xfrm>
            <a:off x="910799" y="2466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hsv = cv2.cvtColor(roi_frame, cv2.COLOR_BGR2HSV)</a:t>
            </a:r>
          </a:p>
          <a:p>
            <a:pPr algn="l">
              <a:lnSpc>
                <a:spcPct val="115000"/>
              </a:lnSpc>
            </a:pPr>
            <a:r>
              <a:rPr sz="1400" b="0" i="0">
                <a:solidFill>
                  <a:srgbClr val="FFFFFF"/>
                </a:solidFill>
                <a:latin typeface="Courier New"/>
                <a:ea typeface="Courier New"/>
                <a:cs typeface="Courier New"/>
                <a:sym typeface="Courier New"/>
              </a:rPr>
              <a:t>    mask = cv2.inRange(hsv, LOWER_GREEN, UPPER_GREEN)</a:t>
            </a:r>
          </a:p>
        </p:txBody>
      </p:sp>
      <p:sp>
        <p:nvSpPr>
          <p:cNvPr id="6" name="blk0034"/>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mask is another picture, the same size as the region you passed in. Every pixel is now either </a:t>
            </a:r>
            <a:r>
              <a:rPr sz="1743" b="0" i="0">
                <a:solidFill>
                  <a:srgbClr val="FFFFFF"/>
                </a:solidFill>
                <a:latin typeface="Courier New"/>
                <a:ea typeface="Courier New"/>
                <a:cs typeface="Courier New"/>
                <a:sym typeface="Courier New"/>
              </a:rPr>
              <a:t>255</a:t>
            </a:r>
            <a:r>
              <a:rPr sz="2027" b="0" i="0">
                <a:solidFill>
                  <a:srgbClr val="FFFFFF"/>
                </a:solidFill>
                <a:latin typeface="Avenir"/>
                <a:ea typeface="Avenir"/>
                <a:cs typeface="Avenir"/>
                <a:sym typeface="Avenir"/>
              </a:rPr>
              <a:t> — in range, so it is green — or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 out of range, so it is black. Nothing in between.</a:t>
            </a:r>
          </a:p>
        </p:txBody>
      </p:sp>
      <p:sp>
        <p:nvSpPr>
          <p:cNvPr id="7" name="blk0035"/>
          <p:cNvSpPr txBox="1"/>
          <p:nvPr/>
        </p:nvSpPr>
        <p:spPr>
          <a:xfrm>
            <a:off x="687600" y="4943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same idea as the thresholds in Project 4, but cruder and more useful: it does not produce a score, it produces an image you can look at. That is why this program opens a second window. When the mask does not match what you expected, you can see exactly which pixels are being counted and which are being thrown away.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mask is a picture too</a:t>
            </a:r>
          </a:p>
        </p:txBody>
      </p:sp>
      <p:sp>
        <p:nvSpPr>
          <p:cNvPr id="3" name="blk003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windows come up at the end of this program, and the second one is the reason this project is teachable:</a:t>
            </a:r>
          </a:p>
        </p:txBody>
      </p:sp>
      <p:sp>
        <p:nvSpPr>
          <p:cNvPr id="4" name="blk0038"/>
          <p:cNvSpPr/>
          <p:nvPr/>
        </p:nvSpPr>
        <p:spPr>
          <a:xfrm>
            <a:off x="687600" y="3024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8"/>
          <p:cNvSpPr txBox="1"/>
          <p:nvPr/>
        </p:nvSpPr>
        <p:spPr>
          <a:xfrm>
            <a:off x="910799" y="3186000"/>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cv2.imshow("Mission 02 - Project 05: QC Scanner", frame)</a:t>
            </a:r>
          </a:p>
          <a:p>
            <a:pPr algn="l">
              <a:lnSpc>
                <a:spcPct val="115000"/>
              </a:lnSpc>
            </a:pPr>
            <a:r>
              <a:rPr sz="1300" b="0" i="0">
                <a:solidFill>
                  <a:srgbClr val="FFFFFF"/>
                </a:solidFill>
                <a:latin typeface="Courier New"/>
                <a:ea typeface="Courier New"/>
                <a:cs typeface="Courier New"/>
                <a:sym typeface="Courier New"/>
              </a:rPr>
              <a:t>        cv2.imshow("Mask View", mask)</a:t>
            </a:r>
          </a:p>
        </p:txBody>
      </p:sp>
      <p:sp>
        <p:nvSpPr>
          <p:cNvPr id="6" name="blk0039"/>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window is what the part looks like to a person. The second is what the program actually believes: white where it thinks there is a part, black everywhere else.</a:t>
            </a:r>
          </a:p>
        </p:txBody>
      </p:sp>
      <p:sp>
        <p:nvSpPr>
          <p:cNvPr id="7" name="blk0040"/>
          <p:cNvSpPr/>
          <p:nvPr/>
        </p:nvSpPr>
        <p:spPr>
          <a:xfrm>
            <a:off x="687600" y="518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40"/>
          <p:cNvSpPr/>
          <p:nvPr/>
        </p:nvSpPr>
        <p:spPr>
          <a:xfrm>
            <a:off x="885600" y="563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0"/>
          <p:cNvSpPr txBox="1"/>
          <p:nvPr/>
        </p:nvSpPr>
        <p:spPr>
          <a:xfrm>
            <a:off x="1162800" y="532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When the two disagree, the mask is not lying and neither is the camera — your colour range is simply wrong. That single window turns an hour of guessing numbers into ten seconds of looking.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Speckled masks lie</a:t>
            </a:r>
          </a:p>
        </p:txBody>
      </p:sp>
      <p:sp>
        <p:nvSpPr>
          <p:cNvPr id="3" name="blk00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raw mask is never clean. Real images have sensor noise, and a single stray bright pixel inside the range becomes its own white dot. Left alone, those dots turn into their own contours later, and the "largest contour" picks whichever speck happens to be biggest.</a:t>
            </a:r>
          </a:p>
        </p:txBody>
      </p:sp>
      <p:sp>
        <p:nvSpPr>
          <p:cNvPr id="4" name="blk0043"/>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fix is two lines:</a:t>
            </a:r>
          </a:p>
        </p:txBody>
      </p:sp>
      <p:sp>
        <p:nvSpPr>
          <p:cNvPr id="5" name="blk0044"/>
          <p:cNvSpPr/>
          <p:nvPr/>
        </p:nvSpPr>
        <p:spPr>
          <a:xfrm>
            <a:off x="687600" y="4392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44"/>
          <p:cNvSpPr txBox="1"/>
          <p:nvPr/>
        </p:nvSpPr>
        <p:spPr>
          <a:xfrm>
            <a:off x="910799" y="4553999"/>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kernel = np.ones((5, 5), np.uint8)</a:t>
            </a:r>
          </a:p>
          <a:p>
            <a:pPr algn="l">
              <a:lnSpc>
                <a:spcPct val="115000"/>
              </a:lnSpc>
            </a:pPr>
            <a:r>
              <a:rPr sz="1400" b="0" i="0">
                <a:solidFill>
                  <a:srgbClr val="FFFFFF"/>
                </a:solidFill>
                <a:latin typeface="Courier New"/>
                <a:ea typeface="Courier New"/>
                <a:cs typeface="Courier New"/>
                <a:sym typeface="Courier New"/>
              </a:rPr>
              <a:t>    mask = cv2.morphologyEx(mask, cv2.MORPH_OPEN, kernel)</a:t>
            </a:r>
          </a:p>
        </p:txBody>
      </p:sp>
      <p:sp>
        <p:nvSpPr>
          <p:cNvPr id="7" name="blk0045"/>
          <p:cNvSpPr txBox="1"/>
          <p:nvPr/>
        </p:nvSpPr>
        <p:spPr>
          <a:xfrm>
            <a:off x="687600" y="5472000"/>
            <a:ext cx="7542000" cy="2156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np.ones</a:t>
            </a:r>
            <a:r>
              <a:rPr sz="2027" b="0" i="0">
                <a:solidFill>
                  <a:srgbClr val="FFFFFF"/>
                </a:solidFill>
                <a:latin typeface="Avenir"/>
                <a:ea typeface="Avenir"/>
                <a:cs typeface="Avenir"/>
                <a:sym typeface="Avenir"/>
              </a:rPr>
              <a:t> builds a 5 by 5 block of ones — a small square of tool. </a:t>
            </a:r>
            <a:r>
              <a:rPr sz="1743" b="0" i="0">
                <a:solidFill>
                  <a:srgbClr val="FFFFFF"/>
                </a:solidFill>
                <a:latin typeface="Courier New"/>
                <a:ea typeface="Courier New"/>
                <a:cs typeface="Courier New"/>
                <a:sym typeface="Courier New"/>
              </a:rPr>
              <a:t>MORPH_OPEN</a:t>
            </a:r>
            <a:r>
              <a:rPr sz="2027" b="0" i="0">
                <a:solidFill>
                  <a:srgbClr val="FFFFFF"/>
                </a:solidFill>
                <a:latin typeface="Avenir"/>
                <a:ea typeface="Avenir"/>
                <a:cs typeface="Avenir"/>
                <a:sym typeface="Avenir"/>
              </a:rPr>
              <a:t> shrinks everything with it, then grows it back.</a:t>
            </a:r>
          </a:p>
        </p:txBody>
      </p:sp>
      <p:sp>
        <p:nvSpPr>
          <p:cNvPr id="8" name="blk0046"/>
          <p:cNvSpPr txBox="1"/>
          <p:nvPr/>
        </p:nvSpPr>
        <p:spPr>
          <a:xfrm>
            <a:off x="687600" y="6506744"/>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Shrinking then growing is an opening: it removes anything too thin to survive the squeeze and leaves the chunky shapes roughly as they were. It is the standard first move whenever a mask comes out speckled.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trap inside opening</a:t>
            </a:r>
          </a:p>
        </p:txBody>
      </p:sp>
      <p:sp>
        <p:nvSpPr>
          <p:cNvPr id="3" name="blk004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is the thing to be careful about, and it connects two constants that look unrelated.</a:t>
            </a:r>
          </a:p>
          <a:p>
            <a:pPr algn="l">
              <a:lnSpc>
                <a:spcPct val="100000"/>
              </a:lnSpc>
            </a:pPr>
            <a:r>
              <a:rPr sz="2027" b="0" i="0">
                <a:solidFill>
                  <a:srgbClr val="FFFFFF"/>
                </a:solidFill>
                <a:latin typeface="Avenir"/>
                <a:ea typeface="Avenir"/>
                <a:cs typeface="Avenir"/>
                <a:sym typeface="Avenir"/>
              </a:rPr>
              <a:t>A 5 by 5 opening deletes any blob smaller than about that size. So if a part is genuinely small — or far away, or only partly green — the noise filter removes it entirely, and by the time the rules run there is nothing left to measure.</a:t>
            </a:r>
          </a:p>
        </p:txBody>
      </p:sp>
      <p:sp>
        <p:nvSpPr>
          <p:cNvPr id="4" name="blk0049"/>
          <p:cNvSpPr/>
          <p:nvPr/>
        </p:nvSpPr>
        <p:spPr>
          <a:xfrm>
            <a:off x="687600" y="4464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9"/>
          <p:cNvSpPr/>
          <p:nvPr/>
        </p:nvSpPr>
        <p:spPr>
          <a:xfrm>
            <a:off x="885600" y="4915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49"/>
          <p:cNvSpPr txBox="1"/>
          <p:nvPr/>
        </p:nvSpPr>
        <p:spPr>
          <a:xfrm>
            <a:off x="1162800" y="4608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part that is too small is supposed to report </a:t>
            </a:r>
            <a:r>
              <a:rPr sz="1290" b="0" i="1">
                <a:solidFill>
                  <a:srgbClr val="FFCF08"/>
                </a:solidFill>
                <a:latin typeface="Courier New"/>
                <a:ea typeface="Courier New"/>
                <a:cs typeface="Courier New"/>
                <a:sym typeface="Courier New"/>
              </a:rPr>
              <a:t>Too Small</a:t>
            </a:r>
            <a:r>
              <a:rPr sz="1500" b="0" i="1">
                <a:solidFill>
                  <a:srgbClr val="FFCF08"/>
                </a:solidFill>
                <a:latin typeface="Avenir"/>
                <a:ea typeface="Avenir"/>
                <a:cs typeface="Avenir"/>
                <a:sym typeface="Avenir"/>
              </a:rPr>
              <a:t>. If the opening is aggressive enough, it reports </a:t>
            </a:r>
            <a:r>
              <a:rPr sz="1290" b="0" i="1">
                <a:solidFill>
                  <a:srgbClr val="FFCF08"/>
                </a:solidFill>
                <a:latin typeface="Courier New"/>
                <a:ea typeface="Courier New"/>
                <a:cs typeface="Courier New"/>
                <a:sym typeface="Courier New"/>
              </a:rPr>
              <a:t>No Item / Wrong Color</a:t>
            </a:r>
            <a:r>
              <a:rPr sz="1500" b="0" i="1">
                <a:solidFill>
                  <a:srgbClr val="FFCF08"/>
                </a:solidFill>
                <a:latin typeface="Avenir"/>
                <a:ea typeface="Avenir"/>
                <a:cs typeface="Avenir"/>
                <a:sym typeface="Avenir"/>
              </a:rPr>
              <a:t> instead — a completely different fault, pointing at the colour range rather than at the size. Same part, wrong diagnosis.</a:t>
            </a:r>
          </a:p>
        </p:txBody>
      </p:sp>
      <p:sp>
        <p:nvSpPr>
          <p:cNvPr id="7" name="blk0050"/>
          <p:cNvSpPr txBox="1"/>
          <p:nvPr/>
        </p:nvSpPr>
        <p:spPr>
          <a:xfrm>
            <a:off x="687600" y="5832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single most useful thing to understand about the whole project. When a fault message does not match the fault, suspect the step before the message, not the message itself. The mask window shows you this immediately: if the small part is not in the mask, it never reached the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Contours are outlines</a:t>
            </a:r>
          </a:p>
        </p:txBody>
      </p:sp>
      <p:sp>
        <p:nvSpPr>
          <p:cNvPr id="3" name="blk005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mask is a field of loose white pixels. What the rules need is an object with a shape you can measure. That is what a contour is: the boundary traced around each connected white region.</a:t>
            </a:r>
          </a:p>
        </p:txBody>
      </p:sp>
      <p:sp>
        <p:nvSpPr>
          <p:cNvPr id="4" name="blk0053"/>
          <p:cNvSpPr/>
          <p:nvPr/>
        </p:nvSpPr>
        <p:spPr>
          <a:xfrm>
            <a:off x="687600" y="3384000"/>
            <a:ext cx="8686800" cy="53080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3"/>
          <p:cNvSpPr txBox="1"/>
          <p:nvPr/>
        </p:nvSpPr>
        <p:spPr>
          <a:xfrm>
            <a:off x="910799" y="3546000"/>
            <a:ext cx="8240400" cy="206809"/>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contours, _ = cv2.findContours(mask, cv2.RETR_EXTERNAL, cv2.CHAIN_APPROX_SIMPLE)</a:t>
            </a:r>
          </a:p>
        </p:txBody>
      </p:sp>
      <p:sp>
        <p:nvSpPr>
          <p:cNvPr id="6" name="blk0054"/>
          <p:cNvSpPr txBox="1"/>
          <p:nvPr/>
        </p:nvSpPr>
        <p:spPr>
          <a:xfrm>
            <a:off x="687600" y="417600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values come back. </a:t>
            </a:r>
            <a:r>
              <a:rPr sz="1743" b="0" i="0">
                <a:solidFill>
                  <a:srgbClr val="FFFFFF"/>
                </a:solidFill>
                <a:latin typeface="Courier New"/>
                <a:ea typeface="Courier New"/>
                <a:cs typeface="Courier New"/>
                <a:sym typeface="Courier New"/>
              </a:rPr>
              <a:t>contours</a:t>
            </a:r>
            <a:r>
              <a:rPr sz="2027" b="0" i="0">
                <a:solidFill>
                  <a:srgbClr val="FFFFFF"/>
                </a:solidFill>
                <a:latin typeface="Avenir"/>
                <a:ea typeface="Avenir"/>
                <a:cs typeface="Avenir"/>
                <a:sym typeface="Avenir"/>
              </a:rPr>
              <a:t> is the list you want. The second, thrown away here with </a:t>
            </a:r>
            <a:r>
              <a:rPr sz="1743" b="0" i="0">
                <a:solidFill>
                  <a:srgbClr val="FFFFFF"/>
                </a:solidFill>
                <a:latin typeface="Courier New"/>
                <a:ea typeface="Courier New"/>
                <a:cs typeface="Courier New"/>
                <a:sym typeface="Courier New"/>
              </a:rPr>
              <a:t>_</a:t>
            </a:r>
            <a:r>
              <a:rPr sz="2027" b="0" i="0">
                <a:solidFill>
                  <a:srgbClr val="FFFFFF"/>
                </a:solidFill>
                <a:latin typeface="Avenir"/>
                <a:ea typeface="Avenir"/>
                <a:cs typeface="Avenir"/>
                <a:sym typeface="Avenir"/>
              </a:rPr>
              <a:t>, is the hierarchy — the tree saying which contour is inside which, which this project never asks about.</a:t>
            </a:r>
          </a:p>
        </p:txBody>
      </p:sp>
      <p:sp>
        <p:nvSpPr>
          <p:cNvPr id="7" name="blk0055"/>
          <p:cNvSpPr/>
          <p:nvPr/>
        </p:nvSpPr>
        <p:spPr>
          <a:xfrm>
            <a:off x="687600" y="5519659"/>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55"/>
          <p:cNvSpPr/>
          <p:nvPr/>
        </p:nvSpPr>
        <p:spPr>
          <a:xfrm>
            <a:off x="885600" y="610789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55"/>
          <p:cNvSpPr txBox="1"/>
          <p:nvPr/>
        </p:nvSpPr>
        <p:spPr>
          <a:xfrm>
            <a:off x="1162800" y="5663659"/>
            <a:ext cx="7956000" cy="1025280"/>
          </a:xfrm>
          <a:prstGeom prst="rect">
            <a:avLst/>
          </a:prstGeom>
          <a:noFill/>
        </p:spPr>
        <p:txBody>
          <a:bodyPr wrap="square" anchor="ctr" lIns="0" rIns="0" tIns="0" bIns="0">
            <a:noAutofit/>
          </a:bodyPr>
          <a:lstStyle/>
          <a:p>
            <a:pPr algn="l">
              <a:lnSpc>
                <a:spcPct val="120000"/>
              </a:lnSpc>
            </a:pPr>
            <a:r>
              <a:rPr sz="1290" b="0" i="1">
                <a:solidFill>
                  <a:srgbClr val="FFCF08"/>
                </a:solidFill>
                <a:latin typeface="Courier New"/>
                <a:ea typeface="Courier New"/>
                <a:cs typeface="Courier New"/>
                <a:sym typeface="Courier New"/>
              </a:rPr>
              <a:t>RETR_EXTERNAL</a:t>
            </a:r>
            <a:r>
              <a:rPr sz="1500" b="0" i="1">
                <a:solidFill>
                  <a:srgbClr val="FFCF08"/>
                </a:solidFill>
                <a:latin typeface="Avenir"/>
                <a:ea typeface="Avenir"/>
                <a:cs typeface="Avenir"/>
                <a:sym typeface="Avenir"/>
              </a:rPr>
              <a:t> keeps only outer boundaries and ignores holes. </a:t>
            </a:r>
            <a:r>
              <a:rPr sz="1290" b="0" i="1">
                <a:solidFill>
                  <a:srgbClr val="FFCF08"/>
                </a:solidFill>
                <a:latin typeface="Courier New"/>
                <a:ea typeface="Courier New"/>
                <a:cs typeface="Courier New"/>
                <a:sym typeface="Courier New"/>
              </a:rPr>
              <a:t>CHAIN_APPROX_SIMPLE</a:t>
            </a:r>
            <a:r>
              <a:rPr sz="1500" b="0" i="1">
                <a:solidFill>
                  <a:srgbClr val="FFCF08"/>
                </a:solidFill>
                <a:latin typeface="Avenir"/>
                <a:ea typeface="Avenir"/>
                <a:cs typeface="Avenir"/>
                <a:sym typeface="Avenir"/>
              </a:rPr>
              <a:t> stores straight runs as single points instead of every pixel along them. That second flag is not a choice about correctness — it is a choice about how much memory the list uses, and it makes straight edges cheaper.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Finding nothing is a result</a:t>
            </a:r>
          </a:p>
        </p:txBody>
      </p:sp>
      <p:sp>
        <p:nvSpPr>
          <p:cNvPr id="3" name="blk00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next two lines were written for you, and they exist because the line after them would crash:</a:t>
            </a:r>
          </a:p>
        </p:txBody>
      </p:sp>
      <p:sp>
        <p:nvSpPr>
          <p:cNvPr id="4" name="blk0058"/>
          <p:cNvSpPr/>
          <p:nvPr/>
        </p:nvSpPr>
        <p:spPr>
          <a:xfrm>
            <a:off x="687600" y="2880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8"/>
          <p:cNvSpPr txBox="1"/>
          <p:nvPr/>
        </p:nvSpPr>
        <p:spPr>
          <a:xfrm>
            <a:off x="910799" y="3041999"/>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if not contours:</a:t>
            </a:r>
          </a:p>
          <a:p>
            <a:pPr algn="l">
              <a:lnSpc>
                <a:spcPct val="115000"/>
              </a:lnSpc>
            </a:pPr>
            <a:r>
              <a:rPr sz="1400" b="0" i="0">
                <a:solidFill>
                  <a:srgbClr val="FFFFFF"/>
                </a:solidFill>
                <a:latin typeface="Courier New"/>
                <a:ea typeface="Courier New"/>
                <a:cs typeface="Courier New"/>
                <a:sym typeface="Courier New"/>
              </a:rPr>
              <a:t>        return "FAIL", "No Item / Wrong Color", mask</a:t>
            </a:r>
          </a:p>
        </p:txBody>
      </p:sp>
      <p:sp>
        <p:nvSpPr>
          <p:cNvPr id="6" name="blk0059"/>
          <p:cNvSpPr txBox="1"/>
          <p:nvPr/>
        </p:nvSpPr>
        <p:spPr>
          <a:xfrm>
            <a:off x="687600" y="3888000"/>
            <a:ext cx="7542000" cy="37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 empty list is falsy, so </a:t>
            </a:r>
            <a:r>
              <a:rPr sz="1743" b="0" i="0">
                <a:solidFill>
                  <a:srgbClr val="FFFFFF"/>
                </a:solidFill>
                <a:latin typeface="Courier New"/>
                <a:ea typeface="Courier New"/>
                <a:cs typeface="Courier New"/>
                <a:sym typeface="Courier New"/>
              </a:rPr>
              <a:t>if not contours</a:t>
            </a:r>
            <a:r>
              <a:rPr sz="2027" b="0" i="0">
                <a:solidFill>
                  <a:srgbClr val="FFFFFF"/>
                </a:solidFill>
                <a:latin typeface="Avenir"/>
                <a:ea typeface="Avenir"/>
                <a:cs typeface="Avenir"/>
                <a:sym typeface="Avenir"/>
              </a:rPr>
              <a:t> catches it. Without this, </a:t>
            </a:r>
            <a:r>
              <a:rPr sz="1743" b="0" i="0">
                <a:solidFill>
                  <a:srgbClr val="FFFFFF"/>
                </a:solidFill>
                <a:latin typeface="Courier New"/>
                <a:ea typeface="Courier New"/>
                <a:cs typeface="Courier New"/>
                <a:sym typeface="Courier New"/>
              </a:rPr>
              <a:t>max(contours, key=cv2.contourArea)</a:t>
            </a:r>
            <a:r>
              <a:rPr sz="2027" b="0" i="0">
                <a:solidFill>
                  <a:srgbClr val="FFFFFF"/>
                </a:solidFill>
                <a:latin typeface="Avenir"/>
                <a:ea typeface="Avenir"/>
                <a:cs typeface="Avenir"/>
                <a:sym typeface="Avenir"/>
              </a:rPr>
              <a:t> on the next slide would raise </a:t>
            </a:r>
            <a:r>
              <a:rPr sz="1743" b="0" i="0">
                <a:solidFill>
                  <a:srgbClr val="FFFFFF"/>
                </a:solidFill>
                <a:latin typeface="Courier New"/>
                <a:ea typeface="Courier New"/>
                <a:cs typeface="Courier New"/>
                <a:sym typeface="Courier New"/>
              </a:rPr>
              <a:t>ValueError: max() arg is an empty sequence</a:t>
            </a:r>
            <a:r>
              <a:rPr sz="2027" b="0" i="0">
                <a:solidFill>
                  <a:srgbClr val="FFFFFF"/>
                </a:solidFill>
                <a:latin typeface="Avenir"/>
                <a:ea typeface="Avenir"/>
                <a:cs typeface="Avenir"/>
                <a:sym typeface="Avenir"/>
              </a:rPr>
              <a:t> — and a quality control system that crashes on a bad part is worse than useless.</a:t>
            </a:r>
          </a:p>
        </p:txBody>
      </p:sp>
      <p:sp>
        <p:nvSpPr>
          <p:cNvPr id="7" name="blk0060"/>
          <p:cNvSpPr txBox="1"/>
          <p:nvPr/>
        </p:nvSpPr>
        <p:spPr>
          <a:xfrm>
            <a:off x="687600" y="554057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An empty zone is not an error condition here. It is a perfectly ordinary answer, and the program treats it as one. Notice also that all three returns from this function hand back </a:t>
            </a:r>
            <a:r>
              <a:rPr sz="1419" b="0" i="0">
                <a:solidFill>
                  <a:srgbClr val="FFFFFF"/>
                </a:solidFill>
                <a:latin typeface="Courier New"/>
                <a:ea typeface="Courier New"/>
                <a:cs typeface="Courier New"/>
                <a:sym typeface="Courier New"/>
              </a:rPr>
              <a:t>mask</a:t>
            </a:r>
            <a:r>
              <a:rPr sz="1650" b="0" i="0">
                <a:solidFill>
                  <a:srgbClr val="FFFFFF"/>
                </a:solidFill>
                <a:latin typeface="Avenir"/>
                <a:ea typeface="Avenir"/>
                <a:cs typeface="Avenir"/>
                <a:sym typeface="Avenir"/>
              </a:rPr>
              <a:t> as the third value, including this early one, so the caller always has something to display.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biggest blob is the part</a:t>
            </a:r>
          </a:p>
        </p:txBody>
      </p:sp>
      <p:sp>
        <p:nvSpPr>
          <p:cNvPr id="3" name="blk00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mask may contain several shapes. This program assumes the part is the largest one, and says so in the comment:</a:t>
            </a:r>
          </a:p>
        </p:txBody>
      </p:sp>
      <p:sp>
        <p:nvSpPr>
          <p:cNvPr id="4" name="blk0063"/>
          <p:cNvSpPr/>
          <p:nvPr/>
        </p:nvSpPr>
        <p:spPr>
          <a:xfrm>
            <a:off x="687600" y="3096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3"/>
          <p:cNvSpPr txBox="1"/>
          <p:nvPr/>
        </p:nvSpPr>
        <p:spPr>
          <a:xfrm>
            <a:off x="910799" y="3257999"/>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largest_contour = max(contours, key=cv2.contourArea)</a:t>
            </a:r>
          </a:p>
          <a:p>
            <a:pPr algn="l">
              <a:lnSpc>
                <a:spcPct val="115000"/>
              </a:lnSpc>
            </a:pPr>
            <a:r>
              <a:rPr sz="1400" b="0" i="0">
                <a:solidFill>
                  <a:srgbClr val="FFFFFF"/>
                </a:solidFill>
                <a:latin typeface="Courier New"/>
                <a:ea typeface="Courier New"/>
                <a:cs typeface="Courier New"/>
                <a:sym typeface="Courier New"/>
              </a:rPr>
              <a:t>    area = cv2.contourArea(largest_contour)</a:t>
            </a:r>
          </a:p>
        </p:txBody>
      </p:sp>
      <p:sp>
        <p:nvSpPr>
          <p:cNvPr id="6" name="blk0064"/>
          <p:cNvSpPr txBox="1"/>
          <p:nvPr/>
        </p:nvSpPr>
        <p:spPr>
          <a:xfrm>
            <a:off x="687600" y="417600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different measurements of the same shape, and both are used. </a:t>
            </a:r>
            <a:r>
              <a:rPr sz="1743" b="0" i="0">
                <a:solidFill>
                  <a:srgbClr val="FFFFFF"/>
                </a:solidFill>
                <a:latin typeface="Courier New"/>
                <a:ea typeface="Courier New"/>
                <a:cs typeface="Courier New"/>
                <a:sym typeface="Courier New"/>
              </a:rPr>
              <a:t>max</a:t>
            </a:r>
            <a:r>
              <a:rPr sz="2027" b="0" i="0">
                <a:solidFill>
                  <a:srgbClr val="FFFFFF"/>
                </a:solidFill>
                <a:latin typeface="Avenir"/>
                <a:ea typeface="Avenir"/>
                <a:cs typeface="Avenir"/>
                <a:sym typeface="Avenir"/>
              </a:rPr>
              <a:t> searches the list using </a:t>
            </a:r>
            <a:r>
              <a:rPr sz="1743" b="0" i="0">
                <a:solidFill>
                  <a:srgbClr val="FFFFFF"/>
                </a:solidFill>
                <a:latin typeface="Courier New"/>
                <a:ea typeface="Courier New"/>
                <a:cs typeface="Courier New"/>
                <a:sym typeface="Courier New"/>
              </a:rPr>
              <a:t>cv2.contourArea</a:t>
            </a:r>
            <a:r>
              <a:rPr sz="2027" b="0" i="0">
                <a:solidFill>
                  <a:srgbClr val="FFFFFF"/>
                </a:solidFill>
                <a:latin typeface="Avenir"/>
                <a:ea typeface="Avenir"/>
                <a:cs typeface="Avenir"/>
                <a:sym typeface="Avenir"/>
              </a:rPr>
              <a:t> as its key, so it never builds a list of areas to compare. Then </a:t>
            </a:r>
            <a:r>
              <a:rPr sz="1743" b="0" i="0">
                <a:solidFill>
                  <a:srgbClr val="FFFFFF"/>
                </a:solidFill>
                <a:latin typeface="Courier New"/>
                <a:ea typeface="Courier New"/>
                <a:cs typeface="Courier New"/>
                <a:sym typeface="Courier New"/>
              </a:rPr>
              <a:t>cv2.contourArea</a:t>
            </a:r>
            <a:r>
              <a:rPr sz="2027" b="0" i="0">
                <a:solidFill>
                  <a:srgbClr val="FFFFFF"/>
                </a:solidFill>
                <a:latin typeface="Avenir"/>
                <a:ea typeface="Avenir"/>
                <a:cs typeface="Avenir"/>
                <a:sym typeface="Avenir"/>
              </a:rPr>
              <a:t> measures the winner, and that number goes straight into the size rules.</a:t>
            </a:r>
          </a:p>
        </p:txBody>
      </p:sp>
      <p:sp>
        <p:nvSpPr>
          <p:cNvPr id="7" name="blk0065"/>
          <p:cNvSpPr txBox="1"/>
          <p:nvPr/>
        </p:nvSpPr>
        <p:spPr>
          <a:xfrm>
            <a:off x="687600" y="582857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assumption is the weak point, and it is worth being able to defend. Put a green pen on the table next to the part and the pen may well win, because it is a smooth solid shape while the part has holes and edges. Picking the largest contour is a decision, not a truth.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box, not a rotated box</a:t>
            </a:r>
          </a:p>
        </p:txBody>
      </p:sp>
      <p:sp>
        <p:nvSpPr>
          <p:cNvPr id="3" name="blk006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next two lines measure shape, and the first one has a trap in its name:</a:t>
            </a:r>
          </a:p>
        </p:txBody>
      </p:sp>
      <p:sp>
        <p:nvSpPr>
          <p:cNvPr id="4" name="blk0068"/>
          <p:cNvSpPr/>
          <p:nvPr/>
        </p:nvSpPr>
        <p:spPr>
          <a:xfrm>
            <a:off x="687600" y="2664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8"/>
          <p:cNvSpPr txBox="1"/>
          <p:nvPr/>
        </p:nvSpPr>
        <p:spPr>
          <a:xfrm>
            <a:off x="910799" y="2826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x, y, w, h = cv2.boundingRect(largest_contour)</a:t>
            </a:r>
          </a:p>
          <a:p>
            <a:pPr algn="l">
              <a:lnSpc>
                <a:spcPct val="115000"/>
              </a:lnSpc>
            </a:pPr>
            <a:r>
              <a:rPr sz="1500" b="0" i="0">
                <a:solidFill>
                  <a:srgbClr val="FFFFFF"/>
                </a:solidFill>
                <a:latin typeface="Courier New"/>
                <a:ea typeface="Courier New"/>
                <a:cs typeface="Courier New"/>
                <a:sym typeface="Courier New"/>
              </a:rPr>
              <a:t>    aspect_ratio = float(w) / h</a:t>
            </a:r>
          </a:p>
        </p:txBody>
      </p:sp>
      <p:sp>
        <p:nvSpPr>
          <p:cNvPr id="6" name="blk0069"/>
          <p:cNvSpPr txBox="1"/>
          <p:nvPr/>
        </p:nvSpPr>
        <p:spPr>
          <a:xfrm>
            <a:off x="687600" y="3671999"/>
            <a:ext cx="7542000" cy="3956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boundingRect</a:t>
            </a:r>
            <a:r>
              <a:rPr sz="2027" b="0" i="0">
                <a:solidFill>
                  <a:srgbClr val="FFFFFF"/>
                </a:solidFill>
                <a:latin typeface="Avenir"/>
                <a:ea typeface="Avenir"/>
                <a:cs typeface="Avenir"/>
                <a:sym typeface="Avenir"/>
              </a:rPr>
              <a:t> returns the smallest axis-aligned rectangle around the shape — aligned to the picture, never rotated. A part lying at an angle still gets an upright box.</a:t>
            </a:r>
          </a:p>
          <a:p>
            <a:pPr algn="l">
              <a:lnSpc>
                <a:spcPct val="100000"/>
              </a:lnSpc>
            </a:pPr>
            <a:r>
              <a:rPr sz="2027" b="0" i="0">
                <a:solidFill>
                  <a:srgbClr val="FFFFFF"/>
                </a:solidFill>
                <a:latin typeface="Avenir"/>
                <a:ea typeface="Avenir"/>
                <a:cs typeface="Avenir"/>
                <a:sym typeface="Avenir"/>
              </a:rPr>
              <a:t>That is why the aspect ratio is a rough measure rather than a good one. A square rotated 20 degrees has a box that is wider than it is tall, and a quality check written this way will call it defective.</a:t>
            </a:r>
          </a:p>
        </p:txBody>
      </p:sp>
      <p:sp>
        <p:nvSpPr>
          <p:cNvPr id="7" name="blk0070"/>
          <p:cNvSpPr txBox="1"/>
          <p:nvPr/>
        </p:nvSpPr>
        <p:spPr>
          <a:xfrm>
            <a:off x="687600" y="5942402"/>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t>
            </a:r>
            <a:r>
              <a:rPr sz="1419" b="0" i="0">
                <a:solidFill>
                  <a:srgbClr val="FFFFFF"/>
                </a:solidFill>
                <a:latin typeface="Courier New"/>
                <a:ea typeface="Courier New"/>
                <a:cs typeface="Courier New"/>
                <a:sym typeface="Courier New"/>
              </a:rPr>
              <a:t>float()</a:t>
            </a:r>
            <a:r>
              <a:rPr sz="1650" b="0" i="0">
                <a:solidFill>
                  <a:srgbClr val="FFFFFF"/>
                </a:solidFill>
                <a:latin typeface="Avenir"/>
                <a:ea typeface="Avenir"/>
                <a:cs typeface="Avenir"/>
                <a:sym typeface="Avenir"/>
              </a:rPr>
              <a:t> is not decoration. In Python 3, </a:t>
            </a:r>
            <a:r>
              <a:rPr sz="1419" b="0" i="0">
                <a:solidFill>
                  <a:srgbClr val="FFFFFF"/>
                </a:solidFill>
                <a:latin typeface="Courier New"/>
                <a:ea typeface="Courier New"/>
                <a:cs typeface="Courier New"/>
                <a:sym typeface="Courier New"/>
              </a:rPr>
              <a:t>w / h</a:t>
            </a:r>
            <a:r>
              <a:rPr sz="1650" b="0" i="0">
                <a:solidFill>
                  <a:srgbClr val="FFFFFF"/>
                </a:solidFill>
                <a:latin typeface="Avenir"/>
                <a:ea typeface="Avenir"/>
                <a:cs typeface="Avenir"/>
                <a:sym typeface="Avenir"/>
              </a:rPr>
              <a:t> already gives a float, so the call is unnecessary here — but it is the habit you want from code written for Python 2, and it makes the intent obvious to whoever reads it next.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rules, first one wins</a:t>
            </a:r>
          </a:p>
        </p:txBody>
      </p:sp>
      <p:sp>
        <p:nvSpPr>
          <p:cNvPr id="3" name="blk007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only place in the project where a verdict is reached:</a:t>
            </a:r>
          </a:p>
        </p:txBody>
      </p:sp>
      <p:sp>
        <p:nvSpPr>
          <p:cNvPr id="4" name="blk0073"/>
          <p:cNvSpPr/>
          <p:nvPr/>
        </p:nvSpPr>
        <p:spPr>
          <a:xfrm>
            <a:off x="687600" y="2376000"/>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3"/>
          <p:cNvSpPr txBox="1"/>
          <p:nvPr/>
        </p:nvSpPr>
        <p:spPr>
          <a:xfrm>
            <a:off x="910799" y="2538000"/>
            <a:ext cx="8240400" cy="1240854"/>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if area &lt; MIN_AREA:</a:t>
            </a:r>
          </a:p>
          <a:p>
            <a:pPr algn="l">
              <a:lnSpc>
                <a:spcPct val="115000"/>
              </a:lnSpc>
            </a:pPr>
            <a:r>
              <a:rPr sz="1250" b="0" i="0">
                <a:solidFill>
                  <a:srgbClr val="FFFFFF"/>
                </a:solidFill>
                <a:latin typeface="Courier New"/>
                <a:ea typeface="Courier New"/>
                <a:cs typeface="Courier New"/>
                <a:sym typeface="Courier New"/>
              </a:rPr>
              <a:t>        return "FAIL", f"Too Small ({int(area)}px)", mask</a:t>
            </a:r>
          </a:p>
          <a:p>
            <a:pPr algn="l">
              <a:lnSpc>
                <a:spcPct val="115000"/>
              </a:lnSpc>
            </a:pPr>
            <a:r>
              <a:rPr sz="1250" b="0" i="0">
                <a:solidFill>
                  <a:srgbClr val="FFFFFF"/>
                </a:solidFill>
                <a:latin typeface="Courier New"/>
                <a:ea typeface="Courier New"/>
                <a:cs typeface="Courier New"/>
                <a:sym typeface="Courier New"/>
              </a:rPr>
              <a:t>    if area &gt; MAX_AREA:</a:t>
            </a:r>
          </a:p>
          <a:p>
            <a:pPr algn="l">
              <a:lnSpc>
                <a:spcPct val="115000"/>
              </a:lnSpc>
            </a:pPr>
            <a:r>
              <a:rPr sz="1250" b="0" i="0">
                <a:solidFill>
                  <a:srgbClr val="FFFFFF"/>
                </a:solidFill>
                <a:latin typeface="Courier New"/>
                <a:ea typeface="Courier New"/>
                <a:cs typeface="Courier New"/>
                <a:sym typeface="Courier New"/>
              </a:rPr>
              <a:t>        return "FAIL", f"Too Large ({int(area)}px)", mask</a:t>
            </a:r>
          </a:p>
          <a:p>
            <a:pPr algn="l">
              <a:lnSpc>
                <a:spcPct val="115000"/>
              </a:lnSpc>
            </a:pPr>
            <a:r>
              <a:rPr sz="1250" b="0" i="0">
                <a:solidFill>
                  <a:srgbClr val="FFFFFF"/>
                </a:solidFill>
                <a:latin typeface="Courier New"/>
                <a:ea typeface="Courier New"/>
                <a:cs typeface="Courier New"/>
                <a:sym typeface="Courier New"/>
              </a:rPr>
              <a:t>    if abs(aspect_ratio - TARGET_ASPECT) &gt; ASPECT_TOLERANCE:</a:t>
            </a:r>
          </a:p>
          <a:p>
            <a:pPr algn="l">
              <a:lnSpc>
                <a:spcPct val="115000"/>
              </a:lnSpc>
            </a:pPr>
            <a:r>
              <a:rPr sz="1250" b="0" i="0">
                <a:solidFill>
                  <a:srgbClr val="FFFFFF"/>
                </a:solidFill>
                <a:latin typeface="Courier New"/>
                <a:ea typeface="Courier New"/>
                <a:cs typeface="Courier New"/>
                <a:sym typeface="Courier New"/>
              </a:rPr>
              <a:t>        return "FAIL", f"Shape Defect (Ratio: {aspect_ratio:.2f})", mask</a:t>
            </a:r>
          </a:p>
        </p:txBody>
      </p:sp>
      <p:sp>
        <p:nvSpPr>
          <p:cNvPr id="6" name="blk0074"/>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separate tests, each returning immediately. There is no score and no combined judgement — the first test that fails is the answer you get.</a:t>
            </a:r>
          </a:p>
        </p:txBody>
      </p:sp>
      <p:sp>
        <p:nvSpPr>
          <p:cNvPr id="7" name="blk0075"/>
          <p:cNvSpPr txBox="1"/>
          <p:nvPr/>
        </p:nvSpPr>
        <p:spPr>
          <a:xfrm>
            <a:off x="687600" y="5570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So a part that is both too small and the wrong shape reports only </a:t>
            </a:r>
            <a:r>
              <a:rPr sz="1419" b="0" i="0">
                <a:solidFill>
                  <a:srgbClr val="FFFFFF"/>
                </a:solidFill>
                <a:latin typeface="Courier New"/>
                <a:ea typeface="Courier New"/>
                <a:cs typeface="Courier New"/>
                <a:sym typeface="Courier New"/>
              </a:rPr>
              <a:t>Too Small</a:t>
            </a:r>
            <a:r>
              <a:rPr sz="1650" b="0" i="0">
                <a:solidFill>
                  <a:srgbClr val="FFFFFF"/>
                </a:solidFill>
                <a:latin typeface="Avenir"/>
                <a:ea typeface="Avenir"/>
                <a:cs typeface="Avenir"/>
                <a:sym typeface="Avenir"/>
              </a:rPr>
              <a:t>, and never mentions the shape. That is a deliberate trade: simple to read, simple to write, and it always tells you the first thing that is wrong. If your factory needed all the faults at once, this is the shape of code you would have to rewrite.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Rows first, then columns</a:t>
            </a:r>
          </a:p>
        </p:txBody>
      </p:sp>
      <p:sp>
        <p:nvSpPr>
          <p:cNvPr id="3" name="blk007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line students get wrong most often, and it is worth reading twice:</a:t>
            </a:r>
          </a:p>
        </p:txBody>
      </p:sp>
      <p:sp>
        <p:nvSpPr>
          <p:cNvPr id="4" name="blk0078"/>
          <p:cNvSpPr/>
          <p:nvPr/>
        </p:nvSpPr>
        <p:spPr>
          <a:xfrm>
            <a:off x="687600" y="2664000"/>
            <a:ext cx="8686800" cy="58871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8"/>
          <p:cNvSpPr txBox="1"/>
          <p:nvPr/>
        </p:nvSpPr>
        <p:spPr>
          <a:xfrm>
            <a:off x="910799" y="2826000"/>
            <a:ext cx="8240400" cy="264715"/>
          </a:xfrm>
          <a:prstGeom prst="rect">
            <a:avLst/>
          </a:prstGeom>
          <a:noFill/>
        </p:spPr>
        <p:txBody>
          <a:bodyPr wrap="square" anchor="t" lIns="0" rIns="0" tIns="0" bIns="0">
            <a:noAutofit/>
          </a:bodyPr>
          <a:lstStyle/>
          <a:p>
            <a:pPr algn="l">
              <a:lnSpc>
                <a:spcPct val="115000"/>
              </a:lnSpc>
            </a:pPr>
            <a:r>
              <a:rPr sz="1600" b="0" i="0">
                <a:solidFill>
                  <a:srgbClr val="FFFFFF"/>
                </a:solidFill>
                <a:latin typeface="Courier New"/>
                <a:ea typeface="Courier New"/>
                <a:cs typeface="Courier New"/>
                <a:sym typeface="Courier New"/>
              </a:rPr>
              <a:t>        roi = frame[y1:y2, x1:x2]</a:t>
            </a:r>
          </a:p>
        </p:txBody>
      </p:sp>
      <p:sp>
        <p:nvSpPr>
          <p:cNvPr id="6" name="blk0079"/>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NumPy slice takes rows first and columns second. </a:t>
            </a:r>
            <a:r>
              <a:rPr sz="1743" b="0" i="0">
                <a:solidFill>
                  <a:srgbClr val="FFFFFF"/>
                </a:solidFill>
                <a:latin typeface="Courier New"/>
                <a:ea typeface="Courier New"/>
                <a:cs typeface="Courier New"/>
                <a:sym typeface="Courier New"/>
              </a:rPr>
              <a:t>y1:y2</a:t>
            </a:r>
            <a:r>
              <a:rPr sz="2027" b="0" i="0">
                <a:solidFill>
                  <a:srgbClr val="FFFFFF"/>
                </a:solidFill>
                <a:latin typeface="Avenir"/>
                <a:ea typeface="Avenir"/>
                <a:cs typeface="Avenir"/>
                <a:sym typeface="Avenir"/>
              </a:rPr>
              <a:t> picks the vertical span, </a:t>
            </a:r>
            <a:r>
              <a:rPr sz="1743" b="0" i="0">
                <a:solidFill>
                  <a:srgbClr val="FFFFFF"/>
                </a:solidFill>
                <a:latin typeface="Courier New"/>
                <a:ea typeface="Courier New"/>
                <a:cs typeface="Courier New"/>
                <a:sym typeface="Courier New"/>
              </a:rPr>
              <a:t>x1:x2</a:t>
            </a:r>
            <a:r>
              <a:rPr sz="2027" b="0" i="0">
                <a:solidFill>
                  <a:srgbClr val="FFFFFF"/>
                </a:solidFill>
                <a:latin typeface="Avenir"/>
                <a:ea typeface="Avenir"/>
                <a:cs typeface="Avenir"/>
                <a:sym typeface="Avenir"/>
              </a:rPr>
              <a:t> picks the horizontal span. It is the opposite order to how you say it out loud, and swapping them produces an error rather than a wrong answer — which is a small mercy.</a:t>
            </a:r>
          </a:p>
          <a:p>
            <a:pPr algn="l">
              <a:lnSpc>
                <a:spcPct val="100000"/>
              </a:lnSpc>
            </a:pPr>
            <a:r>
              <a:rPr sz="2027" b="0" i="0">
                <a:solidFill>
                  <a:srgbClr val="FFFFFF"/>
                </a:solidFill>
                <a:latin typeface="Avenir"/>
                <a:ea typeface="Avenir"/>
                <a:cs typeface="Avenir"/>
                <a:sym typeface="Avenir"/>
              </a:rPr>
              <a:t>The constants are in the same order, which helps and hurts in equal measure:</a:t>
            </a:r>
          </a:p>
        </p:txBody>
      </p:sp>
      <p:sp>
        <p:nvSpPr>
          <p:cNvPr id="7" name="blk0080"/>
          <p:cNvSpPr/>
          <p:nvPr/>
        </p:nvSpPr>
        <p:spPr>
          <a:xfrm>
            <a:off x="687600" y="5726403"/>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0"/>
          <p:cNvSpPr txBox="1"/>
          <p:nvPr/>
        </p:nvSpPr>
        <p:spPr>
          <a:xfrm>
            <a:off x="910799" y="5888403"/>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Base ROI Coordinates [y_min, y_max, x_min, x_max] on 640x480 frame</a:t>
            </a:r>
          </a:p>
          <a:p>
            <a:pPr algn="l">
              <a:lnSpc>
                <a:spcPct val="115000"/>
              </a:lnSpc>
            </a:pPr>
            <a:r>
              <a:rPr sz="1300" b="0" i="0">
                <a:solidFill>
                  <a:srgbClr val="FFFFFF"/>
                </a:solidFill>
                <a:latin typeface="Courier New"/>
                <a:ea typeface="Courier New"/>
                <a:cs typeface="Courier New"/>
                <a:sym typeface="Courier New"/>
              </a:rPr>
              <a:t>BASE_ROI = [120, 360, 200, 440]</a:t>
            </a:r>
          </a:p>
        </p:txBody>
      </p:sp>
      <p:sp>
        <p:nvSpPr>
          <p:cNvPr id="9" name="blk0081"/>
          <p:cNvSpPr txBox="1"/>
          <p:nvPr/>
        </p:nvSpPr>
        <p:spPr>
          <a:xfrm>
            <a:off x="687600" y="6588565"/>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Rows, then columns, in the comment, in the constant and in the slice. Consistent, and still the most common source of a transposed crop.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Scale and offset around the middle</a:t>
            </a:r>
          </a:p>
        </p:txBody>
      </p:sp>
      <p:sp>
        <p:nvSpPr>
          <p:cNvPr id="3" name="blk008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inspection zone is not hard-coded. It is built at run time from a centre, a scale and an offset, so you can retune it without touching any arithmetic:</a:t>
            </a:r>
          </a:p>
        </p:txBody>
      </p:sp>
      <p:sp>
        <p:nvSpPr>
          <p:cNvPr id="4" name="blk0084"/>
          <p:cNvSpPr/>
          <p:nvPr/>
        </p:nvSpPr>
        <p:spPr>
          <a:xfrm>
            <a:off x="687600" y="3384000"/>
            <a:ext cx="8686800" cy="81041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4"/>
          <p:cNvSpPr txBox="1"/>
          <p:nvPr/>
        </p:nvSpPr>
        <p:spPr>
          <a:xfrm>
            <a:off x="910799" y="3546000"/>
            <a:ext cx="8240400" cy="486414"/>
          </a:xfrm>
          <a:prstGeom prst="rect">
            <a:avLst/>
          </a:prstGeom>
          <a:noFill/>
        </p:spPr>
        <p:txBody>
          <a:bodyPr wrap="square" anchor="t" lIns="0" rIns="0" tIns="0" bIns="0">
            <a:noAutofit/>
          </a:bodyPr>
          <a:lstStyle/>
          <a:p>
            <a:pPr algn="l">
              <a:lnSpc>
                <a:spcPct val="115000"/>
              </a:lnSpc>
            </a:pPr>
            <a:r>
              <a:rPr sz="980" b="0" i="0">
                <a:solidFill>
                  <a:srgbClr val="FFFFFF"/>
                </a:solidFill>
                <a:latin typeface="Courier New"/>
                <a:ea typeface="Courier New"/>
                <a:cs typeface="Courier New"/>
                <a:sym typeface="Courier New"/>
              </a:rPr>
              <a:t>ROI_SCALE = 0.95      # 1.0 = original size, 0.5 = half size, 2.0 = double size</a:t>
            </a:r>
          </a:p>
          <a:p>
            <a:pPr algn="l">
              <a:lnSpc>
                <a:spcPct val="115000"/>
              </a:lnSpc>
            </a:pPr>
            <a:r>
              <a:rPr sz="980" b="0" i="0">
                <a:solidFill>
                  <a:srgbClr val="FFFFFF"/>
                </a:solidFill>
                <a:latin typeface="Courier New"/>
                <a:ea typeface="Courier New"/>
                <a:cs typeface="Courier New"/>
                <a:sym typeface="Courier New"/>
              </a:rPr>
              <a:t>ROI_OFFSET_X = -15     # Horizontal offset (pixels), positive = right</a:t>
            </a:r>
          </a:p>
          <a:p>
            <a:pPr algn="l">
              <a:lnSpc>
                <a:spcPct val="115000"/>
              </a:lnSpc>
            </a:pPr>
            <a:r>
              <a:rPr sz="980" b="0" i="0">
                <a:solidFill>
                  <a:srgbClr val="FFFFFF"/>
                </a:solidFill>
                <a:latin typeface="Courier New"/>
                <a:ea typeface="Courier New"/>
                <a:cs typeface="Courier New"/>
                <a:sym typeface="Courier New"/>
              </a:rPr>
              <a:t>ROI_OFFSET_Y = -70     # Vertical offset (pixels), positive = down</a:t>
            </a:r>
          </a:p>
        </p:txBody>
      </p:sp>
      <p:sp>
        <p:nvSpPr>
          <p:cNvPr id="6" name="blk0085"/>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Scale 0.95 shrinks the box slightly. The offsets move it — negative X moves left, negative Y moves up. Three numbers, and you can retune the whole zone by editing three lines.</a:t>
            </a:r>
          </a:p>
        </p:txBody>
      </p:sp>
      <p:sp>
        <p:nvSpPr>
          <p:cNvPr id="7" name="blk0086"/>
          <p:cNvSpPr txBox="1"/>
          <p:nvPr/>
        </p:nvSpPr>
        <p:spPr>
          <a:xfrm>
            <a:off x="687600" y="5879659"/>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Note that 0.95 does not mean 5 percent smaller in each direction. The scale is applied to the width and height before the centre is recalculated, so it is genuinely a scale of the box and not a fudge.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Clamping, again</a:t>
            </a:r>
          </a:p>
        </p:txBody>
      </p:sp>
      <p:sp>
        <p:nvSpPr>
          <p:cNvPr id="3" name="blk008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At the bottom of </a:t>
            </a:r>
            <a:r>
              <a:rPr sz="1743" b="0" i="0">
                <a:solidFill>
                  <a:srgbClr val="FFFFFF"/>
                </a:solidFill>
                <a:latin typeface="Courier New"/>
                <a:ea typeface="Courier New"/>
                <a:cs typeface="Courier New"/>
                <a:sym typeface="Courier New"/>
              </a:rPr>
              <a:t>calculate_roi_bounds</a:t>
            </a:r>
            <a:r>
              <a:rPr sz="2027" b="0" i="0">
                <a:solidFill>
                  <a:srgbClr val="FFFFFF"/>
                </a:solidFill>
                <a:latin typeface="Avenir"/>
                <a:ea typeface="Avenir"/>
                <a:cs typeface="Avenir"/>
                <a:sym typeface="Avenir"/>
              </a:rPr>
              <a:t> there are four lines that look like they are tidying up. They are not. They are the reason this function cannot crash.</a:t>
            </a:r>
          </a:p>
        </p:txBody>
      </p:sp>
      <p:sp>
        <p:nvSpPr>
          <p:cNvPr id="4" name="blk0089"/>
          <p:cNvSpPr/>
          <p:nvPr/>
        </p:nvSpPr>
        <p:spPr>
          <a:xfrm>
            <a:off x="687600" y="3240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9"/>
          <p:cNvSpPr txBox="1"/>
          <p:nvPr/>
        </p:nvSpPr>
        <p:spPr>
          <a:xfrm>
            <a:off x="910799" y="3401999"/>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new_x1 = max(0, min(new_x1, 640))</a:t>
            </a:r>
          </a:p>
          <a:p>
            <a:pPr algn="l">
              <a:lnSpc>
                <a:spcPct val="115000"/>
              </a:lnSpc>
            </a:pPr>
            <a:r>
              <a:rPr sz="1500" b="0" i="0">
                <a:solidFill>
                  <a:srgbClr val="FFFFFF"/>
                </a:solidFill>
                <a:latin typeface="Courier New"/>
                <a:ea typeface="Courier New"/>
                <a:cs typeface="Courier New"/>
                <a:sym typeface="Courier New"/>
              </a:rPr>
              <a:t>    new_x2 = max(0, min(new_x2, 640))</a:t>
            </a:r>
          </a:p>
        </p:txBody>
      </p:sp>
      <p:sp>
        <p:nvSpPr>
          <p:cNvPr id="6" name="blk0090"/>
          <p:cNvSpPr txBox="1"/>
          <p:nvPr/>
        </p:nvSpPr>
        <p:spPr>
          <a:xfrm>
            <a:off x="687600" y="417600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Push the offsets far enough and the box hangs off the edge of the picture. A NumPy slice with an out-of-range end is not an error — it silently returns a smaller region, or an empty one. These lines make sure the region is always inside the frame.</a:t>
            </a:r>
          </a:p>
        </p:txBody>
      </p:sp>
      <p:sp>
        <p:nvSpPr>
          <p:cNvPr id="7" name="blk0091"/>
          <p:cNvSpPr/>
          <p:nvPr/>
        </p:nvSpPr>
        <p:spPr>
          <a:xfrm>
            <a:off x="687600" y="582857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91"/>
          <p:cNvSpPr/>
          <p:nvPr/>
        </p:nvSpPr>
        <p:spPr>
          <a:xfrm>
            <a:off x="885600" y="627965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1"/>
          <p:cNvSpPr txBox="1"/>
          <p:nvPr/>
        </p:nvSpPr>
        <p:spPr>
          <a:xfrm>
            <a:off x="1162800" y="5972573"/>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same clamp as </a:t>
            </a:r>
            <a:r>
              <a:rPr sz="1290" b="0" i="1">
                <a:solidFill>
                  <a:srgbClr val="FFCF08"/>
                </a:solidFill>
                <a:latin typeface="Courier New"/>
                <a:ea typeface="Courier New"/>
                <a:cs typeface="Courier New"/>
                <a:sym typeface="Courier New"/>
              </a:rPr>
              <a:t>map_value</a:t>
            </a:r>
            <a:r>
              <a:rPr sz="1500" b="0" i="1">
                <a:solidFill>
                  <a:srgbClr val="FFCF08"/>
                </a:solidFill>
                <a:latin typeface="Avenir"/>
                <a:ea typeface="Avenir"/>
                <a:cs typeface="Avenir"/>
                <a:sym typeface="Avenir"/>
              </a:rPr>
              <a:t> in Project 4, doing the same job on a different type. Once you have seen it twice you start looking for it everywhere, and in this module it is never wrong.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numbers you will actually tune</a:t>
            </a:r>
          </a:p>
        </p:txBody>
      </p:sp>
      <p:sp>
        <p:nvSpPr>
          <p:cNvPr id="3" name="blk009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constants decide what passes, and all four are at the top of the file for exactly this reason:</a:t>
            </a:r>
          </a:p>
        </p:txBody>
      </p:sp>
      <p:sp>
        <p:nvSpPr>
          <p:cNvPr id="4" name="blk0094"/>
          <p:cNvSpPr/>
          <p:nvPr/>
        </p:nvSpPr>
        <p:spPr>
          <a:xfrm>
            <a:off x="687600" y="3168000"/>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4"/>
          <p:cNvSpPr txBox="1"/>
          <p:nvPr/>
        </p:nvSpPr>
        <p:spPr>
          <a:xfrm>
            <a:off x="910799" y="3330000"/>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MIN_AREA = 2000       # Minimum contour area (pixels)</a:t>
            </a:r>
          </a:p>
          <a:p>
            <a:pPr algn="l">
              <a:lnSpc>
                <a:spcPct val="115000"/>
              </a:lnSpc>
            </a:pPr>
            <a:r>
              <a:rPr sz="1250" b="0" i="0">
                <a:solidFill>
                  <a:srgbClr val="FFFFFF"/>
                </a:solidFill>
                <a:latin typeface="Courier New"/>
                <a:ea typeface="Courier New"/>
                <a:cs typeface="Courier New"/>
                <a:sym typeface="Courier New"/>
              </a:rPr>
              <a:t>MAX_AREA = 6000       # Maximum contour area (pixels)</a:t>
            </a:r>
          </a:p>
          <a:p>
            <a:pPr algn="l">
              <a:lnSpc>
                <a:spcPct val="115000"/>
              </a:lnSpc>
            </a:pPr>
            <a:r>
              <a:rPr sz="1250" b="0" i="0">
                <a:solidFill>
                  <a:srgbClr val="FFFFFF"/>
                </a:solidFill>
                <a:latin typeface="Courier New"/>
                <a:ea typeface="Courier New"/>
                <a:cs typeface="Courier New"/>
                <a:sym typeface="Courier New"/>
              </a:rPr>
              <a:t>TARGET_ASPECT = 1.0   # Expected width/height ratio (Square = 1.0)</a:t>
            </a:r>
          </a:p>
          <a:p>
            <a:pPr algn="l">
              <a:lnSpc>
                <a:spcPct val="115000"/>
              </a:lnSpc>
            </a:pPr>
            <a:r>
              <a:rPr sz="1250" b="0" i="0">
                <a:solidFill>
                  <a:srgbClr val="FFFFFF"/>
                </a:solidFill>
                <a:latin typeface="Courier New"/>
                <a:ea typeface="Courier New"/>
                <a:cs typeface="Courier New"/>
                <a:sym typeface="Courier New"/>
              </a:rPr>
              <a:t>ASPECT_TOLERANCE = 0.25</a:t>
            </a:r>
          </a:p>
        </p:txBody>
      </p:sp>
      <p:sp>
        <p:nvSpPr>
          <p:cNvPr id="6" name="blk0095"/>
          <p:cNvSpPr/>
          <p:nvPr/>
        </p:nvSpPr>
        <p:spPr>
          <a:xfrm>
            <a:off x="741600" y="456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95"/>
          <p:cNvSpPr txBox="1"/>
          <p:nvPr/>
        </p:nvSpPr>
        <p:spPr>
          <a:xfrm>
            <a:off x="1252800" y="4536000"/>
            <a:ext cx="8118000" cy="503999"/>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MIN_AREA</a:t>
            </a:r>
            <a:r>
              <a:rPr sz="1600" b="0" i="0">
                <a:solidFill>
                  <a:srgbClr val="FFFFFF"/>
                </a:solidFill>
                <a:latin typeface="Avenir"/>
                <a:ea typeface="Avenir"/>
                <a:cs typeface="Avenir"/>
                <a:sym typeface="Avenir"/>
              </a:rPr>
              <a:t>  rejects specks and far-away parts</a:t>
            </a:r>
          </a:p>
        </p:txBody>
      </p:sp>
      <p:sp>
        <p:nvSpPr>
          <p:cNvPr id="8" name="blk0096"/>
          <p:cNvSpPr/>
          <p:nvPr/>
        </p:nvSpPr>
        <p:spPr>
          <a:xfrm>
            <a:off x="741600" y="506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6"/>
          <p:cNvSpPr txBox="1"/>
          <p:nvPr/>
        </p:nvSpPr>
        <p:spPr>
          <a:xfrm>
            <a:off x="1252800" y="5040000"/>
            <a:ext cx="8118000" cy="503999"/>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MAX_AREA</a:t>
            </a:r>
            <a:r>
              <a:rPr sz="1600" b="0" i="0">
                <a:solidFill>
                  <a:srgbClr val="FFFFFF"/>
                </a:solidFill>
                <a:latin typeface="Avenir"/>
                <a:ea typeface="Avenir"/>
                <a:cs typeface="Avenir"/>
                <a:sym typeface="Avenir"/>
              </a:rPr>
              <a:t>  rejects parts that are far too big to be the same part</a:t>
            </a:r>
          </a:p>
        </p:txBody>
      </p:sp>
      <p:sp>
        <p:nvSpPr>
          <p:cNvPr id="10" name="blk0097"/>
          <p:cNvSpPr/>
          <p:nvPr/>
        </p:nvSpPr>
        <p:spPr>
          <a:xfrm>
            <a:off x="741600" y="557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97"/>
          <p:cNvSpPr txBox="1"/>
          <p:nvPr/>
        </p:nvSpPr>
        <p:spPr>
          <a:xfrm>
            <a:off x="1252800" y="5544000"/>
            <a:ext cx="8118000" cy="503999"/>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TARGET_ASPECT</a:t>
            </a:r>
            <a:r>
              <a:rPr sz="1600" b="0" i="0">
                <a:solidFill>
                  <a:srgbClr val="FFFFFF"/>
                </a:solidFill>
                <a:latin typeface="Avenir"/>
                <a:ea typeface="Avenir"/>
                <a:cs typeface="Avenir"/>
                <a:sym typeface="Avenir"/>
              </a:rPr>
              <a:t>  1.0 because the part is meant to be square</a:t>
            </a:r>
          </a:p>
        </p:txBody>
      </p:sp>
      <p:sp>
        <p:nvSpPr>
          <p:cNvPr id="12" name="blk0098"/>
          <p:cNvSpPr/>
          <p:nvPr/>
        </p:nvSpPr>
        <p:spPr>
          <a:xfrm>
            <a:off x="741600" y="60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098"/>
          <p:cNvSpPr txBox="1"/>
          <p:nvPr/>
        </p:nvSpPr>
        <p:spPr>
          <a:xfrm>
            <a:off x="1252800" y="6048000"/>
            <a:ext cx="8118000" cy="503999"/>
          </a:xfrm>
          <a:prstGeom prst="rect">
            <a:avLst/>
          </a:prstGeom>
          <a:noFill/>
        </p:spPr>
        <p:txBody>
          <a:bodyPr wrap="square" anchor="t" lIns="0" rIns="0" tIns="0" bIns="0">
            <a:noAutofit/>
          </a:bodyPr>
          <a:lstStyle/>
          <a:p>
            <a:pPr algn="l">
              <a:lnSpc>
                <a:spcPct val="120000"/>
              </a:lnSpc>
            </a:pPr>
            <a:r>
              <a:rPr sz="1376" b="0" i="0">
                <a:solidFill>
                  <a:srgbClr val="FFFFFF"/>
                </a:solidFill>
                <a:latin typeface="Courier New"/>
                <a:ea typeface="Courier New"/>
                <a:cs typeface="Courier New"/>
                <a:sym typeface="Courier New"/>
              </a:rPr>
              <a:t>ASPECT_TOLERANCE</a:t>
            </a:r>
            <a:r>
              <a:rPr sz="1600" b="0" i="0">
                <a:solidFill>
                  <a:srgbClr val="FFFFFF"/>
                </a:solidFill>
                <a:latin typeface="Avenir"/>
                <a:ea typeface="Avenir"/>
                <a:cs typeface="Avenir"/>
                <a:sym typeface="Avenir"/>
              </a:rPr>
              <a:t>  how far off square is still acceptable</a:t>
            </a:r>
          </a:p>
        </p:txBody>
      </p:sp>
      <p:sp>
        <p:nvSpPr>
          <p:cNvPr id="14" name="blk0099"/>
          <p:cNvSpPr txBox="1"/>
          <p:nvPr/>
        </p:nvSpPr>
        <p:spPr>
          <a:xfrm>
            <a:off x="687600" y="6448608"/>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They look like measurements of one specific part — and that is the problem. They describe the parts you had, not the parts you are supposed to make; derive them from the specification, not a sample.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p>
        </p:txBody>
      </p:sp>
      <p:sp>
        <p:nvSpPr>
          <p:cNvPr id="3" name="blk010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imports, and for once every one of them is used:</a:t>
            </a:r>
          </a:p>
        </p:txBody>
      </p:sp>
      <p:sp>
        <p:nvSpPr>
          <p:cNvPr id="4" name="blk0102"/>
          <p:cNvSpPr/>
          <p:nvPr/>
        </p:nvSpPr>
        <p:spPr>
          <a:xfrm>
            <a:off x="687600" y="2664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2"/>
          <p:cNvSpPr txBox="1"/>
          <p:nvPr/>
        </p:nvSpPr>
        <p:spPr>
          <a:xfrm>
            <a:off x="910799" y="2826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import cv2</a:t>
            </a:r>
          </a:p>
          <a:p>
            <a:pPr algn="l">
              <a:lnSpc>
                <a:spcPct val="115000"/>
              </a:lnSpc>
            </a:pPr>
            <a:r>
              <a:rPr sz="1500" b="0" i="0">
                <a:solidFill>
                  <a:srgbClr val="FFFFFF"/>
                </a:solidFill>
                <a:latin typeface="Courier New"/>
                <a:ea typeface="Courier New"/>
                <a:cs typeface="Courier New"/>
                <a:sym typeface="Courier New"/>
              </a:rPr>
              <a:t>import numpy as np</a:t>
            </a:r>
          </a:p>
          <a:p>
            <a:pPr algn="l">
              <a:lnSpc>
                <a:spcPct val="115000"/>
              </a:lnSpc>
            </a:pPr>
            <a:r>
              <a:rPr sz="1500" b="0" i="0">
                <a:solidFill>
                  <a:srgbClr val="FFFFFF"/>
                </a:solidFill>
                <a:latin typeface="Courier New"/>
                <a:ea typeface="Courier New"/>
                <a:cs typeface="Courier New"/>
                <a:sym typeface="Courier New"/>
              </a:rPr>
              <a:t>import time</a:t>
            </a:r>
          </a:p>
        </p:txBody>
      </p:sp>
      <p:sp>
        <p:nvSpPr>
          <p:cNvPr id="6" name="blk0103"/>
          <p:cNvSpPr txBox="1"/>
          <p:nvPr/>
        </p:nvSpPr>
        <p:spPr>
          <a:xfrm>
            <a:off x="687600" y="3840512"/>
            <a:ext cx="7542000" cy="3884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cv2</a:t>
            </a:r>
            <a:r>
              <a:rPr sz="2027" b="0" i="0">
                <a:solidFill>
                  <a:srgbClr val="FFFFFF"/>
                </a:solidFill>
                <a:latin typeface="Avenir"/>
                <a:ea typeface="Avenir"/>
                <a:cs typeface="Avenir"/>
                <a:sym typeface="Avenir"/>
              </a:rPr>
              <a:t> for the camera, colour, contours and drawing. </a:t>
            </a:r>
            <a:r>
              <a:rPr sz="1743" b="0" i="0">
                <a:solidFill>
                  <a:srgbClr val="FFFFFF"/>
                </a:solidFill>
                <a:latin typeface="Courier New"/>
                <a:ea typeface="Courier New"/>
                <a:cs typeface="Courier New"/>
                <a:sym typeface="Courier New"/>
              </a:rPr>
              <a:t>numpy</a:t>
            </a:r>
            <a:r>
              <a:rPr sz="2027" b="0" i="0">
                <a:solidFill>
                  <a:srgbClr val="FFFFFF"/>
                </a:solidFill>
                <a:latin typeface="Avenir"/>
                <a:ea typeface="Avenir"/>
                <a:cs typeface="Avenir"/>
                <a:sym typeface="Avenir"/>
              </a:rPr>
              <a:t> for the colour bounds and the kernel. </a:t>
            </a:r>
            <a:r>
              <a:rPr sz="1743" b="0" i="0">
                <a:solidFill>
                  <a:srgbClr val="FFFFFF"/>
                </a:solidFill>
                <a:latin typeface="Courier New"/>
                <a:ea typeface="Courier New"/>
                <a:cs typeface="Courier New"/>
                <a:sym typeface="Courier New"/>
              </a:rPr>
              <a:t>time</a:t>
            </a:r>
            <a:r>
              <a:rPr sz="2027" b="0" i="0">
                <a:solidFill>
                  <a:srgbClr val="FFFFFF"/>
                </a:solidFill>
                <a:latin typeface="Avenir"/>
                <a:ea typeface="Avenir"/>
                <a:cs typeface="Avenir"/>
                <a:sym typeface="Avenir"/>
              </a:rPr>
              <a:t> for the three waits in the robot setup.</a:t>
            </a:r>
          </a:p>
        </p:txBody>
      </p:sp>
      <p:sp>
        <p:nvSpPr>
          <p:cNvPr id="7" name="blk0104"/>
          <p:cNvSpPr txBox="1"/>
          <p:nvPr/>
        </p:nvSpPr>
        <p:spPr>
          <a:xfrm>
            <a:off x="687600" y="4875256"/>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smallest import block in the module so far. Project 3 needed os and threading, Project 4 needed math and mediapipe, and this one needs three. If an import is missing you will find out immediately with a NameError naming it, which makes this the easiest project in the module to get running.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p>
        </p:txBody>
      </p:sp>
      <p:sp>
        <p:nvSpPr>
          <p:cNvPr id="3" name="blk010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import, unchanged from every project before it:</a:t>
            </a:r>
          </a:p>
        </p:txBody>
      </p:sp>
      <p:sp>
        <p:nvSpPr>
          <p:cNvPr id="4" name="blk0107"/>
          <p:cNvSpPr/>
          <p:nvPr/>
        </p:nvSpPr>
        <p:spPr>
          <a:xfrm>
            <a:off x="687600" y="230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7"/>
          <p:cNvSpPr txBox="1"/>
          <p:nvPr/>
        </p:nvSpPr>
        <p:spPr>
          <a:xfrm>
            <a:off x="910799" y="246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108"/>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this time it genuinely may go unused, because the robot setup is inside a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that carries on when it fails.</a:t>
            </a:r>
          </a:p>
        </p:txBody>
      </p:sp>
      <p:sp>
        <p:nvSpPr>
          <p:cNvPr id="7" name="blk0109"/>
          <p:cNvSpPr txBox="1"/>
          <p:nvPr/>
        </p:nvSpPr>
        <p:spPr>
          <a:xfrm>
            <a:off x="687600" y="3888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Import the name even if you are working without hardware. The import is harmless when there is no arm, and it means the one line you would have to change to enable the robot is already correct.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Copy it, and start it once</a:t>
            </a:r>
          </a:p>
        </p:txBody>
      </p:sp>
      <p:sp>
        <p:nvSpPr>
          <p:cNvPr id="3" name="blk011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file, and this time you do not need the arm at all:</a:t>
            </a:r>
          </a:p>
        </p:txBody>
      </p:sp>
      <p:sp>
        <p:nvSpPr>
          <p:cNvPr id="4" name="blk0112"/>
          <p:cNvSpPr txBox="1"/>
          <p:nvPr/>
        </p:nvSpPr>
        <p:spPr>
          <a:xfrm>
            <a:off x="687600" y="244800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M2-P5-Starter.py er@192.168.1.149:Documents</a:t>
            </a:r>
          </a:p>
        </p:txBody>
      </p:sp>
      <p:sp>
        <p:nvSpPr>
          <p:cNvPr id="5" name="blk0113"/>
          <p:cNvSpPr txBox="1"/>
          <p:nvPr/>
        </p:nvSpPr>
        <p:spPr>
          <a:xfrm>
            <a:off x="687600" y="331199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M2-P5-Starter.py</a:t>
            </a:r>
          </a:p>
        </p:txBody>
      </p:sp>
      <p:sp>
        <p:nvSpPr>
          <p:cNvPr id="6" name="blk0114"/>
          <p:cNvSpPr txBox="1"/>
          <p:nvPr/>
        </p:nvSpPr>
        <p:spPr>
          <a:xfrm>
            <a:off x="687600" y="417600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Run it now, with every TODO still empty. It fails, but not where you would expect:</a:t>
            </a:r>
          </a:p>
        </p:txBody>
      </p:sp>
      <p:sp>
        <p:nvSpPr>
          <p:cNvPr id="7" name="blk0115"/>
          <p:cNvSpPr/>
          <p:nvPr/>
        </p:nvSpPr>
        <p:spPr>
          <a:xfrm>
            <a:off x="687600" y="4901829"/>
            <a:ext cx="8686800" cy="135804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5"/>
          <p:cNvSpPr txBox="1"/>
          <p:nvPr/>
        </p:nvSpPr>
        <p:spPr>
          <a:xfrm>
            <a:off x="910799" y="5063828"/>
            <a:ext cx="8240400" cy="1034045"/>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Robot ready.</a:t>
            </a:r>
          </a:p>
          <a:p>
            <a:pPr algn="l">
              <a:lnSpc>
                <a:spcPct val="115000"/>
              </a:lnSpc>
            </a:pPr>
            <a:r>
              <a:rPr sz="1250" b="0" i="0">
                <a:solidFill>
                  <a:srgbClr val="FFFFFF"/>
                </a:solidFill>
                <a:latin typeface="Courier New"/>
                <a:ea typeface="Courier New"/>
                <a:cs typeface="Courier New"/>
                <a:sym typeface="Courier New"/>
              </a:rPr>
              <a:t>Traceback (most recent call last):</a:t>
            </a:r>
          </a:p>
          <a:p>
            <a:pPr algn="l">
              <a:lnSpc>
                <a:spcPct val="115000"/>
              </a:lnSpc>
            </a:pPr>
            <a:r>
              <a:rPr sz="1250" b="0" i="0">
                <a:solidFill>
                  <a:srgbClr val="FFFFFF"/>
                </a:solidFill>
                <a:latin typeface="Courier New"/>
                <a:ea typeface="Courier New"/>
                <a:cs typeface="Courier New"/>
                <a:sym typeface="Courier New"/>
              </a:rPr>
              <a:t>  File "M2-P5-Starter.py", line 51, in &lt;module&gt;</a:t>
            </a:r>
          </a:p>
          <a:p>
            <a:pPr algn="l">
              <a:lnSpc>
                <a:spcPct val="115000"/>
              </a:lnSpc>
            </a:pPr>
            <a:r>
              <a:rPr sz="1250" b="0" i="0">
                <a:solidFill>
                  <a:srgbClr val="FFFFFF"/>
                </a:solidFill>
                <a:latin typeface="Courier New"/>
                <a:ea typeface="Courier New"/>
                <a:cs typeface="Courier New"/>
                <a:sym typeface="Courier New"/>
              </a:rPr>
              <a:t>    LOWER_GREEN = np.array([35, 70, 70])</a:t>
            </a:r>
          </a:p>
          <a:p>
            <a:pPr algn="l">
              <a:lnSpc>
                <a:spcPct val="115000"/>
              </a:lnSpc>
            </a:pPr>
            <a:r>
              <a:rPr sz="1250" b="0" i="0">
                <a:solidFill>
                  <a:srgbClr val="FFFFFF"/>
                </a:solidFill>
                <a:latin typeface="Courier New"/>
                <a:ea typeface="Courier New"/>
                <a:cs typeface="Courier New"/>
                <a:sym typeface="Courier New"/>
              </a:rPr>
              <a:t>NameError: name 'np' is not defined</a:t>
            </a:r>
          </a:p>
        </p:txBody>
      </p:sp>
      <p:sp>
        <p:nvSpPr>
          <p:cNvPr id="9" name="blk0116"/>
          <p:cNvSpPr txBox="1"/>
          <p:nvPr/>
        </p:nvSpPr>
        <p:spPr>
          <a:xfrm>
            <a:off x="687600" y="6367874"/>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those two lines together — the lesson. It prints </a:t>
            </a:r>
            <a:r>
              <a:rPr sz="1419" b="0" i="0">
                <a:solidFill>
                  <a:srgbClr val="FFFFFF"/>
                </a:solidFill>
                <a:latin typeface="Courier New"/>
                <a:ea typeface="Courier New"/>
                <a:cs typeface="Courier New"/>
                <a:sym typeface="Courier New"/>
              </a:rPr>
              <a:t>Robot ready.</a:t>
            </a:r>
            <a:r>
              <a:rPr sz="1650" b="0" i="0">
                <a:solidFill>
                  <a:srgbClr val="FFFFFF"/>
                </a:solidFill>
                <a:latin typeface="Avenir"/>
                <a:ea typeface="Avenir"/>
                <a:cs typeface="Avenir"/>
                <a:sym typeface="Avenir"/>
              </a:rPr>
              <a:t> and there is no robot: the empty TODO removed the connection code, so the </a:t>
            </a:r>
            <a:r>
              <a:rPr sz="1419" b="0" i="0">
                <a:solidFill>
                  <a:srgbClr val="FFFFFF"/>
                </a:solidFill>
                <a:latin typeface="Courier New"/>
                <a:ea typeface="Courier New"/>
                <a:cs typeface="Courier New"/>
                <a:sym typeface="Courier New"/>
              </a:rPr>
              <a:t>try</a:t>
            </a:r>
            <a:r>
              <a:rPr sz="1650" b="0" i="0">
                <a:solidFill>
                  <a:srgbClr val="FFFFFF"/>
                </a:solidFill>
                <a:latin typeface="Avenir"/>
                <a:ea typeface="Avenir"/>
                <a:cs typeface="Avenir"/>
                <a:sym typeface="Avenir"/>
              </a:rPr>
              <a:t> had nothing to fail on. Success means no exception.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p>
        </p:txBody>
      </p:sp>
      <p:sp>
        <p:nvSpPr>
          <p:cNvPr id="3" name="blk011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Connect, wait, power on, wait. The two sleeps are not padding:</a:t>
            </a:r>
          </a:p>
        </p:txBody>
      </p:sp>
      <p:sp>
        <p:nvSpPr>
          <p:cNvPr id="4" name="blk0119"/>
          <p:cNvSpPr/>
          <p:nvPr/>
        </p:nvSpPr>
        <p:spPr>
          <a:xfrm>
            <a:off x="687600" y="2664000"/>
            <a:ext cx="8686800" cy="148213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9"/>
          <p:cNvSpPr txBox="1"/>
          <p:nvPr/>
        </p:nvSpPr>
        <p:spPr>
          <a:xfrm>
            <a:off x="910799" y="2826000"/>
            <a:ext cx="8240400" cy="1158130"/>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print("Connecting to myCobot280...")</a:t>
            </a:r>
          </a:p>
          <a:p>
            <a:pPr algn="l">
              <a:lnSpc>
                <a:spcPct val="115000"/>
              </a:lnSpc>
            </a:pPr>
            <a:r>
              <a:rPr sz="1400" b="0" i="0">
                <a:solidFill>
                  <a:srgbClr val="FFFFFF"/>
                </a:solidFill>
                <a:latin typeface="Courier New"/>
                <a:ea typeface="Courier New"/>
                <a:cs typeface="Courier New"/>
                <a:sym typeface="Courier New"/>
              </a:rPr>
              <a:t>    mc = MyCobot280('/dev/ttyAMA0', 1000000)</a:t>
            </a:r>
          </a:p>
          <a:p>
            <a:pPr algn="l">
              <a:lnSpc>
                <a:spcPct val="115000"/>
              </a:lnSpc>
            </a:pPr>
            <a:r>
              <a:rPr sz="1400" b="0" i="0">
                <a:solidFill>
                  <a:srgbClr val="FFFFFF"/>
                </a:solidFill>
                <a:latin typeface="Courier New"/>
                <a:ea typeface="Courier New"/>
                <a:cs typeface="Courier New"/>
                <a:sym typeface="Courier New"/>
              </a:rPr>
              <a:t>    time.sleep(0.5)</a:t>
            </a:r>
          </a:p>
          <a:p>
            <a:pPr algn="l">
              <a:lnSpc>
                <a:spcPct val="115000"/>
              </a:lnSpc>
            </a:pPr>
            <a:r>
              <a:rPr sz="1400" b="0" i="0">
                <a:solidFill>
                  <a:srgbClr val="FFFFFF"/>
                </a:solidFill>
                <a:latin typeface="Courier New"/>
                <a:ea typeface="Courier New"/>
                <a:cs typeface="Courier New"/>
                <a:sym typeface="Courier New"/>
              </a:rPr>
              <a:t>    mc.power_on()</a:t>
            </a:r>
          </a:p>
          <a:p>
            <a:pPr algn="l">
              <a:lnSpc>
                <a:spcPct val="115000"/>
              </a:lnSpc>
            </a:pPr>
            <a:r>
              <a:rPr sz="1400" b="0" i="0">
                <a:solidFill>
                  <a:srgbClr val="FFFFFF"/>
                </a:solidFill>
                <a:latin typeface="Courier New"/>
                <a:ea typeface="Courier New"/>
                <a:cs typeface="Courier New"/>
                <a:sym typeface="Courier New"/>
              </a:rPr>
              <a:t>    time.sleep(0.5)</a:t>
            </a:r>
          </a:p>
        </p:txBody>
      </p:sp>
      <p:sp>
        <p:nvSpPr>
          <p:cNvPr id="6" name="blk0120"/>
          <p:cNvSpPr txBox="1"/>
          <p:nvPr/>
        </p:nvSpPr>
        <p:spPr>
          <a:xfrm>
            <a:off x="687600" y="4320000"/>
            <a:ext cx="7542000" cy="330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wait is for the arm to finish booting after the serial port opens. The second is after </a:t>
            </a:r>
            <a:r>
              <a:rPr sz="1743" b="0" i="0">
                <a:solidFill>
                  <a:srgbClr val="FFFFFF"/>
                </a:solidFill>
                <a:latin typeface="Courier New"/>
                <a:ea typeface="Courier New"/>
                <a:cs typeface="Courier New"/>
                <a:sym typeface="Courier New"/>
              </a:rPr>
              <a:t>power_on()</a:t>
            </a:r>
            <a:r>
              <a:rPr sz="2027" b="0" i="0">
                <a:solidFill>
                  <a:srgbClr val="FFFFFF"/>
                </a:solidFill>
                <a:latin typeface="Avenir"/>
                <a:ea typeface="Avenir"/>
                <a:cs typeface="Avenir"/>
                <a:sym typeface="Avenir"/>
              </a:rPr>
              <a:t>, which is a command with real work to do behind it.</a:t>
            </a:r>
          </a:p>
        </p:txBody>
      </p:sp>
      <p:sp>
        <p:nvSpPr>
          <p:cNvPr id="7" name="blk0121"/>
          <p:cNvSpPr txBox="1"/>
          <p:nvPr/>
        </p:nvSpPr>
        <p:spPr>
          <a:xfrm>
            <a:off x="687600" y="5354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any of this raises, the </a:t>
            </a:r>
            <a:r>
              <a:rPr sz="1419" b="0" i="0">
                <a:solidFill>
                  <a:srgbClr val="FFFFFF"/>
                </a:solidFill>
                <a:latin typeface="Courier New"/>
                <a:ea typeface="Courier New"/>
                <a:cs typeface="Courier New"/>
                <a:sym typeface="Courier New"/>
              </a:rPr>
              <a:t>except</a:t>
            </a:r>
            <a:r>
              <a:rPr sz="1650" b="0" i="0">
                <a:solidFill>
                  <a:srgbClr val="FFFFFF"/>
                </a:solidFill>
                <a:latin typeface="Avenir"/>
                <a:ea typeface="Avenir"/>
                <a:cs typeface="Avenir"/>
                <a:sym typeface="Avenir"/>
              </a:rPr>
              <a:t> catches it and the program continues. That means a genuinely broken arm is not a fatal error here — so if your camera window never appears, look for a message about the robot that you scrolled past without reading.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p>
        </p:txBody>
      </p:sp>
      <p:sp>
        <p:nvSpPr>
          <p:cNvPr id="3" name="blk012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Fold the arm out of the way and leave it there:</a:t>
            </a:r>
          </a:p>
        </p:txBody>
      </p:sp>
      <p:sp>
        <p:nvSpPr>
          <p:cNvPr id="4" name="blk0124"/>
          <p:cNvSpPr/>
          <p:nvPr/>
        </p:nvSpPr>
        <p:spPr>
          <a:xfrm>
            <a:off x="687600" y="2448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4"/>
          <p:cNvSpPr txBox="1"/>
          <p:nvPr/>
        </p:nvSpPr>
        <p:spPr>
          <a:xfrm>
            <a:off x="910799" y="2610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home_pos = [0, 45, -90, -45, 0, 0]</a:t>
            </a:r>
          </a:p>
          <a:p>
            <a:pPr algn="l">
              <a:lnSpc>
                <a:spcPct val="115000"/>
              </a:lnSpc>
            </a:pPr>
            <a:r>
              <a:rPr sz="1500" b="0" i="0">
                <a:solidFill>
                  <a:srgbClr val="FFFFFF"/>
                </a:solidFill>
                <a:latin typeface="Courier New"/>
                <a:ea typeface="Courier New"/>
                <a:cs typeface="Courier New"/>
                <a:sym typeface="Courier New"/>
              </a:rPr>
              <a:t>    mc.send_angles(home_pos, 50)</a:t>
            </a:r>
          </a:p>
          <a:p>
            <a:pPr algn="l">
              <a:lnSpc>
                <a:spcPct val="115000"/>
              </a:lnSpc>
            </a:pPr>
            <a:r>
              <a:rPr sz="1500" b="0" i="0">
                <a:solidFill>
                  <a:srgbClr val="FFFFFF"/>
                </a:solidFill>
                <a:latin typeface="Courier New"/>
                <a:ea typeface="Courier New"/>
                <a:cs typeface="Courier New"/>
                <a:sym typeface="Courier New"/>
              </a:rPr>
              <a:t>    time.sleep(2.0)</a:t>
            </a:r>
          </a:p>
        </p:txBody>
      </p:sp>
      <p:sp>
        <p:nvSpPr>
          <p:cNvPr id="6" name="blk0125"/>
          <p:cNvSpPr/>
          <p:nvPr/>
        </p:nvSpPr>
        <p:spPr>
          <a:xfrm>
            <a:off x="687600" y="3624512"/>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25"/>
          <p:cNvSpPr/>
          <p:nvPr/>
        </p:nvSpPr>
        <p:spPr>
          <a:xfrm>
            <a:off x="885600" y="421275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5"/>
          <p:cNvSpPr txBox="1"/>
          <p:nvPr/>
        </p:nvSpPr>
        <p:spPr>
          <a:xfrm>
            <a:off x="1162800" y="3768512"/>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Two things are new here. </a:t>
            </a:r>
            <a:r>
              <a:rPr sz="1290" b="0" i="1">
                <a:solidFill>
                  <a:srgbClr val="FFCF08"/>
                </a:solidFill>
                <a:latin typeface="Courier New"/>
                <a:ea typeface="Courier New"/>
                <a:cs typeface="Courier New"/>
                <a:sym typeface="Courier New"/>
              </a:rPr>
              <a:t>send_angles</a:t>
            </a:r>
            <a:r>
              <a:rPr sz="1500" b="0" i="1">
                <a:solidFill>
                  <a:srgbClr val="FFCF08"/>
                </a:solidFill>
                <a:latin typeface="Avenir"/>
                <a:ea typeface="Avenir"/>
                <a:cs typeface="Avenir"/>
                <a:sym typeface="Avenir"/>
              </a:rPr>
              <a:t> takes six joint angles, where Project 4 used </a:t>
            </a:r>
            <a:r>
              <a:rPr sz="1290" b="0" i="1">
                <a:solidFill>
                  <a:srgbClr val="FFCF08"/>
                </a:solidFill>
                <a:latin typeface="Courier New"/>
                <a:ea typeface="Courier New"/>
                <a:cs typeface="Courier New"/>
                <a:sym typeface="Courier New"/>
              </a:rPr>
              <a:t>send_coords</a:t>
            </a:r>
            <a:r>
              <a:rPr sz="1500" b="0" i="1">
                <a:solidFill>
                  <a:srgbClr val="FFCF08"/>
                </a:solidFill>
                <a:latin typeface="Avenir"/>
                <a:ea typeface="Avenir"/>
                <a:cs typeface="Avenir"/>
                <a:sym typeface="Avenir"/>
              </a:rPr>
              <a:t> and took millimetres — same robot, two completely different ways of telling it where to go. And the position is a list of six numbers, not a single coordinate.</a:t>
            </a:r>
          </a:p>
        </p:txBody>
      </p:sp>
      <p:sp>
        <p:nvSpPr>
          <p:cNvPr id="9" name="blk0126"/>
          <p:cNvSpPr txBox="1"/>
          <p:nvPr/>
        </p:nvSpPr>
        <p:spPr>
          <a:xfrm>
            <a:off x="687600" y="5045792"/>
            <a:ext cx="7542000" cy="28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two second wait afterwards is not a guess. It is roughly how long the arm takes to travel there, and the program does not do anything else until it has arrived.</a:t>
            </a:r>
          </a:p>
        </p:txBody>
      </p:sp>
      <p:sp>
        <p:nvSpPr>
          <p:cNvPr id="10" name="blk0127"/>
          <p:cNvSpPr txBox="1"/>
          <p:nvPr/>
        </p:nvSpPr>
        <p:spPr>
          <a:xfrm>
            <a:off x="687600" y="6080536"/>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Once this has run, the arm is not used again anywhere in Project 5. The inspection is entirely camera work. It is a slightly odd thing to write, and it is worth being able to explain why it is there: it puts the arm in a known safe position at the start of every run, which is a habit worth keeping in code that does move a robot later.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p>
        </p:txBody>
      </p:sp>
      <p:sp>
        <p:nvSpPr>
          <p:cNvPr id="3" name="blk012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whole ROI function, signature included. Sixteen lines, and most of them are arithmetic about the middle:</a:t>
            </a:r>
          </a:p>
        </p:txBody>
      </p:sp>
      <p:sp>
        <p:nvSpPr>
          <p:cNvPr id="4" name="blk0130"/>
          <p:cNvSpPr/>
          <p:nvPr/>
        </p:nvSpPr>
        <p:spPr>
          <a:xfrm>
            <a:off x="687600" y="2376000"/>
            <a:ext cx="8686800" cy="30538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0"/>
          <p:cNvSpPr txBox="1"/>
          <p:nvPr/>
        </p:nvSpPr>
        <p:spPr>
          <a:xfrm>
            <a:off x="910799" y="2538000"/>
            <a:ext cx="8240400" cy="2729879"/>
          </a:xfrm>
          <a:prstGeom prst="rect">
            <a:avLst/>
          </a:prstGeom>
          <a:noFill/>
        </p:spPr>
        <p:txBody>
          <a:bodyPr wrap="square" anchor="t" lIns="0" rIns="0" tIns="0" bIns="0">
            <a:noAutofit/>
          </a:bodyPr>
          <a:lstStyle/>
          <a:p>
            <a:pPr algn="l">
              <a:lnSpc>
                <a:spcPct val="115000"/>
              </a:lnSpc>
            </a:pPr>
            <a:r>
              <a:rPr sz="1100" b="0" i="0">
                <a:solidFill>
                  <a:srgbClr val="FFFFFF"/>
                </a:solidFill>
                <a:latin typeface="Courier New"/>
                <a:ea typeface="Courier New"/>
                <a:cs typeface="Courier New"/>
                <a:sym typeface="Courier New"/>
              </a:rPr>
              <a:t>def calculate_roi_bounds():</a:t>
            </a:r>
          </a:p>
          <a:p>
            <a:pPr algn="l">
              <a:lnSpc>
                <a:spcPct val="115000"/>
              </a:lnSpc>
            </a:pPr>
            <a:r>
              <a:rPr sz="1100" b="0" i="0">
                <a:solidFill>
                  <a:srgbClr val="FFFFFF"/>
                </a:solidFill>
                <a:latin typeface="Courier New"/>
                <a:ea typeface="Courier New"/>
                <a:cs typeface="Courier New"/>
                <a:sym typeface="Courier New"/>
              </a:rPr>
              <a:t>    y1, y2, x1, x2 = BASE_ROI</a:t>
            </a:r>
          </a:p>
          <a:p>
            <a:pPr algn="l">
              <a:lnSpc>
                <a:spcPct val="115000"/>
              </a:lnSpc>
            </a:pPr>
            <a:r>
              <a:rPr sz="1100" b="0" i="0">
                <a:solidFill>
                  <a:srgbClr val="FFFFFF"/>
                </a:solidFill>
                <a:latin typeface="Courier New"/>
                <a:ea typeface="Courier New"/>
                <a:cs typeface="Courier New"/>
                <a:sym typeface="Courier New"/>
              </a:rPr>
              <a:t>    center_x = (x1 + x2) // 2</a:t>
            </a:r>
          </a:p>
          <a:p>
            <a:pPr algn="l">
              <a:lnSpc>
                <a:spcPct val="115000"/>
              </a:lnSpc>
            </a:pPr>
            <a:r>
              <a:rPr sz="1100" b="0" i="0">
                <a:solidFill>
                  <a:srgbClr val="FFFFFF"/>
                </a:solidFill>
                <a:latin typeface="Courier New"/>
                <a:ea typeface="Courier New"/>
                <a:cs typeface="Courier New"/>
                <a:sym typeface="Courier New"/>
              </a:rPr>
              <a:t>    center_y = (y1 + y2) // 2</a:t>
            </a:r>
          </a:p>
          <a:p>
            <a:pPr algn="l">
              <a:lnSpc>
                <a:spcPct val="115000"/>
              </a:lnSpc>
            </a:pPr>
            <a:r>
              <a:rPr sz="1100" b="0" i="0">
                <a:solidFill>
                  <a:srgbClr val="FFFFFF"/>
                </a:solidFill>
                <a:latin typeface="Courier New"/>
                <a:ea typeface="Courier New"/>
                <a:cs typeface="Courier New"/>
                <a:sym typeface="Courier New"/>
              </a:rPr>
              <a:t>    width = (x2 - x1) * ROI_SCALE</a:t>
            </a:r>
          </a:p>
          <a:p>
            <a:pPr algn="l">
              <a:lnSpc>
                <a:spcPct val="115000"/>
              </a:lnSpc>
            </a:pPr>
            <a:r>
              <a:rPr sz="1100" b="0" i="0">
                <a:solidFill>
                  <a:srgbClr val="FFFFFF"/>
                </a:solidFill>
                <a:latin typeface="Courier New"/>
                <a:ea typeface="Courier New"/>
                <a:cs typeface="Courier New"/>
                <a:sym typeface="Courier New"/>
              </a:rPr>
              <a:t>    height = (y2 - y1) * ROI_SCALE</a:t>
            </a:r>
          </a:p>
          <a:p>
            <a:pPr algn="l">
              <a:lnSpc>
                <a:spcPct val="115000"/>
              </a:lnSpc>
            </a:pPr>
            <a:r>
              <a:rPr sz="1100" b="0" i="0">
                <a:solidFill>
                  <a:srgbClr val="FFFFFF"/>
                </a:solidFill>
                <a:latin typeface="Courier New"/>
                <a:ea typeface="Courier New"/>
                <a:cs typeface="Courier New"/>
                <a:sym typeface="Courier New"/>
              </a:rPr>
              <a:t>    new_x1 = int(center_x - width // 2 + ROI_OFFSET_X)</a:t>
            </a:r>
          </a:p>
          <a:p>
            <a:pPr algn="l">
              <a:lnSpc>
                <a:spcPct val="115000"/>
              </a:lnSpc>
            </a:pPr>
            <a:r>
              <a:rPr sz="1100" b="0" i="0">
                <a:solidFill>
                  <a:srgbClr val="FFFFFF"/>
                </a:solidFill>
                <a:latin typeface="Courier New"/>
                <a:ea typeface="Courier New"/>
                <a:cs typeface="Courier New"/>
                <a:sym typeface="Courier New"/>
              </a:rPr>
              <a:t>    new_x2 = int(center_x + width // 2 + ROI_OFFSET_X)</a:t>
            </a:r>
          </a:p>
          <a:p>
            <a:pPr algn="l">
              <a:lnSpc>
                <a:spcPct val="115000"/>
              </a:lnSpc>
            </a:pPr>
            <a:r>
              <a:rPr sz="1100" b="0" i="0">
                <a:solidFill>
                  <a:srgbClr val="FFFFFF"/>
                </a:solidFill>
                <a:latin typeface="Courier New"/>
                <a:ea typeface="Courier New"/>
                <a:cs typeface="Courier New"/>
                <a:sym typeface="Courier New"/>
              </a:rPr>
              <a:t>    new_y1 = int(center_y - height // 2 + ROI_OFFSET_Y)</a:t>
            </a:r>
          </a:p>
          <a:p>
            <a:pPr algn="l">
              <a:lnSpc>
                <a:spcPct val="115000"/>
              </a:lnSpc>
            </a:pPr>
            <a:r>
              <a:rPr sz="1100" b="0" i="0">
                <a:solidFill>
                  <a:srgbClr val="FFFFFF"/>
                </a:solidFill>
                <a:latin typeface="Courier New"/>
                <a:ea typeface="Courier New"/>
                <a:cs typeface="Courier New"/>
                <a:sym typeface="Courier New"/>
              </a:rPr>
              <a:t>    new_y2 = int(center_y + height // 2 + ROI_OFFSET_Y)</a:t>
            </a:r>
          </a:p>
          <a:p>
            <a:pPr algn="l">
              <a:lnSpc>
                <a:spcPct val="115000"/>
              </a:lnSpc>
            </a:pPr>
            <a:r>
              <a:rPr sz="1100" b="0" i="0">
                <a:solidFill>
                  <a:srgbClr val="FFFFFF"/>
                </a:solidFill>
                <a:latin typeface="Courier New"/>
                <a:ea typeface="Courier New"/>
                <a:cs typeface="Courier New"/>
                <a:sym typeface="Courier New"/>
              </a:rPr>
              <a:t>    new_x1 = max(0, min(new_x1, 640))</a:t>
            </a:r>
          </a:p>
          <a:p>
            <a:pPr algn="l">
              <a:lnSpc>
                <a:spcPct val="115000"/>
              </a:lnSpc>
            </a:pPr>
            <a:r>
              <a:rPr sz="1100" b="0" i="0">
                <a:solidFill>
                  <a:srgbClr val="FFFFFF"/>
                </a:solidFill>
                <a:latin typeface="Courier New"/>
                <a:ea typeface="Courier New"/>
                <a:cs typeface="Courier New"/>
                <a:sym typeface="Courier New"/>
              </a:rPr>
              <a:t>    new_x2 = max(0, min(new_x2, 640))</a:t>
            </a:r>
          </a:p>
          <a:p>
            <a:pPr algn="l">
              <a:lnSpc>
                <a:spcPct val="115000"/>
              </a:lnSpc>
            </a:pPr>
            <a:r>
              <a:rPr sz="1100" b="0" i="0">
                <a:solidFill>
                  <a:srgbClr val="FFFFFF"/>
                </a:solidFill>
                <a:latin typeface="Courier New"/>
                <a:ea typeface="Courier New"/>
                <a:cs typeface="Courier New"/>
                <a:sym typeface="Courier New"/>
              </a:rPr>
              <a:t>    new_y1 = max(0, min(new_y1, 480))</a:t>
            </a:r>
          </a:p>
          <a:p>
            <a:pPr algn="l">
              <a:lnSpc>
                <a:spcPct val="115000"/>
              </a:lnSpc>
            </a:pPr>
            <a:r>
              <a:rPr sz="1100" b="0" i="0">
                <a:solidFill>
                  <a:srgbClr val="FFFFFF"/>
                </a:solidFill>
                <a:latin typeface="Courier New"/>
                <a:ea typeface="Courier New"/>
                <a:cs typeface="Courier New"/>
                <a:sym typeface="Courier New"/>
              </a:rPr>
              <a:t>    new_y2 = max(0, min(new_y2, 480))</a:t>
            </a:r>
          </a:p>
          <a:p>
            <a:pPr algn="l">
              <a:lnSpc>
                <a:spcPct val="115000"/>
              </a:lnSpc>
            </a:pPr>
            <a:r>
              <a:rPr sz="1100" b="0" i="0">
                <a:solidFill>
                  <a:srgbClr val="FFFFFF"/>
                </a:solidFill>
                <a:latin typeface="Courier New"/>
                <a:ea typeface="Courier New"/>
                <a:cs typeface="Courier New"/>
                <a:sym typeface="Courier New"/>
              </a:rPr>
              <a:t>    return [new_y1, new_y2, new_x1, new_x2]</a:t>
            </a:r>
          </a:p>
        </p:txBody>
      </p:sp>
      <p:sp>
        <p:nvSpPr>
          <p:cNvPr id="6" name="blk0131"/>
          <p:cNvSpPr txBox="1"/>
          <p:nvPr/>
        </p:nvSpPr>
        <p:spPr>
          <a:xfrm>
            <a:off x="687600" y="553787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Six steps hidden in there: unpack, find the centre, scale the size, apply the offset, clamp to the frame, return. The </a:t>
            </a:r>
            <a:r>
              <a:rPr sz="1419" b="0" i="0">
                <a:solidFill>
                  <a:srgbClr val="FFFFFF"/>
                </a:solidFill>
                <a:latin typeface="Courier New"/>
                <a:ea typeface="Courier New"/>
                <a:cs typeface="Courier New"/>
                <a:sym typeface="Courier New"/>
              </a:rPr>
              <a:t>//</a:t>
            </a:r>
            <a:r>
              <a:rPr sz="1650" b="0" i="0">
                <a:solidFill>
                  <a:srgbClr val="FFFFFF"/>
                </a:solidFill>
                <a:latin typeface="Avenir"/>
                <a:ea typeface="Avenir"/>
                <a:cs typeface="Avenir"/>
                <a:sym typeface="Avenir"/>
              </a:rPr>
              <a:t> is floor division, so a width of 239 becomes 119 rather than 120 — which is why the box can come out a pixel smaller than you asked for, and why nobody minds.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p>
        </p:txBody>
      </p:sp>
      <p:sp>
        <p:nvSpPr>
          <p:cNvPr id="3" name="blk013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one is already done for you. Look closely at what your file already contains:</a:t>
            </a:r>
          </a:p>
        </p:txBody>
      </p:sp>
      <p:sp>
        <p:nvSpPr>
          <p:cNvPr id="4" name="blk0134"/>
          <p:cNvSpPr/>
          <p:nvPr/>
        </p:nvSpPr>
        <p:spPr>
          <a:xfrm>
            <a:off x="687600" y="2880000"/>
            <a:ext cx="8686800" cy="13994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4"/>
          <p:cNvSpPr txBox="1"/>
          <p:nvPr/>
        </p:nvSpPr>
        <p:spPr>
          <a:xfrm>
            <a:off x="910799" y="3041999"/>
            <a:ext cx="8240400" cy="1075407"/>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def inspect_part(roi_frame):</a:t>
            </a:r>
          </a:p>
          <a:p>
            <a:pPr algn="l">
              <a:lnSpc>
                <a:spcPct val="115000"/>
              </a:lnSpc>
            </a:pPr>
            <a:r>
              <a:rPr sz="1300" b="0" i="0">
                <a:solidFill>
                  <a:srgbClr val="FFFFFF"/>
                </a:solidFill>
                <a:latin typeface="Courier New"/>
                <a:ea typeface="Courier New"/>
                <a:cs typeface="Courier New"/>
                <a:sym typeface="Courier New"/>
              </a:rPr>
              <a:t>    """</a:t>
            </a:r>
          </a:p>
          <a:p>
            <a:pPr algn="l">
              <a:lnSpc>
                <a:spcPct val="115000"/>
              </a:lnSpc>
            </a:pPr>
            <a:r>
              <a:rPr sz="1300" b="0" i="0">
                <a:solidFill>
                  <a:srgbClr val="FFFFFF"/>
                </a:solidFill>
                <a:latin typeface="Courier New"/>
                <a:ea typeface="Courier New"/>
                <a:cs typeface="Courier New"/>
                <a:sym typeface="Courier New"/>
              </a:rPr>
              <a:t>    Analyzes an item within the ROI frame.</a:t>
            </a:r>
          </a:p>
          <a:p>
            <a:pPr algn="l">
              <a:lnSpc>
                <a:spcPct val="115000"/>
              </a:lnSpc>
            </a:pPr>
            <a:r>
              <a:rPr sz="1300" b="0" i="0">
                <a:solidFill>
                  <a:srgbClr val="FFFFFF"/>
                </a:solidFill>
                <a:latin typeface="Courier New"/>
                <a:ea typeface="Courier New"/>
                <a:cs typeface="Courier New"/>
                <a:sym typeface="Courier New"/>
              </a:rPr>
              <a:t>    Returns: status (str), reason (str), color_overlay (image)</a:t>
            </a:r>
          </a:p>
          <a:p>
            <a:pPr algn="l">
              <a:lnSpc>
                <a:spcPct val="115000"/>
              </a:lnSpc>
            </a:pPr>
            <a:r>
              <a:rPr sz="1300" b="0" i="0">
                <a:solidFill>
                  <a:srgbClr val="FFFFFF"/>
                </a:solidFill>
                <a:latin typeface="Courier New"/>
                <a:ea typeface="Courier New"/>
                <a:cs typeface="Courier New"/>
                <a:sym typeface="Courier New"/>
              </a:rPr>
              <a:t>    """</a:t>
            </a:r>
          </a:p>
        </p:txBody>
      </p:sp>
      <p:sp>
        <p:nvSpPr>
          <p:cNvPr id="6" name="blk0135"/>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signature and the docstring are already in the starter file, so there is nothing to type for this TODO. The real work is the five steps inside it, and they are the next five slides.</a:t>
            </a:r>
          </a:p>
        </p:txBody>
      </p:sp>
      <p:sp>
        <p:nvSpPr>
          <p:cNvPr id="7" name="blk0136"/>
          <p:cNvSpPr/>
          <p:nvPr/>
        </p:nvSpPr>
        <p:spPr>
          <a:xfrm>
            <a:off x="687600" y="587965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36"/>
          <p:cNvSpPr/>
          <p:nvPr/>
        </p:nvSpPr>
        <p:spPr>
          <a:xfrm>
            <a:off x="885600" y="6330738"/>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36"/>
          <p:cNvSpPr txBox="1"/>
          <p:nvPr/>
        </p:nvSpPr>
        <p:spPr>
          <a:xfrm>
            <a:off x="1162800" y="602365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Read that docstring carefully, because it tells you the contract: a status word, a reason, and an image. Every single </a:t>
            </a:r>
            <a:r>
              <a:rPr sz="1290" b="0" i="1">
                <a:solidFill>
                  <a:srgbClr val="FFCF08"/>
                </a:solidFill>
                <a:latin typeface="Courier New"/>
                <a:ea typeface="Courier New"/>
                <a:cs typeface="Courier New"/>
                <a:sym typeface="Courier New"/>
              </a:rPr>
              <a:t>return</a:t>
            </a:r>
            <a:r>
              <a:rPr sz="1500" b="0" i="1">
                <a:solidFill>
                  <a:srgbClr val="FFCF08"/>
                </a:solidFill>
                <a:latin typeface="Avenir"/>
                <a:ea typeface="Avenir"/>
                <a:cs typeface="Avenir"/>
                <a:sym typeface="Avenir"/>
              </a:rPr>
              <a:t> in this function must produce all three, which is why each one ends with </a:t>
            </a:r>
            <a:r>
              <a:rPr sz="1290" b="0" i="1">
                <a:solidFill>
                  <a:srgbClr val="FFCF08"/>
                </a:solidFill>
                <a:latin typeface="Courier New"/>
                <a:ea typeface="Courier New"/>
                <a:cs typeface="Courier New"/>
                <a:sym typeface="Courier New"/>
              </a:rPr>
              <a:t>mask</a:t>
            </a:r>
            <a:r>
              <a:rPr sz="1500" b="0" i="1">
                <a:solidFill>
                  <a:srgbClr val="FFCF08"/>
                </a:solidFill>
                <a:latin typeface="Avenir"/>
                <a:ea typeface="Avenir"/>
                <a:cs typeface="Avenir"/>
                <a:sym typeface="Avenir"/>
              </a:rPr>
              <a:t> even the ones that bail out early.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p>
        </p:txBody>
      </p:sp>
      <p:sp>
        <p:nvSpPr>
          <p:cNvPr id="3" name="blk013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blue-green-red into hue-saturation-value.</a:t>
            </a:r>
          </a:p>
        </p:txBody>
      </p:sp>
      <p:sp>
        <p:nvSpPr>
          <p:cNvPr id="4" name="blk0139"/>
          <p:cNvSpPr/>
          <p:nvPr/>
        </p:nvSpPr>
        <p:spPr>
          <a:xfrm>
            <a:off x="687600" y="230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9"/>
          <p:cNvSpPr txBox="1"/>
          <p:nvPr/>
        </p:nvSpPr>
        <p:spPr>
          <a:xfrm>
            <a:off x="910799" y="246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hsv = cv2.cvtColor(roi_frame, cv2.COLOR_BGR2HSV)</a:t>
            </a:r>
          </a:p>
        </p:txBody>
      </p:sp>
      <p:sp>
        <p:nvSpPr>
          <p:cNvPr id="6" name="blk0140"/>
          <p:cNvSpPr txBox="1"/>
          <p:nvPr/>
        </p:nvSpPr>
        <p:spPr>
          <a:xfrm>
            <a:off x="687600" y="3096000"/>
            <a:ext cx="7542000" cy="45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is the same colour conversion as Project 4, with a different answer. There the point was to give MediaPipe the order it expected; here the point is the space itself.</a:t>
            </a:r>
          </a:p>
        </p:txBody>
      </p:sp>
      <p:sp>
        <p:nvSpPr>
          <p:cNvPr id="7" name="blk0141"/>
          <p:cNvSpPr txBox="1"/>
          <p:nvPr/>
        </p:nvSpPr>
        <p:spPr>
          <a:xfrm>
            <a:off x="687600" y="413074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this converts </a:t>
            </a:r>
            <a:r>
              <a:rPr sz="1419" b="0" i="0">
                <a:solidFill>
                  <a:srgbClr val="FFFFFF"/>
                </a:solidFill>
                <a:latin typeface="Courier New"/>
                <a:ea typeface="Courier New"/>
                <a:cs typeface="Courier New"/>
                <a:sym typeface="Courier New"/>
              </a:rPr>
              <a:t>roi_frame</a:t>
            </a:r>
            <a:r>
              <a:rPr sz="1650" b="0" i="0">
                <a:solidFill>
                  <a:srgbClr val="FFFFFF"/>
                </a:solidFill>
                <a:latin typeface="Avenir"/>
                <a:ea typeface="Avenir"/>
                <a:cs typeface="Avenir"/>
                <a:sym typeface="Avenir"/>
              </a:rPr>
              <a:t>, not </a:t>
            </a:r>
            <a:r>
              <a:rPr sz="1419" b="0" i="0">
                <a:solidFill>
                  <a:srgbClr val="FFFFFF"/>
                </a:solidFill>
                <a:latin typeface="Courier New"/>
                <a:ea typeface="Courier New"/>
                <a:cs typeface="Courier New"/>
                <a:sym typeface="Courier New"/>
              </a:rPr>
              <a:t>frame</a:t>
            </a:r>
            <a:r>
              <a:rPr sz="1650" b="0" i="0">
                <a:solidFill>
                  <a:srgbClr val="FFFFFF"/>
                </a:solidFill>
                <a:latin typeface="Avenir"/>
                <a:ea typeface="Avenir"/>
                <a:cs typeface="Avenir"/>
                <a:sym typeface="Avenir"/>
              </a:rPr>
              <a:t>. Only the part inside the inspection zone is ever converted, measured or judged. Everything outside it is ignored — which is what makes the zone adjustable at all.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p>
        </p:txBody>
      </p:sp>
      <p:sp>
        <p:nvSpPr>
          <p:cNvPr id="3" name="blk014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threshold, and the first moment this program actually decides anything:</a:t>
            </a:r>
          </a:p>
        </p:txBody>
      </p:sp>
      <p:sp>
        <p:nvSpPr>
          <p:cNvPr id="4" name="blk0144"/>
          <p:cNvSpPr/>
          <p:nvPr/>
        </p:nvSpPr>
        <p:spPr>
          <a:xfrm>
            <a:off x="687600" y="266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4"/>
          <p:cNvSpPr txBox="1"/>
          <p:nvPr/>
        </p:nvSpPr>
        <p:spPr>
          <a:xfrm>
            <a:off x="910799" y="282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mask = cv2.inRange(hsv, LOWER_GREEN, UPPER_GREEN)</a:t>
            </a:r>
          </a:p>
        </p:txBody>
      </p:sp>
      <p:sp>
        <p:nvSpPr>
          <p:cNvPr id="6" name="blk0145"/>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picture in, one picture out. Everything green becomes white, everything else becomes black, and the rest of the function works on the black and white version rather than on the original.</a:t>
            </a:r>
          </a:p>
        </p:txBody>
      </p:sp>
      <p:sp>
        <p:nvSpPr>
          <p:cNvPr id="7" name="blk0146"/>
          <p:cNvSpPr txBox="1"/>
          <p:nvPr/>
        </p:nvSpPr>
        <p:spPr>
          <a:xfrm>
            <a:off x="687600" y="479965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line to change when the scanner accepts the wrong thing or rejects the right thing. Look at the mask window while you change it: you are adjusting which pixels count, and you can see exactly which ones you just gained or lost.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p>
        </p:txBody>
      </p:sp>
      <p:sp>
        <p:nvSpPr>
          <p:cNvPr id="3" name="blk014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Clean the mask before trusting it:</a:t>
            </a:r>
          </a:p>
        </p:txBody>
      </p:sp>
      <p:sp>
        <p:nvSpPr>
          <p:cNvPr id="4" name="blk0149"/>
          <p:cNvSpPr/>
          <p:nvPr/>
        </p:nvSpPr>
        <p:spPr>
          <a:xfrm>
            <a:off x="687600" y="2304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9"/>
          <p:cNvSpPr txBox="1"/>
          <p:nvPr/>
        </p:nvSpPr>
        <p:spPr>
          <a:xfrm>
            <a:off x="910799" y="2466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kernel = np.ones((5, 5), np.uint8)</a:t>
            </a:r>
          </a:p>
          <a:p>
            <a:pPr algn="l">
              <a:lnSpc>
                <a:spcPct val="115000"/>
              </a:lnSpc>
            </a:pPr>
            <a:r>
              <a:rPr sz="1400" b="0" i="0">
                <a:solidFill>
                  <a:srgbClr val="FFFFFF"/>
                </a:solidFill>
                <a:latin typeface="Courier New"/>
                <a:ea typeface="Courier New"/>
                <a:cs typeface="Courier New"/>
                <a:sym typeface="Courier New"/>
              </a:rPr>
              <a:t>    mask = cv2.morphologyEx(mask, cv2.MORPH_OPEN, kernel)</a:t>
            </a:r>
          </a:p>
        </p:txBody>
      </p:sp>
      <p:sp>
        <p:nvSpPr>
          <p:cNvPr id="6" name="blk0150"/>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kernel is 25 ones in a square. </a:t>
            </a:r>
            <a:r>
              <a:rPr sz="1743" b="0" i="0">
                <a:solidFill>
                  <a:srgbClr val="FFFFFF"/>
                </a:solidFill>
                <a:latin typeface="Courier New"/>
                <a:ea typeface="Courier New"/>
                <a:cs typeface="Courier New"/>
                <a:sym typeface="Courier New"/>
              </a:rPr>
              <a:t>np.uint8</a:t>
            </a:r>
            <a:r>
              <a:rPr sz="2027" b="0" i="0">
                <a:solidFill>
                  <a:srgbClr val="FFFFFF"/>
                </a:solidFill>
                <a:latin typeface="Avenir"/>
                <a:ea typeface="Avenir"/>
                <a:cs typeface="Avenir"/>
                <a:sym typeface="Avenir"/>
              </a:rPr>
              <a:t> is required — OpenCV will not accept a different type here, and it is the reason this line cannot simply be a Python list.</a:t>
            </a:r>
          </a:p>
        </p:txBody>
      </p:sp>
      <p:sp>
        <p:nvSpPr>
          <p:cNvPr id="7" name="blk0151"/>
          <p:cNvSpPr txBox="1"/>
          <p:nvPr/>
        </p:nvSpPr>
        <p:spPr>
          <a:xfrm>
            <a:off x="687600" y="449074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Keep an eye on the small parts while you work on this. If the mask loses something, the opening took it, and no amount of adjusting the colour range will bring it back. The Mask View window is where you catch that immediately.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p>
        </p:txBody>
      </p:sp>
      <p:sp>
        <p:nvSpPr>
          <p:cNvPr id="3" name="blk015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Turn the white blobs into outlines:</a:t>
            </a:r>
          </a:p>
        </p:txBody>
      </p:sp>
      <p:sp>
        <p:nvSpPr>
          <p:cNvPr id="4" name="blk0154"/>
          <p:cNvSpPr/>
          <p:nvPr/>
        </p:nvSpPr>
        <p:spPr>
          <a:xfrm>
            <a:off x="687600" y="2304000"/>
            <a:ext cx="8686800" cy="53080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4"/>
          <p:cNvSpPr txBox="1"/>
          <p:nvPr/>
        </p:nvSpPr>
        <p:spPr>
          <a:xfrm>
            <a:off x="910799" y="2466000"/>
            <a:ext cx="8240400" cy="206809"/>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contours, _ = cv2.findContours(mask, cv2.RETR_EXTERNAL, cv2.CHAIN_APPROX_SIMPLE)</a:t>
            </a:r>
          </a:p>
        </p:txBody>
      </p:sp>
      <p:sp>
        <p:nvSpPr>
          <p:cNvPr id="6" name="blk0155"/>
          <p:cNvSpPr txBox="1"/>
          <p:nvPr/>
        </p:nvSpPr>
        <p:spPr>
          <a:xfrm>
            <a:off x="687600" y="3096000"/>
            <a:ext cx="7542000" cy="45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mask is modified in place by this call, which is a long-standing OpenCV behaviour and worth knowing about: the </a:t>
            </a:r>
            <a:r>
              <a:rPr sz="1743" b="0" i="0">
                <a:solidFill>
                  <a:srgbClr val="FFFFFF"/>
                </a:solidFill>
                <a:latin typeface="Courier New"/>
                <a:ea typeface="Courier New"/>
                <a:cs typeface="Courier New"/>
                <a:sym typeface="Courier New"/>
              </a:rPr>
              <a:t>mask</a:t>
            </a:r>
            <a:r>
              <a:rPr sz="2027" b="0" i="0">
                <a:solidFill>
                  <a:srgbClr val="FFFFFF"/>
                </a:solidFill>
                <a:latin typeface="Avenir"/>
                <a:ea typeface="Avenir"/>
                <a:cs typeface="Avenir"/>
                <a:sym typeface="Avenir"/>
              </a:rPr>
              <a:t> you get back afterwards is not the mask you passed in.</a:t>
            </a:r>
          </a:p>
        </p:txBody>
      </p:sp>
      <p:sp>
        <p:nvSpPr>
          <p:cNvPr id="7" name="blk0156"/>
          <p:cNvSpPr txBox="1"/>
          <p:nvPr/>
        </p:nvSpPr>
        <p:spPr>
          <a:xfrm>
            <a:off x="687600" y="4176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That is not a problem here, because the only use of </a:t>
            </a:r>
            <a:r>
              <a:rPr sz="1419" b="0" i="0">
                <a:solidFill>
                  <a:srgbClr val="FFFFFF"/>
                </a:solidFill>
                <a:latin typeface="Courier New"/>
                <a:ea typeface="Courier New"/>
                <a:cs typeface="Courier New"/>
                <a:sym typeface="Courier New"/>
              </a:rPr>
              <a:t>mask</a:t>
            </a:r>
            <a:r>
              <a:rPr sz="1650" b="0" i="0">
                <a:solidFill>
                  <a:srgbClr val="FFFFFF"/>
                </a:solidFill>
                <a:latin typeface="Avenir"/>
                <a:ea typeface="Avenir"/>
                <a:cs typeface="Avenir"/>
                <a:sym typeface="Avenir"/>
              </a:rPr>
              <a:t> afterwards is to display it in the second window. But if you ever need the original mask back, take a copy before calling this.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p>
        </p:txBody>
      </p:sp>
      <p:sp>
        <p:nvSpPr>
          <p:cNvPr id="3" name="blk015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Pick the part out of whatever else was in the zone:</a:t>
            </a:r>
          </a:p>
        </p:txBody>
      </p:sp>
      <p:sp>
        <p:nvSpPr>
          <p:cNvPr id="4" name="blk0159"/>
          <p:cNvSpPr/>
          <p:nvPr/>
        </p:nvSpPr>
        <p:spPr>
          <a:xfrm>
            <a:off x="687600" y="2448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9"/>
          <p:cNvSpPr txBox="1"/>
          <p:nvPr/>
        </p:nvSpPr>
        <p:spPr>
          <a:xfrm>
            <a:off x="910799" y="2610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largest_contour = max(contours, key=cv2.contourArea)</a:t>
            </a:r>
          </a:p>
          <a:p>
            <a:pPr algn="l">
              <a:lnSpc>
                <a:spcPct val="115000"/>
              </a:lnSpc>
            </a:pPr>
            <a:r>
              <a:rPr sz="1400" b="0" i="0">
                <a:solidFill>
                  <a:srgbClr val="FFFFFF"/>
                </a:solidFill>
                <a:latin typeface="Courier New"/>
                <a:ea typeface="Courier New"/>
                <a:cs typeface="Courier New"/>
                <a:sym typeface="Courier New"/>
              </a:rPr>
              <a:t>    area = cv2.contourArea(largest_contour)</a:t>
            </a:r>
          </a:p>
        </p:txBody>
      </p:sp>
      <p:sp>
        <p:nvSpPr>
          <p:cNvPr id="6" name="blk0160"/>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assumption of the whole project in two lines. It works beautifully on a clean background and fails quietly on a cluttered one.</a:t>
            </a:r>
          </a:p>
        </p:txBody>
      </p:sp>
      <p:sp>
        <p:nvSpPr>
          <p:cNvPr id="7" name="blk0161"/>
          <p:cNvSpPr txBox="1"/>
          <p:nvPr/>
        </p:nvSpPr>
        <p:spPr>
          <a:xfrm>
            <a:off x="687600" y="4634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want to see how much it depends on the assumption, put two parts in the zone at once. Only one is measured and the other is invisible to the program. The mask window will show you both, which is the quickest way to prove that "largest" is a policy rather than a measurement.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p>
        </p:txBody>
      </p:sp>
      <p:sp>
        <p:nvSpPr>
          <p:cNvPr id="3" name="blk016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Measure the shape:</a:t>
            </a:r>
          </a:p>
        </p:txBody>
      </p:sp>
      <p:sp>
        <p:nvSpPr>
          <p:cNvPr id="4" name="blk0164"/>
          <p:cNvSpPr/>
          <p:nvPr/>
        </p:nvSpPr>
        <p:spPr>
          <a:xfrm>
            <a:off x="687600" y="2304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4"/>
          <p:cNvSpPr txBox="1"/>
          <p:nvPr/>
        </p:nvSpPr>
        <p:spPr>
          <a:xfrm>
            <a:off x="910799" y="2466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x, y, w, h = cv2.boundingRect(largest_contour)</a:t>
            </a:r>
          </a:p>
          <a:p>
            <a:pPr algn="l">
              <a:lnSpc>
                <a:spcPct val="115000"/>
              </a:lnSpc>
            </a:pPr>
            <a:r>
              <a:rPr sz="1500" b="0" i="0">
                <a:solidFill>
                  <a:srgbClr val="FFFFFF"/>
                </a:solidFill>
                <a:latin typeface="Courier New"/>
                <a:ea typeface="Courier New"/>
                <a:cs typeface="Courier New"/>
                <a:sym typeface="Courier New"/>
              </a:rPr>
              <a:t>    aspect_ratio = float(w) / h</a:t>
            </a:r>
          </a:p>
        </p:txBody>
      </p:sp>
      <p:sp>
        <p:nvSpPr>
          <p:cNvPr id="6" name="blk0165"/>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x, y and h are measured and then not used. Only w, h and the ratio matter here — the rectangle is a local measurement, not the one drawn on screen. The box you see comes from the ROI, not from this.</a:t>
            </a:r>
          </a:p>
        </p:txBody>
      </p:sp>
      <p:sp>
        <p:nvSpPr>
          <p:cNvPr id="7" name="blk0166"/>
          <p:cNvSpPr txBox="1"/>
          <p:nvPr/>
        </p:nvSpPr>
        <p:spPr>
          <a:xfrm>
            <a:off x="687600" y="4727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That is a small thing worth noticing: two different rectangles are in play in this program. </a:t>
            </a:r>
            <a:r>
              <a:rPr sz="1419" b="0" i="0">
                <a:solidFill>
                  <a:srgbClr val="FFFFFF"/>
                </a:solidFill>
                <a:latin typeface="Courier New"/>
                <a:ea typeface="Courier New"/>
                <a:cs typeface="Courier New"/>
                <a:sym typeface="Courier New"/>
              </a:rPr>
              <a:t>boundingRect</a:t>
            </a:r>
            <a:r>
              <a:rPr sz="1650" b="0" i="0">
                <a:solidFill>
                  <a:srgbClr val="FFFFFF"/>
                </a:solidFill>
                <a:latin typeface="Avenir"/>
                <a:ea typeface="Avenir"/>
                <a:cs typeface="Avenir"/>
                <a:sym typeface="Avenir"/>
              </a:rPr>
              <a:t> describes the part, and it never leaves the function. The rectangle drawn on the picture later is the inspection zone, which is fixed. Keep them apart in your head or the debugging will confuse you.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p>
        </p:txBody>
      </p:sp>
      <p:sp>
        <p:nvSpPr>
          <p:cNvPr id="3" name="blk016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verdict, and the end of the function:</a:t>
            </a:r>
          </a:p>
        </p:txBody>
      </p:sp>
      <p:sp>
        <p:nvSpPr>
          <p:cNvPr id="4" name="blk0169"/>
          <p:cNvSpPr/>
          <p:nvPr/>
        </p:nvSpPr>
        <p:spPr>
          <a:xfrm>
            <a:off x="687600" y="2304000"/>
            <a:ext cx="8686800" cy="191229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9"/>
          <p:cNvSpPr txBox="1"/>
          <p:nvPr/>
        </p:nvSpPr>
        <p:spPr>
          <a:xfrm>
            <a:off x="910799" y="2466000"/>
            <a:ext cx="8240400" cy="158829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if area &lt; MIN_AREA:</a:t>
            </a:r>
          </a:p>
          <a:p>
            <a:pPr algn="l">
              <a:lnSpc>
                <a:spcPct val="115000"/>
              </a:lnSpc>
            </a:pPr>
            <a:r>
              <a:rPr sz="1200" b="0" i="0">
                <a:solidFill>
                  <a:srgbClr val="FFFFFF"/>
                </a:solidFill>
                <a:latin typeface="Courier New"/>
                <a:ea typeface="Courier New"/>
                <a:cs typeface="Courier New"/>
                <a:sym typeface="Courier New"/>
              </a:rPr>
              <a:t>        return "FAIL", f"Too Small ({int(area)}px)", mask</a:t>
            </a:r>
          </a:p>
          <a:p>
            <a:pPr algn="l">
              <a:lnSpc>
                <a:spcPct val="115000"/>
              </a:lnSpc>
            </a:pPr>
            <a:r>
              <a:rPr sz="1200" b="0" i="0">
                <a:solidFill>
                  <a:srgbClr val="FFFFFF"/>
                </a:solidFill>
                <a:latin typeface="Courier New"/>
                <a:ea typeface="Courier New"/>
                <a:cs typeface="Courier New"/>
                <a:sym typeface="Courier New"/>
              </a:rPr>
              <a:t>    if area &gt; MAX_AREA:</a:t>
            </a:r>
          </a:p>
          <a:p>
            <a:pPr algn="l">
              <a:lnSpc>
                <a:spcPct val="115000"/>
              </a:lnSpc>
            </a:pPr>
            <a:r>
              <a:rPr sz="1200" b="0" i="0">
                <a:solidFill>
                  <a:srgbClr val="FFFFFF"/>
                </a:solidFill>
                <a:latin typeface="Courier New"/>
                <a:ea typeface="Courier New"/>
                <a:cs typeface="Courier New"/>
                <a:sym typeface="Courier New"/>
              </a:rPr>
              <a:t>        return "FAIL", f"Too Large ({int(area)}px)", mask</a:t>
            </a:r>
          </a:p>
          <a:p>
            <a:pPr algn="l">
              <a:lnSpc>
                <a:spcPct val="115000"/>
              </a:lnSpc>
            </a:pPr>
            <a:r>
              <a:rPr sz="1200" b="0" i="0">
                <a:solidFill>
                  <a:srgbClr val="FFFFFF"/>
                </a:solidFill>
                <a:latin typeface="Courier New"/>
                <a:ea typeface="Courier New"/>
                <a:cs typeface="Courier New"/>
                <a:sym typeface="Courier New"/>
              </a:rPr>
              <a:t>    if abs(aspect_ratio - TARGET_ASPECT) &gt; ASPECT_TOLERANCE:</a:t>
            </a:r>
          </a:p>
          <a:p>
            <a:pPr algn="l">
              <a:lnSpc>
                <a:spcPct val="115000"/>
              </a:lnSpc>
            </a:pPr>
            <a:r>
              <a:rPr sz="1200" b="0" i="0">
                <a:solidFill>
                  <a:srgbClr val="FFFFFF"/>
                </a:solidFill>
                <a:latin typeface="Courier New"/>
                <a:ea typeface="Courier New"/>
                <a:cs typeface="Courier New"/>
                <a:sym typeface="Courier New"/>
              </a:rPr>
              <a:t>        return "FAIL", f"Shape Defect (Ratio: {aspect_ratio:.2f})", mask</a:t>
            </a:r>
          </a:p>
          <a:p>
            <a:pPr algn="l">
              <a:lnSpc>
                <a:spcPct val="115000"/>
              </a:lnSpc>
            </a:pPr>
            <a:r>
              <a:rPr sz="1200" b="0" i="0">
                <a:solidFill>
                  <a:srgbClr val="FFFFFF"/>
                </a:solidFill>
                <a:latin typeface="Courier New"/>
                <a:ea typeface="Courier New"/>
                <a:cs typeface="Courier New"/>
                <a:sym typeface="Courier New"/>
              </a:rPr>
              <a:t/>
            </a:r>
          </a:p>
          <a:p>
            <a:pPr algn="l">
              <a:lnSpc>
                <a:spcPct val="115000"/>
              </a:lnSpc>
            </a:pPr>
            <a:r>
              <a:rPr sz="1200" b="0" i="0">
                <a:solidFill>
                  <a:srgbClr val="FFFFFF"/>
                </a:solidFill>
                <a:latin typeface="Courier New"/>
                <a:ea typeface="Courier New"/>
                <a:cs typeface="Courier New"/>
                <a:sym typeface="Courier New"/>
              </a:rPr>
              <a:t>    return "PASS", f"Good Part ({int(area)}px)", mask</a:t>
            </a:r>
          </a:p>
        </p:txBody>
      </p:sp>
      <p:sp>
        <p:nvSpPr>
          <p:cNvPr id="6" name="blk0170"/>
          <p:cNvSpPr txBox="1"/>
          <p:nvPr/>
        </p:nvSpPr>
        <p:spPr>
          <a:xfrm>
            <a:off x="687600" y="4824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f-strings are doing real work here. Each message carries the number that caused the verdict, which is what turns "no" into "no, and here is by how much". Note the rounding on the ratio: two decimal places is enough to tell a 1.62 defect from a 1.05 pass, without a number too long to read from across a bench.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p>
        </p:txBody>
      </p:sp>
      <p:sp>
        <p:nvSpPr>
          <p:cNvPr id="3" name="blk017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identical to Projects 3 and 4:</a:t>
            </a:r>
          </a:p>
        </p:txBody>
      </p:sp>
      <p:sp>
        <p:nvSpPr>
          <p:cNvPr id="4" name="blk0173"/>
          <p:cNvSpPr/>
          <p:nvPr/>
        </p:nvSpPr>
        <p:spPr>
          <a:xfrm>
            <a:off x="687600" y="2304000"/>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3"/>
          <p:cNvSpPr txBox="1"/>
          <p:nvPr/>
        </p:nvSpPr>
        <p:spPr>
          <a:xfrm>
            <a:off x="910799" y="2466000"/>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cap = cv2.VideoCapture(0)</a:t>
            </a:r>
          </a:p>
          <a:p>
            <a:pPr algn="l">
              <a:lnSpc>
                <a:spcPct val="115000"/>
              </a:lnSpc>
            </a:pPr>
            <a:r>
              <a:rPr sz="1300" b="0" i="0">
                <a:solidFill>
                  <a:srgbClr val="FFFFFF"/>
                </a:solidFill>
                <a:latin typeface="Courier New"/>
                <a:ea typeface="Courier New"/>
                <a:cs typeface="Courier New"/>
                <a:sym typeface="Courier New"/>
              </a:rPr>
              <a:t>cap.set(cv2.CAP_PROP_FRAME_WIDTH, 640)</a:t>
            </a:r>
          </a:p>
          <a:p>
            <a:pPr algn="l">
              <a:lnSpc>
                <a:spcPct val="115000"/>
              </a:lnSpc>
            </a:pPr>
            <a:r>
              <a:rPr sz="1300" b="0" i="0">
                <a:solidFill>
                  <a:srgbClr val="FFFFFF"/>
                </a:solidFill>
                <a:latin typeface="Courier New"/>
                <a:ea typeface="Courier New"/>
                <a:cs typeface="Courier New"/>
                <a:sym typeface="Courier New"/>
              </a:rPr>
              <a:t>cap.set(cv2.CAP_PROP_FRAME_HEIGHT, 480)</a:t>
            </a:r>
          </a:p>
        </p:txBody>
      </p:sp>
      <p:sp>
        <p:nvSpPr>
          <p:cNvPr id="6" name="blk0174"/>
          <p:cNvSpPr txBox="1"/>
          <p:nvPr/>
        </p:nvSpPr>
        <p:spPr>
          <a:xfrm>
            <a:off x="687600" y="3528000"/>
            <a:ext cx="7542000" cy="410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time the resolution is not a suggestion. </a:t>
            </a:r>
            <a:r>
              <a:rPr sz="1743" b="0" i="0">
                <a:solidFill>
                  <a:srgbClr val="FFFFFF"/>
                </a:solidFill>
                <a:latin typeface="Courier New"/>
                <a:ea typeface="Courier New"/>
                <a:cs typeface="Courier New"/>
                <a:sym typeface="Courier New"/>
              </a:rPr>
              <a:t>BASE_ROI</a:t>
            </a:r>
            <a:r>
              <a:rPr sz="2027" b="0" i="0">
                <a:solidFill>
                  <a:srgbClr val="FFFFFF"/>
                </a:solidFill>
                <a:latin typeface="Avenir"/>
                <a:ea typeface="Avenir"/>
                <a:cs typeface="Avenir"/>
                <a:sym typeface="Avenir"/>
              </a:rPr>
              <a:t> is described in the comment as coordinates on a 640 by 480 frame, and the clamp in </a:t>
            </a:r>
            <a:r>
              <a:rPr sz="1743" b="0" i="0">
                <a:solidFill>
                  <a:srgbClr val="FFFFFF"/>
                </a:solidFill>
                <a:latin typeface="Courier New"/>
                <a:ea typeface="Courier New"/>
                <a:cs typeface="Courier New"/>
                <a:sym typeface="Courier New"/>
              </a:rPr>
              <a:t>calculate_roi_bounds</a:t>
            </a:r>
            <a:r>
              <a:rPr sz="2027" b="0" i="0">
                <a:solidFill>
                  <a:srgbClr val="FFFFFF"/>
                </a:solidFill>
                <a:latin typeface="Avenir"/>
                <a:ea typeface="Avenir"/>
                <a:cs typeface="Avenir"/>
                <a:sym typeface="Avenir"/>
              </a:rPr>
              <a:t> hard-codes 640 and 480 for the same reason.</a:t>
            </a:r>
          </a:p>
        </p:txBody>
      </p:sp>
      <p:sp>
        <p:nvSpPr>
          <p:cNvPr id="7" name="blk0175"/>
          <p:cNvSpPr txBox="1"/>
          <p:nvPr/>
        </p:nvSpPr>
        <p:spPr>
          <a:xfrm>
            <a:off x="687600" y="4871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camera gives you a different size, the ROI will be in the wrong place and the clamp will be wrong too, and neither will complain. This is the first project in the module where the frame size is load-bearing, so it is worth printing </a:t>
            </a:r>
            <a:r>
              <a:rPr sz="1419" b="0" i="0">
                <a:solidFill>
                  <a:srgbClr val="FFFFFF"/>
                </a:solidFill>
                <a:latin typeface="Courier New"/>
                <a:ea typeface="Courier New"/>
                <a:cs typeface="Courier New"/>
                <a:sym typeface="Courier New"/>
              </a:rPr>
              <a:t>frame.shape</a:t>
            </a:r>
            <a:r>
              <a:rPr sz="1650" b="0" i="0">
                <a:solidFill>
                  <a:srgbClr val="FFFFFF"/>
                </a:solidFill>
                <a:latin typeface="Avenir"/>
                <a:ea typeface="Avenir"/>
                <a:cs typeface="Avenir"/>
                <a:sym typeface="Avenir"/>
              </a:rPr>
              <a:t> once to confirm what you are actually getting.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p>
        </p:txBody>
      </p:sp>
      <p:sp>
        <p:nvSpPr>
          <p:cNvPr id="3" name="blk017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the frame:</a:t>
            </a:r>
          </a:p>
        </p:txBody>
      </p:sp>
      <p:sp>
        <p:nvSpPr>
          <p:cNvPr id="4" name="blk0178"/>
          <p:cNvSpPr/>
          <p:nvPr/>
        </p:nvSpPr>
        <p:spPr>
          <a:xfrm>
            <a:off x="687600" y="2304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8"/>
          <p:cNvSpPr txBox="1"/>
          <p:nvPr/>
        </p:nvSpPr>
        <p:spPr>
          <a:xfrm>
            <a:off x="910799" y="2466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ret, frame = cap.read()</a:t>
            </a:r>
          </a:p>
          <a:p>
            <a:pPr algn="l">
              <a:lnSpc>
                <a:spcPct val="115000"/>
              </a:lnSpc>
            </a:pPr>
            <a:r>
              <a:rPr sz="1400" b="0" i="0">
                <a:solidFill>
                  <a:srgbClr val="FFFFFF"/>
                </a:solidFill>
                <a:latin typeface="Courier New"/>
                <a:ea typeface="Courier New"/>
                <a:cs typeface="Courier New"/>
                <a:sym typeface="Courier New"/>
              </a:rPr>
              <a:t>        if not ret:</a:t>
            </a:r>
          </a:p>
          <a:p>
            <a:pPr algn="l">
              <a:lnSpc>
                <a:spcPct val="115000"/>
              </a:lnSpc>
            </a:pPr>
            <a:r>
              <a:rPr sz="1400" b="0" i="0">
                <a:solidFill>
                  <a:srgbClr val="FFFFFF"/>
                </a:solidFill>
                <a:latin typeface="Courier New"/>
                <a:ea typeface="Courier New"/>
                <a:cs typeface="Courier New"/>
                <a:sym typeface="Courier New"/>
              </a:rPr>
              <a:t>            break</a:t>
            </a:r>
          </a:p>
        </p:txBody>
      </p:sp>
      <p:sp>
        <p:nvSpPr>
          <p:cNvPr id="6" name="blk0179"/>
          <p:cNvSpPr txBox="1"/>
          <p:nvPr/>
        </p:nvSpPr>
        <p:spPr>
          <a:xfrm>
            <a:off x="687600" y="3430878"/>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Almost identical to Project 4, with one deliberate difference. There the line was </a:t>
            </a:r>
            <a:r>
              <a:rPr sz="1743" b="0" i="0">
                <a:solidFill>
                  <a:srgbClr val="FFFFFF"/>
                </a:solidFill>
                <a:latin typeface="Courier New"/>
                <a:ea typeface="Courier New"/>
                <a:cs typeface="Courier New"/>
                <a:sym typeface="Courier New"/>
              </a:rPr>
              <a:t>success, frame</a:t>
            </a:r>
            <a:r>
              <a:rPr sz="2027" b="0" i="0">
                <a:solidFill>
                  <a:srgbClr val="FFFFFF"/>
                </a:solidFill>
                <a:latin typeface="Avenir"/>
                <a:ea typeface="Avenir"/>
                <a:cs typeface="Avenir"/>
                <a:sym typeface="Avenir"/>
              </a:rPr>
              <a:t> and the body was </a:t>
            </a:r>
            <a:r>
              <a:rPr sz="1743" b="0" i="0">
                <a:solidFill>
                  <a:srgbClr val="FFFFFF"/>
                </a:solidFill>
                <a:latin typeface="Courier New"/>
                <a:ea typeface="Courier New"/>
                <a:cs typeface="Courier New"/>
                <a:sym typeface="Courier New"/>
              </a:rPr>
              <a:t>continue</a:t>
            </a:r>
            <a:r>
              <a:rPr sz="2027" b="0" i="0">
                <a:solidFill>
                  <a:srgbClr val="FFFFFF"/>
                </a:solidFill>
                <a:latin typeface="Avenir"/>
                <a:ea typeface="Avenir"/>
                <a:cs typeface="Avenir"/>
                <a:sym typeface="Avenir"/>
              </a:rPr>
              <a:t>; here it is </a:t>
            </a:r>
            <a:r>
              <a:rPr sz="1743" b="0" i="0">
                <a:solidFill>
                  <a:srgbClr val="FFFFFF"/>
                </a:solidFill>
                <a:latin typeface="Courier New"/>
                <a:ea typeface="Courier New"/>
                <a:cs typeface="Courier New"/>
                <a:sym typeface="Courier New"/>
              </a:rPr>
              <a:t>ret, frame</a:t>
            </a:r>
            <a:r>
              <a:rPr sz="2027" b="0" i="0">
                <a:solidFill>
                  <a:srgbClr val="FFFFFF"/>
                </a:solidFill>
                <a:latin typeface="Avenir"/>
                <a:ea typeface="Avenir"/>
                <a:cs typeface="Avenir"/>
                <a:sym typeface="Avenir"/>
              </a:rPr>
              <a:t> and the body is </a:t>
            </a:r>
            <a:r>
              <a:rPr sz="1743" b="0" i="0">
                <a:solidFill>
                  <a:srgbClr val="FFFFFF"/>
                </a:solidFill>
                <a:latin typeface="Courier New"/>
                <a:ea typeface="Courier New"/>
                <a:cs typeface="Courier New"/>
                <a:sym typeface="Courier New"/>
              </a:rPr>
              <a:t>break</a:t>
            </a:r>
            <a:r>
              <a:rPr sz="2027" b="0" i="0">
                <a:solidFill>
                  <a:srgbClr val="FFFFFF"/>
                </a:solidFill>
                <a:latin typeface="Avenir"/>
                <a:ea typeface="Avenir"/>
                <a:cs typeface="Avenir"/>
                <a:sym typeface="Avenir"/>
              </a:rPr>
              <a:t>.</a:t>
            </a:r>
          </a:p>
        </p:txBody>
      </p:sp>
      <p:sp>
        <p:nvSpPr>
          <p:cNvPr id="7" name="blk0180"/>
          <p:cNvSpPr txBox="1"/>
          <p:nvPr/>
        </p:nvSpPr>
        <p:spPr>
          <a:xfrm>
            <a:off x="687600" y="4465622"/>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are correct, and the difference is about what you want to happen. </a:t>
            </a:r>
            <a:r>
              <a:rPr sz="1419" b="0" i="0">
                <a:solidFill>
                  <a:srgbClr val="FFFFFF"/>
                </a:solidFill>
                <a:latin typeface="Courier New"/>
                <a:ea typeface="Courier New"/>
                <a:cs typeface="Courier New"/>
                <a:sym typeface="Courier New"/>
              </a:rPr>
              <a:t>continue</a:t>
            </a:r>
            <a:r>
              <a:rPr sz="1650" b="0" i="0">
                <a:solidFill>
                  <a:srgbClr val="FFFFFF"/>
                </a:solidFill>
                <a:latin typeface="Avenir"/>
                <a:ea typeface="Avenir"/>
                <a:cs typeface="Avenir"/>
                <a:sym typeface="Avenir"/>
              </a:rPr>
              <a:t> says this frame is bad, try the next one — right for a program where frames arrive at 30 a second and one bad frame means nothing. </a:t>
            </a:r>
            <a:r>
              <a:rPr sz="1419" b="0" i="0">
                <a:solidFill>
                  <a:srgbClr val="FFFFFF"/>
                </a:solidFill>
                <a:latin typeface="Courier New"/>
                <a:ea typeface="Courier New"/>
                <a:cs typeface="Courier New"/>
                <a:sym typeface="Courier New"/>
              </a:rPr>
              <a:t>break</a:t>
            </a:r>
            <a:r>
              <a:rPr sz="1650" b="0" i="0">
                <a:solidFill>
                  <a:srgbClr val="FFFFFF"/>
                </a:solidFill>
                <a:latin typeface="Avenir"/>
                <a:ea typeface="Avenir"/>
                <a:cs typeface="Avenir"/>
                <a:sym typeface="Avenir"/>
              </a:rPr>
              <a:t> says the camera is finished, stop the program — right when there is nothing to read and waiting will not help. A dropped frame and a closed camera look identical from inside the loop, and this project decides to treat both as the end.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16</a:t>
            </a:r>
          </a:p>
        </p:txBody>
      </p:sp>
      <p:sp>
        <p:nvSpPr>
          <p:cNvPr id="3" name="blk018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Build the zone and cut the part out of the picture:</a:t>
            </a:r>
          </a:p>
        </p:txBody>
      </p:sp>
      <p:sp>
        <p:nvSpPr>
          <p:cNvPr id="4" name="blk0183"/>
          <p:cNvSpPr/>
          <p:nvPr/>
        </p:nvSpPr>
        <p:spPr>
          <a:xfrm>
            <a:off x="687600" y="2664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3"/>
          <p:cNvSpPr txBox="1"/>
          <p:nvPr/>
        </p:nvSpPr>
        <p:spPr>
          <a:xfrm>
            <a:off x="910799" y="2826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        ROI_BOUNDS = calculate_roi_bounds()</a:t>
            </a:r>
          </a:p>
          <a:p>
            <a:pPr algn="l">
              <a:lnSpc>
                <a:spcPct val="115000"/>
              </a:lnSpc>
            </a:pPr>
            <a:r>
              <a:rPr sz="1400" b="0" i="0">
                <a:solidFill>
                  <a:srgbClr val="FFFFFF"/>
                </a:solidFill>
                <a:latin typeface="Courier New"/>
                <a:ea typeface="Courier New"/>
                <a:cs typeface="Courier New"/>
                <a:sym typeface="Courier New"/>
              </a:rPr>
              <a:t>        y1, y2, x1, x2 = ROI_BOUNDS</a:t>
            </a:r>
          </a:p>
          <a:p>
            <a:pPr algn="l">
              <a:lnSpc>
                <a:spcPct val="115000"/>
              </a:lnSpc>
            </a:pPr>
            <a:r>
              <a:rPr sz="1400" b="0" i="0">
                <a:solidFill>
                  <a:srgbClr val="FFFFFF"/>
                </a:solidFill>
                <a:latin typeface="Courier New"/>
                <a:ea typeface="Courier New"/>
                <a:cs typeface="Courier New"/>
                <a:sym typeface="Courier New"/>
              </a:rPr>
              <a:t>        roi = frame[y1:y2, x1:x2]</a:t>
            </a:r>
          </a:p>
        </p:txBody>
      </p:sp>
      <p:sp>
        <p:nvSpPr>
          <p:cNvPr id="6" name="blk0184"/>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steps: get the bounds, unpack them, slice. The result is a NumPy array, not an OpenCV image object — which does not matter, because every function it is about to meet takes a NumPy array.</a:t>
            </a:r>
          </a:p>
        </p:txBody>
      </p:sp>
      <p:sp>
        <p:nvSpPr>
          <p:cNvPr id="7" name="blk0185"/>
          <p:cNvSpPr txBox="1"/>
          <p:nvPr/>
        </p:nvSpPr>
        <p:spPr>
          <a:xfrm>
            <a:off x="687600" y="544765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runs inside the loop, every frame, even though the answer never changes unless you edit the constants. It is a function call per frame doing arithmetic on four numbers — utterly negligible, and it means you can move the zone without restarting the program.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17</a:t>
            </a:r>
          </a:p>
        </p:txBody>
      </p:sp>
      <p:sp>
        <p:nvSpPr>
          <p:cNvPr id="3" name="blk018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and it is the whole point of the project:</a:t>
            </a:r>
          </a:p>
        </p:txBody>
      </p:sp>
      <p:sp>
        <p:nvSpPr>
          <p:cNvPr id="4" name="blk0188"/>
          <p:cNvSpPr/>
          <p:nvPr/>
        </p:nvSpPr>
        <p:spPr>
          <a:xfrm>
            <a:off x="687600" y="266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8"/>
          <p:cNvSpPr txBox="1"/>
          <p:nvPr/>
        </p:nvSpPr>
        <p:spPr>
          <a:xfrm>
            <a:off x="910799" y="282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status, reason, mask = inspect_part(roi)</a:t>
            </a:r>
          </a:p>
        </p:txBody>
      </p:sp>
      <p:sp>
        <p:nvSpPr>
          <p:cNvPr id="6" name="blk0189"/>
          <p:cNvSpPr txBox="1"/>
          <p:nvPr/>
        </p:nvSpPr>
        <p:spPr>
          <a:xfrm>
            <a:off x="687600" y="3456000"/>
            <a:ext cx="7542000" cy="417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values back, unpacked into names that describe what they are. Compare that with Project 4, where the model returned nested lists you had to dig through — a function that hands back three well-named values is doing you a real favour.</a:t>
            </a:r>
          </a:p>
        </p:txBody>
      </p:sp>
      <p:sp>
        <p:nvSpPr>
          <p:cNvPr id="7" name="blk0190"/>
          <p:cNvSpPr txBox="1"/>
          <p:nvPr/>
        </p:nvSpPr>
        <p:spPr>
          <a:xfrm>
            <a:off x="687600" y="5108574"/>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Worth being precise about what the mask actually is. It is not a picture of the outlines — it is the cleaned mask, the one morphology produced and </a:t>
            </a:r>
            <a:r>
              <a:rPr sz="1419" b="0" i="0">
                <a:solidFill>
                  <a:srgbClr val="FFFFFF"/>
                </a:solidFill>
                <a:latin typeface="Courier New"/>
                <a:ea typeface="Courier New"/>
                <a:cs typeface="Courier New"/>
                <a:sym typeface="Courier New"/>
              </a:rPr>
              <a:t>findContours</a:t>
            </a:r>
            <a:r>
              <a:rPr sz="1650" b="0" i="0">
                <a:solidFill>
                  <a:srgbClr val="FFFFFF"/>
                </a:solidFill>
                <a:latin typeface="Avenir"/>
                <a:ea typeface="Avenir"/>
                <a:cs typeface="Avenir"/>
                <a:sym typeface="Avenir"/>
              </a:rPr>
              <a:t> read. Since OpenCV 3.2 that call does not modify the mask handed to it, so what comes back is exactly what went in: the same image the decisions were made from. That is why it is the one worth displaying.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18</a:t>
            </a:r>
          </a:p>
        </p:txBody>
      </p:sp>
      <p:sp>
        <p:nvSpPr>
          <p:cNvPr id="3" name="blk019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colour was already chosen for you, one line above this TODO:</a:t>
            </a:r>
          </a:p>
        </p:txBody>
      </p:sp>
      <p:sp>
        <p:nvSpPr>
          <p:cNvPr id="4" name="blk0193"/>
          <p:cNvSpPr/>
          <p:nvPr/>
        </p:nvSpPr>
        <p:spPr>
          <a:xfrm>
            <a:off x="687600" y="2448000"/>
            <a:ext cx="8686800" cy="51426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3"/>
          <p:cNvSpPr txBox="1"/>
          <p:nvPr/>
        </p:nvSpPr>
        <p:spPr>
          <a:xfrm>
            <a:off x="910799" y="2610000"/>
            <a:ext cx="8240400" cy="190264"/>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status_color = (0, 255, 0) if status == "PASS" else (0, 0, 255)</a:t>
            </a:r>
          </a:p>
        </p:txBody>
      </p:sp>
      <p:sp>
        <p:nvSpPr>
          <p:cNvPr id="6" name="blk0194"/>
          <p:cNvSpPr/>
          <p:nvPr/>
        </p:nvSpPr>
        <p:spPr>
          <a:xfrm>
            <a:off x="687600" y="3384000"/>
            <a:ext cx="8686800" cy="62180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94"/>
          <p:cNvSpPr txBox="1"/>
          <p:nvPr/>
        </p:nvSpPr>
        <p:spPr>
          <a:xfrm>
            <a:off x="910799" y="3546000"/>
            <a:ext cx="8240400" cy="297805"/>
          </a:xfrm>
          <a:prstGeom prst="rect">
            <a:avLst/>
          </a:prstGeom>
          <a:noFill/>
        </p:spPr>
        <p:txBody>
          <a:bodyPr wrap="square" anchor="t" lIns="0" rIns="0" tIns="0" bIns="0">
            <a:noAutofit/>
          </a:bodyPr>
          <a:lstStyle/>
          <a:p>
            <a:pPr algn="l">
              <a:lnSpc>
                <a:spcPct val="115000"/>
              </a:lnSpc>
            </a:pPr>
            <a:r>
              <a:rPr sz="900" b="0" i="0">
                <a:solidFill>
                  <a:srgbClr val="FFFFFF"/>
                </a:solidFill>
                <a:latin typeface="Courier New"/>
                <a:ea typeface="Courier New"/>
                <a:cs typeface="Courier New"/>
                <a:sym typeface="Courier New"/>
              </a:rPr>
              <a:t>        cv2.rectangle(frame, (x1, y1), (x2, y2), status_color, 2)</a:t>
            </a:r>
          </a:p>
          <a:p>
            <a:pPr algn="l">
              <a:lnSpc>
                <a:spcPct val="115000"/>
              </a:lnSpc>
            </a:pPr>
            <a:r>
              <a:rPr sz="900" b="0" i="0">
                <a:solidFill>
                  <a:srgbClr val="FFFFFF"/>
                </a:solidFill>
                <a:latin typeface="Courier New"/>
                <a:ea typeface="Courier New"/>
                <a:cs typeface="Courier New"/>
                <a:sym typeface="Courier New"/>
              </a:rPr>
              <a:t>        cv2.putText(frame, "INSPECTION ZONE", (x1, y1 - 10), cv2.FONT_HERSHEY_SIMPLEX, 0.5, status_color, 2)</a:t>
            </a:r>
          </a:p>
        </p:txBody>
      </p:sp>
      <p:sp>
        <p:nvSpPr>
          <p:cNvPr id="8" name="blk0195"/>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rectangle uses the ROI bounds from Step 16, not the bounding rectangle from Step 12. It is showing you where the scanner is looking, which is what you want while tuning the zone.</a:t>
            </a:r>
          </a:p>
        </p:txBody>
      </p:sp>
      <p:sp>
        <p:nvSpPr>
          <p:cNvPr id="9" name="blk0196"/>
          <p:cNvSpPr txBox="1"/>
          <p:nvPr/>
        </p:nvSpPr>
        <p:spPr>
          <a:xfrm>
            <a:off x="687600" y="580765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colour value, decided once, used for the rectangle and the label. If you ever find yourself computing the colour in two places, that is the moment to notice you should have kept the line that was written for you.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18, continued</a:t>
            </a:r>
          </a:p>
        </p:txBody>
      </p:sp>
      <p:sp>
        <p:nvSpPr>
          <p:cNvPr id="3" name="blk019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the telemetry, anchored to the bottom of the picture:</a:t>
            </a:r>
          </a:p>
        </p:txBody>
      </p:sp>
      <p:sp>
        <p:nvSpPr>
          <p:cNvPr id="4" name="blk0199"/>
          <p:cNvSpPr/>
          <p:nvPr/>
        </p:nvSpPr>
        <p:spPr>
          <a:xfrm>
            <a:off x="687600" y="2448000"/>
            <a:ext cx="8686800" cy="79056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9"/>
          <p:cNvSpPr txBox="1"/>
          <p:nvPr/>
        </p:nvSpPr>
        <p:spPr>
          <a:xfrm>
            <a:off x="910799" y="2610000"/>
            <a:ext cx="8240400" cy="466561"/>
          </a:xfrm>
          <a:prstGeom prst="rect">
            <a:avLst/>
          </a:prstGeom>
          <a:noFill/>
        </p:spPr>
        <p:txBody>
          <a:bodyPr wrap="square" anchor="t" lIns="0" rIns="0" tIns="0" bIns="0">
            <a:noAutofit/>
          </a:bodyPr>
          <a:lstStyle/>
          <a:p>
            <a:pPr algn="l">
              <a:lnSpc>
                <a:spcPct val="115000"/>
              </a:lnSpc>
            </a:pPr>
            <a:r>
              <a:rPr sz="940" b="0" i="0">
                <a:solidFill>
                  <a:srgbClr val="FFFFFF"/>
                </a:solidFill>
                <a:latin typeface="Courier New"/>
                <a:ea typeface="Courier New"/>
                <a:cs typeface="Courier New"/>
                <a:sym typeface="Courier New"/>
              </a:rPr>
              <a:t>        h, w = frame.shape[:2]</a:t>
            </a:r>
          </a:p>
          <a:p>
            <a:pPr algn="l">
              <a:lnSpc>
                <a:spcPct val="115000"/>
              </a:lnSpc>
            </a:pPr>
            <a:r>
              <a:rPr sz="940" b="0" i="0">
                <a:solidFill>
                  <a:srgbClr val="FFFFFF"/>
                </a:solidFill>
                <a:latin typeface="Courier New"/>
                <a:ea typeface="Courier New"/>
                <a:cs typeface="Courier New"/>
                <a:sym typeface="Courier New"/>
              </a:rPr>
              <a:t>        cv2.putText(frame, f"STATUS: {status}", (20, h - 50), cv2.FONT_HERSHEY_SIMPLEX, 1.0, status_color, 3)</a:t>
            </a:r>
          </a:p>
          <a:p>
            <a:pPr algn="l">
              <a:lnSpc>
                <a:spcPct val="115000"/>
              </a:lnSpc>
            </a:pPr>
            <a:r>
              <a:rPr sz="940" b="0" i="0">
                <a:solidFill>
                  <a:srgbClr val="FFFFFF"/>
                </a:solidFill>
                <a:latin typeface="Courier New"/>
                <a:ea typeface="Courier New"/>
                <a:cs typeface="Courier New"/>
                <a:sym typeface="Courier New"/>
              </a:rPr>
              <a:t>        cv2.putText(frame, f"REASON: {reason}", (20, h - 15), cv2.FONT_HERSHEY_SIMPLEX, 0.6, (255, 255, 255), 2)</a:t>
            </a:r>
          </a:p>
        </p:txBody>
      </p:sp>
      <p:sp>
        <p:nvSpPr>
          <p:cNvPr id="6" name="blk0200"/>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Those last two lines are the longest in the project, which is why they are set small here. In your file they are 112 and 108 characters, one line each, and you should type them exactly as they are.</a:t>
            </a:r>
          </a:p>
          <a:p>
            <a:pPr algn="l">
              <a:lnSpc>
                <a:spcPct val="100000"/>
              </a:lnSpc>
            </a:pPr>
            <a:r>
              <a:rPr sz="2027" b="0" i="0">
                <a:solidFill>
                  <a:srgbClr val="FFFFFF"/>
                </a:solidFill>
                <a:latin typeface="Avenir"/>
                <a:ea typeface="Avenir"/>
                <a:cs typeface="Avenir"/>
                <a:sym typeface="Avenir"/>
              </a:rPr>
              <a:t>Note </a:t>
            </a:r>
            <a:r>
              <a:rPr sz="1743" b="0" i="0">
                <a:solidFill>
                  <a:srgbClr val="FFFFFF"/>
                </a:solidFill>
                <a:latin typeface="Courier New"/>
                <a:ea typeface="Courier New"/>
                <a:cs typeface="Courier New"/>
                <a:sym typeface="Courier New"/>
              </a:rPr>
              <a:t>frame.shape[:2]</a:t>
            </a:r>
            <a:r>
              <a:rPr sz="2027" b="0" i="0">
                <a:solidFill>
                  <a:srgbClr val="FFFFFF"/>
                </a:solidFill>
                <a:latin typeface="Avenir"/>
                <a:ea typeface="Avenir"/>
                <a:cs typeface="Avenir"/>
                <a:sym typeface="Avenir"/>
              </a:rPr>
              <a:t> rather than the full shape — a shorter way of saying "height and width, ignore the channels".</a:t>
            </a:r>
          </a:p>
        </p:txBody>
      </p:sp>
      <p:sp>
        <p:nvSpPr>
          <p:cNvPr id="7" name="blk0201"/>
          <p:cNvSpPr txBox="1"/>
          <p:nvPr/>
        </p:nvSpPr>
        <p:spPr>
          <a:xfrm>
            <a:off x="687600" y="6065488"/>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Text at 1.0 scale with thickness 3 for the verdict, and 0.6 with thickness 2 for the reason. That is not decoration: the status is the answer and has to be readable from across the bench, while the reason is detail for whoever walks over to look. Two different sizes, two different jobs.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19</a:t>
            </a:r>
          </a:p>
        </p:txBody>
      </p:sp>
      <p:sp>
        <p:nvSpPr>
          <p:cNvPr id="3" name="blk020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windows, and the last TODO:</a:t>
            </a:r>
          </a:p>
        </p:txBody>
      </p:sp>
      <p:sp>
        <p:nvSpPr>
          <p:cNvPr id="4" name="blk0204"/>
          <p:cNvSpPr/>
          <p:nvPr/>
        </p:nvSpPr>
        <p:spPr>
          <a:xfrm>
            <a:off x="687600" y="2304000"/>
            <a:ext cx="8686800" cy="73761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4"/>
          <p:cNvSpPr txBox="1"/>
          <p:nvPr/>
        </p:nvSpPr>
        <p:spPr>
          <a:xfrm>
            <a:off x="910799" y="2466000"/>
            <a:ext cx="8240400" cy="413618"/>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cv2.imshow("Mission 02 - Project 05: QC Scanner", frame)</a:t>
            </a:r>
          </a:p>
          <a:p>
            <a:pPr algn="l">
              <a:lnSpc>
                <a:spcPct val="115000"/>
              </a:lnSpc>
            </a:pPr>
            <a:r>
              <a:rPr sz="1250" b="0" i="0">
                <a:solidFill>
                  <a:srgbClr val="FFFFFF"/>
                </a:solidFill>
                <a:latin typeface="Courier New"/>
                <a:ea typeface="Courier New"/>
                <a:cs typeface="Courier New"/>
                <a:sym typeface="Courier New"/>
              </a:rPr>
              <a:t>        cv2.imshow("Mask View", mask)</a:t>
            </a:r>
          </a:p>
        </p:txBody>
      </p:sp>
      <p:sp>
        <p:nvSpPr>
          <p:cNvPr id="6" name="blk0205"/>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view for the human, the mask for you. Then the exit check, also already written:</a:t>
            </a:r>
          </a:p>
        </p:txBody>
      </p:sp>
      <p:sp>
        <p:nvSpPr>
          <p:cNvPr id="7" name="blk0206"/>
          <p:cNvSpPr/>
          <p:nvPr/>
        </p:nvSpPr>
        <p:spPr>
          <a:xfrm>
            <a:off x="687600" y="4176000"/>
            <a:ext cx="8686800" cy="73761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06"/>
          <p:cNvSpPr txBox="1"/>
          <p:nvPr/>
        </p:nvSpPr>
        <p:spPr>
          <a:xfrm>
            <a:off x="910799" y="4338000"/>
            <a:ext cx="8240400" cy="413618"/>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if cv2.waitKey(1) &amp; 0xFF == ord('q'):</a:t>
            </a:r>
          </a:p>
          <a:p>
            <a:pPr algn="l">
              <a:lnSpc>
                <a:spcPct val="115000"/>
              </a:lnSpc>
            </a:pPr>
            <a:r>
              <a:rPr sz="1250" b="0" i="0">
                <a:solidFill>
                  <a:srgbClr val="FFFFFF"/>
                </a:solidFill>
                <a:latin typeface="Courier New"/>
                <a:ea typeface="Courier New"/>
                <a:cs typeface="Courier New"/>
                <a:sym typeface="Courier New"/>
              </a:rPr>
              <a:t>            break</a:t>
            </a:r>
          </a:p>
        </p:txBody>
      </p:sp>
      <p:sp>
        <p:nvSpPr>
          <p:cNvPr id="9" name="blk0207"/>
          <p:cNvSpPr txBox="1"/>
          <p:nvPr/>
        </p:nvSpPr>
        <p:spPr>
          <a:xfrm>
            <a:off x="687600" y="5021618"/>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the very last thing in the file:</a:t>
            </a:r>
          </a:p>
        </p:txBody>
      </p:sp>
      <p:sp>
        <p:nvSpPr>
          <p:cNvPr id="10" name="blk0208"/>
          <p:cNvSpPr/>
          <p:nvPr/>
        </p:nvSpPr>
        <p:spPr>
          <a:xfrm>
            <a:off x="687600" y="5472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08"/>
          <p:cNvSpPr txBox="1"/>
          <p:nvPr/>
        </p:nvSpPr>
        <p:spPr>
          <a:xfrm>
            <a:off x="910799" y="5633999"/>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finally:</a:t>
            </a:r>
          </a:p>
          <a:p>
            <a:pPr algn="l">
              <a:lnSpc>
                <a:spcPct val="115000"/>
              </a:lnSpc>
            </a:pPr>
            <a:r>
              <a:rPr sz="1250" b="0" i="0">
                <a:solidFill>
                  <a:srgbClr val="FFFFFF"/>
                </a:solidFill>
                <a:latin typeface="Courier New"/>
                <a:ea typeface="Courier New"/>
                <a:cs typeface="Courier New"/>
                <a:sym typeface="Courier New"/>
              </a:rPr>
              <a:t>    cap.release()</a:t>
            </a:r>
          </a:p>
          <a:p>
            <a:pPr algn="l">
              <a:lnSpc>
                <a:spcPct val="115000"/>
              </a:lnSpc>
            </a:pPr>
            <a:r>
              <a:rPr sz="1250" b="0" i="0">
                <a:solidFill>
                  <a:srgbClr val="FFFFFF"/>
                </a:solidFill>
                <a:latin typeface="Courier New"/>
                <a:ea typeface="Courier New"/>
                <a:cs typeface="Courier New"/>
                <a:sym typeface="Courier New"/>
              </a:rPr>
              <a:t>    cv2.destroyAllWindows()</a:t>
            </a:r>
          </a:p>
        </p:txBody>
      </p:sp>
      <p:sp>
        <p:nvSpPr>
          <p:cNvPr id="12" name="blk0209"/>
          <p:cNvSpPr txBox="1"/>
          <p:nvPr/>
        </p:nvSpPr>
        <p:spPr>
          <a:xfrm>
            <a:off x="687600" y="6524427"/>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 </a:t>
            </a:r>
            <a:r>
              <a:rPr sz="1419" b="0" i="0">
                <a:solidFill>
                  <a:srgbClr val="FFFFFF"/>
                </a:solidFill>
                <a:latin typeface="Courier New"/>
                <a:ea typeface="Courier New"/>
                <a:cs typeface="Courier New"/>
                <a:sym typeface="Courier New"/>
              </a:rPr>
              <a:t>mc.release_all_servos()</a:t>
            </a:r>
            <a:r>
              <a:rPr sz="1650" b="0" i="0">
                <a:solidFill>
                  <a:srgbClr val="FFFFFF"/>
                </a:solidFill>
                <a:latin typeface="Avenir"/>
                <a:ea typeface="Avenir"/>
                <a:cs typeface="Avenir"/>
                <a:sym typeface="Avenir"/>
              </a:rPr>
              <a:t> here — fine, the arm never moves, but the next project that moves the arm will want it back.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two windows</a:t>
            </a:r>
          </a:p>
        </p:txBody>
      </p:sp>
      <p:sp>
        <p:nvSpPr>
          <p:cNvPr id="3" name="blk021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When something is wrong, look in this order:</a:t>
            </a:r>
          </a:p>
        </p:txBody>
      </p:sp>
      <p:sp>
        <p:nvSpPr>
          <p:cNvPr id="4" name="blk0212"/>
          <p:cNvSpPr/>
          <p:nvPr/>
        </p:nvSpPr>
        <p:spPr>
          <a:xfrm>
            <a:off x="741600" y="290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12"/>
          <p:cNvSpPr txBox="1"/>
          <p:nvPr/>
        </p:nvSpPr>
        <p:spPr>
          <a:xfrm>
            <a:off x="1252800" y="288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mask.</a:t>
            </a:r>
            <a:r>
              <a:rPr sz="1600" b="0" i="0">
                <a:solidFill>
                  <a:srgbClr val="FFFFFF"/>
                </a:solidFill>
                <a:latin typeface="Avenir"/>
                <a:ea typeface="Avenir"/>
                <a:cs typeface="Avenir"/>
                <a:sym typeface="Avenir"/>
              </a:rPr>
              <a:t>  White where the program thinks there is a part. If the part is missing here, the problem is the colour range or the opening — nothing downstream has even seen it yet.</a:t>
            </a:r>
          </a:p>
        </p:txBody>
      </p:sp>
      <p:sp>
        <p:nvSpPr>
          <p:cNvPr id="6" name="blk0213"/>
          <p:cNvSpPr/>
          <p:nvPr/>
        </p:nvSpPr>
        <p:spPr>
          <a:xfrm>
            <a:off x="741600" y="389462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13"/>
          <p:cNvSpPr txBox="1"/>
          <p:nvPr/>
        </p:nvSpPr>
        <p:spPr>
          <a:xfrm>
            <a:off x="1252800" y="3865824"/>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inspection box.</a:t>
            </a:r>
            <a:r>
              <a:rPr sz="1600" b="0" i="0">
                <a:solidFill>
                  <a:srgbClr val="FFFFFF"/>
                </a:solidFill>
                <a:latin typeface="Avenir"/>
                <a:ea typeface="Avenir"/>
                <a:cs typeface="Avenir"/>
                <a:sym typeface="Avenir"/>
              </a:rPr>
              <a:t>  Green means PASS, red means FAIL. This colour is the verdict, so it is the fastest read on the screen.</a:t>
            </a:r>
          </a:p>
        </p:txBody>
      </p:sp>
      <p:sp>
        <p:nvSpPr>
          <p:cNvPr id="8" name="blk0214"/>
          <p:cNvSpPr/>
          <p:nvPr/>
        </p:nvSpPr>
        <p:spPr>
          <a:xfrm>
            <a:off x="741600" y="458784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14"/>
          <p:cNvSpPr txBox="1"/>
          <p:nvPr/>
        </p:nvSpPr>
        <p:spPr>
          <a:xfrm>
            <a:off x="1252800" y="455904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reason line.</a:t>
            </a:r>
            <a:r>
              <a:rPr sz="1600" b="0" i="0">
                <a:solidFill>
                  <a:srgbClr val="FFFFFF"/>
                </a:solidFill>
                <a:latin typeface="Avenir"/>
                <a:ea typeface="Avenir"/>
                <a:cs typeface="Avenir"/>
                <a:sym typeface="Avenir"/>
              </a:rPr>
              <a:t>  This is the fault, named in words with a number attached. Read it before changing anything.</a:t>
            </a:r>
          </a:p>
        </p:txBody>
      </p:sp>
      <p:sp>
        <p:nvSpPr>
          <p:cNvPr id="10" name="blk0215"/>
          <p:cNvSpPr/>
          <p:nvPr/>
        </p:nvSpPr>
        <p:spPr>
          <a:xfrm>
            <a:off x="741600" y="53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15"/>
          <p:cNvSpPr txBox="1"/>
          <p:nvPr/>
        </p:nvSpPr>
        <p:spPr>
          <a:xfrm>
            <a:off x="1252800" y="53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zone position.</a:t>
            </a:r>
            <a:r>
              <a:rPr sz="1600" b="0" i="0">
                <a:solidFill>
                  <a:srgbClr val="FFFFFF"/>
                </a:solidFill>
                <a:latin typeface="Avenir"/>
                <a:ea typeface="Avenir"/>
                <a:cs typeface="Avenir"/>
                <a:sym typeface="Avenir"/>
              </a:rPr>
              <a:t>  If the part is half in and half out of the box, retune the offsets before you touch a single threshold.</a:t>
            </a:r>
          </a:p>
        </p:txBody>
      </p:sp>
      <p:sp>
        <p:nvSpPr>
          <p:cNvPr id="12" name="blk0216"/>
          <p:cNvSpPr txBox="1"/>
          <p:nvPr/>
        </p:nvSpPr>
        <p:spPr>
          <a:xfrm>
            <a:off x="687600" y="6336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order runs from raw pixels to final verdict, which is the order the data flows in. Working backwards from the verdict is what turns a vague "it does not work" into a specific fault.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tune anything</a:t>
            </a:r>
          </a:p>
        </p:txBody>
      </p:sp>
      <p:graphicFrame>
        <p:nvGraphicFramePr>
          <p:cNvPr id="3" name="blk0218"/>
          <p:cNvGraphicFramePr>
            <a:graphicFrameLocks noGrp="1"/>
          </p:cNvGraphicFramePr>
          <p:nvPr/>
        </p:nvGraphicFramePr>
        <p:xfrm>
          <a:off x="687600" y="1512000"/>
          <a:ext cx="8686800" cy="3272400"/>
        </p:xfrm>
        <a:graphic>
          <a:graphicData uri="http://schemas.openxmlformats.org/drawingml/2006/table">
            <a:tbl>
              <a:tblPr firstRow="0" bandRow="0"/>
              <a:tblGrid>
                <a:gridCol w="2520000"/>
                <a:gridCol w="2592000"/>
                <a:gridCol w="3574800"/>
              </a:tblGrid>
              <a:tr h="450000">
                <a:tc>
                  <a:txBody>
                    <a:bodyPr wrap="square"/>
                    <a:lstStyle/>
                    <a:p>
                      <a:pPr algn="l">
                        <a:lnSpc>
                          <a:spcPct val="100000"/>
                        </a:lnSpc>
                      </a:pPr>
                      <a:r>
                        <a:rPr sz="1250" b="1" i="0">
                          <a:solidFill>
                            <a:srgbClr val="FFCF08"/>
                          </a:solidFill>
                          <a:latin typeface="Avenir"/>
                          <a:ea typeface="Avenir"/>
                          <a:cs typeface="Avenir"/>
                          <a:sym typeface="Avenir"/>
                        </a:rPr>
                        <a:t>What you see</a:t>
                      </a:r>
                    </a:p>
                  </a:txBody>
                  <a:tcPr marL="72000" marR="72000" marT="36000" marB="36000" anchor="ctr">
                    <a:solidFill>
                      <a:srgbClr val="3B41A0"/>
                    </a:solidFill>
                  </a:tcPr>
                </a:tc>
                <a:tc>
                  <a:txBody>
                    <a:bodyPr wrap="square"/>
                    <a:lstStyle/>
                    <a:p>
                      <a:pPr algn="ctr">
                        <a:lnSpc>
                          <a:spcPct val="100000"/>
                        </a:lnSpc>
                      </a:pPr>
                      <a:r>
                        <a:rPr sz="1250" b="1" i="0">
                          <a:solidFill>
                            <a:srgbClr val="FFCF08"/>
                          </a:solidFill>
                          <a:latin typeface="Avenir"/>
                          <a:ea typeface="Avenir"/>
                          <a:cs typeface="Avenir"/>
                          <a:sym typeface="Avenir"/>
                        </a:rPr>
                        <a:t>What it means</a:t>
                      </a:r>
                    </a:p>
                  </a:txBody>
                  <a:tcPr marL="72000" marR="72000" marT="36000" marB="36000" anchor="ctr">
                    <a:solidFill>
                      <a:srgbClr val="3B41A0"/>
                    </a:solidFill>
                  </a:tcPr>
                </a:tc>
                <a:tc>
                  <a:txBody>
                    <a:bodyPr wrap="square"/>
                    <a:lstStyle/>
                    <a:p>
                      <a:pPr algn="ctr">
                        <a:lnSpc>
                          <a:spcPct val="100000"/>
                        </a:lnSpc>
                      </a:pPr>
                      <a:r>
                        <a:rPr sz="1250" b="1" i="0">
                          <a:solidFill>
                            <a:srgbClr val="FFCF08"/>
                          </a:solidFill>
                          <a:latin typeface="Avenir"/>
                          <a:ea typeface="Avenir"/>
                          <a:cs typeface="Avenir"/>
                          <a:sym typeface="Avenir"/>
                        </a:rPr>
                        <a:t>What to do</a:t>
                      </a:r>
                    </a:p>
                  </a:txBody>
                  <a:tcPr marL="72000" marR="72000" marT="36000" marB="36000" anchor="ctr">
                    <a:solidFill>
                      <a:srgbClr val="3B41A0"/>
                    </a:solidFill>
                  </a:tcPr>
                </a:tc>
              </a:tr>
              <a:tr h="403200">
                <a:tc>
                  <a:txBody>
                    <a:bodyPr wrap="square"/>
                    <a:lstStyle/>
                    <a:p>
                      <a:pPr algn="l">
                        <a:lnSpc>
                          <a:spcPct val="100000"/>
                        </a:lnSpc>
                      </a:pPr>
                      <a:r>
                        <a:rPr sz="1250" b="0" i="0">
                          <a:solidFill>
                            <a:srgbClr val="FFFFFF"/>
                          </a:solidFill>
                          <a:latin typeface="Avenir"/>
                          <a:ea typeface="Avenir"/>
                          <a:cs typeface="Avenir"/>
                          <a:sym typeface="Avenir"/>
                        </a:rPr>
                        <a:t>No Item / Wrong Color, part present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Hue range wrong, or opening ate it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Watch the mask, then adjust the range</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Too Small on a normal part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MIN_AREA too high, or it is too far away</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Check the distance before the number</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Too Large on a normal part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MAX_AREA too low</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Compare against the real spec</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Shape Defect on a square part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Part is rotated, or h is very small</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Axis-aligned box cannot see rotation</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Flashing between PASS and FAIL</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Lighting is changing between frames</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Fix the lighting, do not widen ranges</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Reason never matches the fault</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A step earlier removed the evidence</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Read the mask window first</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Robot warning in the terminal</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No arm — and it does not matter here</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Expected on a laptop, carry on</a:t>
                      </a:r>
                    </a:p>
                  </a:txBody>
                  <a:tcPr marL="72000" marR="72000" marT="36000" marB="36000" anchor="ctr">
                    <a:solidFill>
                      <a:srgbClr val="2E338C"/>
                    </a:solidFill>
                  </a:tcPr>
                </a:tc>
              </a:tr>
            </a:tbl>
          </a:graphicData>
        </a:graphic>
      </p:graphicFrame>
      <p:sp>
        <p:nvSpPr>
          <p:cNvPr id="4" name="blk0219"/>
          <p:cNvSpPr txBox="1"/>
          <p:nvPr/>
        </p:nvSpPr>
        <p:spPr>
          <a:xfrm>
            <a:off x="687600" y="5976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last row is not a fault at all. Everything else on this table is, and each one points at a single step. "Reason never matches the fault" is the row worth memorising, because it is the one that saves the most time.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the numbers actually cost</a:t>
            </a:r>
          </a:p>
        </p:txBody>
      </p:sp>
      <p:sp>
        <p:nvSpPr>
          <p:cNvPr id="3" name="blk022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numbers decide everything, and every one of them is a trade rather than a setting to maximise:</a:t>
            </a:r>
          </a:p>
        </p:txBody>
      </p:sp>
      <p:sp>
        <p:nvSpPr>
          <p:cNvPr id="4" name="blk0222"/>
          <p:cNvSpPr/>
          <p:nvPr/>
        </p:nvSpPr>
        <p:spPr>
          <a:xfrm>
            <a:off x="687600" y="3240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2"/>
          <p:cNvSpPr txBox="1"/>
          <p:nvPr/>
        </p:nvSpPr>
        <p:spPr>
          <a:xfrm>
            <a:off x="687600" y="3240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222"/>
          <p:cNvSpPr txBox="1"/>
          <p:nvPr/>
        </p:nvSpPr>
        <p:spPr>
          <a:xfrm>
            <a:off x="1252800" y="3218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35 to 85, the hue range</a:t>
            </a:r>
          </a:p>
        </p:txBody>
      </p:sp>
      <p:sp>
        <p:nvSpPr>
          <p:cNvPr id="7" name="blk0222"/>
          <p:cNvSpPr txBox="1"/>
          <p:nvPr/>
        </p:nvSpPr>
        <p:spPr>
          <a:xfrm>
            <a:off x="1252800" y="3538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wider accepts more shades of green, including olive and teal</a:t>
            </a:r>
          </a:p>
        </p:txBody>
      </p:sp>
      <p:sp>
        <p:nvSpPr>
          <p:cNvPr id="8" name="blk0223"/>
          <p:cNvSpPr/>
          <p:nvPr/>
        </p:nvSpPr>
        <p:spPr>
          <a:xfrm>
            <a:off x="687600" y="3942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23"/>
          <p:cNvSpPr txBox="1"/>
          <p:nvPr/>
        </p:nvSpPr>
        <p:spPr>
          <a:xfrm>
            <a:off x="687600" y="3942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223"/>
          <p:cNvSpPr txBox="1"/>
          <p:nvPr/>
        </p:nvSpPr>
        <p:spPr>
          <a:xfrm>
            <a:off x="1252800" y="3921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5 by 5, the kernel</a:t>
            </a:r>
          </a:p>
        </p:txBody>
      </p:sp>
      <p:sp>
        <p:nvSpPr>
          <p:cNvPr id="11" name="blk0223"/>
          <p:cNvSpPr txBox="1"/>
          <p:nvPr/>
        </p:nvSpPr>
        <p:spPr>
          <a:xfrm>
            <a:off x="1252800" y="4241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bigger removes more noise, and more real parts with it</a:t>
            </a:r>
          </a:p>
        </p:txBody>
      </p:sp>
      <p:sp>
        <p:nvSpPr>
          <p:cNvPr id="12" name="blk0224"/>
          <p:cNvSpPr/>
          <p:nvPr/>
        </p:nvSpPr>
        <p:spPr>
          <a:xfrm>
            <a:off x="687600" y="4645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24"/>
          <p:cNvSpPr txBox="1"/>
          <p:nvPr/>
        </p:nvSpPr>
        <p:spPr>
          <a:xfrm>
            <a:off x="687600" y="4645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224"/>
          <p:cNvSpPr txBox="1"/>
          <p:nvPr/>
        </p:nvSpPr>
        <p:spPr>
          <a:xfrm>
            <a:off x="1252800" y="4623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2000, the minimum area</a:t>
            </a:r>
          </a:p>
        </p:txBody>
      </p:sp>
      <p:sp>
        <p:nvSpPr>
          <p:cNvPr id="15" name="blk0224"/>
          <p:cNvSpPr txBox="1"/>
          <p:nvPr/>
        </p:nvSpPr>
        <p:spPr>
          <a:xfrm>
            <a:off x="1252800" y="494424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higher rejects more, including parts that are merely further away</a:t>
            </a:r>
          </a:p>
        </p:txBody>
      </p:sp>
      <p:sp>
        <p:nvSpPr>
          <p:cNvPr id="16" name="blk0225"/>
          <p:cNvSpPr/>
          <p:nvPr/>
        </p:nvSpPr>
        <p:spPr>
          <a:xfrm>
            <a:off x="687600" y="53481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225"/>
          <p:cNvSpPr txBox="1"/>
          <p:nvPr/>
        </p:nvSpPr>
        <p:spPr>
          <a:xfrm>
            <a:off x="687600" y="53481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225"/>
          <p:cNvSpPr txBox="1"/>
          <p:nvPr/>
        </p:nvSpPr>
        <p:spPr>
          <a:xfrm>
            <a:off x="1252800" y="53265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6000, the maximum area</a:t>
            </a:r>
          </a:p>
        </p:txBody>
      </p:sp>
      <p:sp>
        <p:nvSpPr>
          <p:cNvPr id="19" name="blk0225"/>
          <p:cNvSpPr txBox="1"/>
          <p:nvPr/>
        </p:nvSpPr>
        <p:spPr>
          <a:xfrm>
            <a:off x="1252800" y="564696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lower starts rejecting parts that are closer than expected</a:t>
            </a:r>
          </a:p>
        </p:txBody>
      </p:sp>
      <p:sp>
        <p:nvSpPr>
          <p:cNvPr id="20" name="blk0226"/>
          <p:cNvSpPr/>
          <p:nvPr/>
        </p:nvSpPr>
        <p:spPr>
          <a:xfrm>
            <a:off x="687600" y="605088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226"/>
          <p:cNvSpPr txBox="1"/>
          <p:nvPr/>
        </p:nvSpPr>
        <p:spPr>
          <a:xfrm>
            <a:off x="687600" y="605088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2" name="blk0226"/>
          <p:cNvSpPr txBox="1"/>
          <p:nvPr/>
        </p:nvSpPr>
        <p:spPr>
          <a:xfrm>
            <a:off x="1252800" y="602928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0.25, the aspect tolerance</a:t>
            </a:r>
          </a:p>
        </p:txBody>
      </p:sp>
      <p:sp>
        <p:nvSpPr>
          <p:cNvPr id="23" name="blk0226"/>
          <p:cNvSpPr txBox="1"/>
          <p:nvPr/>
        </p:nvSpPr>
        <p:spPr>
          <a:xfrm>
            <a:off x="1252800" y="634968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tighter means squarer; too tight and a good part rotates into a fail</a:t>
            </a:r>
          </a:p>
        </p:txBody>
      </p:sp>
      <p:sp>
        <p:nvSpPr>
          <p:cNvPr id="24" name="blk0227"/>
          <p:cNvSpPr txBox="1"/>
          <p:nvPr/>
        </p:nvSpPr>
        <p:spPr>
          <a:xfrm>
            <a:off x="687600" y="6732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Same shape every time: too tight rejects good parts, too loose accepts bad ones. A decision, not a number to optimise.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Challenge</a:t>
            </a:r>
          </a:p>
          <a:p>
            <a:pPr algn="l">
              <a:lnSpc>
                <a:spcPct val="100000"/>
              </a:lnSpc>
            </a:pPr>
            <a:r>
              <a:rPr sz="4400" b="0" i="0">
                <a:solidFill>
                  <a:srgbClr val="FFFFFF"/>
                </a:solidFill>
                <a:latin typeface="Bungee"/>
                <a:ea typeface="Bungee"/>
                <a:cs typeface="Bungee"/>
                <a:sym typeface="Bungee"/>
              </a:rPr>
              <a:t>YOUR MOVE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2.png"/>
          <p:cNvPicPr>
            <a:picLocks noChangeAspect="1"/>
          </p:cNvPicPr>
          <p:nvPr/>
        </p:nvPicPr>
        <p:blipFill>
          <a:blip r:embed="rId2"/>
          <a:stretch>
            <a:fillRect/>
          </a:stretch>
        </p:blipFill>
        <p:spPr>
          <a:xfrm>
            <a:off x="6260400" y="1371600"/>
            <a:ext cx="3369600" cy="3434399"/>
          </a:xfrm>
          <a:prstGeom prst="rect">
            <a:avLst/>
          </a:prstGeom>
        </p:spPr>
      </p:pic>
      <p:sp>
        <p:nvSpPr>
          <p:cNvPr id="3" name="blk0228"/>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The Brief</a:t>
            </a:r>
          </a:p>
        </p:txBody>
      </p:sp>
      <p:sp>
        <p:nvSpPr>
          <p:cNvPr id="4" name="blk0229"/>
          <p:cNvSpPr txBox="1"/>
          <p:nvPr/>
        </p:nvSpPr>
        <p:spPr>
          <a:xfrm>
            <a:off x="687600" y="13356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Build a scanner that judges a part and explains itself.</a:t>
            </a:r>
          </a:p>
          <a:p>
            <a:pPr algn="l">
              <a:lnSpc>
                <a:spcPct val="100000"/>
              </a:lnSpc>
            </a:pPr>
            <a:r>
              <a:rPr sz="2027" b="0" i="0">
                <a:solidFill>
                  <a:srgbClr val="FFFFFF"/>
                </a:solidFill>
                <a:latin typeface="Avenir"/>
                <a:ea typeface="Avenir"/>
                <a:cs typeface="Avenir"/>
                <a:sym typeface="Avenir"/>
              </a:rPr>
              <a:t>Not "does it detect green" — that is a mechanism. The deliverable is a verdict, a reason, and a mask somebody can check your work with.</a:t>
            </a:r>
          </a:p>
          <a:p>
            <a:pPr algn="l">
              <a:lnSpc>
                <a:spcPct val="100000"/>
              </a:lnSpc>
            </a:pPr>
            <a:r>
              <a:rPr sz="2027" b="0" i="0">
                <a:solidFill>
                  <a:srgbClr val="FFFFFF"/>
                </a:solidFill>
                <a:latin typeface="Avenir"/>
                <a:ea typeface="Avenir"/>
                <a:cs typeface="Avenir"/>
                <a:sym typeface="Avenir"/>
              </a:rPr>
              <a:t>The arm is connected, powered and folded, and then left alone. That is deliberate, and you should be able to say why.</a:t>
            </a:r>
          </a:p>
        </p:txBody>
      </p:sp>
      <p:sp>
        <p:nvSpPr>
          <p:cNvPr id="5" name="blk0230"/>
          <p:cNvSpPr/>
          <p:nvPr/>
        </p:nvSpPr>
        <p:spPr>
          <a:xfrm>
            <a:off x="705600" y="48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30"/>
          <p:cNvSpPr txBox="1"/>
          <p:nvPr/>
        </p:nvSpPr>
        <p:spPr>
          <a:xfrm>
            <a:off x="1252800" y="4874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Good parts report PASS with a plausible area.</a:t>
            </a:r>
          </a:p>
        </p:txBody>
      </p:sp>
      <p:sp>
        <p:nvSpPr>
          <p:cNvPr id="7" name="blk0231"/>
          <p:cNvSpPr/>
          <p:nvPr/>
        </p:nvSpPr>
        <p:spPr>
          <a:xfrm>
            <a:off x="705600" y="554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31"/>
          <p:cNvSpPr txBox="1"/>
          <p:nvPr/>
        </p:nvSpPr>
        <p:spPr>
          <a:xfrm>
            <a:off x="1252800" y="5522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Bad parts fail with a reason that names the actual fault.</a:t>
            </a:r>
          </a:p>
        </p:txBody>
      </p:sp>
      <p:sp>
        <p:nvSpPr>
          <p:cNvPr id="9" name="blk0232"/>
          <p:cNvSpPr/>
          <p:nvPr/>
        </p:nvSpPr>
        <p:spPr>
          <a:xfrm>
            <a:off x="705600" y="6192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32"/>
          <p:cNvSpPr txBox="1"/>
          <p:nvPr/>
        </p:nvSpPr>
        <p:spPr>
          <a:xfrm>
            <a:off x="1252800" y="6170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mask window shows the part, and only the part.</a:t>
            </a:r>
          </a:p>
        </p:txBody>
      </p:sp>
      <p:sp>
        <p:nvSpPr>
          <p:cNvPr id="11" name="blk0233"/>
          <p:cNvSpPr/>
          <p:nvPr/>
        </p:nvSpPr>
        <p:spPr>
          <a:xfrm>
            <a:off x="705600" y="684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33"/>
          <p:cNvSpPr txBox="1"/>
          <p:nvPr/>
        </p:nvSpPr>
        <p:spPr>
          <a:xfrm>
            <a:off x="1252800" y="6818400"/>
            <a:ext cx="8118000" cy="503999"/>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zone can be retuned by editing three constants.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MISSION: </a:t>
            </a:r>
            <a:r>
              <a:rPr sz="2827" b="0" i="0">
                <a:solidFill>
                  <a:srgbClr val="FFFFFF"/>
                </a:solidFill>
                <a:latin typeface="Bungee"/>
                <a:ea typeface="Bungee"/>
                <a:cs typeface="Bungee"/>
                <a:sym typeface="Bungee"/>
              </a:rPr>
              <a:t>RIGHT FOR THE WRONG REASON COUNTS AS WRONG</a:t>
            </a:r>
          </a:p>
        </p:txBody>
      </p:sp>
      <p:sp>
        <p:nvSpPr>
          <p:cNvPr id="3" name="blk0235"/>
          <p:cNvSpPr txBox="1"/>
          <p:nvPr/>
        </p:nvSpPr>
        <p:spPr>
          <a:xfrm>
            <a:off x="687600" y="1657269"/>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things to get right before you touch a threshold:</a:t>
            </a:r>
          </a:p>
        </p:txBody>
      </p:sp>
      <p:sp>
        <p:nvSpPr>
          <p:cNvPr id="4" name="blk0236"/>
          <p:cNvSpPr/>
          <p:nvPr/>
        </p:nvSpPr>
        <p:spPr>
          <a:xfrm>
            <a:off x="687600" y="266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6"/>
          <p:cNvSpPr txBox="1"/>
          <p:nvPr/>
        </p:nvSpPr>
        <p:spPr>
          <a:xfrm>
            <a:off x="687600" y="266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236"/>
          <p:cNvSpPr txBox="1"/>
          <p:nvPr/>
        </p:nvSpPr>
        <p:spPr>
          <a:xfrm>
            <a:off x="1252800" y="264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A good part reports PASS</a:t>
            </a:r>
          </a:p>
        </p:txBody>
      </p:sp>
      <p:sp>
        <p:nvSpPr>
          <p:cNvPr id="7" name="blk0236"/>
          <p:cNvSpPr txBox="1"/>
          <p:nvPr/>
        </p:nvSpPr>
        <p:spPr>
          <a:xfrm>
            <a:off x="1252800" y="2962800"/>
            <a:ext cx="8118000" cy="720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Area between 2000 and 6000, ratio within 0.25 of 1.0</a:t>
            </a:r>
          </a:p>
        </p:txBody>
      </p:sp>
      <p:sp>
        <p:nvSpPr>
          <p:cNvPr id="8" name="blk0237"/>
          <p:cNvSpPr/>
          <p:nvPr/>
        </p:nvSpPr>
        <p:spPr>
          <a:xfrm>
            <a:off x="687600" y="338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7"/>
          <p:cNvSpPr txBox="1"/>
          <p:nvPr/>
        </p:nvSpPr>
        <p:spPr>
          <a:xfrm>
            <a:off x="687600" y="338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237"/>
          <p:cNvSpPr txBox="1"/>
          <p:nvPr/>
        </p:nvSpPr>
        <p:spPr>
          <a:xfrm>
            <a:off x="1252800" y="336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A part that is too small says Too Small</a:t>
            </a:r>
          </a:p>
        </p:txBody>
      </p:sp>
      <p:sp>
        <p:nvSpPr>
          <p:cNvPr id="11" name="blk0237"/>
          <p:cNvSpPr txBox="1"/>
          <p:nvPr/>
        </p:nvSpPr>
        <p:spPr>
          <a:xfrm>
            <a:off x="1252800" y="3682800"/>
            <a:ext cx="8118000" cy="720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Not No Item. If the opening ate it, fix the kernel</a:t>
            </a:r>
          </a:p>
        </p:txBody>
      </p:sp>
      <p:sp>
        <p:nvSpPr>
          <p:cNvPr id="12" name="blk0238"/>
          <p:cNvSpPr/>
          <p:nvPr/>
        </p:nvSpPr>
        <p:spPr>
          <a:xfrm>
            <a:off x="687600" y="410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38"/>
          <p:cNvSpPr txBox="1"/>
          <p:nvPr/>
        </p:nvSpPr>
        <p:spPr>
          <a:xfrm>
            <a:off x="687600" y="410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238"/>
          <p:cNvSpPr txBox="1"/>
          <p:nvPr/>
        </p:nvSpPr>
        <p:spPr>
          <a:xfrm>
            <a:off x="1252800" y="408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The wrong colour says No Item</a:t>
            </a:r>
          </a:p>
        </p:txBody>
      </p:sp>
      <p:sp>
        <p:nvSpPr>
          <p:cNvPr id="15" name="blk0238"/>
          <p:cNvSpPr txBox="1"/>
          <p:nvPr/>
        </p:nvSpPr>
        <p:spPr>
          <a:xfrm>
            <a:off x="1252800" y="4402800"/>
            <a:ext cx="8118000" cy="720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And the mask is empty, which proves it</a:t>
            </a:r>
          </a:p>
        </p:txBody>
      </p:sp>
      <p:sp>
        <p:nvSpPr>
          <p:cNvPr id="16" name="blk0239"/>
          <p:cNvSpPr/>
          <p:nvPr/>
        </p:nvSpPr>
        <p:spPr>
          <a:xfrm>
            <a:off x="687600" y="482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239"/>
          <p:cNvSpPr txBox="1"/>
          <p:nvPr/>
        </p:nvSpPr>
        <p:spPr>
          <a:xfrm>
            <a:off x="687600" y="482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239"/>
          <p:cNvSpPr txBox="1"/>
          <p:nvPr/>
        </p:nvSpPr>
        <p:spPr>
          <a:xfrm>
            <a:off x="1252800" y="480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Nothing outside the box is judged</a:t>
            </a:r>
          </a:p>
        </p:txBody>
      </p:sp>
      <p:sp>
        <p:nvSpPr>
          <p:cNvPr id="19" name="blk0239"/>
          <p:cNvSpPr txBox="1"/>
          <p:nvPr/>
        </p:nvSpPr>
        <p:spPr>
          <a:xfrm>
            <a:off x="1252800" y="5122800"/>
            <a:ext cx="8118000" cy="720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Move the zone with three constants, not arithmetic</a:t>
            </a:r>
          </a:p>
        </p:txBody>
      </p:sp>
      <p:sp>
        <p:nvSpPr>
          <p:cNvPr id="20" name="blk0240"/>
          <p:cNvSpPr/>
          <p:nvPr/>
        </p:nvSpPr>
        <p:spPr>
          <a:xfrm>
            <a:off x="687600" y="554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240"/>
          <p:cNvSpPr txBox="1"/>
          <p:nvPr/>
        </p:nvSpPr>
        <p:spPr>
          <a:xfrm>
            <a:off x="687600" y="554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2" name="blk0240"/>
          <p:cNvSpPr txBox="1"/>
          <p:nvPr/>
        </p:nvSpPr>
        <p:spPr>
          <a:xfrm>
            <a:off x="1252800" y="552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Every reason carries a number</a:t>
            </a:r>
          </a:p>
        </p:txBody>
      </p:sp>
      <p:sp>
        <p:nvSpPr>
          <p:cNvPr id="23" name="blk0240"/>
          <p:cNvSpPr txBox="1"/>
          <p:nvPr/>
        </p:nvSpPr>
        <p:spPr>
          <a:xfrm>
            <a:off x="1252800" y="5842800"/>
            <a:ext cx="8118000" cy="720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The area in pixels, or the ratio to two places</a:t>
            </a:r>
          </a:p>
        </p:txBody>
      </p:sp>
      <p:sp>
        <p:nvSpPr>
          <p:cNvPr id="24" name="blk0241"/>
          <p:cNvSpPr/>
          <p:nvPr/>
        </p:nvSpPr>
        <p:spPr>
          <a:xfrm>
            <a:off x="687600" y="633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blk0241"/>
          <p:cNvSpPr/>
          <p:nvPr/>
        </p:nvSpPr>
        <p:spPr>
          <a:xfrm>
            <a:off x="885600" y="678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lk0241"/>
          <p:cNvSpPr txBox="1"/>
          <p:nvPr/>
        </p:nvSpPr>
        <p:spPr>
          <a:xfrm>
            <a:off x="1162800" y="648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Point 2 is the one that separates a scanner from a guessing machine. A verdict is only useful if it names the real fault, and the fastest way to name the real fault is to check that the evidence was still there when the verdict was reached.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DATA LOG</a:t>
            </a:r>
          </a:p>
        </p:txBody>
      </p:sp>
      <p:sp>
        <p:nvSpPr>
          <p:cNvPr id="3" name="blk0243"/>
          <p:cNvSpPr txBox="1"/>
          <p:nvPr/>
        </p:nvSpPr>
        <p:spPr>
          <a:xfrm>
            <a:off x="687600" y="144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Measure before you adjust. Ten rows, and every cell is an observation.</a:t>
            </a:r>
          </a:p>
        </p:txBody>
      </p:sp>
      <p:graphicFrame>
        <p:nvGraphicFramePr>
          <p:cNvPr id="4" name="blk0244"/>
          <p:cNvGraphicFramePr>
            <a:graphicFrameLocks noGrp="1"/>
          </p:cNvGraphicFramePr>
          <p:nvPr/>
        </p:nvGraphicFramePr>
        <p:xfrm>
          <a:off x="687600" y="2165829"/>
          <a:ext cx="8686799" cy="3772800"/>
        </p:xfrm>
        <a:graphic>
          <a:graphicData uri="http://schemas.openxmlformats.org/drawingml/2006/table">
            <a:tbl>
              <a:tblPr firstRow="0" bandRow="0"/>
              <a:tblGrid>
                <a:gridCol w="2232000"/>
                <a:gridCol w="1188000"/>
                <a:gridCol w="1007999"/>
                <a:gridCol w="2268000"/>
                <a:gridCol w="1990800"/>
              </a:tblGrid>
              <a:tr h="468000">
                <a:tc>
                  <a:txBody>
                    <a:bodyPr wrap="square"/>
                    <a:lstStyle/>
                    <a:p>
                      <a:pPr algn="l">
                        <a:lnSpc>
                          <a:spcPct val="100000"/>
                        </a:lnSpc>
                      </a:pPr>
                      <a:r>
                        <a:rPr sz="1150" b="1" i="0">
                          <a:solidFill>
                            <a:srgbClr val="FFCF08"/>
                          </a:solidFill>
                          <a:latin typeface="Avenir"/>
                          <a:ea typeface="Avenir"/>
                          <a:cs typeface="Avenir"/>
                          <a:sym typeface="Avenir"/>
                        </a:rPr>
                        <a:t>What you put in the zone</a:t>
                      </a:r>
                    </a:p>
                  </a:txBody>
                  <a:tcPr marL="72000" marR="72000" marT="36000" marB="36000" anchor="ctr">
                    <a:solidFill>
                      <a:srgbClr val="3B41A0"/>
                    </a:solidFill>
                  </a:tcPr>
                </a:tc>
                <a:tc>
                  <a:txBody>
                    <a:bodyPr wrap="square"/>
                    <a:lstStyle/>
                    <a:p>
                      <a:pPr algn="ctr">
                        <a:lnSpc>
                          <a:spcPct val="100000"/>
                        </a:lnSpc>
                      </a:pPr>
                      <a:r>
                        <a:rPr sz="1150" b="1" i="0">
                          <a:solidFill>
                            <a:srgbClr val="FFCF08"/>
                          </a:solidFill>
                          <a:latin typeface="Avenir"/>
                          <a:ea typeface="Avenir"/>
                          <a:cs typeface="Avenir"/>
                          <a:sym typeface="Avenir"/>
                        </a:rPr>
                        <a:t>Mask looks right?</a:t>
                      </a:r>
                    </a:p>
                  </a:txBody>
                  <a:tcPr marL="72000" marR="72000" marT="36000" marB="36000" anchor="ctr">
                    <a:solidFill>
                      <a:srgbClr val="3B41A0"/>
                    </a:solidFill>
                  </a:tcPr>
                </a:tc>
                <a:tc>
                  <a:txBody>
                    <a:bodyPr wrap="square"/>
                    <a:lstStyle/>
                    <a:p>
                      <a:pPr algn="ctr">
                        <a:lnSpc>
                          <a:spcPct val="100000"/>
                        </a:lnSpc>
                      </a:pPr>
                      <a:r>
                        <a:rPr sz="1150" b="1" i="0">
                          <a:solidFill>
                            <a:srgbClr val="FFCF08"/>
                          </a:solidFill>
                          <a:latin typeface="Avenir"/>
                          <a:ea typeface="Avenir"/>
                          <a:cs typeface="Avenir"/>
                          <a:sym typeface="Avenir"/>
                        </a:rPr>
                        <a:t>Status</a:t>
                      </a:r>
                    </a:p>
                  </a:txBody>
                  <a:tcPr marL="72000" marR="72000" marT="36000" marB="36000" anchor="ctr">
                    <a:solidFill>
                      <a:srgbClr val="3B41A0"/>
                    </a:solidFill>
                  </a:tcPr>
                </a:tc>
                <a:tc>
                  <a:txBody>
                    <a:bodyPr wrap="square"/>
                    <a:lstStyle/>
                    <a:p>
                      <a:pPr algn="ctr">
                        <a:lnSpc>
                          <a:spcPct val="100000"/>
                        </a:lnSpc>
                      </a:pPr>
                      <a:r>
                        <a:rPr sz="1150" b="1" i="0">
                          <a:solidFill>
                            <a:srgbClr val="FFCF08"/>
                          </a:solidFill>
                          <a:latin typeface="Avenir"/>
                          <a:ea typeface="Avenir"/>
                          <a:cs typeface="Avenir"/>
                          <a:sym typeface="Avenir"/>
                        </a:rPr>
                        <a:t>Reason</a:t>
                      </a:r>
                    </a:p>
                  </a:txBody>
                  <a:tcPr marL="72000" marR="72000" marT="36000" marB="36000" anchor="ctr">
                    <a:solidFill>
                      <a:srgbClr val="3B41A0"/>
                    </a:solidFill>
                  </a:tcPr>
                </a:tc>
                <a:tc>
                  <a:txBody>
                    <a:bodyPr wrap="square"/>
                    <a:lstStyle/>
                    <a:p>
                      <a:pPr algn="ctr">
                        <a:lnSpc>
                          <a:spcPct val="100000"/>
                        </a:lnSpc>
                      </a:pPr>
                      <a:r>
                        <a:rPr sz="1150" b="1" i="0">
                          <a:solidFill>
                            <a:srgbClr val="FFCF08"/>
                          </a:solidFill>
                          <a:latin typeface="Avenir"/>
                          <a:ea typeface="Avenir"/>
                          <a:cs typeface="Avenir"/>
                          <a:sym typeface="Avenir"/>
                        </a:rPr>
                        <a:t>Area / ratio</a:t>
                      </a:r>
                    </a:p>
                  </a:txBody>
                  <a:tcPr marL="72000" marR="72000" marT="36000" marB="36000" anchor="ctr">
                    <a:solidFill>
                      <a:srgbClr val="3B41A0"/>
                    </a:solidFill>
                  </a:tcPr>
                </a:tc>
              </a:tr>
              <a:tr h="367200">
                <a:tc>
                  <a:txBody>
                    <a:bodyPr wrap="square"/>
                    <a:lstStyle/>
                    <a:p>
                      <a:pPr algn="l">
                        <a:lnSpc>
                          <a:spcPct val="100000"/>
                        </a:lnSpc>
                      </a:pPr>
                      <a:r>
                        <a:rPr sz="1150" b="0" i="0">
                          <a:solidFill>
                            <a:srgbClr val="FFFFFF"/>
                          </a:solidFill>
                          <a:latin typeface="Avenir"/>
                          <a:ea typeface="Avenir"/>
                          <a:cs typeface="Avenir"/>
                          <a:sym typeface="Avenir"/>
                        </a:rPr>
                        <a:t>Good part, well lit</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Good part, dimmer</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Part slightly too small</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Clearly too small</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Wrong colour</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Square part, rotated</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Nothing at all</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Two parts at once</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r h="367200">
                <a:tc>
                  <a:txBody>
                    <a:bodyPr wrap="square"/>
                    <a:lstStyle/>
                    <a:p>
                      <a:pPr algn="l">
                        <a:lnSpc>
                          <a:spcPct val="100000"/>
                        </a:lnSpc>
                      </a:pPr>
                      <a:r>
                        <a:rPr sz="1150" b="0" i="0">
                          <a:solidFill>
                            <a:srgbClr val="FFFFFF"/>
                          </a:solidFill>
                          <a:latin typeface="Avenir"/>
                          <a:ea typeface="Avenir"/>
                          <a:cs typeface="Avenir"/>
                          <a:sym typeface="Avenir"/>
                        </a:rPr>
                        <a:t>Hand steadying the part</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________________</a:t>
                      </a:r>
                    </a:p>
                  </a:txBody>
                  <a:tcPr marL="72000" marR="72000" marT="36000" marB="36000" anchor="ctr">
                    <a:solidFill>
                      <a:srgbClr val="2E338C"/>
                    </a:solidFill>
                  </a:tcPr>
                </a:tc>
                <a:tc>
                  <a:txBody>
                    <a:bodyPr wrap="square"/>
                    <a:lstStyle/>
                    <a:p>
                      <a:pPr algn="ctr">
                        <a:lnSpc>
                          <a:spcPct val="100000"/>
                        </a:lnSpc>
                      </a:pPr>
                      <a:r>
                        <a:rPr sz="1150" b="0" i="0">
                          <a:solidFill>
                            <a:srgbClr val="FFFFFF"/>
                          </a:solidFill>
                          <a:latin typeface="Avenir"/>
                          <a:ea typeface="Avenir"/>
                          <a:cs typeface="Avenir"/>
                          <a:sym typeface="Avenir"/>
                        </a:rPr>
                        <a:t>__________</a:t>
                      </a:r>
                    </a:p>
                  </a:txBody>
                  <a:tcPr marL="72000" marR="72000" marT="36000" marB="36000" anchor="ctr">
                    <a:solidFill>
                      <a:srgbClr val="2E338C"/>
                    </a:solidFill>
                  </a:tcPr>
                </a:tc>
              </a:tr>
            </a:tbl>
          </a:graphicData>
        </a:graphic>
      </p:graphicFrame>
      <p:sp>
        <p:nvSpPr>
          <p:cNvPr id="5" name="blk0245"/>
          <p:cNvSpPr/>
          <p:nvPr/>
        </p:nvSpPr>
        <p:spPr>
          <a:xfrm>
            <a:off x="687600" y="6228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45"/>
          <p:cNvSpPr/>
          <p:nvPr/>
        </p:nvSpPr>
        <p:spPr>
          <a:xfrm>
            <a:off x="885600" y="6679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45"/>
          <p:cNvSpPr txBox="1"/>
          <p:nvPr/>
        </p:nvSpPr>
        <p:spPr>
          <a:xfrm>
            <a:off x="1162800" y="6372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Rows 5, 6 and 7 are where the interesting faults live. If "clearly too small" and "slightly too small" both report </a:t>
            </a:r>
            <a:r>
              <a:rPr sz="1290" b="0" i="1">
                <a:solidFill>
                  <a:srgbClr val="FFCF08"/>
                </a:solidFill>
                <a:latin typeface="Courier New"/>
                <a:ea typeface="Courier New"/>
                <a:cs typeface="Courier New"/>
                <a:sym typeface="Courier New"/>
              </a:rPr>
              <a:t>No Item</a:t>
            </a:r>
            <a:r>
              <a:rPr sz="1500" b="0" i="1">
                <a:solidFill>
                  <a:srgbClr val="FFCF08"/>
                </a:solidFill>
                <a:latin typeface="Avenir"/>
                <a:ea typeface="Avenir"/>
                <a:cs typeface="Avenir"/>
                <a:sym typeface="Avenir"/>
              </a:rPr>
              <a:t>, the opening is removing them before the rules ever run, and no threshold you change afterwards will make them appear.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4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DEFINITION OF DONE</a:t>
            </a:r>
          </a:p>
        </p:txBody>
      </p:sp>
      <p:sp>
        <p:nvSpPr>
          <p:cNvPr id="3" name="blk0247"/>
          <p:cNvSpPr txBox="1"/>
          <p:nvPr/>
        </p:nvSpPr>
        <p:spPr>
          <a:xfrm>
            <a:off x="687600" y="1512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Tick every line. A scanner that opens two windows is not finished.</a:t>
            </a:r>
          </a:p>
        </p:txBody>
      </p:sp>
      <p:sp>
        <p:nvSpPr>
          <p:cNvPr id="4" name="blk0248"/>
          <p:cNvSpPr/>
          <p:nvPr/>
        </p:nvSpPr>
        <p:spPr>
          <a:xfrm>
            <a:off x="705600" y="244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48"/>
          <p:cNvSpPr txBox="1"/>
          <p:nvPr/>
        </p:nvSpPr>
        <p:spPr>
          <a:xfrm>
            <a:off x="1252800" y="2426400"/>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19 TODOs filled in, with the comments copied as written.</a:t>
            </a:r>
          </a:p>
        </p:txBody>
      </p:sp>
      <p:sp>
        <p:nvSpPr>
          <p:cNvPr id="6" name="blk0249"/>
          <p:cNvSpPr/>
          <p:nvPr/>
        </p:nvSpPr>
        <p:spPr>
          <a:xfrm>
            <a:off x="705600" y="3131999"/>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49"/>
          <p:cNvSpPr txBox="1"/>
          <p:nvPr/>
        </p:nvSpPr>
        <p:spPr>
          <a:xfrm>
            <a:off x="1252800" y="3110399"/>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Ten data log rows completed from observation, not expectation.</a:t>
            </a:r>
          </a:p>
        </p:txBody>
      </p:sp>
      <p:sp>
        <p:nvSpPr>
          <p:cNvPr id="8" name="blk0250"/>
          <p:cNvSpPr/>
          <p:nvPr/>
        </p:nvSpPr>
        <p:spPr>
          <a:xfrm>
            <a:off x="705600" y="381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50"/>
          <p:cNvSpPr txBox="1"/>
          <p:nvPr/>
        </p:nvSpPr>
        <p:spPr>
          <a:xfrm>
            <a:off x="1252800" y="3794399"/>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Every fault message reproduced at least once, deliberately.</a:t>
            </a:r>
          </a:p>
        </p:txBody>
      </p:sp>
      <p:sp>
        <p:nvSpPr>
          <p:cNvPr id="10" name="blk0251"/>
          <p:cNvSpPr/>
          <p:nvPr/>
        </p:nvSpPr>
        <p:spPr>
          <a:xfrm>
            <a:off x="705600" y="450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51"/>
          <p:cNvSpPr txBox="1"/>
          <p:nvPr/>
        </p:nvSpPr>
        <p:spPr>
          <a:xfrm>
            <a:off x="1252800" y="4478400"/>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mask window never shows anything outside the zone.</a:t>
            </a:r>
          </a:p>
        </p:txBody>
      </p:sp>
      <p:sp>
        <p:nvSpPr>
          <p:cNvPr id="12" name="blk0252"/>
          <p:cNvSpPr/>
          <p:nvPr/>
        </p:nvSpPr>
        <p:spPr>
          <a:xfrm>
            <a:off x="705600" y="51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52"/>
          <p:cNvSpPr txBox="1"/>
          <p:nvPr/>
        </p:nvSpPr>
        <p:spPr>
          <a:xfrm>
            <a:off x="1252800" y="5162400"/>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five tuning numbers explained in one sentence each.</a:t>
            </a:r>
          </a:p>
        </p:txBody>
      </p:sp>
      <p:sp>
        <p:nvSpPr>
          <p:cNvPr id="14" name="blk0253"/>
          <p:cNvSpPr/>
          <p:nvPr/>
        </p:nvSpPr>
        <p:spPr>
          <a:xfrm>
            <a:off x="705600" y="586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253"/>
          <p:cNvSpPr txBox="1"/>
          <p:nvPr/>
        </p:nvSpPr>
        <p:spPr>
          <a:xfrm>
            <a:off x="1252800" y="5846400"/>
            <a:ext cx="8118000" cy="68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You can say why the arm is connected but never used.</a:t>
            </a:r>
          </a:p>
        </p:txBody>
      </p:sp>
      <p:sp>
        <p:nvSpPr>
          <p:cNvPr id="16" name="blk0254"/>
          <p:cNvSpPr txBox="1"/>
          <p:nvPr/>
        </p:nvSpPr>
        <p:spPr>
          <a:xfrm>
            <a:off x="687600" y="6696000"/>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third line is the one people skip, and it is the one that proves the scanner works. A program that only ever reports PASS has not been tested. Deliberately feed it a blue part, a bolt, and your own hand.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5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GO FURTHER</a:t>
            </a:r>
          </a:p>
        </p:txBody>
      </p:sp>
      <p:sp>
        <p:nvSpPr>
          <p:cNvPr id="3" name="blk025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Each of these is a small change to code you have already written.</a:t>
            </a:r>
          </a:p>
        </p:txBody>
      </p:sp>
      <p:sp>
        <p:nvSpPr>
          <p:cNvPr id="4" name="blk0257"/>
          <p:cNvSpPr/>
          <p:nvPr/>
        </p:nvSpPr>
        <p:spPr>
          <a:xfrm>
            <a:off x="741600" y="26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57"/>
          <p:cNvSpPr txBox="1"/>
          <p:nvPr/>
        </p:nvSpPr>
        <p:spPr>
          <a:xfrm>
            <a:off x="1252800" y="26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Stop assuming the biggest blob.</a:t>
            </a:r>
            <a:r>
              <a:rPr sz="1600" b="0" i="0">
                <a:solidFill>
                  <a:srgbClr val="FFFFFF"/>
                </a:solidFill>
                <a:latin typeface="Avenir"/>
                <a:ea typeface="Avenir"/>
                <a:cs typeface="Avenir"/>
                <a:sym typeface="Avenir"/>
              </a:rPr>
              <a:t>  Sort the contours by area and judge the second largest, or the one nearest the centre of the zone.</a:t>
            </a:r>
          </a:p>
        </p:txBody>
      </p:sp>
      <p:sp>
        <p:nvSpPr>
          <p:cNvPr id="6" name="blk0258"/>
          <p:cNvSpPr/>
          <p:nvPr/>
        </p:nvSpPr>
        <p:spPr>
          <a:xfrm>
            <a:off x="741600" y="352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58"/>
          <p:cNvSpPr txBox="1"/>
          <p:nvPr/>
        </p:nvSpPr>
        <p:spPr>
          <a:xfrm>
            <a:off x="1252800" y="3491999"/>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Inspect every part, not one.</a:t>
            </a:r>
            <a:r>
              <a:rPr sz="1600" b="0" i="0">
                <a:solidFill>
                  <a:srgbClr val="FFFFFF"/>
                </a:solidFill>
                <a:latin typeface="Avenir"/>
                <a:ea typeface="Avenir"/>
                <a:cs typeface="Avenir"/>
                <a:sym typeface="Avenir"/>
              </a:rPr>
              <a:t>  Split the zone into a grid, run the same function on each cell, and list what you found.</a:t>
            </a:r>
          </a:p>
        </p:txBody>
      </p:sp>
      <p:sp>
        <p:nvSpPr>
          <p:cNvPr id="8" name="blk0259"/>
          <p:cNvSpPr/>
          <p:nvPr/>
        </p:nvSpPr>
        <p:spPr>
          <a:xfrm>
            <a:off x="741600" y="43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59"/>
          <p:cNvSpPr txBox="1"/>
          <p:nvPr/>
        </p:nvSpPr>
        <p:spPr>
          <a:xfrm>
            <a:off x="1252800" y="432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Stop rotating into failure.</a:t>
            </a:r>
            <a:r>
              <a:rPr sz="1600" b="0" i="0">
                <a:solidFill>
                  <a:srgbClr val="FFFFFF"/>
                </a:solidFill>
                <a:latin typeface="Avenir"/>
                <a:ea typeface="Avenir"/>
                <a:cs typeface="Avenir"/>
                <a:sym typeface="Avenir"/>
              </a:rPr>
              <a:t>  Replace boundingRect with minAreaRect, which returns a rotated box, and compare the four corner lengths instead of one ratio.</a:t>
            </a:r>
          </a:p>
        </p:txBody>
      </p:sp>
      <p:sp>
        <p:nvSpPr>
          <p:cNvPr id="10" name="blk0260"/>
          <p:cNvSpPr/>
          <p:nvPr/>
        </p:nvSpPr>
        <p:spPr>
          <a:xfrm>
            <a:off x="741600" y="533462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60"/>
          <p:cNvSpPr txBox="1"/>
          <p:nvPr/>
        </p:nvSpPr>
        <p:spPr>
          <a:xfrm>
            <a:off x="1252800" y="5305824"/>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Inspect a second colour.</a:t>
            </a:r>
            <a:r>
              <a:rPr sz="1600" b="0" i="0">
                <a:solidFill>
                  <a:srgbClr val="FFFFFF"/>
                </a:solidFill>
                <a:latin typeface="Avenir"/>
                <a:ea typeface="Avenir"/>
                <a:cs typeface="Avenir"/>
                <a:sym typeface="Avenir"/>
              </a:rPr>
              <a:t>  Copy the pipeline, change the two bounds, and prove that red needs two ranges because of the hue wrap-around.</a:t>
            </a:r>
          </a:p>
        </p:txBody>
      </p:sp>
      <p:sp>
        <p:nvSpPr>
          <p:cNvPr id="12" name="blk0261"/>
          <p:cNvSpPr/>
          <p:nvPr/>
        </p:nvSpPr>
        <p:spPr>
          <a:xfrm>
            <a:off x="741600" y="602784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61"/>
          <p:cNvSpPr txBox="1"/>
          <p:nvPr/>
        </p:nvSpPr>
        <p:spPr>
          <a:xfrm>
            <a:off x="1252800" y="599904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Log the results.</a:t>
            </a:r>
            <a:r>
              <a:rPr sz="1600" b="0" i="0">
                <a:solidFill>
                  <a:srgbClr val="FFFFFF"/>
                </a:solidFill>
                <a:latin typeface="Avenir"/>
                <a:ea typeface="Avenir"/>
                <a:cs typeface="Avenir"/>
                <a:sym typeface="Avenir"/>
              </a:rPr>
              <a:t>  Append each verdict to a file with a timestamp. Then you have data instead of opinions.</a:t>
            </a:r>
          </a:p>
        </p:txBody>
      </p:sp>
      <p:sp>
        <p:nvSpPr>
          <p:cNvPr id="14" name="blk0262"/>
          <p:cNvSpPr txBox="1"/>
          <p:nvPr/>
        </p:nvSpPr>
        <p:spPr>
          <a:xfrm>
            <a:off x="687600" y="6912000"/>
            <a:ext cx="7542000" cy="7164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third is the most valuable: an axis-aligned box cannot tell a square from a rotated square, and no amount of tolerance tuning fixes that.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040000"/>
            <a:ext cx="8686800" cy="19800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MISSION</a:t>
            </a:r>
          </a:p>
          <a:p>
            <a:pPr algn="l">
              <a:lnSpc>
                <a:spcPct val="100000"/>
              </a:lnSpc>
            </a:pPr>
            <a:r>
              <a:rPr sz="4400" b="0" i="0">
                <a:solidFill>
                  <a:srgbClr val="FFFFFF"/>
                </a:solidFill>
                <a:latin typeface="Bungee"/>
                <a:ea typeface="Bungee"/>
                <a:cs typeface="Bungee"/>
                <a:sym typeface="Bungee"/>
              </a:rPr>
              <a:t>DEBRIEF</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